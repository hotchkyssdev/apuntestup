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68" r:id="rId4"/>
    <p:sldId id="285" r:id="rId5"/>
    <p:sldId id="286" r:id="rId6"/>
    <p:sldId id="284" r:id="rId7"/>
    <p:sldId id="288" r:id="rId8"/>
    <p:sldId id="291" r:id="rId9"/>
    <p:sldId id="275" r:id="rId10"/>
    <p:sldId id="289" r:id="rId11"/>
    <p:sldId id="290" r:id="rId12"/>
  </p:sldIdLst>
  <p:sldSz cx="9144000" cy="5143500" type="screen16x9"/>
  <p:notesSz cx="6858000" cy="9144000"/>
  <p:embeddedFontLst>
    <p:embeddedFont>
      <p:font typeface="Montserrat" pitchFamily="2" charset="77"/>
      <p:regular r:id="rId14"/>
      <p:bold r:id="rId15"/>
      <p:italic r:id="rId16"/>
      <p:boldItalic r:id="rId17"/>
    </p:embeddedFont>
    <p:embeddedFont>
      <p:font typeface="Montserrat ExtraBold" pitchFamily="2" charset="77"/>
      <p:bold r:id="rId18"/>
      <p:italic r:id="rId19"/>
      <p:boldItalic r:id="rId20"/>
    </p:embeddedFont>
    <p:embeddedFont>
      <p:font typeface="Montserrat Medium" pitchFamily="2" charset="77"/>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03"/>
    <p:restoredTop sz="94740"/>
  </p:normalViewPr>
  <p:slideViewPr>
    <p:cSldViewPr snapToGrid="0">
      <p:cViewPr varScale="1">
        <p:scale>
          <a:sx n="179" d="100"/>
          <a:sy n="179" d="100"/>
        </p:scale>
        <p:origin x="114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1913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5603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2589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8072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233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743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5389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8864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3235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467752"/>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a:solidFill>
                  <a:srgbClr val="E122BB"/>
                </a:solidFill>
                <a:latin typeface="Montserrat ExtraBold"/>
                <a:ea typeface="Montserrat ExtraBold"/>
                <a:cs typeface="Montserrat ExtraBold"/>
                <a:sym typeface="Montserrat ExtraBold"/>
              </a:rPr>
              <a:t>Modularización</a:t>
            </a:r>
            <a:endParaRPr dirty="0">
              <a:solidFill>
                <a:srgbClr val="E122BB"/>
              </a:solidFill>
              <a:latin typeface="Montserrat ExtraBold"/>
              <a:ea typeface="Montserrat ExtraBold"/>
              <a:cs typeface="Montserrat ExtraBold"/>
              <a:sym typeface="Montserrat ExtraBold"/>
            </a:endParaRPr>
          </a:p>
        </p:txBody>
      </p:sp>
      <p:sp>
        <p:nvSpPr>
          <p:cNvPr id="55" name="Google Shape;55;p13"/>
          <p:cNvSpPr txBox="1">
            <a:spLocks noGrp="1"/>
          </p:cNvSpPr>
          <p:nvPr>
            <p:ph type="ctrTitle"/>
          </p:nvPr>
        </p:nvSpPr>
        <p:spPr>
          <a:xfrm>
            <a:off x="253325" y="113350"/>
            <a:ext cx="8520600" cy="41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1700">
                <a:solidFill>
                  <a:srgbClr val="E122BB"/>
                </a:solidFill>
                <a:latin typeface="Montserrat ExtraBold"/>
                <a:ea typeface="Montserrat ExtraBold"/>
                <a:cs typeface="Montserrat ExtraBold"/>
                <a:sym typeface="Montserrat ExtraBold"/>
              </a:rPr>
              <a:t>Programación I</a:t>
            </a:r>
            <a:endParaRPr sz="1700">
              <a:solidFill>
                <a:srgbClr val="E122BB"/>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744575"/>
            <a:ext cx="8520600" cy="947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dirty="0">
                <a:solidFill>
                  <a:srgbClr val="E122BB"/>
                </a:solidFill>
                <a:latin typeface="Montserrat ExtraBold"/>
                <a:ea typeface="Montserrat ExtraBold"/>
                <a:cs typeface="Montserrat ExtraBold"/>
                <a:sym typeface="Montserrat ExtraBold"/>
              </a:rPr>
              <a:t>Modularización</a:t>
            </a:r>
            <a:endParaRPr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783625" y="1692274"/>
            <a:ext cx="7769400" cy="226747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Consiste en dividir un programa grande y complejo en partes más pequeñas y manejables llamadas módulos o subprogramas. </a:t>
            </a:r>
          </a:p>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Estos módulos pueden ser funciones o procedimientos, que son unidades independientes de código que realizan tareas específicas.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97591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2400" dirty="0">
                <a:solidFill>
                  <a:srgbClr val="E122BB"/>
                </a:solidFill>
                <a:latin typeface="Montserrat ExtraBold"/>
                <a:ea typeface="Montserrat ExtraBold"/>
                <a:cs typeface="Montserrat ExtraBold"/>
                <a:sym typeface="Montserrat ExtraBold"/>
              </a:rPr>
              <a:t>Beneficios</a:t>
            </a:r>
            <a:br>
              <a:rPr lang="es-419" sz="2400" dirty="0">
                <a:solidFill>
                  <a:srgbClr val="E122BB"/>
                </a:solidFill>
                <a:latin typeface="Montserrat ExtraBold"/>
                <a:ea typeface="Montserrat ExtraBold"/>
                <a:cs typeface="Montserrat ExtraBold"/>
                <a:sym typeface="Montserrat ExtraBold"/>
              </a:rPr>
            </a:br>
            <a:r>
              <a:rPr lang="es-419" sz="4400" dirty="0">
                <a:solidFill>
                  <a:srgbClr val="E122BB"/>
                </a:solidFill>
                <a:latin typeface="Montserrat ExtraBold"/>
                <a:ea typeface="Montserrat ExtraBold"/>
                <a:cs typeface="Montserrat ExtraBold"/>
                <a:sym typeface="Montserrat ExtraBold"/>
              </a:rPr>
              <a:t>Facilita el mantenimiento del código</a:t>
            </a:r>
            <a:endParaRPr sz="24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5295568" y="304275"/>
            <a:ext cx="3528781" cy="3575962"/>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Al dividir el código en módulos más pequeños y manejables, es más fácil realizar cambios y correcciones.</a:t>
            </a:r>
          </a:p>
        </p:txBody>
      </p:sp>
    </p:spTree>
    <p:extLst>
      <p:ext uri="{BB962C8B-B14F-4D97-AF65-F5344CB8AC3E}">
        <p14:creationId xmlns:p14="http://schemas.microsoft.com/office/powerpoint/2010/main" val="958404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97591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2400" dirty="0">
                <a:solidFill>
                  <a:srgbClr val="E122BB"/>
                </a:solidFill>
                <a:latin typeface="Montserrat ExtraBold"/>
                <a:ea typeface="Montserrat ExtraBold"/>
                <a:cs typeface="Montserrat ExtraBold"/>
                <a:sym typeface="Montserrat ExtraBold"/>
              </a:rPr>
              <a:t>Beneficios</a:t>
            </a:r>
            <a:br>
              <a:rPr lang="es-419" sz="2400" dirty="0">
                <a:solidFill>
                  <a:srgbClr val="E122BB"/>
                </a:solidFill>
                <a:latin typeface="Montserrat ExtraBold"/>
                <a:ea typeface="Montserrat ExtraBold"/>
                <a:cs typeface="Montserrat ExtraBold"/>
                <a:sym typeface="Montserrat ExtraBold"/>
              </a:rPr>
            </a:br>
            <a:r>
              <a:rPr lang="es-419" sz="4400" dirty="0">
                <a:solidFill>
                  <a:srgbClr val="E122BB"/>
                </a:solidFill>
                <a:latin typeface="Montserrat ExtraBold"/>
                <a:ea typeface="Montserrat ExtraBold"/>
                <a:cs typeface="Montserrat ExtraBold"/>
                <a:sym typeface="Montserrat ExtraBold"/>
              </a:rPr>
              <a:t>Reutilización de código</a:t>
            </a:r>
            <a:endParaRPr sz="24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5295568" y="304275"/>
            <a:ext cx="3528781" cy="3575962"/>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Los subprogramas pueden ser reutilizados en diferentes partes del programa o incluso en otros programas.</a:t>
            </a:r>
          </a:p>
        </p:txBody>
      </p:sp>
    </p:spTree>
    <p:extLst>
      <p:ext uri="{BB962C8B-B14F-4D97-AF65-F5344CB8AC3E}">
        <p14:creationId xmlns:p14="http://schemas.microsoft.com/office/powerpoint/2010/main" val="141239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97591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2400" dirty="0">
                <a:solidFill>
                  <a:srgbClr val="E122BB"/>
                </a:solidFill>
                <a:latin typeface="Montserrat ExtraBold"/>
                <a:ea typeface="Montserrat ExtraBold"/>
                <a:cs typeface="Montserrat ExtraBold"/>
                <a:sym typeface="Montserrat ExtraBold"/>
              </a:rPr>
              <a:t>Beneficios</a:t>
            </a:r>
            <a:br>
              <a:rPr lang="es-419" sz="2400" dirty="0">
                <a:solidFill>
                  <a:srgbClr val="E122BB"/>
                </a:solidFill>
                <a:latin typeface="Montserrat ExtraBold"/>
                <a:ea typeface="Montserrat ExtraBold"/>
                <a:cs typeface="Montserrat ExtraBold"/>
                <a:sym typeface="Montserrat ExtraBold"/>
              </a:rPr>
            </a:br>
            <a:r>
              <a:rPr lang="es-419" sz="4400" dirty="0">
                <a:solidFill>
                  <a:srgbClr val="E122BB"/>
                </a:solidFill>
                <a:latin typeface="Montserrat ExtraBold"/>
                <a:ea typeface="Montserrat ExtraBold"/>
                <a:cs typeface="Montserrat ExtraBold"/>
                <a:sym typeface="Montserrat ExtraBold"/>
              </a:rPr>
              <a:t>Facilita la depuración</a:t>
            </a:r>
            <a:endParaRPr sz="24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5295568" y="304275"/>
            <a:ext cx="3528781" cy="3575962"/>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Al tener partes más pequeñas y específicas del código, es más fácil identificar y corregir errores.</a:t>
            </a:r>
          </a:p>
        </p:txBody>
      </p:sp>
    </p:spTree>
    <p:extLst>
      <p:ext uri="{BB962C8B-B14F-4D97-AF65-F5344CB8AC3E}">
        <p14:creationId xmlns:p14="http://schemas.microsoft.com/office/powerpoint/2010/main" val="2749592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Subprogramas</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5" y="1050131"/>
            <a:ext cx="8456650" cy="384333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800" dirty="0">
                <a:solidFill>
                  <a:schemeClr val="tx1"/>
                </a:solidFill>
                <a:latin typeface="Montserrat Medium"/>
                <a:ea typeface="Montserrat Medium"/>
                <a:cs typeface="Montserrat Medium"/>
                <a:sym typeface="Montserrat Medium"/>
              </a:rPr>
              <a:t>Son unidades independientes de código que realizan tareas específicas y pueden ser invocadas desde otras partes del programa principal. </a:t>
            </a:r>
          </a:p>
          <a:p>
            <a:pPr marL="0" lvl="0" indent="0" algn="l" rtl="0">
              <a:lnSpc>
                <a:spcPct val="115000"/>
              </a:lnSpc>
              <a:spcBef>
                <a:spcPts val="0"/>
              </a:spcBef>
              <a:spcAft>
                <a:spcPts val="0"/>
              </a:spcAft>
              <a:buClr>
                <a:schemeClr val="dk1"/>
              </a:buClr>
              <a:buSzPts val="1100"/>
              <a:buFont typeface="Arial"/>
              <a:buNone/>
            </a:pPr>
            <a:r>
              <a:rPr lang="es-419" sz="2800" dirty="0">
                <a:solidFill>
                  <a:schemeClr val="tx1"/>
                </a:solidFill>
                <a:latin typeface="Montserrat Medium"/>
                <a:ea typeface="Montserrat Medium"/>
                <a:cs typeface="Montserrat Medium"/>
                <a:sym typeface="Montserrat Medium"/>
              </a:rPr>
              <a:t>Pueden ser de dos tipos: </a:t>
            </a:r>
            <a:r>
              <a:rPr lang="es-419" sz="2800" b="1" u="sng" dirty="0">
                <a:solidFill>
                  <a:schemeClr val="tx1"/>
                </a:solidFill>
                <a:latin typeface="Montserrat Medium"/>
                <a:ea typeface="Montserrat Medium"/>
                <a:cs typeface="Montserrat Medium"/>
                <a:sym typeface="Montserrat Medium"/>
              </a:rPr>
              <a:t>funciones</a:t>
            </a:r>
            <a:r>
              <a:rPr lang="es-419" sz="2800" dirty="0">
                <a:solidFill>
                  <a:schemeClr val="tx1"/>
                </a:solidFill>
                <a:latin typeface="Montserrat Medium"/>
                <a:ea typeface="Montserrat Medium"/>
                <a:cs typeface="Montserrat Medium"/>
                <a:sym typeface="Montserrat Medium"/>
              </a:rPr>
              <a:t> y </a:t>
            </a:r>
            <a:r>
              <a:rPr lang="es-419" sz="2800" b="1" u="sng" dirty="0">
                <a:solidFill>
                  <a:schemeClr val="tx1"/>
                </a:solidFill>
                <a:latin typeface="Montserrat Medium"/>
                <a:ea typeface="Montserrat Medium"/>
                <a:cs typeface="Montserrat Medium"/>
                <a:sym typeface="Montserrat Medium"/>
              </a:rPr>
              <a:t>procedimientos</a:t>
            </a:r>
            <a:r>
              <a:rPr lang="es-419" sz="2800" dirty="0">
                <a:solidFill>
                  <a:schemeClr val="tx1"/>
                </a:solidFill>
                <a:latin typeface="Montserrat Medium"/>
                <a:ea typeface="Montserrat Medium"/>
                <a:cs typeface="Montserrat Medium"/>
                <a:sym typeface="Montserrat Medium"/>
              </a:rPr>
              <a:t>.</a:t>
            </a:r>
          </a:p>
          <a:p>
            <a:pPr marL="0" lvl="0" indent="0" algn="l" rtl="0">
              <a:lnSpc>
                <a:spcPct val="115000"/>
              </a:lnSpc>
              <a:spcBef>
                <a:spcPts val="0"/>
              </a:spcBef>
              <a:spcAft>
                <a:spcPts val="0"/>
              </a:spcAft>
              <a:buClr>
                <a:schemeClr val="dk1"/>
              </a:buClr>
              <a:buSzPts val="1100"/>
              <a:buFont typeface="Arial"/>
              <a:buNone/>
            </a:pPr>
            <a:endParaRPr lang="es-419" sz="2800" dirty="0">
              <a:solidFill>
                <a:schemeClr val="tx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3949990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97591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400" dirty="0">
                <a:solidFill>
                  <a:srgbClr val="E122BB"/>
                </a:solidFill>
                <a:latin typeface="Montserrat ExtraBold"/>
                <a:ea typeface="Montserrat ExtraBold"/>
                <a:cs typeface="Montserrat ExtraBold"/>
                <a:sym typeface="Montserrat ExtraBold"/>
              </a:rPr>
              <a:t>Funciones</a:t>
            </a:r>
          </a:p>
        </p:txBody>
      </p:sp>
      <p:sp>
        <p:nvSpPr>
          <p:cNvPr id="61" name="Google Shape;61;p14"/>
          <p:cNvSpPr txBox="1"/>
          <p:nvPr/>
        </p:nvSpPr>
        <p:spPr>
          <a:xfrm>
            <a:off x="5295568" y="304275"/>
            <a:ext cx="3528781" cy="3575962"/>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Una función es un subprograma que devuelve un valor después de realizar una operación. En Java, las funciones se definen usando el tipo de dato que devuelven. </a:t>
            </a:r>
          </a:p>
        </p:txBody>
      </p:sp>
    </p:spTree>
    <p:extLst>
      <p:ext uri="{BB962C8B-B14F-4D97-AF65-F5344CB8AC3E}">
        <p14:creationId xmlns:p14="http://schemas.microsoft.com/office/powerpoint/2010/main" val="2762808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Declaración de funciones</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553C1A57-15E9-46BD-D6DB-47E5A6380CE0}"/>
              </a:ext>
            </a:extLst>
          </p:cNvPr>
          <p:cNvPicPr>
            <a:picLocks noChangeAspect="1"/>
          </p:cNvPicPr>
          <p:nvPr/>
        </p:nvPicPr>
        <p:blipFill>
          <a:blip r:embed="rId4"/>
          <a:stretch>
            <a:fillRect/>
          </a:stretch>
        </p:blipFill>
        <p:spPr>
          <a:xfrm>
            <a:off x="677863" y="1529556"/>
            <a:ext cx="5229524" cy="1185069"/>
          </a:xfrm>
          <a:prstGeom prst="rect">
            <a:avLst/>
          </a:prstGeom>
        </p:spPr>
      </p:pic>
      <p:sp>
        <p:nvSpPr>
          <p:cNvPr id="74" name="Google Shape;74;p16"/>
          <p:cNvSpPr txBox="1"/>
          <p:nvPr/>
        </p:nvSpPr>
        <p:spPr>
          <a:xfrm>
            <a:off x="4514850" y="2007394"/>
            <a:ext cx="4533612" cy="2965382"/>
          </a:xfrm>
          <a:prstGeom prst="rect">
            <a:avLst/>
          </a:prstGeom>
          <a:solidFill>
            <a:srgbClr val="E122BB"/>
          </a:solidFill>
          <a:ln>
            <a:noFill/>
          </a:ln>
        </p:spPr>
        <p:txBody>
          <a:bodyPr spcFirstLastPara="1" wrap="square" lIns="91425" tIns="91425" rIns="91425" bIns="91425" anchor="t" anchorCtr="0">
            <a:noAutofit/>
          </a:bodyPr>
          <a:lstStyle/>
          <a:p>
            <a:pPr marL="171450" lvl="0" indent="-171450" algn="l" rtl="0">
              <a:spcBef>
                <a:spcPts val="0"/>
              </a:spcBef>
              <a:spcAft>
                <a:spcPts val="0"/>
              </a:spcAft>
              <a:buFont typeface="Wingdings" pitchFamily="2" charset="2"/>
              <a:buChar char="Ø"/>
            </a:pPr>
            <a:r>
              <a:rPr lang="es-419" sz="1200" b="1" dirty="0">
                <a:solidFill>
                  <a:schemeClr val="lt1"/>
                </a:solidFill>
              </a:rPr>
              <a:t>tipo_de_retorno: </a:t>
            </a:r>
            <a:r>
              <a:rPr lang="es-419" sz="1200" dirty="0">
                <a:solidFill>
                  <a:schemeClr val="lt1"/>
                </a:solidFill>
              </a:rPr>
              <a:t>Especifica el tipo de dato que la función devolverá como resultado. Puede ser cualquier tipo de dato válido en Java, incluyendo tipos primitivos (como int, double, boolean, etc.) o tipos de objeto (como String, ArrayList, etc.).</a:t>
            </a:r>
          </a:p>
          <a:p>
            <a:pPr marL="171450" lvl="0" indent="-171450" algn="l" rtl="0">
              <a:spcBef>
                <a:spcPts val="0"/>
              </a:spcBef>
              <a:spcAft>
                <a:spcPts val="0"/>
              </a:spcAft>
              <a:buFont typeface="Wingdings" pitchFamily="2" charset="2"/>
              <a:buChar char="Ø"/>
            </a:pPr>
            <a:r>
              <a:rPr lang="es-419" sz="1200" b="1" dirty="0">
                <a:solidFill>
                  <a:schemeClr val="lt1"/>
                </a:solidFill>
              </a:rPr>
              <a:t>nombre_de_la_funcion: </a:t>
            </a:r>
            <a:r>
              <a:rPr lang="es-419" sz="1200" dirty="0">
                <a:solidFill>
                  <a:schemeClr val="lt1"/>
                </a:solidFill>
              </a:rPr>
              <a:t>Es el nombre único que identifica a la función. Debe seguir las convenciones de nombrado de Java y ser descriptivo de la tarea que realiza la función.</a:t>
            </a:r>
          </a:p>
          <a:p>
            <a:pPr marL="171450" lvl="0" indent="-171450" algn="l" rtl="0">
              <a:spcBef>
                <a:spcPts val="0"/>
              </a:spcBef>
              <a:spcAft>
                <a:spcPts val="0"/>
              </a:spcAft>
              <a:buFont typeface="Wingdings" pitchFamily="2" charset="2"/>
              <a:buChar char="Ø"/>
            </a:pPr>
            <a:r>
              <a:rPr lang="es-419" sz="1200" b="1" dirty="0">
                <a:solidFill>
                  <a:schemeClr val="lt1"/>
                </a:solidFill>
              </a:rPr>
              <a:t>parámetros: </a:t>
            </a:r>
            <a:r>
              <a:rPr lang="es-419" sz="1200" dirty="0">
                <a:solidFill>
                  <a:schemeClr val="lt1"/>
                </a:solidFill>
              </a:rPr>
              <a:t>Son los valores que se pasan a la función cuando se llama. Pueden ser cero o más parámetros, separados por comas. Cada parámetro está compuesto por un tipo y un nombre.</a:t>
            </a:r>
          </a:p>
          <a:p>
            <a:pPr marL="171450" lvl="0" indent="-171450" algn="l" rtl="0">
              <a:spcBef>
                <a:spcPts val="0"/>
              </a:spcBef>
              <a:spcAft>
                <a:spcPts val="0"/>
              </a:spcAft>
              <a:buFont typeface="Wingdings" pitchFamily="2" charset="2"/>
              <a:buChar char="Ø"/>
            </a:pPr>
            <a:r>
              <a:rPr lang="es-419" sz="1200" b="1" dirty="0">
                <a:solidFill>
                  <a:schemeClr val="lt1"/>
                </a:solidFill>
              </a:rPr>
              <a:t>valor_de_retorno: </a:t>
            </a:r>
            <a:r>
              <a:rPr lang="es-419" sz="1200" dirty="0">
                <a:solidFill>
                  <a:schemeClr val="lt1"/>
                </a:solidFill>
              </a:rPr>
              <a:t>Es el valor que devuelve la función como resultado. Debe ser del mismo tipo que el tipo de retorno especificado en la declaración de la función. Si la función no devuelve ningún valor, se usa la palabra clave void.</a:t>
            </a:r>
          </a:p>
        </p:txBody>
      </p:sp>
    </p:spTree>
    <p:extLst>
      <p:ext uri="{BB962C8B-B14F-4D97-AF65-F5344CB8AC3E}">
        <p14:creationId xmlns:p14="http://schemas.microsoft.com/office/powerpoint/2010/main" val="1554579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Inicialización con valores explícitos</a:t>
            </a:r>
            <a:br>
              <a:rPr lang="es-419" sz="2920" b="1" dirty="0">
                <a:solidFill>
                  <a:srgbClr val="E122BB"/>
                </a:solidFill>
                <a:latin typeface="Montserrat"/>
                <a:ea typeface="Montserrat"/>
                <a:cs typeface="Montserrat"/>
                <a:sym typeface="Montserrat"/>
              </a:rPr>
            </a:br>
            <a:endParaRPr sz="2920" b="1" dirty="0">
              <a:solidFill>
                <a:srgbClr val="E122BB"/>
              </a:solidFill>
              <a:latin typeface="Montserrat"/>
              <a:ea typeface="Montserrat"/>
              <a:cs typeface="Montserrat"/>
              <a:sym typeface="Montserrat"/>
            </a:endParaRPr>
          </a:p>
        </p:txBody>
      </p:sp>
      <p:pic>
        <p:nvPicPr>
          <p:cNvPr id="2" name="Picture 1">
            <a:extLst>
              <a:ext uri="{FF2B5EF4-FFF2-40B4-BE49-F238E27FC236}">
                <a16:creationId xmlns:a16="http://schemas.microsoft.com/office/drawing/2014/main" id="{87279117-7711-1B5F-AC66-4331D91FA6D5}"/>
              </a:ext>
            </a:extLst>
          </p:cNvPr>
          <p:cNvPicPr>
            <a:picLocks noChangeAspect="1"/>
          </p:cNvPicPr>
          <p:nvPr/>
        </p:nvPicPr>
        <p:blipFill>
          <a:blip r:embed="rId4"/>
          <a:stretch>
            <a:fillRect/>
          </a:stretch>
        </p:blipFill>
        <p:spPr>
          <a:xfrm>
            <a:off x="628650" y="1343024"/>
            <a:ext cx="6490748" cy="3079887"/>
          </a:xfrm>
          <a:prstGeom prst="rect">
            <a:avLst/>
          </a:prstGeom>
        </p:spPr>
      </p:pic>
      <p:sp>
        <p:nvSpPr>
          <p:cNvPr id="74" name="Google Shape;74;p16"/>
          <p:cNvSpPr txBox="1"/>
          <p:nvPr/>
        </p:nvSpPr>
        <p:spPr>
          <a:xfrm>
            <a:off x="6786562" y="1581293"/>
            <a:ext cx="2190461" cy="897588"/>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Aquí tienes un ejemplo de una función que calcula la suma de dos números</a:t>
            </a:r>
          </a:p>
        </p:txBody>
      </p:sp>
    </p:spTree>
    <p:extLst>
      <p:ext uri="{BB962C8B-B14F-4D97-AF65-F5344CB8AC3E}">
        <p14:creationId xmlns:p14="http://schemas.microsoft.com/office/powerpoint/2010/main" val="3507344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97591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400" dirty="0">
                <a:solidFill>
                  <a:srgbClr val="E122BB"/>
                </a:solidFill>
                <a:latin typeface="Montserrat ExtraBold"/>
                <a:ea typeface="Montserrat ExtraBold"/>
                <a:cs typeface="Montserrat ExtraBold"/>
                <a:sym typeface="Montserrat ExtraBold"/>
              </a:rPr>
              <a:t>Procedimientos</a:t>
            </a:r>
          </a:p>
        </p:txBody>
      </p:sp>
      <p:sp>
        <p:nvSpPr>
          <p:cNvPr id="61" name="Google Shape;61;p14"/>
          <p:cNvSpPr txBox="1"/>
          <p:nvPr/>
        </p:nvSpPr>
        <p:spPr>
          <a:xfrm>
            <a:off x="5295568" y="304275"/>
            <a:ext cx="3528781" cy="3575962"/>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Un procedimiento es un subprograma que realiza una tarea sin devolver un valor. En Java, los procedimientos se definen con el tipo de retorno void.</a:t>
            </a:r>
          </a:p>
        </p:txBody>
      </p:sp>
    </p:spTree>
    <p:extLst>
      <p:ext uri="{BB962C8B-B14F-4D97-AF65-F5344CB8AC3E}">
        <p14:creationId xmlns:p14="http://schemas.microsoft.com/office/powerpoint/2010/main" val="955969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Inicialización con valores explícitos</a:t>
            </a:r>
            <a:br>
              <a:rPr lang="es-419" sz="2920" b="1" dirty="0">
                <a:solidFill>
                  <a:srgbClr val="E122BB"/>
                </a:solidFill>
                <a:latin typeface="Montserrat"/>
                <a:ea typeface="Montserrat"/>
                <a:cs typeface="Montserrat"/>
                <a:sym typeface="Montserrat"/>
              </a:rPr>
            </a:br>
            <a:endParaRPr sz="2920" b="1" dirty="0">
              <a:solidFill>
                <a:srgbClr val="E122BB"/>
              </a:solidFill>
              <a:latin typeface="Montserrat"/>
              <a:ea typeface="Montserrat"/>
              <a:cs typeface="Montserrat"/>
              <a:sym typeface="Montserrat"/>
            </a:endParaRPr>
          </a:p>
        </p:txBody>
      </p:sp>
      <p:sp>
        <p:nvSpPr>
          <p:cNvPr id="74" name="Google Shape;74;p16"/>
          <p:cNvSpPr txBox="1"/>
          <p:nvPr/>
        </p:nvSpPr>
        <p:spPr>
          <a:xfrm>
            <a:off x="6786562" y="1581293"/>
            <a:ext cx="2190461" cy="897588"/>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Aquí tienes un ejemplo de un procedimiento que imprime un mensaje por pantalla</a:t>
            </a:r>
          </a:p>
        </p:txBody>
      </p:sp>
      <p:pic>
        <p:nvPicPr>
          <p:cNvPr id="3" name="Picture 2">
            <a:extLst>
              <a:ext uri="{FF2B5EF4-FFF2-40B4-BE49-F238E27FC236}">
                <a16:creationId xmlns:a16="http://schemas.microsoft.com/office/drawing/2014/main" id="{67812083-4533-BDDE-23FC-3472C38D5F40}"/>
              </a:ext>
            </a:extLst>
          </p:cNvPr>
          <p:cNvPicPr>
            <a:picLocks noChangeAspect="1"/>
          </p:cNvPicPr>
          <p:nvPr/>
        </p:nvPicPr>
        <p:blipFill>
          <a:blip r:embed="rId4"/>
          <a:stretch>
            <a:fillRect/>
          </a:stretch>
        </p:blipFill>
        <p:spPr>
          <a:xfrm>
            <a:off x="539750" y="1473993"/>
            <a:ext cx="6121400" cy="3238500"/>
          </a:xfrm>
          <a:prstGeom prst="rect">
            <a:avLst/>
          </a:prstGeom>
        </p:spPr>
      </p:pic>
    </p:spTree>
    <p:extLst>
      <p:ext uri="{BB962C8B-B14F-4D97-AF65-F5344CB8AC3E}">
        <p14:creationId xmlns:p14="http://schemas.microsoft.com/office/powerpoint/2010/main" val="417385099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TotalTime>
  <Words>419</Words>
  <Application>Microsoft Macintosh PowerPoint</Application>
  <PresentationFormat>On-screen Show (16:9)</PresentationFormat>
  <Paragraphs>27</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Montserrat Medium</vt:lpstr>
      <vt:lpstr>Montserrat ExtraBold</vt:lpstr>
      <vt:lpstr>Wingdings</vt:lpstr>
      <vt:lpstr>Montserrat</vt:lpstr>
      <vt:lpstr>Simple Light</vt:lpstr>
      <vt:lpstr>Modularización</vt:lpstr>
      <vt:lpstr>Modularización</vt:lpstr>
      <vt:lpstr>Beneficios Facilita el mantenimiento del código</vt:lpstr>
      <vt:lpstr>Beneficios Reutilización de código</vt:lpstr>
      <vt:lpstr>Beneficios Facilita la depuración</vt:lpstr>
      <vt:lpstr>Subprogramas</vt:lpstr>
      <vt:lpstr>Funciones</vt:lpstr>
      <vt:lpstr>Declaración de funciones</vt:lpstr>
      <vt:lpstr>Inicialización con valores explícitos </vt:lpstr>
      <vt:lpstr>Procedimientos</vt:lpstr>
      <vt:lpstr>Inicialización con valores explícitos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control de Flujo: Iteradores</dc:title>
  <cp:lastModifiedBy>Facundo Uferer</cp:lastModifiedBy>
  <cp:revision>13</cp:revision>
  <dcterms:modified xsi:type="dcterms:W3CDTF">2024-05-10T18:32:10Z</dcterms:modified>
</cp:coreProperties>
</file>