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Tahoma"/>
      <p:regular r:id="rId36"/>
      <p:bold r:id="rId37"/>
    </p:embeddedFont>
    <p:embeddedFont>
      <p:font typeface="Old Standard TT"/>
      <p:regular r:id="rId38"/>
      <p:bold r:id="rId39"/>
      <p:italic r:id="rId40"/>
    </p:embeddedFont>
    <p:embeddedFont>
      <p:font typeface="Gill Sans"/>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pIhBk0049gXCgtF72EYFexxWJ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ldStandardTT-italic.fntdata"/><Relationship Id="rId20" Type="http://schemas.openxmlformats.org/officeDocument/2006/relationships/slide" Target="slides/slide15.xml"/><Relationship Id="rId42" Type="http://schemas.openxmlformats.org/officeDocument/2006/relationships/font" Target="fonts/GillSans-bold.fntdata"/><Relationship Id="rId41" Type="http://schemas.openxmlformats.org/officeDocument/2006/relationships/font" Target="fonts/GillSans-regular.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OldStandardTT-bold.fntdata"/><Relationship Id="rId16" Type="http://schemas.openxmlformats.org/officeDocument/2006/relationships/slide" Target="slides/slide11.xml"/><Relationship Id="rId38" Type="http://schemas.openxmlformats.org/officeDocument/2006/relationships/font" Target="fonts/OldStandardT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204df5e6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204df5e6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2446dd44f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2446dd44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accent2"/>
        </a:solidFill>
      </p:bgPr>
    </p:bg>
    <p:spTree>
      <p:nvGrpSpPr>
        <p:cNvPr id="11" name="Shape 11"/>
        <p:cNvGrpSpPr/>
        <p:nvPr/>
      </p:nvGrpSpPr>
      <p:grpSpPr>
        <a:xfrm>
          <a:off x="0" y="0"/>
          <a:ext cx="0" cy="0"/>
          <a:chOff x="0" y="0"/>
          <a:chExt cx="0" cy="0"/>
        </a:xfrm>
      </p:grpSpPr>
      <p:sp>
        <p:nvSpPr>
          <p:cNvPr id="12" name="Google Shape;12;p47"/>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7"/>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4" name="Google Shape;14;p4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7"/>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3" name="Shape 23"/>
        <p:cNvGrpSpPr/>
        <p:nvPr/>
      </p:nvGrpSpPr>
      <p:grpSpPr>
        <a:xfrm>
          <a:off x="0" y="0"/>
          <a:ext cx="0" cy="0"/>
          <a:chOff x="0" y="0"/>
          <a:chExt cx="0" cy="0"/>
        </a:xfrm>
      </p:grpSpPr>
      <p:sp>
        <p:nvSpPr>
          <p:cNvPr id="24" name="Google Shape;24;p48"/>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8"/>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6" name="Google Shape;26;p4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8"/>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accent2"/>
        </a:solidFill>
      </p:bgPr>
    </p:bg>
    <p:spTree>
      <p:nvGrpSpPr>
        <p:cNvPr id="29" name="Shape 29"/>
        <p:cNvGrpSpPr/>
        <p:nvPr/>
      </p:nvGrpSpPr>
      <p:grpSpPr>
        <a:xfrm>
          <a:off x="0" y="0"/>
          <a:ext cx="0" cy="0"/>
          <a:chOff x="0" y="0"/>
          <a:chExt cx="0" cy="0"/>
        </a:xfrm>
      </p:grpSpPr>
      <p:sp>
        <p:nvSpPr>
          <p:cNvPr id="30" name="Google Shape;30;p46"/>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6"/>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2" name="Google Shape;32;p4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6"/>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bg>
      <p:bgPr>
        <a:solidFill>
          <a:schemeClr val="accent1"/>
        </a:solidFill>
      </p:bgPr>
    </p:bg>
    <p:spTree>
      <p:nvGrpSpPr>
        <p:cNvPr id="35" name="Shape 35"/>
        <p:cNvGrpSpPr/>
        <p:nvPr/>
      </p:nvGrpSpPr>
      <p:grpSpPr>
        <a:xfrm>
          <a:off x="0" y="0"/>
          <a:ext cx="0" cy="0"/>
          <a:chOff x="0" y="0"/>
          <a:chExt cx="0" cy="0"/>
        </a:xfrm>
      </p:grpSpPr>
      <p:sp>
        <p:nvSpPr>
          <p:cNvPr id="36" name="Google Shape;36;p49"/>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9"/>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38" name="Google Shape;38;p4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9"/>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5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0"/>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4" name="Google Shape;44;p50"/>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5" name="Google Shape;45;p5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51"/>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0" name="Google Shape;50;p51"/>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1" name="Google Shape;51;p51"/>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2" name="Google Shape;52;p51"/>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3" name="Google Shape;53;p5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
        <p:nvSpPr>
          <p:cNvPr id="56" name="Google Shape;56;p5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5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5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2" name="Shape 62"/>
        <p:cNvGrpSpPr/>
        <p:nvPr/>
      </p:nvGrpSpPr>
      <p:grpSpPr>
        <a:xfrm>
          <a:off x="0" y="0"/>
          <a:ext cx="0" cy="0"/>
          <a:chOff x="0" y="0"/>
          <a:chExt cx="0" cy="0"/>
        </a:xfrm>
      </p:grpSpPr>
      <p:sp>
        <p:nvSpPr>
          <p:cNvPr id="63" name="Google Shape;63;p5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6" name="Shape 66"/>
        <p:cNvGrpSpPr/>
        <p:nvPr/>
      </p:nvGrpSpPr>
      <p:grpSpPr>
        <a:xfrm>
          <a:off x="0" y="0"/>
          <a:ext cx="0" cy="0"/>
          <a:chOff x="0" y="0"/>
          <a:chExt cx="0" cy="0"/>
        </a:xfrm>
      </p:grpSpPr>
      <p:sp>
        <p:nvSpPr>
          <p:cNvPr id="67" name="Google Shape;67;p54"/>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4"/>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4"/>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0" name="Google Shape;70;p54"/>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1" name="Google Shape;71;p5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4"/>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4" name="Shape 74"/>
        <p:cNvGrpSpPr/>
        <p:nvPr/>
      </p:nvGrpSpPr>
      <p:grpSpPr>
        <a:xfrm>
          <a:off x="0" y="0"/>
          <a:ext cx="0" cy="0"/>
          <a:chOff x="0" y="0"/>
          <a:chExt cx="0" cy="0"/>
        </a:xfrm>
      </p:grpSpPr>
      <p:sp>
        <p:nvSpPr>
          <p:cNvPr id="75" name="Google Shape;75;p55"/>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5"/>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5"/>
          <p:cNvSpPr/>
          <p:nvPr>
            <p:ph idx="2" type="pic"/>
          </p:nvPr>
        </p:nvSpPr>
        <p:spPr>
          <a:xfrm>
            <a:off x="6095999" y="0"/>
            <a:ext cx="6102097" cy="6858000"/>
          </a:xfrm>
          <a:prstGeom prst="rect">
            <a:avLst/>
          </a:prstGeom>
          <a:solidFill>
            <a:srgbClr val="BFBFBF"/>
          </a:solidFill>
          <a:ln>
            <a:noFill/>
          </a:ln>
        </p:spPr>
      </p:sp>
      <p:sp>
        <p:nvSpPr>
          <p:cNvPr id="78" name="Google Shape;78;p55"/>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9" name="Google Shape;79;p5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5"/>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5"/>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5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56"/>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5" name="Google Shape;85;p5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6"/>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8" name="Shape 88"/>
        <p:cNvGrpSpPr/>
        <p:nvPr/>
      </p:nvGrpSpPr>
      <p:grpSpPr>
        <a:xfrm>
          <a:off x="0" y="0"/>
          <a:ext cx="0" cy="0"/>
          <a:chOff x="0" y="0"/>
          <a:chExt cx="0" cy="0"/>
        </a:xfrm>
      </p:grpSpPr>
      <p:sp>
        <p:nvSpPr>
          <p:cNvPr id="89" name="Google Shape;89;p57"/>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57"/>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1" name="Google Shape;91;p5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7"/>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8" name="Google Shape;8;p4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9" name="Google Shape;9;p4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0" name="Google Shape;10;p45"/>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7" name="Shape 17"/>
        <p:cNvGrpSpPr/>
        <p:nvPr/>
      </p:nvGrpSpPr>
      <p:grpSpPr>
        <a:xfrm>
          <a:off x="0" y="0"/>
          <a:ext cx="0" cy="0"/>
          <a:chOff x="0" y="0"/>
          <a:chExt cx="0" cy="0"/>
        </a:xfrm>
      </p:grpSpPr>
      <p:sp>
        <p:nvSpPr>
          <p:cNvPr id="18" name="Google Shape;18;p44"/>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0" name="Google Shape;20;p4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1" name="Google Shape;21;p4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 name="Google Shape;22;p4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8.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2.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b="1" lang="es-ES">
                <a:latin typeface="Gill Sans"/>
                <a:ea typeface="Gill Sans"/>
                <a:cs typeface="Gill Sans"/>
                <a:sym typeface="Gill Sans"/>
              </a:rPr>
              <a:t>PROBABILIDAD Y ESTADÍSTICA </a:t>
            </a:r>
            <a:endParaRPr b="1">
              <a:latin typeface="Gill Sans"/>
              <a:ea typeface="Gill Sans"/>
              <a:cs typeface="Gill Sans"/>
              <a:sym typeface="Gill Sans"/>
            </a:endParaRPr>
          </a:p>
        </p:txBody>
      </p:sp>
      <p:sp>
        <p:nvSpPr>
          <p:cNvPr id="99" name="Google Shape;99;p1"/>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800"/>
              <a:buNone/>
            </a:pPr>
            <a:r>
              <a:rPr b="1" lang="es-ES" sz="2800"/>
              <a:t>Año 2024</a:t>
            </a:r>
            <a:endParaRPr b="1"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617885" y="992938"/>
            <a:ext cx="10429460" cy="563231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El término estadística hace referencia a datos numéricos. Sin embargo, el campo de la estadística abarca mucho más que hechos numéricos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Las primeras acciones indicadas en la anterior definición conforman la “Estadística Descriptiva”, mientras que las últimas, la “Inferencia Estadística”.</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Podríamos por tanto clasificar la Estadística en descriptiva, cuando los resultados del análisis no pretenden ir más allá del conjunto de datos, e inferencial cuando el objetivo del estudio es derivar las conclusiones obtenidas a un conjunto de datos más amplio.</a:t>
            </a:r>
            <a:endParaRPr sz="2400">
              <a:solidFill>
                <a:schemeClr val="dk1"/>
              </a:solidFill>
              <a:latin typeface="Gill Sans"/>
              <a:ea typeface="Gill Sans"/>
              <a:cs typeface="Gill Sans"/>
              <a:sym typeface="Gill Sans"/>
            </a:endParaRPr>
          </a:p>
        </p:txBody>
      </p:sp>
      <p:sp>
        <p:nvSpPr>
          <p:cNvPr id="105" name="Google Shape;105;p4"/>
          <p:cNvSpPr txBox="1"/>
          <p:nvPr/>
        </p:nvSpPr>
        <p:spPr>
          <a:xfrm>
            <a:off x="617867" y="232750"/>
            <a:ext cx="5157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INTRODUCC</a:t>
            </a:r>
            <a:r>
              <a:rPr lang="es-ES" sz="3200">
                <a:solidFill>
                  <a:schemeClr val="dk1"/>
                </a:solidFill>
                <a:latin typeface="Gill Sans"/>
                <a:ea typeface="Gill Sans"/>
                <a:cs typeface="Gill Sans"/>
                <a:sym typeface="Gill Sans"/>
              </a:rPr>
              <a:t>I</a:t>
            </a:r>
            <a:r>
              <a:rPr lang="es-ES" sz="3200">
                <a:solidFill>
                  <a:schemeClr val="dk1"/>
                </a:solidFill>
                <a:latin typeface="Gill Sans"/>
                <a:ea typeface="Gill Sans"/>
                <a:cs typeface="Gill Sans"/>
                <a:sym typeface="Gill Sans"/>
              </a:rPr>
              <a:t>ÓN</a:t>
            </a:r>
            <a:endParaRPr sz="3200">
              <a:solidFill>
                <a:schemeClr val="dk1"/>
              </a:solidFill>
              <a:latin typeface="Gill Sans"/>
              <a:ea typeface="Gill Sans"/>
              <a:cs typeface="Gill Sans"/>
              <a:sym typeface="Gill Sans"/>
            </a:endParaRPr>
          </a:p>
        </p:txBody>
      </p:sp>
      <p:pic>
        <p:nvPicPr>
          <p:cNvPr id="106" name="Google Shape;106;p4"/>
          <p:cNvPicPr preferRelativeResize="0"/>
          <p:nvPr/>
        </p:nvPicPr>
        <p:blipFill rotWithShape="1">
          <a:blip r:embed="rId3">
            <a:alphaModFix/>
          </a:blip>
          <a:srcRect b="0" l="0" r="0" t="0"/>
          <a:stretch/>
        </p:blipFill>
        <p:spPr>
          <a:xfrm>
            <a:off x="1144655" y="1788379"/>
            <a:ext cx="9505124" cy="2115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5"/>
          <p:cNvPicPr preferRelativeResize="0"/>
          <p:nvPr/>
        </p:nvPicPr>
        <p:blipFill rotWithShape="1">
          <a:blip r:embed="rId3">
            <a:alphaModFix/>
          </a:blip>
          <a:srcRect b="0" l="0" r="0" t="0"/>
          <a:stretch/>
        </p:blipFill>
        <p:spPr>
          <a:xfrm>
            <a:off x="435087" y="1690609"/>
            <a:ext cx="11321826" cy="34767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nvSpPr>
        <p:spPr>
          <a:xfrm>
            <a:off x="450576" y="456575"/>
            <a:ext cx="69639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POBLACIÓN Y MUESTRA</a:t>
            </a:r>
            <a:endParaRPr sz="3200">
              <a:solidFill>
                <a:schemeClr val="dk1"/>
              </a:solidFill>
              <a:latin typeface="Gill Sans"/>
              <a:ea typeface="Gill Sans"/>
              <a:cs typeface="Gill Sans"/>
              <a:sym typeface="Gill Sans"/>
            </a:endParaRPr>
          </a:p>
        </p:txBody>
      </p:sp>
      <p:sp>
        <p:nvSpPr>
          <p:cNvPr id="117" name="Google Shape;117;p6"/>
          <p:cNvSpPr txBox="1"/>
          <p:nvPr/>
        </p:nvSpPr>
        <p:spPr>
          <a:xfrm>
            <a:off x="450574" y="1041356"/>
            <a:ext cx="11290852"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Gill Sans"/>
                <a:ea typeface="Gill Sans"/>
                <a:cs typeface="Gill Sans"/>
                <a:sym typeface="Gill Sans"/>
              </a:rPr>
              <a:t>Individuo o elementos: </a:t>
            </a:r>
            <a:r>
              <a:rPr lang="es-ES" sz="2400">
                <a:solidFill>
                  <a:schemeClr val="dk1"/>
                </a:solidFill>
                <a:latin typeface="Gill Sans"/>
                <a:ea typeface="Gill Sans"/>
                <a:cs typeface="Gill Sans"/>
                <a:sym typeface="Gill Sans"/>
              </a:rPr>
              <a:t>personas u objetos que contienen cierta información que se desea estudiar.</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Población</a:t>
            </a:r>
            <a:r>
              <a:rPr lang="es-ES" sz="2400">
                <a:solidFill>
                  <a:schemeClr val="dk1"/>
                </a:solidFill>
                <a:latin typeface="Gill Sans"/>
                <a:ea typeface="Gill Sans"/>
                <a:cs typeface="Gill Sans"/>
                <a:sym typeface="Gill Sans"/>
              </a:rPr>
              <a:t>: Conjunto de elementos que corresponden a una misma </a:t>
            </a:r>
            <a:r>
              <a:rPr b="1" lang="es-ES" sz="2400">
                <a:solidFill>
                  <a:schemeClr val="dk1"/>
                </a:solidFill>
                <a:latin typeface="Gill Sans"/>
                <a:ea typeface="Gill Sans"/>
                <a:cs typeface="Gill Sans"/>
                <a:sym typeface="Gill Sans"/>
              </a:rPr>
              <a:t>característica o modalidad</a:t>
            </a:r>
            <a:r>
              <a:rPr lang="es-ES" sz="2400">
                <a:solidFill>
                  <a:schemeClr val="dk1"/>
                </a:solidFill>
                <a:latin typeface="Gill Sans"/>
                <a:ea typeface="Gill Sans"/>
                <a:cs typeface="Gill Sans"/>
                <a:sym typeface="Gill Sans"/>
              </a:rPr>
              <a:t>, generalmente se representa con la letra </a:t>
            </a:r>
            <a:r>
              <a:rPr b="1" lang="es-ES" sz="2400">
                <a:solidFill>
                  <a:schemeClr val="dk1"/>
                </a:solidFill>
                <a:latin typeface="Gill Sans"/>
                <a:ea typeface="Gill Sans"/>
                <a:cs typeface="Gill Sans"/>
                <a:sym typeface="Gill Sans"/>
              </a:rPr>
              <a:t>N</a:t>
            </a:r>
            <a:r>
              <a:rPr lang="es-ES" sz="2400">
                <a:solidFill>
                  <a:schemeClr val="dk1"/>
                </a:solidFill>
                <a:latin typeface="Gill Sans"/>
                <a:ea typeface="Gill Sans"/>
                <a:cs typeface="Gill Sans"/>
                <a:sym typeface="Gill Sans"/>
              </a:rPr>
              <a:t>, a esta medida se la denomina </a:t>
            </a:r>
            <a:r>
              <a:rPr b="1" lang="es-ES" sz="2400">
                <a:solidFill>
                  <a:schemeClr val="dk1"/>
                </a:solidFill>
                <a:latin typeface="Gill Sans"/>
                <a:ea typeface="Gill Sans"/>
                <a:cs typeface="Gill Sans"/>
                <a:sym typeface="Gill Sans"/>
              </a:rPr>
              <a:t>Parámetro</a:t>
            </a:r>
            <a:r>
              <a:rPr lang="es-ES" sz="2400">
                <a:solidFill>
                  <a:schemeClr val="dk1"/>
                </a:solidFill>
                <a:latin typeface="Gill Sans"/>
                <a:ea typeface="Gill Sans"/>
                <a:cs typeface="Gill Sans"/>
                <a:sym typeface="Gill Sans"/>
              </a:rPr>
              <a:t>, y puede </a:t>
            </a:r>
            <a:r>
              <a:rPr b="1" lang="es-ES" sz="2400">
                <a:solidFill>
                  <a:schemeClr val="dk1"/>
                </a:solidFill>
                <a:latin typeface="Gill Sans"/>
                <a:ea typeface="Gill Sans"/>
                <a:cs typeface="Gill Sans"/>
                <a:sym typeface="Gill Sans"/>
              </a:rPr>
              <a:t>ser Infinita o Finita</a:t>
            </a:r>
            <a:r>
              <a:rPr lang="es-ES" sz="2400">
                <a:solidFill>
                  <a:schemeClr val="dk1"/>
                </a:solidFill>
                <a:latin typeface="Gill Sans"/>
                <a:ea typeface="Gill Sans"/>
                <a:cs typeface="Gill Sans"/>
                <a:sym typeface="Gill Sans"/>
              </a:rPr>
              <a:t>. Se contabilizan a través de </a:t>
            </a:r>
            <a:r>
              <a:rPr b="1" lang="es-ES" sz="2400">
                <a:solidFill>
                  <a:schemeClr val="dk1"/>
                </a:solidFill>
                <a:latin typeface="Gill Sans"/>
                <a:ea typeface="Gill Sans"/>
                <a:cs typeface="Gill Sans"/>
                <a:sym typeface="Gill Sans"/>
              </a:rPr>
              <a:t>censos</a:t>
            </a:r>
            <a:endParaRPr/>
          </a:p>
          <a:p>
            <a:pPr indent="0" lvl="0" marL="0" marR="0" rtl="0" algn="just">
              <a:spcBef>
                <a:spcPts val="0"/>
              </a:spcBef>
              <a:spcAft>
                <a:spcPts val="0"/>
              </a:spcAft>
              <a:buNone/>
            </a:pPr>
            <a:r>
              <a:t/>
            </a:r>
            <a:endParaRPr b="1"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Muestra: </a:t>
            </a:r>
            <a:r>
              <a:rPr lang="es-ES" sz="2400">
                <a:solidFill>
                  <a:schemeClr val="dk1"/>
                </a:solidFill>
                <a:latin typeface="Gill Sans"/>
                <a:ea typeface="Gill Sans"/>
                <a:cs typeface="Gill Sans"/>
                <a:sym typeface="Gill Sans"/>
              </a:rPr>
              <a:t>subconjunto de elementos seleccionados de la población. Dada la dificultad de llevar a cabo estudios con toda la población, se toman estos subconjuntos. Las medidas que se obtienen de las muestras de denominan </a:t>
            </a:r>
            <a:r>
              <a:rPr b="1" lang="es-ES" sz="2400">
                <a:solidFill>
                  <a:schemeClr val="dk1"/>
                </a:solidFill>
                <a:latin typeface="Gill Sans"/>
                <a:ea typeface="Gill Sans"/>
                <a:cs typeface="Gill Sans"/>
                <a:sym typeface="Gill Sans"/>
              </a:rPr>
              <a:t>estadísticos</a:t>
            </a:r>
            <a:r>
              <a:rPr lang="es-ES" sz="2400">
                <a:solidFill>
                  <a:schemeClr val="dk1"/>
                </a:solidFill>
                <a:latin typeface="Gill Sans"/>
                <a:ea typeface="Gill Sans"/>
                <a:cs typeface="Gill Sans"/>
                <a:sym typeface="Gill Sans"/>
              </a:rPr>
              <a:t> y se simboliza con la letra </a:t>
            </a:r>
            <a:r>
              <a:rPr b="1" lang="es-ES" sz="2400">
                <a:solidFill>
                  <a:schemeClr val="dk1"/>
                </a:solidFill>
                <a:latin typeface="Gill Sans"/>
                <a:ea typeface="Gill Sans"/>
                <a:cs typeface="Gill Sans"/>
                <a:sym typeface="Gill Sans"/>
              </a:rPr>
              <a:t>n.</a:t>
            </a:r>
            <a:endParaRPr/>
          </a:p>
          <a:p>
            <a:pPr indent="0" lvl="0" marL="0" marR="0" rtl="0" algn="just">
              <a:spcBef>
                <a:spcPts val="0"/>
              </a:spcBef>
              <a:spcAft>
                <a:spcPts val="0"/>
              </a:spcAft>
              <a:buNone/>
            </a:pPr>
            <a:r>
              <a:t/>
            </a:r>
            <a:endParaRPr b="1"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Obteniendo muestras que sean representativas de la realidad se pueden extraer conclusiones válidas de sus comportamientos, es decir, se puede Inferir conclusiones, e incluso predecir en términos probabilísticos sus resultados.</a:t>
            </a:r>
            <a:endParaRPr sz="24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grpSp>
        <p:nvGrpSpPr>
          <p:cNvPr id="122" name="Google Shape;122;p7"/>
          <p:cNvGrpSpPr/>
          <p:nvPr/>
        </p:nvGrpSpPr>
        <p:grpSpPr>
          <a:xfrm>
            <a:off x="2548587" y="729589"/>
            <a:ext cx="8114889" cy="5486661"/>
            <a:chOff x="1701" y="900"/>
            <a:chExt cx="8460" cy="5040"/>
          </a:xfrm>
        </p:grpSpPr>
        <p:sp>
          <p:nvSpPr>
            <p:cNvPr id="123" name="Google Shape;123;p7"/>
            <p:cNvSpPr/>
            <p:nvPr/>
          </p:nvSpPr>
          <p:spPr>
            <a:xfrm>
              <a:off x="1701" y="900"/>
              <a:ext cx="8460" cy="5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4" name="Google Shape;124;p7"/>
            <p:cNvSpPr/>
            <p:nvPr/>
          </p:nvSpPr>
          <p:spPr>
            <a:xfrm>
              <a:off x="1773" y="1620"/>
              <a:ext cx="3780" cy="396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5" name="Google Shape;125;p7"/>
            <p:cNvSpPr/>
            <p:nvPr/>
          </p:nvSpPr>
          <p:spPr>
            <a:xfrm>
              <a:off x="7218" y="2520"/>
              <a:ext cx="1575" cy="18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6" name="Google Shape;126;p7"/>
            <p:cNvSpPr/>
            <p:nvPr/>
          </p:nvSpPr>
          <p:spPr>
            <a:xfrm flipH="1">
              <a:off x="2853" y="2160"/>
              <a:ext cx="180" cy="180"/>
            </a:xfrm>
            <a:prstGeom prst="flowChartConnector">
              <a:avLst/>
            </a:prstGeom>
            <a:solidFill>
              <a:srgbClr val="9933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7" name="Google Shape;127;p7"/>
            <p:cNvSpPr/>
            <p:nvPr/>
          </p:nvSpPr>
          <p:spPr>
            <a:xfrm flipH="1">
              <a:off x="3393" y="1800"/>
              <a:ext cx="180" cy="180"/>
            </a:xfrm>
            <a:prstGeom prst="flowChartConnector">
              <a:avLst/>
            </a:prstGeom>
            <a:solidFill>
              <a:srgbClr val="FF66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8" name="Google Shape;128;p7"/>
            <p:cNvSpPr/>
            <p:nvPr/>
          </p:nvSpPr>
          <p:spPr>
            <a:xfrm flipH="1">
              <a:off x="2313" y="2340"/>
              <a:ext cx="180" cy="180"/>
            </a:xfrm>
            <a:prstGeom prst="flowChartConnector">
              <a:avLst/>
            </a:prstGeom>
            <a:solidFill>
              <a:srgbClr val="FF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29" name="Google Shape;129;p7"/>
            <p:cNvSpPr/>
            <p:nvPr/>
          </p:nvSpPr>
          <p:spPr>
            <a:xfrm flipH="1">
              <a:off x="4113" y="2160"/>
              <a:ext cx="180" cy="180"/>
            </a:xfrm>
            <a:prstGeom prst="flowChartConnector">
              <a:avLst/>
            </a:prstGeom>
            <a:solidFill>
              <a:srgbClr val="FF99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0" name="Google Shape;130;p7"/>
            <p:cNvSpPr/>
            <p:nvPr/>
          </p:nvSpPr>
          <p:spPr>
            <a:xfrm flipH="1">
              <a:off x="3573" y="2160"/>
              <a:ext cx="180" cy="180"/>
            </a:xfrm>
            <a:prstGeom prst="flowChartConnector">
              <a:avLst/>
            </a:prstGeom>
            <a:solidFill>
              <a:srgbClr val="FFCC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1" name="Google Shape;131;p7"/>
            <p:cNvSpPr/>
            <p:nvPr/>
          </p:nvSpPr>
          <p:spPr>
            <a:xfrm flipH="1">
              <a:off x="3393" y="2700"/>
              <a:ext cx="180" cy="180"/>
            </a:xfrm>
            <a:prstGeom prst="flowChartConnector">
              <a:avLst/>
            </a:prstGeom>
            <a:solidFill>
              <a:srgbClr val="FFCC99"/>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2" name="Google Shape;132;p7"/>
            <p:cNvSpPr/>
            <p:nvPr/>
          </p:nvSpPr>
          <p:spPr>
            <a:xfrm flipH="1">
              <a:off x="2133" y="2880"/>
              <a:ext cx="180" cy="180"/>
            </a:xfrm>
            <a:prstGeom prst="flowChartConnector">
              <a:avLst/>
            </a:prstGeom>
            <a:solidFill>
              <a:srgbClr val="FFFF99"/>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3" name="Google Shape;133;p7"/>
            <p:cNvSpPr/>
            <p:nvPr/>
          </p:nvSpPr>
          <p:spPr>
            <a:xfrm flipH="1">
              <a:off x="2853" y="3060"/>
              <a:ext cx="180" cy="180"/>
            </a:xfrm>
            <a:prstGeom prst="flowChartConnector">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4" name="Google Shape;134;p7"/>
            <p:cNvSpPr/>
            <p:nvPr/>
          </p:nvSpPr>
          <p:spPr>
            <a:xfrm flipH="1">
              <a:off x="2313" y="3330"/>
              <a:ext cx="180" cy="180"/>
            </a:xfrm>
            <a:prstGeom prst="flowChartConnector">
              <a:avLst/>
            </a:prstGeom>
            <a:solidFill>
              <a:srgbClr val="CCFF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5" name="Google Shape;135;p7"/>
            <p:cNvSpPr/>
            <p:nvPr/>
          </p:nvSpPr>
          <p:spPr>
            <a:xfrm flipH="1">
              <a:off x="2133" y="3960"/>
              <a:ext cx="180" cy="180"/>
            </a:xfrm>
            <a:prstGeom prst="flowChartConnector">
              <a:avLst/>
            </a:prstGeom>
            <a:solidFill>
              <a:srgbClr val="00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6" name="Google Shape;136;p7"/>
            <p:cNvSpPr/>
            <p:nvPr/>
          </p:nvSpPr>
          <p:spPr>
            <a:xfrm flipH="1">
              <a:off x="2853" y="3780"/>
              <a:ext cx="180" cy="180"/>
            </a:xfrm>
            <a:prstGeom prst="flowChartConnector">
              <a:avLst/>
            </a:prstGeom>
            <a:solidFill>
              <a:srgbClr val="339966"/>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7" name="Google Shape;137;p7"/>
            <p:cNvSpPr/>
            <p:nvPr/>
          </p:nvSpPr>
          <p:spPr>
            <a:xfrm flipH="1">
              <a:off x="2673" y="4500"/>
              <a:ext cx="180" cy="180"/>
            </a:xfrm>
            <a:prstGeom prst="flowChartConnector">
              <a:avLst/>
            </a:prstGeom>
            <a:solidFill>
              <a:srgbClr val="99CC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8" name="Google Shape;138;p7"/>
            <p:cNvSpPr/>
            <p:nvPr/>
          </p:nvSpPr>
          <p:spPr>
            <a:xfrm flipH="1">
              <a:off x="3753" y="3240"/>
              <a:ext cx="180" cy="180"/>
            </a:xfrm>
            <a:prstGeom prst="flowChartConnector">
              <a:avLst/>
            </a:prstGeom>
            <a:solidFill>
              <a:srgbClr val="808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39" name="Google Shape;139;p7"/>
            <p:cNvSpPr/>
            <p:nvPr/>
          </p:nvSpPr>
          <p:spPr>
            <a:xfrm flipH="1">
              <a:off x="4113" y="5220"/>
              <a:ext cx="180" cy="180"/>
            </a:xfrm>
            <a:prstGeom prst="flowChartConnector">
              <a:avLst/>
            </a:prstGeom>
            <a:solidFill>
              <a:srgbClr val="33CC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0" name="Google Shape;140;p7"/>
            <p:cNvSpPr/>
            <p:nvPr/>
          </p:nvSpPr>
          <p:spPr>
            <a:xfrm flipH="1">
              <a:off x="3213" y="4320"/>
              <a:ext cx="180" cy="180"/>
            </a:xfrm>
            <a:prstGeom prst="flowChartConnector">
              <a:avLst/>
            </a:prstGeom>
            <a:solidFill>
              <a:srgbClr val="CC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1" name="Google Shape;141;p7"/>
            <p:cNvSpPr/>
            <p:nvPr/>
          </p:nvSpPr>
          <p:spPr>
            <a:xfrm flipH="1">
              <a:off x="3393" y="4860"/>
              <a:ext cx="180" cy="180"/>
            </a:xfrm>
            <a:prstGeom prst="flowChartConnector">
              <a:avLst/>
            </a:prstGeom>
            <a:solidFill>
              <a:srgbClr val="00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2" name="Google Shape;142;p7"/>
            <p:cNvSpPr/>
            <p:nvPr/>
          </p:nvSpPr>
          <p:spPr>
            <a:xfrm flipH="1">
              <a:off x="4113" y="2520"/>
              <a:ext cx="180" cy="180"/>
            </a:xfrm>
            <a:prstGeom prst="flowChartConnector">
              <a:avLst/>
            </a:prstGeom>
            <a:solidFill>
              <a:srgbClr val="3366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3" name="Google Shape;143;p7"/>
            <p:cNvSpPr/>
            <p:nvPr/>
          </p:nvSpPr>
          <p:spPr>
            <a:xfrm flipH="1">
              <a:off x="4293" y="4140"/>
              <a:ext cx="180" cy="180"/>
            </a:xfrm>
            <a:prstGeom prst="flowChartConnector">
              <a:avLst/>
            </a:prstGeom>
            <a:solidFill>
              <a:srgbClr val="0000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4" name="Google Shape;144;p7"/>
            <p:cNvSpPr/>
            <p:nvPr/>
          </p:nvSpPr>
          <p:spPr>
            <a:xfrm flipH="1">
              <a:off x="4833" y="2520"/>
              <a:ext cx="180" cy="180"/>
            </a:xfrm>
            <a:prstGeom prst="flowChartConnector">
              <a:avLst/>
            </a:prstGeom>
            <a:solidFill>
              <a:srgbClr val="000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5" name="Google Shape;145;p7"/>
            <p:cNvSpPr/>
            <p:nvPr/>
          </p:nvSpPr>
          <p:spPr>
            <a:xfrm flipH="1">
              <a:off x="4473" y="3060"/>
              <a:ext cx="180" cy="180"/>
            </a:xfrm>
            <a:prstGeom prst="flowChartConnector">
              <a:avLst/>
            </a:prstGeom>
            <a:solidFill>
              <a:srgbClr val="CC99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6" name="Google Shape;146;p7"/>
            <p:cNvSpPr/>
            <p:nvPr/>
          </p:nvSpPr>
          <p:spPr>
            <a:xfrm flipH="1">
              <a:off x="5013" y="3330"/>
              <a:ext cx="180" cy="180"/>
            </a:xfrm>
            <a:prstGeom prst="flowChartConnector">
              <a:avLst/>
            </a:prstGeom>
            <a:solidFill>
              <a:srgbClr val="FF99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7" name="Google Shape;147;p7"/>
            <p:cNvSpPr/>
            <p:nvPr/>
          </p:nvSpPr>
          <p:spPr>
            <a:xfrm flipH="1">
              <a:off x="4653" y="3960"/>
              <a:ext cx="180" cy="180"/>
            </a:xfrm>
            <a:prstGeom prst="flowChartConnector">
              <a:avLst/>
            </a:prstGeom>
            <a:solidFill>
              <a:srgbClr val="FF00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8" name="Google Shape;148;p7"/>
            <p:cNvSpPr/>
            <p:nvPr/>
          </p:nvSpPr>
          <p:spPr>
            <a:xfrm flipH="1">
              <a:off x="3753" y="4320"/>
              <a:ext cx="180" cy="180"/>
            </a:xfrm>
            <a:prstGeom prst="flowChartConnector">
              <a:avLst/>
            </a:prstGeom>
            <a:solidFill>
              <a:srgbClr val="FFCC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49" name="Google Shape;149;p7"/>
            <p:cNvSpPr/>
            <p:nvPr/>
          </p:nvSpPr>
          <p:spPr>
            <a:xfrm flipH="1">
              <a:off x="4473" y="4680"/>
              <a:ext cx="180" cy="180"/>
            </a:xfrm>
            <a:prstGeom prst="flowChartConnector">
              <a:avLst/>
            </a:prstGeom>
            <a:solidFill>
              <a:srgbClr val="FF99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0" name="Google Shape;150;p7"/>
            <p:cNvSpPr/>
            <p:nvPr/>
          </p:nvSpPr>
          <p:spPr>
            <a:xfrm flipH="1">
              <a:off x="8433" y="2880"/>
              <a:ext cx="180" cy="180"/>
            </a:xfrm>
            <a:prstGeom prst="flowChartConnector">
              <a:avLst/>
            </a:prstGeom>
            <a:solidFill>
              <a:srgbClr val="FF66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1" name="Google Shape;151;p7"/>
            <p:cNvSpPr/>
            <p:nvPr/>
          </p:nvSpPr>
          <p:spPr>
            <a:xfrm flipH="1">
              <a:off x="8433" y="3600"/>
              <a:ext cx="180" cy="180"/>
            </a:xfrm>
            <a:prstGeom prst="flowChartConnector">
              <a:avLst/>
            </a:prstGeom>
            <a:solidFill>
              <a:srgbClr val="FF00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2" name="Google Shape;152;p7"/>
            <p:cNvSpPr/>
            <p:nvPr/>
          </p:nvSpPr>
          <p:spPr>
            <a:xfrm flipH="1">
              <a:off x="7533" y="3240"/>
              <a:ext cx="180" cy="180"/>
            </a:xfrm>
            <a:prstGeom prst="flowChartConnector">
              <a:avLst/>
            </a:prstGeom>
            <a:solidFill>
              <a:srgbClr val="339966"/>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3" name="Google Shape;153;p7"/>
            <p:cNvSpPr/>
            <p:nvPr/>
          </p:nvSpPr>
          <p:spPr>
            <a:xfrm flipH="1">
              <a:off x="8073" y="3240"/>
              <a:ext cx="180" cy="180"/>
            </a:xfrm>
            <a:prstGeom prst="flowChartConnector">
              <a:avLst/>
            </a:prstGeom>
            <a:solidFill>
              <a:srgbClr val="FFFF99"/>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4" name="Google Shape;154;p7"/>
            <p:cNvSpPr/>
            <p:nvPr/>
          </p:nvSpPr>
          <p:spPr>
            <a:xfrm flipH="1">
              <a:off x="8073" y="2700"/>
              <a:ext cx="180" cy="180"/>
            </a:xfrm>
            <a:prstGeom prst="flowChartConnector">
              <a:avLst/>
            </a:prstGeom>
            <a:solidFill>
              <a:srgbClr val="FFCC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5" name="Google Shape;155;p7"/>
            <p:cNvSpPr/>
            <p:nvPr/>
          </p:nvSpPr>
          <p:spPr>
            <a:xfrm flipH="1">
              <a:off x="7893" y="3960"/>
              <a:ext cx="180" cy="180"/>
            </a:xfrm>
            <a:prstGeom prst="flowChartConnector">
              <a:avLst/>
            </a:prstGeom>
            <a:solidFill>
              <a:srgbClr val="3366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404040"/>
                </a:buClr>
                <a:buSzPts val="1800"/>
                <a:buFont typeface="Noto Sans Symbols"/>
                <a:buNone/>
              </a:pPr>
              <a:r>
                <a:t/>
              </a:r>
              <a:endParaRPr sz="1800">
                <a:solidFill>
                  <a:schemeClr val="dk1"/>
                </a:solidFill>
                <a:latin typeface="Tahoma"/>
                <a:ea typeface="Tahoma"/>
                <a:cs typeface="Tahoma"/>
                <a:sym typeface="Tahoma"/>
              </a:endParaRPr>
            </a:p>
          </p:txBody>
        </p:sp>
        <p:sp>
          <p:nvSpPr>
            <p:cNvPr id="156" name="Google Shape;156;p7"/>
            <p:cNvSpPr txBox="1"/>
            <p:nvPr/>
          </p:nvSpPr>
          <p:spPr>
            <a:xfrm>
              <a:off x="2673" y="900"/>
              <a:ext cx="1800" cy="5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200"/>
                <a:buFont typeface="Noto Sans Symbols"/>
                <a:buNone/>
              </a:pPr>
              <a:r>
                <a:rPr b="1" lang="es-ES" sz="1200">
                  <a:solidFill>
                    <a:schemeClr val="dk1"/>
                  </a:solidFill>
                  <a:latin typeface="Times New Roman"/>
                  <a:ea typeface="Times New Roman"/>
                  <a:cs typeface="Times New Roman"/>
                  <a:sym typeface="Times New Roman"/>
                </a:rPr>
                <a:t>POBLACIÓN</a:t>
              </a:r>
              <a:endParaRPr sz="1800">
                <a:solidFill>
                  <a:schemeClr val="dk1"/>
                </a:solidFill>
                <a:latin typeface="Arial"/>
                <a:ea typeface="Arial"/>
                <a:cs typeface="Arial"/>
                <a:sym typeface="Arial"/>
              </a:endParaRPr>
            </a:p>
          </p:txBody>
        </p:sp>
        <p:sp>
          <p:nvSpPr>
            <p:cNvPr id="157" name="Google Shape;157;p7"/>
            <p:cNvSpPr txBox="1"/>
            <p:nvPr/>
          </p:nvSpPr>
          <p:spPr>
            <a:xfrm>
              <a:off x="7173" y="900"/>
              <a:ext cx="1800" cy="5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200"/>
                <a:buFont typeface="Noto Sans Symbols"/>
                <a:buNone/>
              </a:pPr>
              <a:r>
                <a:rPr b="1" lang="es-ES" sz="1200">
                  <a:solidFill>
                    <a:schemeClr val="dk1"/>
                  </a:solidFill>
                  <a:latin typeface="Times New Roman"/>
                  <a:ea typeface="Times New Roman"/>
                  <a:cs typeface="Times New Roman"/>
                  <a:sym typeface="Times New Roman"/>
                </a:rPr>
                <a:t>MUESTRA</a:t>
              </a:r>
              <a:endParaRPr sz="1800">
                <a:solidFill>
                  <a:schemeClr val="dk1"/>
                </a:solidFill>
                <a:latin typeface="Arial"/>
                <a:ea typeface="Arial"/>
                <a:cs typeface="Arial"/>
                <a:sym typeface="Arial"/>
              </a:endParaRPr>
            </a:p>
          </p:txBody>
        </p:sp>
        <p:cxnSp>
          <p:nvCxnSpPr>
            <p:cNvPr id="158" name="Google Shape;158;p7"/>
            <p:cNvCxnSpPr>
              <a:stCxn id="127" idx="2"/>
              <a:endCxn id="150" idx="6"/>
            </p:cNvCxnSpPr>
            <p:nvPr/>
          </p:nvCxnSpPr>
          <p:spPr>
            <a:xfrm>
              <a:off x="3573" y="1890"/>
              <a:ext cx="4800" cy="1200"/>
            </a:xfrm>
            <a:prstGeom prst="curvedConnector3">
              <a:avLst>
                <a:gd fmla="val 50625" name="adj1"/>
              </a:avLst>
            </a:prstGeom>
            <a:noFill/>
            <a:ln cap="flat" cmpd="sng" w="9525">
              <a:solidFill>
                <a:srgbClr val="000000"/>
              </a:solidFill>
              <a:prstDash val="solid"/>
              <a:round/>
              <a:headEnd len="med" w="med" type="none"/>
              <a:tailEnd len="med" w="med" type="triangle"/>
            </a:ln>
          </p:spPr>
        </p:cxnSp>
        <p:cxnSp>
          <p:nvCxnSpPr>
            <p:cNvPr id="159" name="Google Shape;159;p7"/>
            <p:cNvCxnSpPr>
              <a:stCxn id="147" idx="3"/>
              <a:endCxn id="151" idx="6"/>
            </p:cNvCxnSpPr>
            <p:nvPr/>
          </p:nvCxnSpPr>
          <p:spPr>
            <a:xfrm rot="-5400000">
              <a:off x="6457" y="2164"/>
              <a:ext cx="300" cy="3600"/>
            </a:xfrm>
            <a:prstGeom prst="curvedConnector4">
              <a:avLst>
                <a:gd fmla="val -81700" name="adj1"/>
                <a:gd fmla="val 50732" name="adj2"/>
              </a:avLst>
            </a:prstGeom>
            <a:noFill/>
            <a:ln cap="flat" cmpd="sng" w="9525">
              <a:solidFill>
                <a:srgbClr val="000000"/>
              </a:solidFill>
              <a:prstDash val="solid"/>
              <a:round/>
              <a:headEnd len="med" w="med" type="none"/>
              <a:tailEnd len="med" w="med" type="triangle"/>
            </a:ln>
          </p:spPr>
        </p:cxnSp>
        <p:cxnSp>
          <p:nvCxnSpPr>
            <p:cNvPr id="160" name="Google Shape;160;p7"/>
            <p:cNvCxnSpPr>
              <a:stCxn id="136" idx="2"/>
              <a:endCxn id="152" idx="5"/>
            </p:cNvCxnSpPr>
            <p:nvPr/>
          </p:nvCxnSpPr>
          <p:spPr>
            <a:xfrm flipH="1" rot="10800000">
              <a:off x="3033" y="3270"/>
              <a:ext cx="4500" cy="600"/>
            </a:xfrm>
            <a:prstGeom prst="curvedConnector2">
              <a:avLst/>
            </a:prstGeom>
            <a:noFill/>
            <a:ln cap="flat" cmpd="sng" w="9525">
              <a:solidFill>
                <a:srgbClr val="000000"/>
              </a:solidFill>
              <a:prstDash val="solid"/>
              <a:round/>
              <a:headEnd len="med" w="med" type="none"/>
              <a:tailEnd len="med" w="med" type="triangle"/>
            </a:ln>
          </p:spPr>
        </p:cxnSp>
        <p:cxnSp>
          <p:nvCxnSpPr>
            <p:cNvPr id="161" name="Google Shape;161;p7"/>
            <p:cNvCxnSpPr>
              <a:stCxn id="130" idx="2"/>
              <a:endCxn id="154" idx="7"/>
            </p:cNvCxnSpPr>
            <p:nvPr/>
          </p:nvCxnSpPr>
          <p:spPr>
            <a:xfrm>
              <a:off x="3753" y="2250"/>
              <a:ext cx="4200" cy="600"/>
            </a:xfrm>
            <a:prstGeom prst="curvedConnector2">
              <a:avLst/>
            </a:prstGeom>
            <a:noFill/>
            <a:ln cap="flat" cmpd="sng" w="9525">
              <a:solidFill>
                <a:srgbClr val="000000"/>
              </a:solidFill>
              <a:prstDash val="solid"/>
              <a:round/>
              <a:headEnd len="med" w="med" type="none"/>
              <a:tailEnd len="med" w="med" type="triangle"/>
            </a:ln>
          </p:spPr>
        </p:cxnSp>
        <p:cxnSp>
          <p:nvCxnSpPr>
            <p:cNvPr id="162" name="Google Shape;162;p7"/>
            <p:cNvCxnSpPr>
              <a:endCxn id="153" idx="0"/>
            </p:cNvCxnSpPr>
            <p:nvPr/>
          </p:nvCxnSpPr>
          <p:spPr>
            <a:xfrm>
              <a:off x="2163" y="2640"/>
              <a:ext cx="6000" cy="600"/>
            </a:xfrm>
            <a:prstGeom prst="curvedConnector2">
              <a:avLst/>
            </a:prstGeom>
            <a:noFill/>
            <a:ln cap="flat" cmpd="sng" w="9525">
              <a:solidFill>
                <a:srgbClr val="000000"/>
              </a:solidFill>
              <a:prstDash val="solid"/>
              <a:round/>
              <a:headEnd len="med" w="med" type="none"/>
              <a:tailEnd len="med" w="med" type="triangle"/>
            </a:ln>
          </p:spPr>
        </p:cxnSp>
        <p:cxnSp>
          <p:nvCxnSpPr>
            <p:cNvPr id="163" name="Google Shape;163;p7"/>
            <p:cNvCxnSpPr>
              <a:stCxn id="143" idx="4"/>
              <a:endCxn id="155" idx="5"/>
            </p:cNvCxnSpPr>
            <p:nvPr/>
          </p:nvCxnSpPr>
          <p:spPr>
            <a:xfrm rot="-5400000">
              <a:off x="6033" y="2370"/>
              <a:ext cx="300" cy="3600"/>
            </a:xfrm>
            <a:prstGeom prst="curvedConnector3">
              <a:avLst>
                <a:gd fmla="val -72913" name="adj1"/>
              </a:avLst>
            </a:prstGeom>
            <a:noFill/>
            <a:ln cap="flat" cmpd="sng" w="9525">
              <a:solidFill>
                <a:srgbClr val="000000"/>
              </a:solidFill>
              <a:prstDash val="solid"/>
              <a:round/>
              <a:headEnd len="med" w="med" type="none"/>
              <a:tailEnd len="med" w="med" type="triangl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nvSpPr>
        <p:spPr>
          <a:xfrm>
            <a:off x="357796" y="416800"/>
            <a:ext cx="9897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Organización de los datos - VARIABLES</a:t>
            </a:r>
            <a:endParaRPr sz="3200">
              <a:solidFill>
                <a:schemeClr val="dk1"/>
              </a:solidFill>
              <a:latin typeface="Gill Sans"/>
              <a:ea typeface="Gill Sans"/>
              <a:cs typeface="Gill Sans"/>
              <a:sym typeface="Gill Sans"/>
            </a:endParaRPr>
          </a:p>
        </p:txBody>
      </p:sp>
      <p:sp>
        <p:nvSpPr>
          <p:cNvPr id="169" name="Google Shape;169;p8"/>
          <p:cNvSpPr txBox="1"/>
          <p:nvPr/>
        </p:nvSpPr>
        <p:spPr>
          <a:xfrm>
            <a:off x="357800" y="1344050"/>
            <a:ext cx="11661900" cy="5264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Objeto de Estudio</a:t>
            </a:r>
            <a:r>
              <a:rPr lang="es-ES" sz="2400">
                <a:solidFill>
                  <a:schemeClr val="dk1"/>
                </a:solidFill>
                <a:latin typeface="Gill Sans"/>
                <a:ea typeface="Gill Sans"/>
                <a:cs typeface="Gill Sans"/>
                <a:sym typeface="Gill Sans"/>
              </a:rPr>
              <a:t>: es la entidad acerca del cual se pretende estudiar o recolectar datos. Se obtienen anotando las mediciones de cada </a:t>
            </a:r>
            <a:r>
              <a:rPr b="1" lang="es-ES" sz="2400">
                <a:solidFill>
                  <a:schemeClr val="dk1"/>
                </a:solidFill>
                <a:latin typeface="Gill Sans"/>
                <a:ea typeface="Gill Sans"/>
                <a:cs typeface="Gill Sans"/>
                <a:sym typeface="Gill Sans"/>
              </a:rPr>
              <a:t>variable</a:t>
            </a:r>
            <a:r>
              <a:rPr lang="es-ES" sz="2400">
                <a:solidFill>
                  <a:schemeClr val="dk1"/>
                </a:solidFill>
                <a:latin typeface="Gill Sans"/>
                <a:ea typeface="Gill Sans"/>
                <a:cs typeface="Gill Sans"/>
                <a:sym typeface="Gill Sans"/>
              </a:rPr>
              <a:t> para cada uno de los componentes del objeto de estudio.</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Variable</a:t>
            </a:r>
            <a:r>
              <a:rPr lang="es-ES" sz="2400">
                <a:solidFill>
                  <a:schemeClr val="dk1"/>
                </a:solidFill>
                <a:latin typeface="Gill Sans"/>
                <a:ea typeface="Gill Sans"/>
                <a:cs typeface="Gill Sans"/>
                <a:sym typeface="Gill Sans"/>
              </a:rPr>
              <a:t>: una magnitud que puede tomar diferentes valores. Se diferencia de </a:t>
            </a:r>
            <a:r>
              <a:rPr b="1" lang="es-ES" sz="2400">
                <a:solidFill>
                  <a:schemeClr val="dk1"/>
                </a:solidFill>
                <a:latin typeface="Gill Sans"/>
                <a:ea typeface="Gill Sans"/>
                <a:cs typeface="Gill Sans"/>
                <a:sym typeface="Gill Sans"/>
              </a:rPr>
              <a:t>Constante</a:t>
            </a:r>
            <a:r>
              <a:rPr lang="es-ES" sz="2400">
                <a:solidFill>
                  <a:schemeClr val="dk1"/>
                </a:solidFill>
                <a:latin typeface="Gill Sans"/>
                <a:ea typeface="Gill Sans"/>
                <a:cs typeface="Gill Sans"/>
                <a:sym typeface="Gill Sans"/>
              </a:rPr>
              <a:t>, ya que esta ultima no puede cambiar, es decir, permanece fijo durante el estudio o investigación. </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Las variables pueden ser </a:t>
            </a:r>
            <a:r>
              <a:rPr b="1" lang="es-ES" sz="2400">
                <a:solidFill>
                  <a:schemeClr val="dk1"/>
                </a:solidFill>
                <a:latin typeface="Gill Sans"/>
                <a:ea typeface="Gill Sans"/>
                <a:cs typeface="Gill Sans"/>
                <a:sym typeface="Gill Sans"/>
              </a:rPr>
              <a:t>Aleatorias o Determinísticas</a:t>
            </a:r>
            <a:r>
              <a:rPr lang="es-ES" sz="2400">
                <a:solidFill>
                  <a:schemeClr val="dk1"/>
                </a:solidFill>
                <a:latin typeface="Gill Sans"/>
                <a:ea typeface="Gill Sans"/>
                <a:cs typeface="Gill Sans"/>
                <a:sym typeface="Gill Sans"/>
              </a:rPr>
              <a:t>. Las primeras se realizan bajo condiciones de Incertidumbre y su ocurrencia está sujeta a una Probabilidad de que pase. En cambio las variables determinísticas se puede esperar de un modo cierto su ocurrencia. </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Las Variables se clasifican en </a:t>
            </a:r>
            <a:r>
              <a:rPr b="1" lang="es-ES" sz="2400">
                <a:solidFill>
                  <a:schemeClr val="dk1"/>
                </a:solidFill>
                <a:latin typeface="Gill Sans"/>
                <a:ea typeface="Gill Sans"/>
                <a:cs typeface="Gill Sans"/>
                <a:sym typeface="Gill Sans"/>
              </a:rPr>
              <a:t>Cuantitativas (numéricas</a:t>
            </a:r>
            <a:r>
              <a:rPr lang="es-ES" sz="2400">
                <a:solidFill>
                  <a:schemeClr val="dk1"/>
                </a:solidFill>
                <a:latin typeface="Gill Sans"/>
                <a:ea typeface="Gill Sans"/>
                <a:cs typeface="Gill Sans"/>
                <a:sym typeface="Gill Sans"/>
              </a:rPr>
              <a:t>) o </a:t>
            </a:r>
            <a:r>
              <a:rPr b="1" lang="es-ES" sz="2400">
                <a:solidFill>
                  <a:schemeClr val="dk1"/>
                </a:solidFill>
                <a:latin typeface="Gill Sans"/>
                <a:ea typeface="Gill Sans"/>
                <a:cs typeface="Gill Sans"/>
                <a:sym typeface="Gill Sans"/>
              </a:rPr>
              <a:t>Cualitativas (categóricas).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txBox="1"/>
          <p:nvPr/>
        </p:nvSpPr>
        <p:spPr>
          <a:xfrm>
            <a:off x="357796" y="416825"/>
            <a:ext cx="95967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Organización de los datos - VARIABLES</a:t>
            </a:r>
            <a:endParaRPr sz="3200">
              <a:solidFill>
                <a:schemeClr val="dk1"/>
              </a:solidFill>
              <a:latin typeface="Gill Sans"/>
              <a:ea typeface="Gill Sans"/>
              <a:cs typeface="Gill Sans"/>
              <a:sym typeface="Gill Sans"/>
            </a:endParaRPr>
          </a:p>
        </p:txBody>
      </p:sp>
      <p:sp>
        <p:nvSpPr>
          <p:cNvPr id="175" name="Google Shape;175;p9"/>
          <p:cNvSpPr txBox="1"/>
          <p:nvPr/>
        </p:nvSpPr>
        <p:spPr>
          <a:xfrm>
            <a:off x="357808" y="1206813"/>
            <a:ext cx="10844017" cy="544764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Variable cualitativa Nominal</a:t>
            </a:r>
            <a:r>
              <a:rPr lang="es-ES" sz="2400">
                <a:solidFill>
                  <a:schemeClr val="dk1"/>
                </a:solidFill>
                <a:latin typeface="Gill Sans"/>
                <a:ea typeface="Gill Sans"/>
                <a:cs typeface="Gill Sans"/>
                <a:sym typeface="Gill Sans"/>
              </a:rPr>
              <a:t>: cuando las modalidades o características posibles son de tipo nominal. Por ejemplo, el grupo sanguíneo tiene por modalidades: Grupos Sanguíneos posibles: A, B, AB, O</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b="1" lang="es-ES" sz="2400">
                <a:solidFill>
                  <a:schemeClr val="dk1"/>
                </a:solidFill>
                <a:latin typeface="Gill Sans"/>
                <a:ea typeface="Gill Sans"/>
                <a:cs typeface="Gill Sans"/>
                <a:sym typeface="Gill Sans"/>
              </a:rPr>
              <a:t>Variable cualitativa Ordinal o cuasicualitativa: </a:t>
            </a:r>
            <a:r>
              <a:rPr lang="es-ES" sz="2400">
                <a:solidFill>
                  <a:schemeClr val="dk1"/>
                </a:solidFill>
                <a:latin typeface="Gill Sans"/>
                <a:ea typeface="Gill Sans"/>
                <a:cs typeface="Gill Sans"/>
                <a:sym typeface="Gill Sans"/>
              </a:rPr>
              <a:t>son las que, aunque sus modalidades son de tipo nominal, es posible establecer un orden entre ellas. Por ejemplo, si estudiamos el grado de recuperación de un paciente al aplicarle un tratamiento, podemos tener como modalidades: Grado de recuperación: Nada, Poco, Moderado, Bueno, Muy Bueno.</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s-ES" sz="2400">
                <a:solidFill>
                  <a:schemeClr val="dk1"/>
                </a:solidFill>
                <a:latin typeface="Gill Sans"/>
                <a:ea typeface="Gill Sans"/>
                <a:cs typeface="Gill Sans"/>
                <a:sym typeface="Gill Sans"/>
              </a:rPr>
              <a:t>Variable cuantitativa o numéricas</a:t>
            </a:r>
            <a:r>
              <a:rPr lang="es-ES" sz="2400">
                <a:solidFill>
                  <a:schemeClr val="dk1"/>
                </a:solidFill>
                <a:latin typeface="Gill Sans"/>
                <a:ea typeface="Gill Sans"/>
                <a:cs typeface="Gill Sans"/>
                <a:sym typeface="Gill Sans"/>
              </a:rPr>
              <a:t>: son las que tienen por modalidades cantidades numéricas con las que podemos hacer operaciones aritméticas. Dentro de este tipo de variables podemos distinguir dos grupos: </a:t>
            </a:r>
            <a:r>
              <a:rPr b="1" lang="es-ES" sz="2400">
                <a:solidFill>
                  <a:schemeClr val="dk1"/>
                </a:solidFill>
                <a:latin typeface="Gill Sans"/>
                <a:ea typeface="Gill Sans"/>
                <a:cs typeface="Gill Sans"/>
                <a:sym typeface="Gill Sans"/>
              </a:rPr>
              <a:t>DISCRETAS</a:t>
            </a:r>
            <a:r>
              <a:rPr lang="es-ES" sz="2400">
                <a:solidFill>
                  <a:schemeClr val="dk1"/>
                </a:solidFill>
                <a:latin typeface="Gill Sans"/>
                <a:ea typeface="Gill Sans"/>
                <a:cs typeface="Gill Sans"/>
                <a:sym typeface="Gill Sans"/>
              </a:rPr>
              <a:t> y </a:t>
            </a:r>
            <a:r>
              <a:rPr b="1" lang="es-ES" sz="2400">
                <a:solidFill>
                  <a:schemeClr val="dk1"/>
                </a:solidFill>
                <a:latin typeface="Gill Sans"/>
                <a:ea typeface="Gill Sans"/>
                <a:cs typeface="Gill Sans"/>
                <a:sym typeface="Gill Sans"/>
              </a:rPr>
              <a:t>CONTINUAS</a:t>
            </a:r>
            <a:endParaRPr b="1"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chemeClr val="dk1"/>
              </a:solidFill>
              <a:latin typeface="Arial"/>
              <a:ea typeface="Arial"/>
              <a:cs typeface="Arial"/>
              <a:sym typeface="Arial"/>
            </a:endParaRPr>
          </a:p>
          <a:p>
            <a:pPr indent="0" lvl="0" marL="0" marR="0" rtl="0" algn="just">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0"/>
          <p:cNvPicPr preferRelativeResize="0"/>
          <p:nvPr/>
        </p:nvPicPr>
        <p:blipFill rotWithShape="1">
          <a:blip r:embed="rId3">
            <a:alphaModFix/>
          </a:blip>
          <a:srcRect b="0" l="0" r="0" t="0"/>
          <a:stretch/>
        </p:blipFill>
        <p:spPr>
          <a:xfrm>
            <a:off x="1358833" y="732925"/>
            <a:ext cx="9733235" cy="56148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nvSpPr>
        <p:spPr>
          <a:xfrm>
            <a:off x="596356" y="729325"/>
            <a:ext cx="3839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DATOS</a:t>
            </a:r>
            <a:endParaRPr sz="3200">
              <a:solidFill>
                <a:schemeClr val="dk1"/>
              </a:solidFill>
              <a:latin typeface="Gill Sans"/>
              <a:ea typeface="Gill Sans"/>
              <a:cs typeface="Gill Sans"/>
              <a:sym typeface="Gill Sans"/>
            </a:endParaRPr>
          </a:p>
        </p:txBody>
      </p:sp>
      <p:sp>
        <p:nvSpPr>
          <p:cNvPr id="186" name="Google Shape;186;p11"/>
          <p:cNvSpPr txBox="1"/>
          <p:nvPr/>
        </p:nvSpPr>
        <p:spPr>
          <a:xfrm>
            <a:off x="596347" y="1604353"/>
            <a:ext cx="10813774"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Valores observados de las variables. Son hechos o números que se recopilan, ordenan, presentan y resumen para su análisis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Los datos se reúnen mediante niveles o escalas de medición, las cuales son: </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b="1" lang="es-ES" sz="2400">
                <a:solidFill>
                  <a:schemeClr val="dk1"/>
                </a:solidFill>
                <a:latin typeface="Gill Sans"/>
                <a:ea typeface="Gill Sans"/>
                <a:cs typeface="Gill Sans"/>
                <a:sym typeface="Gill Sans"/>
              </a:rPr>
              <a:t>Datos de nivel o escala nominal: </a:t>
            </a:r>
            <a:r>
              <a:rPr lang="es-ES" sz="2400">
                <a:solidFill>
                  <a:schemeClr val="dk1"/>
                </a:solidFill>
                <a:latin typeface="Gill Sans"/>
                <a:ea typeface="Gill Sans"/>
                <a:cs typeface="Gill Sans"/>
                <a:sym typeface="Gill Sans"/>
              </a:rPr>
              <a:t>Cualitativo</a:t>
            </a:r>
            <a:endParaRPr/>
          </a:p>
          <a:p>
            <a:pPr indent="-133350" lvl="0" marL="285750" marR="0" rtl="0" algn="just">
              <a:spcBef>
                <a:spcPts val="0"/>
              </a:spcBef>
              <a:spcAft>
                <a:spcPts val="0"/>
              </a:spcAft>
              <a:buClr>
                <a:schemeClr val="dk1"/>
              </a:buClr>
              <a:buSzPts val="2400"/>
              <a:buFont typeface="Arial"/>
              <a:buNone/>
            </a:pPr>
            <a:r>
              <a:t/>
            </a:r>
            <a:endParaRPr b="1" sz="2400">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b="1" lang="es-ES" sz="2400">
                <a:solidFill>
                  <a:schemeClr val="dk1"/>
                </a:solidFill>
                <a:latin typeface="Gill Sans"/>
                <a:ea typeface="Gill Sans"/>
                <a:cs typeface="Gill Sans"/>
                <a:sym typeface="Gill Sans"/>
              </a:rPr>
              <a:t>Datos de nivel o escala ordinal: </a:t>
            </a:r>
            <a:r>
              <a:rPr lang="es-ES" sz="2400">
                <a:solidFill>
                  <a:schemeClr val="dk1"/>
                </a:solidFill>
                <a:latin typeface="Gill Sans"/>
                <a:ea typeface="Gill Sans"/>
                <a:cs typeface="Gill Sans"/>
                <a:sym typeface="Gill Sans"/>
              </a:rPr>
              <a:t>Cualitativo</a:t>
            </a:r>
            <a:endParaRPr/>
          </a:p>
          <a:p>
            <a:pPr indent="-133350" lvl="0" marL="285750" marR="0" rtl="0" algn="just">
              <a:spcBef>
                <a:spcPts val="0"/>
              </a:spcBef>
              <a:spcAft>
                <a:spcPts val="0"/>
              </a:spcAft>
              <a:buClr>
                <a:schemeClr val="dk1"/>
              </a:buClr>
              <a:buSzPts val="2400"/>
              <a:buFont typeface="Arial"/>
              <a:buNone/>
            </a:pPr>
            <a:r>
              <a:t/>
            </a:r>
            <a:endParaRPr b="1" sz="2400">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b="1" lang="es-ES" sz="2400">
                <a:solidFill>
                  <a:schemeClr val="dk1"/>
                </a:solidFill>
                <a:latin typeface="Gill Sans"/>
                <a:ea typeface="Gill Sans"/>
                <a:cs typeface="Gill Sans"/>
                <a:sym typeface="Gill Sans"/>
              </a:rPr>
              <a:t>Datos de nivel o escala de intervalos: </a:t>
            </a:r>
            <a:r>
              <a:rPr lang="es-ES" sz="2400">
                <a:solidFill>
                  <a:schemeClr val="dk1"/>
                </a:solidFill>
                <a:latin typeface="Gill Sans"/>
                <a:ea typeface="Gill Sans"/>
                <a:cs typeface="Gill Sans"/>
                <a:sym typeface="Gill Sans"/>
              </a:rPr>
              <a:t>Cuantitativos – Cero Relativo</a:t>
            </a:r>
            <a:endParaRPr b="1" sz="2400">
              <a:solidFill>
                <a:schemeClr val="dk1"/>
              </a:solidFill>
              <a:latin typeface="Gill Sans"/>
              <a:ea typeface="Gill Sans"/>
              <a:cs typeface="Gill Sans"/>
              <a:sym typeface="Gill Sans"/>
            </a:endParaRPr>
          </a:p>
          <a:p>
            <a:pPr indent="-133350" lvl="0" marL="285750" marR="0" rtl="0" algn="just">
              <a:spcBef>
                <a:spcPts val="0"/>
              </a:spcBef>
              <a:spcAft>
                <a:spcPts val="0"/>
              </a:spcAft>
              <a:buClr>
                <a:schemeClr val="dk1"/>
              </a:buClr>
              <a:buSzPts val="2400"/>
              <a:buFont typeface="Arial"/>
              <a:buNone/>
            </a:pPr>
            <a:r>
              <a:t/>
            </a:r>
            <a:endParaRPr b="1" sz="2400">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b="1" lang="es-ES" sz="2400">
                <a:solidFill>
                  <a:schemeClr val="dk1"/>
                </a:solidFill>
                <a:latin typeface="Gill Sans"/>
                <a:ea typeface="Gill Sans"/>
                <a:cs typeface="Gill Sans"/>
                <a:sym typeface="Gill Sans"/>
              </a:rPr>
              <a:t>Datos de nivel o escala de razón: </a:t>
            </a:r>
            <a:r>
              <a:rPr lang="es-ES" sz="2400">
                <a:solidFill>
                  <a:schemeClr val="dk1"/>
                </a:solidFill>
                <a:latin typeface="Gill Sans"/>
                <a:ea typeface="Gill Sans"/>
                <a:cs typeface="Gill Sans"/>
                <a:sym typeface="Gill Sans"/>
              </a:rPr>
              <a:t>Cuantitativos – Cero Absoluto</a:t>
            </a:r>
            <a:endParaRPr sz="2400">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nvSpPr>
        <p:spPr>
          <a:xfrm>
            <a:off x="715628" y="861850"/>
            <a:ext cx="10462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TRATAMIENTO DE LOS DATOS ESTADÍSTICOS</a:t>
            </a:r>
            <a:endParaRPr sz="3200">
              <a:solidFill>
                <a:schemeClr val="dk1"/>
              </a:solidFill>
              <a:latin typeface="Gill Sans"/>
              <a:ea typeface="Gill Sans"/>
              <a:cs typeface="Gill Sans"/>
              <a:sym typeface="Gill Sans"/>
            </a:endParaRPr>
          </a:p>
        </p:txBody>
      </p:sp>
      <p:sp>
        <p:nvSpPr>
          <p:cNvPr id="192" name="Google Shape;192;p12"/>
          <p:cNvSpPr txBox="1"/>
          <p:nvPr/>
        </p:nvSpPr>
        <p:spPr>
          <a:xfrm>
            <a:off x="715617" y="1701905"/>
            <a:ext cx="10800522"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El ordenamiento es un arreglo convencional de los datos obtenidos en una investigación muestral. Si ordenamos los datos sin procesar de menor a mayor o viceversa, la secuencia ordenada obtenida se denomina clasificación ordenada. Esta facilita la observación de sus principales características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Con los datos ordenados puede obtenerse el </a:t>
            </a:r>
            <a:r>
              <a:rPr b="1" lang="es-ES" sz="2400">
                <a:solidFill>
                  <a:schemeClr val="dk1"/>
                </a:solidFill>
                <a:latin typeface="Gill Sans"/>
                <a:ea typeface="Gill Sans"/>
                <a:cs typeface="Gill Sans"/>
                <a:sym typeface="Gill Sans"/>
              </a:rPr>
              <a:t>Rango</a:t>
            </a:r>
            <a:endParaRPr/>
          </a:p>
          <a:p>
            <a:pPr indent="0" lvl="0" marL="0" marR="0" rtl="0" algn="just">
              <a:spcBef>
                <a:spcPts val="0"/>
              </a:spcBef>
              <a:spcAft>
                <a:spcPts val="0"/>
              </a:spcAft>
              <a:buNone/>
            </a:pPr>
            <a:r>
              <a:t/>
            </a:r>
            <a:endParaRPr b="1" sz="24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b="1" sz="2400">
              <a:solidFill>
                <a:schemeClr val="dk1"/>
              </a:solidFill>
              <a:latin typeface="Gill Sans"/>
              <a:ea typeface="Gill Sans"/>
              <a:cs typeface="Gill Sans"/>
              <a:sym typeface="Gill Sans"/>
            </a:endParaRPr>
          </a:p>
        </p:txBody>
      </p:sp>
      <p:pic>
        <p:nvPicPr>
          <p:cNvPr id="193" name="Google Shape;193;p12"/>
          <p:cNvPicPr preferRelativeResize="0"/>
          <p:nvPr/>
        </p:nvPicPr>
        <p:blipFill rotWithShape="1">
          <a:blip r:embed="rId3">
            <a:alphaModFix/>
          </a:blip>
          <a:srcRect b="0" l="0" r="0" t="0"/>
          <a:stretch/>
        </p:blipFill>
        <p:spPr>
          <a:xfrm>
            <a:off x="1842053" y="4398710"/>
            <a:ext cx="7924800" cy="42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nvSpPr>
        <p:spPr>
          <a:xfrm>
            <a:off x="480404" y="384775"/>
            <a:ext cx="8550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DISTRIBUCIÓN DE FRECUENCIAS</a:t>
            </a:r>
            <a:endParaRPr/>
          </a:p>
        </p:txBody>
      </p:sp>
      <p:sp>
        <p:nvSpPr>
          <p:cNvPr id="199" name="Google Shape;199;p13"/>
          <p:cNvSpPr txBox="1"/>
          <p:nvPr/>
        </p:nvSpPr>
        <p:spPr>
          <a:xfrm>
            <a:off x="480391" y="969551"/>
            <a:ext cx="11231217" cy="563231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Es un ordenamiento tabular de los datos en clases con las observaciones </a:t>
            </a:r>
            <a:r>
              <a:rPr b="1" lang="es-ES" sz="2400">
                <a:solidFill>
                  <a:schemeClr val="dk1"/>
                </a:solidFill>
                <a:latin typeface="Gill Sans"/>
                <a:ea typeface="Gill Sans"/>
                <a:cs typeface="Gill Sans"/>
                <a:sym typeface="Gill Sans"/>
              </a:rPr>
              <a:t>(frecuencias) </a:t>
            </a:r>
            <a:r>
              <a:rPr lang="es-ES" sz="2400">
                <a:solidFill>
                  <a:schemeClr val="dk1"/>
                </a:solidFill>
                <a:latin typeface="Gill Sans"/>
                <a:ea typeface="Gill Sans"/>
                <a:cs typeface="Gill Sans"/>
                <a:sym typeface="Gill Sans"/>
              </a:rPr>
              <a:t>que corresponden a cada una. La frecuencia de clase </a:t>
            </a:r>
            <a:r>
              <a:rPr b="1" lang="es-ES" sz="2400">
                <a:solidFill>
                  <a:schemeClr val="dk1"/>
                </a:solidFill>
                <a:latin typeface="Gill Sans"/>
                <a:ea typeface="Gill Sans"/>
                <a:cs typeface="Gill Sans"/>
                <a:sym typeface="Gill Sans"/>
              </a:rPr>
              <a:t>es el número de individuos que pertenecen a cada clase</a:t>
            </a:r>
            <a:r>
              <a:rPr lang="es-ES" sz="2400">
                <a:solidFill>
                  <a:schemeClr val="dk1"/>
                </a:solidFill>
                <a:latin typeface="Gill Sans"/>
                <a:ea typeface="Gill Sans"/>
                <a:cs typeface="Gill Sans"/>
                <a:sym typeface="Gill Sans"/>
              </a:rPr>
              <a:t>.</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Para </a:t>
            </a:r>
            <a:r>
              <a:rPr b="1" lang="es-ES" sz="2400">
                <a:solidFill>
                  <a:schemeClr val="dk1"/>
                </a:solidFill>
                <a:latin typeface="Gill Sans"/>
                <a:ea typeface="Gill Sans"/>
                <a:cs typeface="Gill Sans"/>
                <a:sym typeface="Gill Sans"/>
              </a:rPr>
              <a:t>variables cualitativas</a:t>
            </a:r>
            <a:r>
              <a:rPr lang="es-ES" sz="2400">
                <a:solidFill>
                  <a:schemeClr val="dk1"/>
                </a:solidFill>
                <a:latin typeface="Gill Sans"/>
                <a:ea typeface="Gill Sans"/>
                <a:cs typeface="Gill Sans"/>
                <a:sym typeface="Gill Sans"/>
              </a:rPr>
              <a:t>, las observaciones pueden registrarse en tablas resumen.</a:t>
            </a:r>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Para </a:t>
            </a:r>
            <a:r>
              <a:rPr b="1" lang="es-ES" sz="2400">
                <a:solidFill>
                  <a:schemeClr val="dk1"/>
                </a:solidFill>
                <a:latin typeface="Gill Sans"/>
                <a:ea typeface="Gill Sans"/>
                <a:cs typeface="Gill Sans"/>
                <a:sym typeface="Gill Sans"/>
              </a:rPr>
              <a:t>variables cuantitativas</a:t>
            </a:r>
            <a:r>
              <a:rPr lang="es-ES" sz="2400">
                <a:solidFill>
                  <a:schemeClr val="dk1"/>
                </a:solidFill>
                <a:latin typeface="Gill Sans"/>
                <a:ea typeface="Gill Sans"/>
                <a:cs typeface="Gill Sans"/>
                <a:sym typeface="Gill Sans"/>
              </a:rPr>
              <a:t> los datos se agrupan o arreglan en clases o categorías ordenadas en forma numérica.</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Los datos son Ordenados por </a:t>
            </a:r>
            <a:r>
              <a:rPr b="1" lang="es-ES" sz="2400">
                <a:solidFill>
                  <a:schemeClr val="dk1"/>
                </a:solidFill>
                <a:latin typeface="Gill Sans"/>
                <a:ea typeface="Gill Sans"/>
                <a:cs typeface="Gill Sans"/>
                <a:sym typeface="Gill Sans"/>
              </a:rPr>
              <a:t>Intervalos de Clases</a:t>
            </a:r>
            <a:r>
              <a:rPr lang="es-ES" sz="2400">
                <a:solidFill>
                  <a:schemeClr val="dk1"/>
                </a:solidFill>
                <a:latin typeface="Gill Sans"/>
                <a:ea typeface="Gill Sans"/>
                <a:cs typeface="Gill Sans"/>
                <a:sym typeface="Gill Sans"/>
              </a:rPr>
              <a:t>, que son agrupamientos de los datos a un conjunto de valores.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Para construir una distribución de frecuencias se debe: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Seleccionar el número apropiado de intervalos de clase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Obtener el tamaño de cada intervalo de clase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Establecer los límites de cada clase para evitar superposiciones</a:t>
            </a:r>
            <a:endParaRPr sz="2400">
              <a:solidFill>
                <a:schemeClr val="dk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14"/>
          <p:cNvPicPr preferRelativeResize="0"/>
          <p:nvPr/>
        </p:nvPicPr>
        <p:blipFill rotWithShape="1">
          <a:blip r:embed="rId3">
            <a:alphaModFix/>
          </a:blip>
          <a:srcRect b="0" l="0" r="0" t="0"/>
          <a:stretch/>
        </p:blipFill>
        <p:spPr>
          <a:xfrm>
            <a:off x="306363" y="1133456"/>
            <a:ext cx="11579273" cy="3661703"/>
          </a:xfrm>
          <a:prstGeom prst="rect">
            <a:avLst/>
          </a:prstGeom>
          <a:noFill/>
          <a:ln>
            <a:noFill/>
          </a:ln>
        </p:spPr>
      </p:pic>
      <p:sp>
        <p:nvSpPr>
          <p:cNvPr id="205" name="Google Shape;205;p14"/>
          <p:cNvSpPr txBox="1"/>
          <p:nvPr/>
        </p:nvSpPr>
        <p:spPr>
          <a:xfrm>
            <a:off x="536713" y="4795159"/>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2000">
                <a:solidFill>
                  <a:schemeClr val="dk1"/>
                </a:solidFill>
                <a:latin typeface="Gill Sans"/>
                <a:ea typeface="Gill Sans"/>
                <a:cs typeface="Gill Sans"/>
                <a:sym typeface="Gill Sans"/>
              </a:rPr>
              <a:t>Número de Intervalos: NI = 1 + 3,3 log.n</a:t>
            </a:r>
            <a:endParaRPr i="1" sz="2000">
              <a:solidFill>
                <a:schemeClr val="dk1"/>
              </a:solidFill>
              <a:latin typeface="Gill Sans"/>
              <a:ea typeface="Gill Sans"/>
              <a:cs typeface="Gill Sans"/>
              <a:sym typeface="Gill Sans"/>
            </a:endParaRPr>
          </a:p>
        </p:txBody>
      </p:sp>
      <p:pic>
        <p:nvPicPr>
          <p:cNvPr id="206" name="Google Shape;206;p14"/>
          <p:cNvPicPr preferRelativeResize="0"/>
          <p:nvPr/>
        </p:nvPicPr>
        <p:blipFill rotWithShape="1">
          <a:blip r:embed="rId4">
            <a:alphaModFix/>
          </a:blip>
          <a:srcRect b="0" l="0" r="0" t="0"/>
          <a:stretch/>
        </p:blipFill>
        <p:spPr>
          <a:xfrm>
            <a:off x="536713" y="5322803"/>
            <a:ext cx="1857375" cy="828675"/>
          </a:xfrm>
          <a:prstGeom prst="rect">
            <a:avLst/>
          </a:prstGeom>
          <a:noFill/>
          <a:ln>
            <a:noFill/>
          </a:ln>
        </p:spPr>
      </p:pic>
      <p:pic>
        <p:nvPicPr>
          <p:cNvPr id="207" name="Google Shape;207;p14"/>
          <p:cNvPicPr preferRelativeResize="0"/>
          <p:nvPr/>
        </p:nvPicPr>
        <p:blipFill rotWithShape="1">
          <a:blip r:embed="rId5">
            <a:alphaModFix/>
          </a:blip>
          <a:srcRect b="0" l="0" r="0" t="0"/>
          <a:stretch/>
        </p:blipFill>
        <p:spPr>
          <a:xfrm>
            <a:off x="3303432" y="5437102"/>
            <a:ext cx="1647825" cy="600075"/>
          </a:xfrm>
          <a:prstGeom prst="rect">
            <a:avLst/>
          </a:prstGeom>
          <a:noFill/>
          <a:ln>
            <a:noFill/>
          </a:ln>
        </p:spPr>
      </p:pic>
      <p:sp>
        <p:nvSpPr>
          <p:cNvPr id="208" name="Google Shape;208;p14"/>
          <p:cNvSpPr txBox="1"/>
          <p:nvPr/>
        </p:nvSpPr>
        <p:spPr>
          <a:xfrm>
            <a:off x="306378" y="384525"/>
            <a:ext cx="11310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CUADRO o TABLA DE DISTRIBUCIÓN DE FRECUENCIAS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5"/>
          <p:cNvSpPr txBox="1"/>
          <p:nvPr/>
        </p:nvSpPr>
        <p:spPr>
          <a:xfrm>
            <a:off x="197275" y="491200"/>
            <a:ext cx="9249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REPRESENTACIONES GRÁFICAS</a:t>
            </a:r>
            <a:endParaRPr/>
          </a:p>
        </p:txBody>
      </p:sp>
      <p:sp>
        <p:nvSpPr>
          <p:cNvPr id="214" name="Google Shape;214;p15"/>
          <p:cNvSpPr txBox="1"/>
          <p:nvPr/>
        </p:nvSpPr>
        <p:spPr>
          <a:xfrm>
            <a:off x="197275" y="1092685"/>
            <a:ext cx="29817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Gill Sans"/>
                <a:ea typeface="Gill Sans"/>
                <a:cs typeface="Gill Sans"/>
                <a:sym typeface="Gill Sans"/>
              </a:rPr>
              <a:t>Variables Cualitativas </a:t>
            </a:r>
            <a:endParaRPr b="1" sz="2400">
              <a:solidFill>
                <a:schemeClr val="dk1"/>
              </a:solidFill>
              <a:latin typeface="Gill Sans"/>
              <a:ea typeface="Gill Sans"/>
              <a:cs typeface="Gill Sans"/>
              <a:sym typeface="Gill Sans"/>
            </a:endParaRPr>
          </a:p>
        </p:txBody>
      </p:sp>
      <p:sp>
        <p:nvSpPr>
          <p:cNvPr id="215" name="Google Shape;215;p15"/>
          <p:cNvSpPr txBox="1"/>
          <p:nvPr/>
        </p:nvSpPr>
        <p:spPr>
          <a:xfrm>
            <a:off x="197275" y="1759943"/>
            <a:ext cx="29817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Diagramas de barras</a:t>
            </a:r>
            <a:endParaRPr/>
          </a:p>
        </p:txBody>
      </p:sp>
      <p:pic>
        <p:nvPicPr>
          <p:cNvPr id="216" name="Google Shape;216;p15"/>
          <p:cNvPicPr preferRelativeResize="0"/>
          <p:nvPr/>
        </p:nvPicPr>
        <p:blipFill rotWithShape="1">
          <a:blip r:embed="rId3">
            <a:alphaModFix/>
          </a:blip>
          <a:srcRect b="0" l="0" r="0" t="0"/>
          <a:stretch/>
        </p:blipFill>
        <p:spPr>
          <a:xfrm>
            <a:off x="0" y="3094459"/>
            <a:ext cx="3695596" cy="2329973"/>
          </a:xfrm>
          <a:prstGeom prst="rect">
            <a:avLst/>
          </a:prstGeom>
          <a:noFill/>
          <a:ln>
            <a:noFill/>
          </a:ln>
        </p:spPr>
      </p:pic>
      <p:sp>
        <p:nvSpPr>
          <p:cNvPr id="217" name="Google Shape;217;p15"/>
          <p:cNvSpPr txBox="1"/>
          <p:nvPr/>
        </p:nvSpPr>
        <p:spPr>
          <a:xfrm>
            <a:off x="3771128" y="1759944"/>
            <a:ext cx="36576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Diagramas de sectores </a:t>
            </a:r>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(también llamados tartas)</a:t>
            </a:r>
            <a:endParaRPr sz="2400">
              <a:solidFill>
                <a:schemeClr val="dk1"/>
              </a:solidFill>
              <a:latin typeface="Gill Sans"/>
              <a:ea typeface="Gill Sans"/>
              <a:cs typeface="Gill Sans"/>
              <a:sym typeface="Gill Sans"/>
            </a:endParaRPr>
          </a:p>
        </p:txBody>
      </p:sp>
      <p:pic>
        <p:nvPicPr>
          <p:cNvPr id="218" name="Google Shape;218;p15"/>
          <p:cNvPicPr preferRelativeResize="0"/>
          <p:nvPr/>
        </p:nvPicPr>
        <p:blipFill rotWithShape="1">
          <a:blip r:embed="rId4">
            <a:alphaModFix/>
          </a:blip>
          <a:srcRect b="0" l="0" r="0" t="0"/>
          <a:stretch/>
        </p:blipFill>
        <p:spPr>
          <a:xfrm>
            <a:off x="4068417" y="2900050"/>
            <a:ext cx="2610679" cy="2253368"/>
          </a:xfrm>
          <a:prstGeom prst="rect">
            <a:avLst/>
          </a:prstGeom>
          <a:noFill/>
          <a:ln>
            <a:noFill/>
          </a:ln>
        </p:spPr>
      </p:pic>
      <p:sp>
        <p:nvSpPr>
          <p:cNvPr id="219" name="Google Shape;219;p15"/>
          <p:cNvSpPr txBox="1"/>
          <p:nvPr/>
        </p:nvSpPr>
        <p:spPr>
          <a:xfrm>
            <a:off x="8335618" y="1759944"/>
            <a:ext cx="21682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Pictogramas</a:t>
            </a:r>
            <a:endParaRPr/>
          </a:p>
        </p:txBody>
      </p:sp>
      <p:pic>
        <p:nvPicPr>
          <p:cNvPr id="220" name="Google Shape;220;p15"/>
          <p:cNvPicPr preferRelativeResize="0"/>
          <p:nvPr/>
        </p:nvPicPr>
        <p:blipFill rotWithShape="1">
          <a:blip r:embed="rId5">
            <a:alphaModFix/>
          </a:blip>
          <a:srcRect b="0" l="0" r="0" t="0"/>
          <a:stretch/>
        </p:blipFill>
        <p:spPr>
          <a:xfrm>
            <a:off x="7428724" y="2900050"/>
            <a:ext cx="3982006" cy="24768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nvSpPr>
        <p:spPr>
          <a:xfrm>
            <a:off x="343049" y="562598"/>
            <a:ext cx="31071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Gill Sans"/>
                <a:ea typeface="Gill Sans"/>
                <a:cs typeface="Gill Sans"/>
                <a:sym typeface="Gill Sans"/>
              </a:rPr>
              <a:t>Variables Cuantitativas</a:t>
            </a:r>
            <a:endParaRPr b="1" sz="2400">
              <a:solidFill>
                <a:schemeClr val="dk1"/>
              </a:solidFill>
              <a:latin typeface="Gill Sans"/>
              <a:ea typeface="Gill Sans"/>
              <a:cs typeface="Gill Sans"/>
              <a:sym typeface="Gill Sans"/>
            </a:endParaRPr>
          </a:p>
        </p:txBody>
      </p:sp>
      <p:sp>
        <p:nvSpPr>
          <p:cNvPr id="226" name="Google Shape;226;p16"/>
          <p:cNvSpPr txBox="1"/>
          <p:nvPr/>
        </p:nvSpPr>
        <p:spPr>
          <a:xfrm>
            <a:off x="343049" y="1273073"/>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Discretas</a:t>
            </a:r>
            <a:endParaRPr/>
          </a:p>
        </p:txBody>
      </p:sp>
      <p:pic>
        <p:nvPicPr>
          <p:cNvPr id="227" name="Google Shape;227;p16"/>
          <p:cNvPicPr preferRelativeResize="0"/>
          <p:nvPr/>
        </p:nvPicPr>
        <p:blipFill rotWithShape="1">
          <a:blip r:embed="rId3">
            <a:alphaModFix/>
          </a:blip>
          <a:srcRect b="0" l="0" r="0" t="0"/>
          <a:stretch/>
        </p:blipFill>
        <p:spPr>
          <a:xfrm>
            <a:off x="92766" y="1891215"/>
            <a:ext cx="5616268" cy="3250628"/>
          </a:xfrm>
          <a:prstGeom prst="rect">
            <a:avLst/>
          </a:prstGeom>
          <a:noFill/>
          <a:ln>
            <a:noFill/>
          </a:ln>
        </p:spPr>
      </p:pic>
      <p:sp>
        <p:nvSpPr>
          <p:cNvPr id="228" name="Google Shape;228;p16"/>
          <p:cNvSpPr txBox="1"/>
          <p:nvPr/>
        </p:nvSpPr>
        <p:spPr>
          <a:xfrm>
            <a:off x="6652592" y="1273073"/>
            <a:ext cx="44924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Continuas</a:t>
            </a:r>
            <a:r>
              <a:rPr b="0" i="0" lang="es-ES" sz="1800" u="none" strike="noStrike">
                <a:solidFill>
                  <a:schemeClr val="dk1"/>
                </a:solidFill>
                <a:latin typeface="Arial"/>
                <a:ea typeface="Arial"/>
                <a:cs typeface="Arial"/>
                <a:sym typeface="Arial"/>
              </a:rPr>
              <a:t> (Histograma, polígono y ojivas)</a:t>
            </a:r>
            <a:endParaRPr sz="1800">
              <a:solidFill>
                <a:schemeClr val="dk1"/>
              </a:solidFill>
              <a:latin typeface="Gill Sans"/>
              <a:ea typeface="Gill Sans"/>
              <a:cs typeface="Gill Sans"/>
              <a:sym typeface="Gill Sans"/>
            </a:endParaRPr>
          </a:p>
        </p:txBody>
      </p:sp>
      <p:pic>
        <p:nvPicPr>
          <p:cNvPr id="229" name="Google Shape;229;p16"/>
          <p:cNvPicPr preferRelativeResize="0"/>
          <p:nvPr/>
        </p:nvPicPr>
        <p:blipFill rotWithShape="1">
          <a:blip r:embed="rId4">
            <a:alphaModFix/>
          </a:blip>
          <a:srcRect b="0" l="0" r="0" t="0"/>
          <a:stretch/>
        </p:blipFill>
        <p:spPr>
          <a:xfrm>
            <a:off x="6482968" y="1891215"/>
            <a:ext cx="4096322" cy="45916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nvSpPr>
        <p:spPr>
          <a:xfrm>
            <a:off x="695611" y="563225"/>
            <a:ext cx="87279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MEDIDAS DESCRIPTIVAS</a:t>
            </a:r>
            <a:endParaRPr/>
          </a:p>
          <a:p>
            <a:pPr indent="0" lvl="0" marL="0" marR="0" rtl="0" algn="l">
              <a:spcBef>
                <a:spcPts val="0"/>
              </a:spcBef>
              <a:spcAft>
                <a:spcPts val="0"/>
              </a:spcAft>
              <a:buNone/>
            </a:pPr>
            <a:r>
              <a:t/>
            </a:r>
            <a:endParaRPr sz="3200">
              <a:solidFill>
                <a:schemeClr val="dk1"/>
              </a:solidFill>
              <a:latin typeface="Gill Sans"/>
              <a:ea typeface="Gill Sans"/>
              <a:cs typeface="Gill Sans"/>
              <a:sym typeface="Gill Sans"/>
            </a:endParaRPr>
          </a:p>
        </p:txBody>
      </p:sp>
      <p:sp>
        <p:nvSpPr>
          <p:cNvPr id="235" name="Google Shape;235;p17"/>
          <p:cNvSpPr txBox="1"/>
          <p:nvPr/>
        </p:nvSpPr>
        <p:spPr>
          <a:xfrm>
            <a:off x="695590" y="1412641"/>
            <a:ext cx="10800819"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Una vez realizado el agrupamiento mediante una tabla de frecuencias será necesario el uso de “números” que indican alguna medida en particular, estás medidas (estadísticos o parámetros) sintetizan aun mas la información, describiendo el conjunto de datos </a:t>
            </a:r>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En este sentido pueden examinarse varias características, siendo las más comunes:</a:t>
            </a:r>
            <a:endParaRPr/>
          </a:p>
          <a:p>
            <a:pPr indent="-342900" lvl="0" marL="34290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Tendencia Central de los Datos</a:t>
            </a:r>
            <a:endParaRPr/>
          </a:p>
          <a:p>
            <a:pPr indent="-342900" lvl="0" marL="34290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Dispersión o variación con respecto a este centro</a:t>
            </a:r>
            <a:endParaRPr/>
          </a:p>
          <a:p>
            <a:pPr indent="-342900" lvl="0" marL="34290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Los datos que ocupan ciertas posiciones </a:t>
            </a:r>
            <a:endParaRPr/>
          </a:p>
          <a:p>
            <a:pPr indent="-342900" lvl="0" marL="34290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La simetría de los datos</a:t>
            </a:r>
            <a:endParaRPr/>
          </a:p>
          <a:p>
            <a:pPr indent="-342900" lvl="0" marL="34290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La forma en que los datos se agrupan</a:t>
            </a:r>
            <a:endParaRPr/>
          </a:p>
        </p:txBody>
      </p:sp>
      <p:pic>
        <p:nvPicPr>
          <p:cNvPr id="236" name="Google Shape;236;p17"/>
          <p:cNvPicPr preferRelativeResize="0"/>
          <p:nvPr/>
        </p:nvPicPr>
        <p:blipFill rotWithShape="1">
          <a:blip r:embed="rId3">
            <a:alphaModFix/>
          </a:blip>
          <a:srcRect b="0" l="0" r="0" t="0"/>
          <a:stretch/>
        </p:blipFill>
        <p:spPr>
          <a:xfrm>
            <a:off x="6304728" y="4106909"/>
            <a:ext cx="5887272" cy="26768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204df5e63d_0_0"/>
          <p:cNvSpPr txBox="1"/>
          <p:nvPr/>
        </p:nvSpPr>
        <p:spPr>
          <a:xfrm>
            <a:off x="969825" y="669625"/>
            <a:ext cx="928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2" name="Google Shape;242;g2204df5e63d_0_0"/>
          <p:cNvSpPr txBox="1"/>
          <p:nvPr/>
        </p:nvSpPr>
        <p:spPr>
          <a:xfrm>
            <a:off x="785075" y="1385450"/>
            <a:ext cx="11132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sz="2400">
                <a:solidFill>
                  <a:schemeClr val="dk1"/>
                </a:solidFill>
                <a:latin typeface="Gill Sans"/>
                <a:ea typeface="Gill Sans"/>
                <a:cs typeface="Gill Sans"/>
                <a:sym typeface="Gill Sans"/>
              </a:rPr>
              <a:t>Los siguientes datos representan la duración de la vida, en segundos, de 50 moscas de la fruta que se someten a un nuevo aerosol en un experimento de laboratorio controlado.</a:t>
            </a:r>
            <a:endParaRPr/>
          </a:p>
        </p:txBody>
      </p:sp>
      <p:pic>
        <p:nvPicPr>
          <p:cNvPr id="243" name="Google Shape;243;g2204df5e63d_0_0"/>
          <p:cNvPicPr preferRelativeResize="0"/>
          <p:nvPr/>
        </p:nvPicPr>
        <p:blipFill>
          <a:blip r:embed="rId3">
            <a:alphaModFix/>
          </a:blip>
          <a:stretch>
            <a:fillRect/>
          </a:stretch>
        </p:blipFill>
        <p:spPr>
          <a:xfrm>
            <a:off x="2004200" y="2816450"/>
            <a:ext cx="9148725" cy="2453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nvSpPr>
        <p:spPr>
          <a:xfrm>
            <a:off x="292471" y="291475"/>
            <a:ext cx="9592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MEDIDAS DE TENDENCIA CENTRAL</a:t>
            </a:r>
            <a:endParaRPr/>
          </a:p>
        </p:txBody>
      </p:sp>
      <p:sp>
        <p:nvSpPr>
          <p:cNvPr id="249" name="Google Shape;249;p18"/>
          <p:cNvSpPr txBox="1"/>
          <p:nvPr/>
        </p:nvSpPr>
        <p:spPr>
          <a:xfrm>
            <a:off x="292482" y="976889"/>
            <a:ext cx="1099930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La media Aritmética </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Es la suma de todos sus posibles valores, ponderada por las frecuencias de los mismos. Es decir, si la tabla de valores de una variable X es</a:t>
            </a:r>
            <a:endParaRPr sz="2400">
              <a:solidFill>
                <a:schemeClr val="dk1"/>
              </a:solidFill>
              <a:latin typeface="Gill Sans"/>
              <a:ea typeface="Gill Sans"/>
              <a:cs typeface="Gill Sans"/>
              <a:sym typeface="Gill Sans"/>
            </a:endParaRPr>
          </a:p>
        </p:txBody>
      </p:sp>
      <p:pic>
        <p:nvPicPr>
          <p:cNvPr id="250" name="Google Shape;250;p18"/>
          <p:cNvPicPr preferRelativeResize="0"/>
          <p:nvPr/>
        </p:nvPicPr>
        <p:blipFill rotWithShape="1">
          <a:blip r:embed="rId3">
            <a:alphaModFix/>
          </a:blip>
          <a:srcRect b="0" l="0" r="0" t="0"/>
          <a:stretch/>
        </p:blipFill>
        <p:spPr>
          <a:xfrm>
            <a:off x="746439" y="2725215"/>
            <a:ext cx="1705213" cy="1200318"/>
          </a:xfrm>
          <a:prstGeom prst="rect">
            <a:avLst/>
          </a:prstGeom>
          <a:noFill/>
          <a:ln>
            <a:noFill/>
          </a:ln>
        </p:spPr>
      </p:pic>
      <p:sp>
        <p:nvSpPr>
          <p:cNvPr id="251" name="Google Shape;251;p18"/>
          <p:cNvSpPr/>
          <p:nvPr/>
        </p:nvSpPr>
        <p:spPr>
          <a:xfrm>
            <a:off x="3093338" y="3086937"/>
            <a:ext cx="1934817" cy="185989"/>
          </a:xfrm>
          <a:prstGeom prst="rightArrow">
            <a:avLst>
              <a:gd fmla="val 50000" name="adj1"/>
              <a:gd fmla="val 50000" name="adj2"/>
            </a:avLst>
          </a:prstGeom>
          <a:solidFill>
            <a:schemeClr val="accent1"/>
          </a:soli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id="252" name="Google Shape;252;p18"/>
          <p:cNvPicPr preferRelativeResize="0"/>
          <p:nvPr/>
        </p:nvPicPr>
        <p:blipFill rotWithShape="1">
          <a:blip r:embed="rId4">
            <a:alphaModFix/>
          </a:blip>
          <a:srcRect b="0" l="0" r="0" t="0"/>
          <a:stretch/>
        </p:blipFill>
        <p:spPr>
          <a:xfrm>
            <a:off x="6095999" y="2634268"/>
            <a:ext cx="3379304" cy="1957038"/>
          </a:xfrm>
          <a:prstGeom prst="rect">
            <a:avLst/>
          </a:prstGeom>
          <a:noFill/>
          <a:ln>
            <a:noFill/>
          </a:ln>
        </p:spPr>
      </p:pic>
      <p:pic>
        <p:nvPicPr>
          <p:cNvPr id="253" name="Google Shape;253;p18"/>
          <p:cNvPicPr preferRelativeResize="0"/>
          <p:nvPr/>
        </p:nvPicPr>
        <p:blipFill rotWithShape="1">
          <a:blip r:embed="rId5">
            <a:alphaModFix/>
          </a:blip>
          <a:srcRect b="0" l="0" r="0" t="0"/>
          <a:stretch/>
        </p:blipFill>
        <p:spPr>
          <a:xfrm>
            <a:off x="534272" y="4262675"/>
            <a:ext cx="2129546" cy="598575"/>
          </a:xfrm>
          <a:prstGeom prst="rect">
            <a:avLst/>
          </a:prstGeom>
          <a:noFill/>
          <a:ln>
            <a:noFill/>
          </a:ln>
        </p:spPr>
      </p:pic>
      <p:sp>
        <p:nvSpPr>
          <p:cNvPr id="254" name="Google Shape;254;p18"/>
          <p:cNvSpPr txBox="1"/>
          <p:nvPr/>
        </p:nvSpPr>
        <p:spPr>
          <a:xfrm>
            <a:off x="9689430" y="2967335"/>
            <a:ext cx="231396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Datos Agrupados</a:t>
            </a:r>
            <a:endParaRPr sz="2400">
              <a:solidFill>
                <a:schemeClr val="dk1"/>
              </a:solidFill>
              <a:latin typeface="Gill Sans"/>
              <a:ea typeface="Gill Sans"/>
              <a:cs typeface="Gill Sans"/>
              <a:sym typeface="Gill Sans"/>
            </a:endParaRPr>
          </a:p>
        </p:txBody>
      </p:sp>
      <p:sp>
        <p:nvSpPr>
          <p:cNvPr id="255" name="Google Shape;255;p18"/>
          <p:cNvSpPr txBox="1"/>
          <p:nvPr/>
        </p:nvSpPr>
        <p:spPr>
          <a:xfrm>
            <a:off x="3138300" y="4247326"/>
            <a:ext cx="2743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Datos No Agrupados</a:t>
            </a:r>
            <a:endParaRPr sz="2400">
              <a:solidFill>
                <a:schemeClr val="dk1"/>
              </a:solidFill>
              <a:latin typeface="Gill Sans"/>
              <a:ea typeface="Gill Sans"/>
              <a:cs typeface="Gill Sans"/>
              <a:sym typeface="Gill Sans"/>
            </a:endParaRPr>
          </a:p>
        </p:txBody>
      </p:sp>
      <p:sp>
        <p:nvSpPr>
          <p:cNvPr id="256" name="Google Shape;256;p18"/>
          <p:cNvSpPr txBox="1"/>
          <p:nvPr/>
        </p:nvSpPr>
        <p:spPr>
          <a:xfrm>
            <a:off x="292482" y="5012092"/>
            <a:ext cx="11607034"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Limitaciones: Es muy sensible a los valores extremos de la variable: ya que todas las observaciones intervienen en el cálculo de la media, la aparición de una observación extrema, hará que la media se desplace en esa dirección. En consecuencia, no es recomendable usar la media como medida central en las distribuciones muy asimétricas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nvSpPr>
        <p:spPr>
          <a:xfrm>
            <a:off x="516834" y="398430"/>
            <a:ext cx="11396869"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62" name="Google Shape;262;p19"/>
          <p:cNvSpPr txBox="1"/>
          <p:nvPr/>
        </p:nvSpPr>
        <p:spPr>
          <a:xfrm>
            <a:off x="516833" y="583096"/>
            <a:ext cx="1139686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La mediana</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Consideramos una variable discreta X cuyas observaciones en una tabla estadística han sido ordenadas de menor a mayor. Llamaremos mediana, Med al primer valor de la variable que deja por debajo de sí al 50% de las observaciones.</a:t>
            </a:r>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 </a:t>
            </a:r>
            <a:endParaRPr/>
          </a:p>
        </p:txBody>
      </p:sp>
      <p:pic>
        <p:nvPicPr>
          <p:cNvPr id="263" name="Google Shape;263;p19"/>
          <p:cNvPicPr preferRelativeResize="0"/>
          <p:nvPr/>
        </p:nvPicPr>
        <p:blipFill rotWithShape="1">
          <a:blip r:embed="rId3">
            <a:alphaModFix/>
          </a:blip>
          <a:srcRect b="0" l="0" r="0" t="0"/>
          <a:stretch/>
        </p:blipFill>
        <p:spPr>
          <a:xfrm>
            <a:off x="708143" y="2780382"/>
            <a:ext cx="6959088" cy="3734643"/>
          </a:xfrm>
          <a:prstGeom prst="rect">
            <a:avLst/>
          </a:prstGeom>
          <a:noFill/>
          <a:ln>
            <a:noFill/>
          </a:ln>
        </p:spPr>
      </p:pic>
      <p:pic>
        <p:nvPicPr>
          <p:cNvPr id="264" name="Google Shape;264;p19"/>
          <p:cNvPicPr preferRelativeResize="0"/>
          <p:nvPr/>
        </p:nvPicPr>
        <p:blipFill rotWithShape="1">
          <a:blip r:embed="rId4">
            <a:alphaModFix/>
          </a:blip>
          <a:srcRect b="0" l="0" r="0" t="0"/>
          <a:stretch/>
        </p:blipFill>
        <p:spPr>
          <a:xfrm>
            <a:off x="7858541" y="3966581"/>
            <a:ext cx="3926214" cy="112375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0"/>
          <p:cNvSpPr txBox="1"/>
          <p:nvPr/>
        </p:nvSpPr>
        <p:spPr>
          <a:xfrm>
            <a:off x="490329" y="504447"/>
            <a:ext cx="10986053"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Propiedades de la mediana</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Entre las propiedades de la mediana, vamos a destacar las siguientes:</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Como medida descriptiva, tiene la ventaja de no estar afectada por las observaciones extremas, ya que no depende de los valores que toma la variable, sino del orden de las mismas. Por ello es adecuado su uso en distribuciones asimétricas. </a:t>
            </a:r>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Es de cálculo rápido y de interpretación sencilla</a:t>
            </a:r>
            <a:r>
              <a:rPr b="0" i="0" lang="es-ES" sz="1800" u="none" strike="noStrike">
                <a:solidFill>
                  <a:schemeClr val="dk1"/>
                </a:solidFill>
                <a:latin typeface="Old Standard TT"/>
                <a:ea typeface="Old Standard TT"/>
                <a:cs typeface="Old Standard TT"/>
                <a:sym typeface="Old Standard TT"/>
              </a:rPr>
              <a:t>.</a:t>
            </a:r>
            <a:endParaRPr sz="1800">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1"/>
          <p:cNvSpPr txBox="1"/>
          <p:nvPr/>
        </p:nvSpPr>
        <p:spPr>
          <a:xfrm>
            <a:off x="450574" y="663472"/>
            <a:ext cx="11290852"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La moda</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Llamaremos moda a cualquier máximo relativo de la distribución de frecuencias, es decir, cualquier valor de la variable que posea una frecuencia mayor que su anterior y su posterior</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De la moda destacamos las siguientes propiedades:</a:t>
            </a:r>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Es muy fácil de calcular.</a:t>
            </a:r>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Puede no ser única.</a:t>
            </a:r>
            <a:endParaRPr/>
          </a:p>
        </p:txBody>
      </p:sp>
      <p:pic>
        <p:nvPicPr>
          <p:cNvPr id="275" name="Google Shape;275;p21"/>
          <p:cNvPicPr preferRelativeResize="0"/>
          <p:nvPr/>
        </p:nvPicPr>
        <p:blipFill rotWithShape="1">
          <a:blip r:embed="rId3">
            <a:alphaModFix/>
          </a:blip>
          <a:srcRect b="0" l="0" r="0" t="0"/>
          <a:stretch/>
        </p:blipFill>
        <p:spPr>
          <a:xfrm>
            <a:off x="3107791" y="4079792"/>
            <a:ext cx="5976417" cy="14052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22"/>
          <p:cNvPicPr preferRelativeResize="0"/>
          <p:nvPr/>
        </p:nvPicPr>
        <p:blipFill rotWithShape="1">
          <a:blip r:embed="rId3">
            <a:alphaModFix/>
          </a:blip>
          <a:srcRect b="0" l="0" r="0" t="0"/>
          <a:stretch/>
        </p:blipFill>
        <p:spPr>
          <a:xfrm>
            <a:off x="1696278" y="444131"/>
            <a:ext cx="8468139" cy="621280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nvSpPr>
        <p:spPr>
          <a:xfrm>
            <a:off x="437322" y="464690"/>
            <a:ext cx="11198087"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ESTADÍSTICOS DE POSICIÓN</a:t>
            </a:r>
            <a:endParaRPr/>
          </a:p>
          <a:p>
            <a:pPr indent="0" lvl="0" marL="0" marR="0" rtl="0" algn="l">
              <a:spcBef>
                <a:spcPts val="0"/>
              </a:spcBef>
              <a:spcAft>
                <a:spcPts val="0"/>
              </a:spcAft>
              <a:buNone/>
            </a:pPr>
            <a:r>
              <a:t/>
            </a:r>
            <a:endParaRPr sz="32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Los estadísticos de posición van a ser valores de la variable caracterizados por superar a cierto porcentaje de observaciones en la población (o muestra). Tenemos fundamentalmente a los percentiles como medidas de posición, y también los cuartiles y deciles</a:t>
            </a:r>
            <a:endParaRPr/>
          </a:p>
        </p:txBody>
      </p:sp>
      <p:pic>
        <p:nvPicPr>
          <p:cNvPr id="286" name="Google Shape;286;p23"/>
          <p:cNvPicPr preferRelativeResize="0"/>
          <p:nvPr/>
        </p:nvPicPr>
        <p:blipFill rotWithShape="1">
          <a:blip r:embed="rId3">
            <a:alphaModFix/>
          </a:blip>
          <a:srcRect b="0" l="0" r="0" t="0"/>
          <a:stretch/>
        </p:blipFill>
        <p:spPr>
          <a:xfrm>
            <a:off x="594952" y="3019235"/>
            <a:ext cx="5646821" cy="3457567"/>
          </a:xfrm>
          <a:prstGeom prst="rect">
            <a:avLst/>
          </a:prstGeom>
          <a:noFill/>
          <a:ln>
            <a:noFill/>
          </a:ln>
        </p:spPr>
      </p:pic>
      <p:pic>
        <p:nvPicPr>
          <p:cNvPr id="287" name="Google Shape;287;p23"/>
          <p:cNvPicPr preferRelativeResize="0"/>
          <p:nvPr/>
        </p:nvPicPr>
        <p:blipFill rotWithShape="1">
          <a:blip r:embed="rId4">
            <a:alphaModFix/>
          </a:blip>
          <a:srcRect b="0" l="0" r="0" t="0"/>
          <a:stretch/>
        </p:blipFill>
        <p:spPr>
          <a:xfrm>
            <a:off x="7781734" y="3938280"/>
            <a:ext cx="2724530" cy="8097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nvSpPr>
        <p:spPr>
          <a:xfrm>
            <a:off x="490329" y="570225"/>
            <a:ext cx="861391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dk1"/>
                </a:solidFill>
                <a:latin typeface="Gill Sans"/>
                <a:ea typeface="Gill Sans"/>
                <a:cs typeface="Gill Sans"/>
                <a:sym typeface="Gill Sans"/>
              </a:rPr>
              <a:t>MEDIDAS DE VARIABILIDAD O DISPERSIÓN</a:t>
            </a:r>
            <a:endParaRPr sz="3200">
              <a:solidFill>
                <a:schemeClr val="dk1"/>
              </a:solidFill>
              <a:latin typeface="Gill Sans"/>
              <a:ea typeface="Gill Sans"/>
              <a:cs typeface="Gill Sans"/>
              <a:sym typeface="Gill Sans"/>
            </a:endParaRPr>
          </a:p>
        </p:txBody>
      </p:sp>
      <p:sp>
        <p:nvSpPr>
          <p:cNvPr id="293" name="Google Shape;293;p24"/>
          <p:cNvSpPr txBox="1"/>
          <p:nvPr/>
        </p:nvSpPr>
        <p:spPr>
          <a:xfrm>
            <a:off x="490329" y="1396233"/>
            <a:ext cx="11198089"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Los estadísticos de tendencia central o posición nos indican donde se sitúa un grupo de puntuaciones. Los de variabilidad o dispersión nos indican si esas puntuaciones o valores están próximas entre sí o si por el contrario están o muy dispersas.</a:t>
            </a:r>
            <a:endParaRPr/>
          </a:p>
        </p:txBody>
      </p:sp>
      <p:sp>
        <p:nvSpPr>
          <p:cNvPr id="294" name="Google Shape;294;p24"/>
          <p:cNvSpPr txBox="1"/>
          <p:nvPr/>
        </p:nvSpPr>
        <p:spPr>
          <a:xfrm>
            <a:off x="490329" y="2596562"/>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Rango</a:t>
            </a:r>
            <a:endParaRPr/>
          </a:p>
        </p:txBody>
      </p:sp>
      <p:sp>
        <p:nvSpPr>
          <p:cNvPr id="295" name="Google Shape;295;p24"/>
          <p:cNvSpPr txBox="1"/>
          <p:nvPr/>
        </p:nvSpPr>
        <p:spPr>
          <a:xfrm>
            <a:off x="490329" y="3058227"/>
            <a:ext cx="11198088"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Una medida razonable de la variabilidad podría ser la amplitud o rango, que se obtiene restando el valor más bajo de un conjunto de observaciones del valor más alto</a:t>
            </a:r>
            <a:endParaRPr/>
          </a:p>
        </p:txBody>
      </p:sp>
      <p:sp>
        <p:nvSpPr>
          <p:cNvPr id="296" name="Google Shape;296;p24"/>
          <p:cNvSpPr txBox="1"/>
          <p:nvPr/>
        </p:nvSpPr>
        <p:spPr>
          <a:xfrm>
            <a:off x="490329" y="3889224"/>
            <a:ext cx="11184834"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Propiedades del rango</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Es fácil de calcular y sus unidades son las mismas que las de la variable.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No utiliza todas las observaciones (sólo dos de ellas);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Se puede ver muy afectada por alguna observación extrema; </a:t>
            </a:r>
            <a:endParaRPr/>
          </a:p>
          <a:p>
            <a:pPr indent="-342900" lvl="0" marL="34290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El rango aumenta con el número de observaciones, o bien se queda igual. En cualquier caso nunca disminuye.</a:t>
            </a:r>
            <a:endParaRPr sz="2400">
              <a:solidFill>
                <a:schemeClr val="dk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txBox="1"/>
          <p:nvPr/>
        </p:nvSpPr>
        <p:spPr>
          <a:xfrm>
            <a:off x="384312" y="279160"/>
            <a:ext cx="11383617" cy="184665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Varianza</a:t>
            </a:r>
            <a:endParaRPr/>
          </a:p>
          <a:p>
            <a:pPr indent="0" lvl="0" marL="0" marR="0" rtl="0" algn="just">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La varianza, S2, se define como la media de las diferencias cuadráticas de n puntuaciones con respecto a su media aritmética, es decir: </a:t>
            </a:r>
            <a:endParaRPr/>
          </a:p>
          <a:p>
            <a:pPr indent="0" lvl="0" marL="0" marR="0" rtl="0" algn="just">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id="302" name="Google Shape;302;p25"/>
          <p:cNvPicPr preferRelativeResize="0"/>
          <p:nvPr/>
        </p:nvPicPr>
        <p:blipFill rotWithShape="1">
          <a:blip r:embed="rId3">
            <a:alphaModFix/>
          </a:blip>
          <a:srcRect b="0" l="0" r="0" t="0"/>
          <a:stretch/>
        </p:blipFill>
        <p:spPr>
          <a:xfrm>
            <a:off x="4168569" y="1995027"/>
            <a:ext cx="3216132" cy="1184048"/>
          </a:xfrm>
          <a:prstGeom prst="rect">
            <a:avLst/>
          </a:prstGeom>
          <a:noFill/>
          <a:ln>
            <a:noFill/>
          </a:ln>
        </p:spPr>
      </p:pic>
      <p:sp>
        <p:nvSpPr>
          <p:cNvPr id="303" name="Google Shape;303;p25"/>
          <p:cNvSpPr txBox="1"/>
          <p:nvPr/>
        </p:nvSpPr>
        <p:spPr>
          <a:xfrm>
            <a:off x="384312" y="3841686"/>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Desviación típica o estándar</a:t>
            </a:r>
            <a:endParaRPr/>
          </a:p>
        </p:txBody>
      </p:sp>
      <p:pic>
        <p:nvPicPr>
          <p:cNvPr id="304" name="Google Shape;304;p25"/>
          <p:cNvPicPr preferRelativeResize="0"/>
          <p:nvPr/>
        </p:nvPicPr>
        <p:blipFill rotWithShape="1">
          <a:blip r:embed="rId4">
            <a:alphaModFix/>
          </a:blip>
          <a:srcRect b="0" l="0" r="0" t="0"/>
          <a:stretch/>
        </p:blipFill>
        <p:spPr>
          <a:xfrm>
            <a:off x="5042452" y="4843445"/>
            <a:ext cx="2107095" cy="82277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6"/>
          <p:cNvSpPr txBox="1"/>
          <p:nvPr/>
        </p:nvSpPr>
        <p:spPr>
          <a:xfrm>
            <a:off x="477077" y="477942"/>
            <a:ext cx="11145079"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Propiedades de la varianza y desviación típica</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285750" lvl="0" marL="28575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Ambas son sensibles a la variación de cada una de las puntuaciones, es decir, si una puntuación cambia, cambia con ella la varianza. La razón es que si miramos su definición, la varianza es función de cada una de las puntuaciones.</a:t>
            </a:r>
            <a:endParaRPr/>
          </a:p>
          <a:p>
            <a:pPr indent="-285750" lvl="0" marL="28575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La desviación típica tiene la propiedad de que en el intervalo</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Gill Sans"/>
              <a:ea typeface="Gill Sans"/>
              <a:cs typeface="Gill Sans"/>
              <a:sym typeface="Gill Sans"/>
            </a:endParaRPr>
          </a:p>
        </p:txBody>
      </p:sp>
      <p:pic>
        <p:nvPicPr>
          <p:cNvPr id="310" name="Google Shape;310;p26"/>
          <p:cNvPicPr preferRelativeResize="0"/>
          <p:nvPr/>
        </p:nvPicPr>
        <p:blipFill rotWithShape="1">
          <a:blip r:embed="rId3">
            <a:alphaModFix/>
          </a:blip>
          <a:srcRect b="0" l="0" r="0" t="0"/>
          <a:stretch/>
        </p:blipFill>
        <p:spPr>
          <a:xfrm>
            <a:off x="4270648" y="3174139"/>
            <a:ext cx="3650704" cy="509721"/>
          </a:xfrm>
          <a:prstGeom prst="rect">
            <a:avLst/>
          </a:prstGeom>
          <a:noFill/>
          <a:ln>
            <a:noFill/>
          </a:ln>
        </p:spPr>
      </p:pic>
      <p:sp>
        <p:nvSpPr>
          <p:cNvPr id="311" name="Google Shape;311;p26"/>
          <p:cNvSpPr txBox="1"/>
          <p:nvPr/>
        </p:nvSpPr>
        <p:spPr>
          <a:xfrm>
            <a:off x="523461" y="4100818"/>
            <a:ext cx="11145078"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se encuentra, al menos, el 75% de las observaciones</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285750" lvl="0" marL="28575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No es recomendable el uso de ellas, cuando tampoco lo sea el de la media como medida de tendencia central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7"/>
          <p:cNvSpPr txBox="1"/>
          <p:nvPr/>
        </p:nvSpPr>
        <p:spPr>
          <a:xfrm>
            <a:off x="417442" y="304515"/>
            <a:ext cx="1135711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Coeficiente de variación</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El coeficiente de variación es lo que nos permite evitar estos problemas dimensionalidad de las variables y tiene en cuenta la proporción existente entre medias y desviación típica. Se define del siguiente modo:</a:t>
            </a:r>
            <a:endParaRPr/>
          </a:p>
        </p:txBody>
      </p:sp>
      <p:pic>
        <p:nvPicPr>
          <p:cNvPr id="317" name="Google Shape;317;p27"/>
          <p:cNvPicPr preferRelativeResize="0"/>
          <p:nvPr/>
        </p:nvPicPr>
        <p:blipFill rotWithShape="1">
          <a:blip r:embed="rId3">
            <a:alphaModFix/>
          </a:blip>
          <a:srcRect b="0" l="0" r="0" t="0"/>
          <a:stretch/>
        </p:blipFill>
        <p:spPr>
          <a:xfrm>
            <a:off x="5150937" y="1957911"/>
            <a:ext cx="1890125" cy="1074776"/>
          </a:xfrm>
          <a:prstGeom prst="rect">
            <a:avLst/>
          </a:prstGeom>
          <a:noFill/>
          <a:ln>
            <a:noFill/>
          </a:ln>
        </p:spPr>
      </p:pic>
      <p:sp>
        <p:nvSpPr>
          <p:cNvPr id="318" name="Google Shape;318;p27"/>
          <p:cNvSpPr txBox="1"/>
          <p:nvPr/>
        </p:nvSpPr>
        <p:spPr>
          <a:xfrm>
            <a:off x="417442" y="3072348"/>
            <a:ext cx="11357113"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Propiedades del coeficiente de variación </a:t>
            </a:r>
            <a:endParaRPr/>
          </a:p>
          <a:p>
            <a:pPr indent="0" lvl="0" marL="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Sólo se debe calcular para variables con todos los valores positivos. Todo índice de variabilidad es esencialmente no negativo. Las observaciones pueden ser positivas o nulas, pero su variabilidad debe ser siempre positiva. De ahí que sólo debemos trabajar con variables positivas, para la que tenemos con seguridad que MediaX &gt; 0.</a:t>
            </a:r>
            <a:endParaRPr/>
          </a:p>
          <a:p>
            <a:pPr indent="0" lvl="0" marL="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No es invariante ante cambios de origen. Es decir, si a los resultados de una medida le sumamos una cantidad positiva, b &gt; 0, para tener Y = X + b, entonces CVY &lt; CVX.</a:t>
            </a:r>
            <a:endParaRPr/>
          </a:p>
          <a:p>
            <a:pPr indent="0" lvl="0" marL="0" marR="0" rtl="0" algn="just">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Es invariante a cambios de escala. Así por ejemplo el coeficiente de variación de una variable medida en metros es una cantidad adimensional que no cambia si la medición se realiza en centímetros.</a:t>
            </a:r>
            <a:endParaRPr sz="2400">
              <a:solidFill>
                <a:schemeClr val="dk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txBox="1"/>
          <p:nvPr/>
        </p:nvSpPr>
        <p:spPr>
          <a:xfrm>
            <a:off x="410817" y="724635"/>
            <a:ext cx="60960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Tipificación o Estandarización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id="324" name="Google Shape;324;p28"/>
          <p:cNvPicPr preferRelativeResize="0"/>
          <p:nvPr/>
        </p:nvPicPr>
        <p:blipFill rotWithShape="1">
          <a:blip r:embed="rId3">
            <a:alphaModFix/>
          </a:blip>
          <a:srcRect b="0" l="0" r="0" t="0"/>
          <a:stretch/>
        </p:blipFill>
        <p:spPr>
          <a:xfrm>
            <a:off x="4629883" y="1937116"/>
            <a:ext cx="1876934" cy="923330"/>
          </a:xfrm>
          <a:prstGeom prst="rect">
            <a:avLst/>
          </a:prstGeom>
          <a:noFill/>
          <a:ln>
            <a:noFill/>
          </a:ln>
        </p:spPr>
      </p:pic>
      <p:sp>
        <p:nvSpPr>
          <p:cNvPr id="325" name="Google Shape;325;p28"/>
          <p:cNvSpPr txBox="1"/>
          <p:nvPr/>
        </p:nvSpPr>
        <p:spPr>
          <a:xfrm>
            <a:off x="410817" y="3317209"/>
            <a:ext cx="11078818"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No confundir coeficiente de variación y tipificación</a:t>
            </a:r>
            <a:endParaRPr/>
          </a:p>
          <a:p>
            <a:pPr indent="152400" lvl="0" marL="0" marR="0" rtl="0" algn="just">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0" lvl="0" marL="0" marR="0" rtl="0" algn="just">
              <a:spcBef>
                <a:spcPts val="0"/>
              </a:spcBef>
              <a:spcAft>
                <a:spcPts val="0"/>
              </a:spcAft>
              <a:buNone/>
            </a:pPr>
            <a:r>
              <a:rPr lang="es-ES" sz="2400">
                <a:solidFill>
                  <a:schemeClr val="dk1"/>
                </a:solidFill>
                <a:latin typeface="Gill Sans"/>
                <a:ea typeface="Gill Sans"/>
                <a:cs typeface="Gill Sans"/>
                <a:sym typeface="Gill Sans"/>
              </a:rPr>
              <a:t>Los coeficientes de variación sirven para comparar las variabilidades de dos conjuntos de valores (muestras o poblaciones), mientras que si deseamos comparar a dos individuos de cada uno de esos conjuntos, es necesario usar los valores tipificados. Ninguno de ellos posee unidades de medida.</a:t>
            </a:r>
            <a:endParaRPr sz="2400">
              <a:solidFill>
                <a:schemeClr val="dk1"/>
              </a:solidFill>
              <a:latin typeface="Gill Sans"/>
              <a:ea typeface="Gill Sans"/>
              <a:cs typeface="Gill Sans"/>
              <a:sym typeface="Gill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9"/>
          <p:cNvSpPr txBox="1"/>
          <p:nvPr/>
        </p:nvSpPr>
        <p:spPr>
          <a:xfrm>
            <a:off x="516834" y="464691"/>
            <a:ext cx="11065565" cy="40626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Asimetría</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Plantea el saber si los datos se distribuyen de forma simétrica con respecto a un valor central, o si bien la gráfica que representa la distribución de frecuencias es de una forma diferente del lado derecho que del lado izquierdo.</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Dentro de los tipos de asimetría posible, vamos a destacar los dos fundamentales:</a:t>
            </a:r>
            <a:endParaRPr/>
          </a:p>
          <a:p>
            <a:pPr indent="-285750" lvl="0" marL="28575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Asimetría positiva: Si las frecuencias más altas se encuentran en el lado izquierdo de la media, mientras que en derecho hay frecuencias más pequeñas (cola).</a:t>
            </a:r>
            <a:endParaRPr/>
          </a:p>
          <a:p>
            <a:pPr indent="-285750" lvl="0" marL="285750" marR="0" rtl="0" algn="l">
              <a:spcBef>
                <a:spcPts val="0"/>
              </a:spcBef>
              <a:spcAft>
                <a:spcPts val="0"/>
              </a:spcAft>
              <a:buClr>
                <a:schemeClr val="dk1"/>
              </a:buClr>
              <a:buSzPts val="2400"/>
              <a:buFont typeface="Arial"/>
              <a:buChar char="•"/>
            </a:pPr>
            <a:r>
              <a:rPr lang="es-ES" sz="2400">
                <a:solidFill>
                  <a:schemeClr val="dk1"/>
                </a:solidFill>
                <a:latin typeface="Gill Sans"/>
                <a:ea typeface="Gill Sans"/>
                <a:cs typeface="Gill Sans"/>
                <a:sym typeface="Gill Sans"/>
              </a:rPr>
              <a:t>Asimetría negativa: Cuando la cola está en el lado izquierdo.</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id="331" name="Google Shape;331;p29"/>
          <p:cNvPicPr preferRelativeResize="0"/>
          <p:nvPr/>
        </p:nvPicPr>
        <p:blipFill rotWithShape="1">
          <a:blip r:embed="rId3">
            <a:alphaModFix/>
          </a:blip>
          <a:srcRect b="0" l="0" r="0" t="0"/>
          <a:stretch/>
        </p:blipFill>
        <p:spPr>
          <a:xfrm>
            <a:off x="516834" y="4677879"/>
            <a:ext cx="3743847" cy="1981477"/>
          </a:xfrm>
          <a:prstGeom prst="rect">
            <a:avLst/>
          </a:prstGeom>
          <a:noFill/>
          <a:ln>
            <a:noFill/>
          </a:ln>
        </p:spPr>
      </p:pic>
      <p:pic>
        <p:nvPicPr>
          <p:cNvPr id="332" name="Google Shape;332;p29"/>
          <p:cNvPicPr preferRelativeResize="0"/>
          <p:nvPr/>
        </p:nvPicPr>
        <p:blipFill rotWithShape="1">
          <a:blip r:embed="rId4">
            <a:alphaModFix/>
          </a:blip>
          <a:srcRect b="0" l="0" r="0" t="0"/>
          <a:stretch/>
        </p:blipFill>
        <p:spPr>
          <a:xfrm>
            <a:off x="4744764" y="4527342"/>
            <a:ext cx="6373114" cy="204816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0"/>
          <p:cNvSpPr txBox="1"/>
          <p:nvPr/>
        </p:nvSpPr>
        <p:spPr>
          <a:xfrm>
            <a:off x="596348" y="446759"/>
            <a:ext cx="11131826" cy="22159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Coeficiente de asimetría de Pearson </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rPr lang="es-ES" sz="2400">
                <a:solidFill>
                  <a:schemeClr val="dk1"/>
                </a:solidFill>
                <a:latin typeface="Gill Sans"/>
                <a:ea typeface="Gill Sans"/>
                <a:cs typeface="Gill Sans"/>
                <a:sym typeface="Gill Sans"/>
              </a:rPr>
              <a:t>Una de las medidas de asimetría más difundidas, es el Coeficiente de Asimetría de Pearson cuyo calculo es</a:t>
            </a:r>
            <a:endParaRPr/>
          </a:p>
          <a:p>
            <a:pPr indent="0" lvl="0" marL="0" marR="0" rtl="0" algn="l">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id="338" name="Google Shape;338;p30"/>
          <p:cNvPicPr preferRelativeResize="0"/>
          <p:nvPr/>
        </p:nvPicPr>
        <p:blipFill rotWithShape="1">
          <a:blip r:embed="rId3">
            <a:alphaModFix/>
          </a:blip>
          <a:srcRect b="0" l="0" r="0" t="0"/>
          <a:stretch/>
        </p:blipFill>
        <p:spPr>
          <a:xfrm>
            <a:off x="2521591" y="2564833"/>
            <a:ext cx="2138770" cy="737009"/>
          </a:xfrm>
          <a:prstGeom prst="rect">
            <a:avLst/>
          </a:prstGeom>
          <a:noFill/>
          <a:ln>
            <a:noFill/>
          </a:ln>
        </p:spPr>
      </p:pic>
      <p:pic>
        <p:nvPicPr>
          <p:cNvPr id="339" name="Google Shape;339;p30"/>
          <p:cNvPicPr preferRelativeResize="0"/>
          <p:nvPr/>
        </p:nvPicPr>
        <p:blipFill rotWithShape="1">
          <a:blip r:embed="rId4">
            <a:alphaModFix/>
          </a:blip>
          <a:srcRect b="0" l="0" r="0" t="0"/>
          <a:stretch/>
        </p:blipFill>
        <p:spPr>
          <a:xfrm>
            <a:off x="6585604" y="2507739"/>
            <a:ext cx="2345029" cy="737009"/>
          </a:xfrm>
          <a:prstGeom prst="rect">
            <a:avLst/>
          </a:prstGeom>
          <a:noFill/>
          <a:ln>
            <a:noFill/>
          </a:ln>
        </p:spPr>
      </p:pic>
      <p:sp>
        <p:nvSpPr>
          <p:cNvPr id="340" name="Google Shape;340;p30"/>
          <p:cNvSpPr txBox="1"/>
          <p:nvPr/>
        </p:nvSpPr>
        <p:spPr>
          <a:xfrm>
            <a:off x="596348" y="3924662"/>
            <a:ext cx="96608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Gill Sans"/>
                <a:ea typeface="Gill Sans"/>
                <a:cs typeface="Gill Sans"/>
                <a:sym typeface="Gill Sans"/>
              </a:rPr>
              <a:t>Diremos que hay asimetría positiva si As &gt; 0 y negativa si As &lt; 0</a:t>
            </a:r>
            <a:endParaRPr sz="2400">
              <a:solidFill>
                <a:schemeClr val="dk1"/>
              </a:solidFill>
              <a:latin typeface="Gill Sans"/>
              <a:ea typeface="Gill Sans"/>
              <a:cs typeface="Gill Sans"/>
              <a:sym typeface="Gill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g22446dd44fe_0_0"/>
          <p:cNvPicPr preferRelativeResize="0"/>
          <p:nvPr/>
        </p:nvPicPr>
        <p:blipFill>
          <a:blip r:embed="rId3">
            <a:alphaModFix/>
          </a:blip>
          <a:stretch>
            <a:fillRect/>
          </a:stretch>
        </p:blipFill>
        <p:spPr>
          <a:xfrm>
            <a:off x="1895749" y="213725"/>
            <a:ext cx="7979475" cy="624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2020-08-20T12:09:57Z</dcterms:created>
  <dc:creator>Usuario</dc:creator>
</cp:coreProperties>
</file>