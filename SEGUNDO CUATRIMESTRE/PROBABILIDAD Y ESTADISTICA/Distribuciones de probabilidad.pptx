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Lst>
  <p:sldSz cy="6858000" cx="12192000"/>
  <p:notesSz cx="6858000" cy="9144000"/>
  <p:embeddedFontLst>
    <p:embeddedFont>
      <p:font typeface="Old Standard TT"/>
      <p:regular r:id="rId53"/>
      <p:bold r:id="rId54"/>
      <p: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6" roundtripDataSignature="AMtx7mgk8DaLndOWf/PYXIYw7EGnY8w1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font" Target="fonts/OldStandardTT-regular.fntdata"/><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font" Target="fonts/OldStandardTT-italic.fntdata"/><Relationship Id="rId10" Type="http://schemas.openxmlformats.org/officeDocument/2006/relationships/slide" Target="slides/slide6.xml"/><Relationship Id="rId54" Type="http://schemas.openxmlformats.org/officeDocument/2006/relationships/font" Target="fonts/OldStandardTT-bold.fntdata"/><Relationship Id="rId13" Type="http://schemas.openxmlformats.org/officeDocument/2006/relationships/slide" Target="slides/slide9.xml"/><Relationship Id="rId12" Type="http://schemas.openxmlformats.org/officeDocument/2006/relationships/slide" Target="slides/slide8.xml"/><Relationship Id="rId56"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d4b4114ace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2d4b4114ace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g2d4b4114ace_0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2d4b4114ace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2d4b4114ace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g2d4b4114ace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d4b4114ace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d4b4114ace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g2d4b4114ace_0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d4b4114ace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2d4b4114ace_0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g2d4b4114ace_0_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4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4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4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5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5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5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9" name="Shape 49"/>
        <p:cNvGrpSpPr/>
        <p:nvPr/>
      </p:nvGrpSpPr>
      <p:grpSpPr>
        <a:xfrm>
          <a:off x="0" y="0"/>
          <a:ext cx="0" cy="0"/>
          <a:chOff x="0" y="0"/>
          <a:chExt cx="0" cy="0"/>
        </a:xfrm>
      </p:grpSpPr>
      <p:sp>
        <p:nvSpPr>
          <p:cNvPr id="50" name="Google Shape;50;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4" name="Shape 54"/>
        <p:cNvGrpSpPr/>
        <p:nvPr/>
      </p:nvGrpSpPr>
      <p:grpSpPr>
        <a:xfrm>
          <a:off x="0" y="0"/>
          <a:ext cx="0" cy="0"/>
          <a:chOff x="0" y="0"/>
          <a:chExt cx="0" cy="0"/>
        </a:xfrm>
      </p:grpSpPr>
      <p:sp>
        <p:nvSpPr>
          <p:cNvPr id="55" name="Google Shape;55;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5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5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5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4"/>
          <p:cNvSpPr/>
          <p:nvPr>
            <p:ph idx="2" type="pic"/>
          </p:nvPr>
        </p:nvSpPr>
        <p:spPr>
          <a:xfrm>
            <a:off x="5183188" y="987425"/>
            <a:ext cx="6172200" cy="4873625"/>
          </a:xfrm>
          <a:prstGeom prst="rect">
            <a:avLst/>
          </a:prstGeom>
          <a:noFill/>
          <a:ln>
            <a:noFill/>
          </a:ln>
        </p:spPr>
      </p:sp>
      <p:sp>
        <p:nvSpPr>
          <p:cNvPr id="68" name="Google Shape;68;p5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5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5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5.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6.png"/><Relationship Id="rId7"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23.png"/><Relationship Id="rId5"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7.png"/><Relationship Id="rId4" Type="http://schemas.openxmlformats.org/officeDocument/2006/relationships/image" Target="../media/image11.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28.png"/><Relationship Id="rId5" Type="http://schemas.openxmlformats.org/officeDocument/2006/relationships/image" Target="../media/image8.png"/><Relationship Id="rId6"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0.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5.png"/><Relationship Id="rId4" Type="http://schemas.openxmlformats.org/officeDocument/2006/relationships/image" Target="../media/image38.png"/><Relationship Id="rId5"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9.png"/><Relationship Id="rId4" Type="http://schemas.openxmlformats.org/officeDocument/2006/relationships/image" Target="../media/image34.png"/><Relationship Id="rId5" Type="http://schemas.openxmlformats.org/officeDocument/2006/relationships/image" Target="../media/image29.png"/><Relationship Id="rId6" Type="http://schemas.openxmlformats.org/officeDocument/2006/relationships/image" Target="../media/image41.png"/><Relationship Id="rId7"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6.png"/><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9.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4.png"/><Relationship Id="rId4" Type="http://schemas.openxmlformats.org/officeDocument/2006/relationships/image" Target="../media/image43.png"/><Relationship Id="rId5" Type="http://schemas.openxmlformats.org/officeDocument/2006/relationships/image" Target="../media/image5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7.png"/><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3.png"/><Relationship Id="rId4" Type="http://schemas.openxmlformats.org/officeDocument/2006/relationships/image" Target="../media/image63.png"/><Relationship Id="rId5" Type="http://schemas.openxmlformats.org/officeDocument/2006/relationships/image" Target="../media/image4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1.png"/><Relationship Id="rId4" Type="http://schemas.openxmlformats.org/officeDocument/2006/relationships/image" Target="../media/image81.png"/><Relationship Id="rId5" Type="http://schemas.openxmlformats.org/officeDocument/2006/relationships/image" Target="../media/image5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6.png"/><Relationship Id="rId4" Type="http://schemas.openxmlformats.org/officeDocument/2006/relationships/image" Target="../media/image74.png"/><Relationship Id="rId5" Type="http://schemas.openxmlformats.org/officeDocument/2006/relationships/image" Target="../media/image69.png"/><Relationship Id="rId6" Type="http://schemas.openxmlformats.org/officeDocument/2006/relationships/image" Target="../media/image5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2.png"/><Relationship Id="rId4" Type="http://schemas.openxmlformats.org/officeDocument/2006/relationships/image" Target="../media/image71.png"/><Relationship Id="rId5" Type="http://schemas.openxmlformats.org/officeDocument/2006/relationships/image" Target="../media/image6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0.png"/><Relationship Id="rId4" Type="http://schemas.openxmlformats.org/officeDocument/2006/relationships/image" Target="../media/image6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7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61.png"/><Relationship Id="rId4" Type="http://schemas.openxmlformats.org/officeDocument/2006/relationships/image" Target="../media/image67.png"/><Relationship Id="rId5" Type="http://schemas.openxmlformats.org/officeDocument/2006/relationships/image" Target="../media/image6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6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65.png"/><Relationship Id="rId4" Type="http://schemas.openxmlformats.org/officeDocument/2006/relationships/image" Target="../media/image6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7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8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73.png"/><Relationship Id="rId4" Type="http://schemas.openxmlformats.org/officeDocument/2006/relationships/image" Target="../media/image7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7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82.png"/><Relationship Id="rId4" Type="http://schemas.openxmlformats.org/officeDocument/2006/relationships/image" Target="../media/image77.png"/><Relationship Id="rId5" Type="http://schemas.openxmlformats.org/officeDocument/2006/relationships/image" Target="../media/image7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7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8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8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8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nvSpPr>
        <p:spPr>
          <a:xfrm>
            <a:off x="1524586" y="2919438"/>
            <a:ext cx="954668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3600" u="none" cap="none" strike="noStrike">
                <a:solidFill>
                  <a:schemeClr val="dk1"/>
                </a:solidFill>
                <a:latin typeface="Arial"/>
                <a:ea typeface="Arial"/>
                <a:cs typeface="Arial"/>
                <a:sym typeface="Arial"/>
              </a:rPr>
              <a:t>Cálculo de probabilidades y variables aleatorias</a:t>
            </a:r>
            <a:endParaRPr b="1" i="0" sz="3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nvSpPr>
        <p:spPr>
          <a:xfrm>
            <a:off x="756138" y="638294"/>
            <a:ext cx="10877844" cy="2031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2800" u="none" cap="none" strike="noStrike">
                <a:solidFill>
                  <a:schemeClr val="dk1"/>
                </a:solidFill>
                <a:latin typeface="Arial"/>
                <a:ea typeface="Arial"/>
                <a:cs typeface="Arial"/>
                <a:sym typeface="Arial"/>
              </a:rPr>
              <a:t>Introducción</a:t>
            </a:r>
            <a:endParaRPr/>
          </a:p>
          <a:p>
            <a:pPr indent="0" lvl="0" marL="0" marR="0" rtl="0" algn="just">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0" lvl="0" marL="0" marR="0" rtl="0" algn="just">
              <a:spcBef>
                <a:spcPts val="0"/>
              </a:spcBef>
              <a:spcAft>
                <a:spcPts val="0"/>
              </a:spcAft>
              <a:buNone/>
            </a:pPr>
            <a:r>
              <a:rPr b="0" i="0" lang="es-ES" sz="2000" u="none" cap="none" strike="noStrike">
                <a:solidFill>
                  <a:schemeClr val="dk1"/>
                </a:solidFill>
                <a:latin typeface="Old Standard TT"/>
                <a:ea typeface="Old Standard TT"/>
                <a:cs typeface="Old Standard TT"/>
                <a:sym typeface="Old Standard TT"/>
              </a:rPr>
              <a:t>La probabilidad constituye por sí misma un concepto básico que refleja su relación con la faceta del mundo exterior que pretende estudiar: los fenómenos aleatorios, los cuales obedecen unas ciertas reglas de comportamiento. De alguna manera, el concepto de probabilidad, se relaciona o nos recuerda las propiedades de la frecuencia relativa.</a:t>
            </a:r>
            <a:endParaRPr b="0" i="0" sz="2000" u="none" cap="none" strike="noStrike">
              <a:solidFill>
                <a:schemeClr val="dk1"/>
              </a:solidFill>
              <a:latin typeface="Calibri"/>
              <a:ea typeface="Calibri"/>
              <a:cs typeface="Calibri"/>
              <a:sym typeface="Calibri"/>
            </a:endParaRPr>
          </a:p>
        </p:txBody>
      </p:sp>
      <p:pic>
        <p:nvPicPr>
          <p:cNvPr id="94" name="Google Shape;94;p2"/>
          <p:cNvPicPr preferRelativeResize="0"/>
          <p:nvPr/>
        </p:nvPicPr>
        <p:blipFill rotWithShape="1">
          <a:blip r:embed="rId3">
            <a:alphaModFix/>
          </a:blip>
          <a:srcRect b="0" l="0" r="0" t="0"/>
          <a:stretch/>
        </p:blipFill>
        <p:spPr>
          <a:xfrm>
            <a:off x="1777328" y="3203917"/>
            <a:ext cx="8637343" cy="14046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nvSpPr>
        <p:spPr>
          <a:xfrm>
            <a:off x="756138" y="680497"/>
            <a:ext cx="609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cap="none" strike="noStrike">
                <a:solidFill>
                  <a:schemeClr val="dk1"/>
                </a:solidFill>
                <a:latin typeface="Arial"/>
                <a:ea typeface="Arial"/>
                <a:cs typeface="Arial"/>
                <a:sym typeface="Arial"/>
              </a:rPr>
              <a:t>Experimentos y sucesos aleatorios</a:t>
            </a:r>
            <a:endParaRPr sz="2400">
              <a:solidFill>
                <a:schemeClr val="dk1"/>
              </a:solidFill>
              <a:latin typeface="Calibri"/>
              <a:ea typeface="Calibri"/>
              <a:cs typeface="Calibri"/>
              <a:sym typeface="Calibri"/>
            </a:endParaRPr>
          </a:p>
        </p:txBody>
      </p:sp>
      <p:sp>
        <p:nvSpPr>
          <p:cNvPr id="100" name="Google Shape;100;p3"/>
          <p:cNvSpPr txBox="1"/>
          <p:nvPr/>
        </p:nvSpPr>
        <p:spPr>
          <a:xfrm>
            <a:off x="756138" y="1462075"/>
            <a:ext cx="10849708" cy="2554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Diremos que </a:t>
            </a:r>
            <a:r>
              <a:rPr b="0" i="0" lang="es-ES" sz="2000" u="none" strike="noStrike">
                <a:solidFill>
                  <a:schemeClr val="dk1"/>
                </a:solidFill>
                <a:latin typeface="Arial"/>
                <a:ea typeface="Arial"/>
                <a:cs typeface="Arial"/>
                <a:sym typeface="Arial"/>
              </a:rPr>
              <a:t>un experimento es aleatorio </a:t>
            </a:r>
            <a:r>
              <a:rPr b="0" i="0" lang="es-ES" sz="2000" u="none" strike="noStrike">
                <a:solidFill>
                  <a:schemeClr val="dk1"/>
                </a:solidFill>
                <a:latin typeface="Old Standard TT"/>
                <a:ea typeface="Old Standard TT"/>
                <a:cs typeface="Old Standard TT"/>
                <a:sym typeface="Old Standard TT"/>
              </a:rPr>
              <a:t>si se verifican las siguientes condiciones:</a:t>
            </a:r>
            <a:endParaRPr/>
          </a:p>
          <a:p>
            <a:pPr indent="0" lvl="0" marL="0" marR="0" rtl="0" algn="l">
              <a:spcBef>
                <a:spcPts val="0"/>
              </a:spcBef>
              <a:spcAft>
                <a:spcPts val="0"/>
              </a:spcAft>
              <a:buNone/>
            </a:pPr>
            <a:r>
              <a:t/>
            </a:r>
            <a:endParaRPr sz="2000">
              <a:solidFill>
                <a:schemeClr val="dk1"/>
              </a:solidFill>
              <a:latin typeface="Old Standard TT"/>
              <a:ea typeface="Old Standard TT"/>
              <a:cs typeface="Old Standard TT"/>
              <a:sym typeface="Old Standard TT"/>
            </a:endParaRPr>
          </a:p>
          <a:p>
            <a:pPr indent="-285750" lvl="0" marL="285750" marR="0" rtl="0" algn="l">
              <a:spcBef>
                <a:spcPts val="0"/>
              </a:spcBef>
              <a:spcAft>
                <a:spcPts val="0"/>
              </a:spcAft>
              <a:buClr>
                <a:schemeClr val="dk1"/>
              </a:buClr>
              <a:buSzPts val="2000"/>
              <a:buFont typeface="Arial"/>
              <a:buChar char="•"/>
            </a:pPr>
            <a:r>
              <a:rPr b="0" i="0" lang="es-ES" sz="2000" u="none" strike="noStrike">
                <a:solidFill>
                  <a:schemeClr val="dk1"/>
                </a:solidFill>
                <a:latin typeface="Old Standard TT"/>
                <a:ea typeface="Old Standard TT"/>
                <a:cs typeface="Old Standard TT"/>
                <a:sym typeface="Old Standard TT"/>
              </a:rPr>
              <a:t>Se puede repetir indefinidamente, siempre en las mismas condiciones;</a:t>
            </a:r>
            <a:endParaRPr/>
          </a:p>
          <a:p>
            <a:pPr indent="-285750" lvl="0" marL="285750" marR="0" rtl="0" algn="l">
              <a:spcBef>
                <a:spcPts val="0"/>
              </a:spcBef>
              <a:spcAft>
                <a:spcPts val="0"/>
              </a:spcAft>
              <a:buClr>
                <a:schemeClr val="dk1"/>
              </a:buClr>
              <a:buSzPts val="2000"/>
              <a:buFont typeface="Arial"/>
              <a:buChar char="•"/>
            </a:pPr>
            <a:r>
              <a:rPr b="0" i="0" lang="es-ES" sz="2000" u="none" strike="noStrike">
                <a:solidFill>
                  <a:schemeClr val="dk1"/>
                </a:solidFill>
                <a:latin typeface="Old Standard TT"/>
                <a:ea typeface="Old Standard TT"/>
                <a:cs typeface="Old Standard TT"/>
                <a:sym typeface="Old Standard TT"/>
              </a:rPr>
              <a:t>Antes de realizarlo, no se puede predecir el resultado que se va a obtener;</a:t>
            </a:r>
            <a:endParaRPr/>
          </a:p>
          <a:p>
            <a:pPr indent="-285750" lvl="0" marL="285750" marR="0" rtl="0" algn="l">
              <a:spcBef>
                <a:spcPts val="0"/>
              </a:spcBef>
              <a:spcAft>
                <a:spcPts val="0"/>
              </a:spcAft>
              <a:buClr>
                <a:schemeClr val="dk1"/>
              </a:buClr>
              <a:buSzPts val="2000"/>
              <a:buFont typeface="Arial"/>
              <a:buChar char="•"/>
            </a:pPr>
            <a:r>
              <a:rPr b="0" i="0" lang="es-ES" sz="2000" u="none" strike="noStrike">
                <a:solidFill>
                  <a:schemeClr val="dk1"/>
                </a:solidFill>
                <a:latin typeface="Old Standard TT"/>
                <a:ea typeface="Old Standard TT"/>
                <a:cs typeface="Old Standard TT"/>
                <a:sym typeface="Old Standard TT"/>
              </a:rPr>
              <a:t>El resultado que se obtenga, e, pertenece a un conjunto conocido</a:t>
            </a:r>
            <a:r>
              <a:rPr lang="es-ES" sz="2000">
                <a:solidFill>
                  <a:schemeClr val="dk1"/>
                </a:solidFill>
                <a:latin typeface="Old Standard TT"/>
                <a:ea typeface="Old Standard TT"/>
                <a:cs typeface="Old Standard TT"/>
                <a:sym typeface="Old Standard TT"/>
              </a:rPr>
              <a:t> </a:t>
            </a:r>
            <a:r>
              <a:rPr b="0" i="0" lang="es-ES" sz="2000" u="none" strike="noStrike">
                <a:solidFill>
                  <a:schemeClr val="dk1"/>
                </a:solidFill>
                <a:latin typeface="Old Standard TT"/>
                <a:ea typeface="Old Standard TT"/>
                <a:cs typeface="Old Standard TT"/>
                <a:sym typeface="Old Standard TT"/>
              </a:rPr>
              <a:t>previamente de resultados posibles. A este conjunto, de resultados posibles, lo denominaremos </a:t>
            </a:r>
            <a:r>
              <a:rPr b="1" i="1" lang="es-ES" sz="2000" u="none" strike="noStrike">
                <a:solidFill>
                  <a:schemeClr val="dk1"/>
                </a:solidFill>
                <a:latin typeface="Arial"/>
                <a:ea typeface="Arial"/>
                <a:cs typeface="Arial"/>
                <a:sym typeface="Arial"/>
              </a:rPr>
              <a:t>espacio muestral </a:t>
            </a:r>
            <a:r>
              <a:rPr b="0" i="0" lang="es-ES" sz="2000" u="none" strike="noStrike">
                <a:solidFill>
                  <a:schemeClr val="dk1"/>
                </a:solidFill>
                <a:latin typeface="Old Standard TT"/>
                <a:ea typeface="Old Standard TT"/>
                <a:cs typeface="Old Standard TT"/>
                <a:sym typeface="Old Standard TT"/>
              </a:rPr>
              <a:t>y lo denotaremos normalmente mediante la letra </a:t>
            </a:r>
            <a:r>
              <a:rPr b="1" i="1" lang="es-ES" sz="2000" u="none" strike="noStrike">
                <a:solidFill>
                  <a:schemeClr val="dk1"/>
                </a:solidFill>
                <a:latin typeface="Old Standard TT"/>
                <a:ea typeface="Old Standard TT"/>
                <a:cs typeface="Old Standard TT"/>
                <a:sym typeface="Old Standard TT"/>
              </a:rPr>
              <a:t>E</a:t>
            </a:r>
            <a:r>
              <a:rPr b="0" i="0" lang="es-ES" sz="2000" u="none" strike="noStrike">
                <a:solidFill>
                  <a:schemeClr val="dk1"/>
                </a:solidFill>
                <a:latin typeface="Old Standard TT"/>
                <a:ea typeface="Old Standard TT"/>
                <a:cs typeface="Old Standard TT"/>
                <a:sym typeface="Old Standard TT"/>
              </a:rPr>
              <a:t>. Los elementos del espacio muestral se denominan </a:t>
            </a:r>
            <a:r>
              <a:rPr b="1" i="1" lang="es-ES" sz="2000" u="none" strike="noStrike">
                <a:solidFill>
                  <a:schemeClr val="dk1"/>
                </a:solidFill>
                <a:latin typeface="Arial"/>
                <a:ea typeface="Arial"/>
                <a:cs typeface="Arial"/>
                <a:sym typeface="Arial"/>
              </a:rPr>
              <a:t>sucesos elementales</a:t>
            </a:r>
            <a:r>
              <a:rPr b="0" i="0" lang="es-ES" sz="2000" u="none" strike="noStrike">
                <a:solidFill>
                  <a:schemeClr val="dk1"/>
                </a:solidFill>
                <a:latin typeface="Old Standard TT"/>
                <a:ea typeface="Old Standard TT"/>
                <a:cs typeface="Old Standard TT"/>
                <a:sym typeface="Old Standard TT"/>
              </a:rPr>
              <a:t>.</a:t>
            </a:r>
            <a:endParaRPr sz="2000">
              <a:solidFill>
                <a:schemeClr val="dk1"/>
              </a:solidFill>
              <a:latin typeface="Calibri"/>
              <a:ea typeface="Calibri"/>
              <a:cs typeface="Calibri"/>
              <a:sym typeface="Calibri"/>
            </a:endParaRPr>
          </a:p>
        </p:txBody>
      </p:sp>
      <p:pic>
        <p:nvPicPr>
          <p:cNvPr id="101" name="Google Shape;101;p3"/>
          <p:cNvPicPr preferRelativeResize="0"/>
          <p:nvPr/>
        </p:nvPicPr>
        <p:blipFill rotWithShape="1">
          <a:blip r:embed="rId3">
            <a:alphaModFix/>
          </a:blip>
          <a:srcRect b="0" l="0" r="0" t="0"/>
          <a:stretch/>
        </p:blipFill>
        <p:spPr>
          <a:xfrm>
            <a:off x="3194731" y="4076459"/>
            <a:ext cx="5802537" cy="520148"/>
          </a:xfrm>
          <a:prstGeom prst="rect">
            <a:avLst/>
          </a:prstGeom>
          <a:noFill/>
          <a:ln>
            <a:noFill/>
          </a:ln>
        </p:spPr>
      </p:pic>
      <p:sp>
        <p:nvSpPr>
          <p:cNvPr id="102" name="Google Shape;102;p3"/>
          <p:cNvSpPr txBox="1"/>
          <p:nvPr/>
        </p:nvSpPr>
        <p:spPr>
          <a:xfrm>
            <a:off x="756138" y="4656446"/>
            <a:ext cx="10849708"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Cualquier subconjunto de E ser</a:t>
            </a:r>
            <a:r>
              <a:rPr lang="es-ES" sz="2000">
                <a:solidFill>
                  <a:schemeClr val="dk1"/>
                </a:solidFill>
                <a:latin typeface="Old Standard TT"/>
                <a:ea typeface="Old Standard TT"/>
                <a:cs typeface="Old Standard TT"/>
                <a:sym typeface="Old Standard TT"/>
              </a:rPr>
              <a:t>á</a:t>
            </a:r>
            <a:r>
              <a:rPr b="0" i="0" lang="es-ES" sz="2000" u="none" strike="noStrike">
                <a:solidFill>
                  <a:schemeClr val="dk1"/>
                </a:solidFill>
                <a:latin typeface="Old Standard TT"/>
                <a:ea typeface="Old Standard TT"/>
                <a:cs typeface="Old Standard TT"/>
                <a:sym typeface="Old Standard TT"/>
              </a:rPr>
              <a:t> denominado </a:t>
            </a:r>
            <a:r>
              <a:rPr b="1" i="1" lang="es-ES" sz="2000" u="none" strike="noStrike">
                <a:solidFill>
                  <a:schemeClr val="dk1"/>
                </a:solidFill>
                <a:latin typeface="Arial"/>
                <a:ea typeface="Arial"/>
                <a:cs typeface="Arial"/>
                <a:sym typeface="Arial"/>
              </a:rPr>
              <a:t>suceso aleatorio</a:t>
            </a:r>
            <a:r>
              <a:rPr b="0" i="0" lang="es-ES" sz="2000" u="none" strike="noStrike">
                <a:solidFill>
                  <a:schemeClr val="dk1"/>
                </a:solidFill>
                <a:latin typeface="Old Standard TT"/>
                <a:ea typeface="Old Standard TT"/>
                <a:cs typeface="Old Standard TT"/>
                <a:sym typeface="Old Standard TT"/>
              </a:rPr>
              <a:t>, y se denotará normalmente con las letras A, B,. . .</a:t>
            </a:r>
            <a:endParaRPr sz="2000">
              <a:solidFill>
                <a:schemeClr val="dk1"/>
              </a:solidFill>
              <a:latin typeface="Calibri"/>
              <a:ea typeface="Calibri"/>
              <a:cs typeface="Calibri"/>
              <a:sym typeface="Calibri"/>
            </a:endParaRPr>
          </a:p>
        </p:txBody>
      </p:sp>
      <p:pic>
        <p:nvPicPr>
          <p:cNvPr id="103" name="Google Shape;103;p3"/>
          <p:cNvPicPr preferRelativeResize="0"/>
          <p:nvPr/>
        </p:nvPicPr>
        <p:blipFill rotWithShape="1">
          <a:blip r:embed="rId4">
            <a:alphaModFix/>
          </a:blip>
          <a:srcRect b="0" l="0" r="0" t="0"/>
          <a:stretch/>
        </p:blipFill>
        <p:spPr>
          <a:xfrm>
            <a:off x="3510161" y="5590565"/>
            <a:ext cx="5197741" cy="50655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4"/>
          <p:cNvSpPr txBox="1"/>
          <p:nvPr/>
        </p:nvSpPr>
        <p:spPr>
          <a:xfrm>
            <a:off x="643597" y="511684"/>
            <a:ext cx="609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Operaciones b</a:t>
            </a:r>
            <a:r>
              <a:rPr lang="es-ES" sz="2400">
                <a:solidFill>
                  <a:schemeClr val="dk1"/>
                </a:solidFill>
                <a:latin typeface="Arial"/>
                <a:ea typeface="Arial"/>
                <a:cs typeface="Arial"/>
                <a:sym typeface="Arial"/>
              </a:rPr>
              <a:t>á</a:t>
            </a:r>
            <a:r>
              <a:rPr b="0" i="0" lang="es-ES" sz="2400" u="none" strike="noStrike">
                <a:solidFill>
                  <a:schemeClr val="dk1"/>
                </a:solidFill>
                <a:latin typeface="Arial"/>
                <a:ea typeface="Arial"/>
                <a:cs typeface="Arial"/>
                <a:sym typeface="Arial"/>
              </a:rPr>
              <a:t>sicas con sucesos aleatorios</a:t>
            </a:r>
            <a:endParaRPr sz="2400">
              <a:solidFill>
                <a:schemeClr val="dk1"/>
              </a:solidFill>
              <a:latin typeface="Calibri"/>
              <a:ea typeface="Calibri"/>
              <a:cs typeface="Calibri"/>
              <a:sym typeface="Calibri"/>
            </a:endParaRPr>
          </a:p>
        </p:txBody>
      </p:sp>
      <p:sp>
        <p:nvSpPr>
          <p:cNvPr id="109" name="Google Shape;109;p4"/>
          <p:cNvSpPr txBox="1"/>
          <p:nvPr/>
        </p:nvSpPr>
        <p:spPr>
          <a:xfrm>
            <a:off x="643597" y="1308185"/>
            <a:ext cx="10920046" cy="101566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Al ser los sucesos aleatorios nada m</a:t>
            </a:r>
            <a:r>
              <a:rPr lang="es-ES" sz="2000">
                <a:solidFill>
                  <a:schemeClr val="dk1"/>
                </a:solidFill>
                <a:latin typeface="Old Standard TT"/>
                <a:ea typeface="Old Standard TT"/>
                <a:cs typeface="Old Standard TT"/>
                <a:sym typeface="Old Standard TT"/>
              </a:rPr>
              <a:t>á</a:t>
            </a:r>
            <a:r>
              <a:rPr b="0" i="0" lang="es-ES" sz="2000" u="none" strike="noStrike">
                <a:solidFill>
                  <a:schemeClr val="dk1"/>
                </a:solidFill>
                <a:latin typeface="Old Standard TT"/>
                <a:ea typeface="Old Standard TT"/>
                <a:cs typeface="Old Standard TT"/>
                <a:sym typeface="Old Standard TT"/>
              </a:rPr>
              <a:t>s que subconjuntos de un conjunto</a:t>
            </a:r>
            <a:r>
              <a:rPr lang="es-ES" sz="2000">
                <a:solidFill>
                  <a:schemeClr val="dk1"/>
                </a:solidFill>
                <a:latin typeface="Old Standard TT"/>
                <a:ea typeface="Old Standard TT"/>
                <a:cs typeface="Old Standard TT"/>
                <a:sym typeface="Old Standard TT"/>
              </a:rPr>
              <a:t> </a:t>
            </a:r>
            <a:r>
              <a:rPr b="0" i="0" lang="es-ES" sz="2000" u="none" strike="noStrike">
                <a:solidFill>
                  <a:schemeClr val="dk1"/>
                </a:solidFill>
                <a:latin typeface="Old Standard TT"/>
                <a:ea typeface="Old Standard TT"/>
                <a:cs typeface="Old Standard TT"/>
                <a:sym typeface="Old Standard TT"/>
              </a:rPr>
              <a:t>E —espacio muestral—, podemos aplicarles las conocidas operaciones con conjuntos, como son la uni</a:t>
            </a:r>
            <a:r>
              <a:rPr lang="es-ES" sz="2000">
                <a:solidFill>
                  <a:schemeClr val="dk1"/>
                </a:solidFill>
                <a:latin typeface="Old Standard TT"/>
                <a:ea typeface="Old Standard TT"/>
                <a:cs typeface="Old Standard TT"/>
                <a:sym typeface="Old Standard TT"/>
              </a:rPr>
              <a:t>ó</a:t>
            </a:r>
            <a:r>
              <a:rPr b="0" i="0" lang="es-ES" sz="2000" u="none" strike="noStrike">
                <a:solidFill>
                  <a:schemeClr val="dk1"/>
                </a:solidFill>
                <a:latin typeface="Old Standard TT"/>
                <a:ea typeface="Old Standard TT"/>
                <a:cs typeface="Old Standard TT"/>
                <a:sym typeface="Old Standard TT"/>
              </a:rPr>
              <a:t>n, intersección y diferencia:</a:t>
            </a:r>
            <a:endParaRPr sz="2000">
              <a:solidFill>
                <a:schemeClr val="dk1"/>
              </a:solidFill>
              <a:latin typeface="Calibri"/>
              <a:ea typeface="Calibri"/>
              <a:cs typeface="Calibri"/>
              <a:sym typeface="Calibri"/>
            </a:endParaRPr>
          </a:p>
        </p:txBody>
      </p:sp>
      <p:sp>
        <p:nvSpPr>
          <p:cNvPr id="110" name="Google Shape;110;p4"/>
          <p:cNvSpPr txBox="1"/>
          <p:nvPr/>
        </p:nvSpPr>
        <p:spPr>
          <a:xfrm>
            <a:off x="643596" y="2474018"/>
            <a:ext cx="10920045" cy="13849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2400" u="none" strike="noStrike">
                <a:solidFill>
                  <a:schemeClr val="dk1"/>
                </a:solidFill>
                <a:latin typeface="Arial"/>
                <a:ea typeface="Arial"/>
                <a:cs typeface="Arial"/>
                <a:sym typeface="Arial"/>
              </a:rPr>
              <a:t>Uni</a:t>
            </a:r>
            <a:r>
              <a:rPr lang="es-ES" sz="2400">
                <a:solidFill>
                  <a:schemeClr val="dk1"/>
                </a:solidFill>
                <a:latin typeface="Arial"/>
                <a:ea typeface="Arial"/>
                <a:cs typeface="Arial"/>
                <a:sym typeface="Arial"/>
              </a:rPr>
              <a:t>ó</a:t>
            </a:r>
            <a:r>
              <a:rPr b="0" i="0" lang="es-ES" sz="2400" u="none" strike="noStrike">
                <a:solidFill>
                  <a:schemeClr val="dk1"/>
                </a:solidFill>
                <a:latin typeface="Arial"/>
                <a:ea typeface="Arial"/>
                <a:cs typeface="Arial"/>
                <a:sym typeface="Arial"/>
              </a:rPr>
              <a:t>n</a:t>
            </a:r>
            <a:endParaRPr/>
          </a:p>
          <a:p>
            <a:pPr indent="0" lvl="0" marL="0" marR="0" rtl="0" algn="just">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Dados dos sucesos aleatórios  A,B </a:t>
            </a:r>
            <a:r>
              <a:rPr b="0" i="0" lang="es-ES" sz="2000" u="none" strike="noStrike">
                <a:solidFill>
                  <a:schemeClr val="dk1"/>
                </a:solidFill>
                <a:latin typeface="Arial"/>
                <a:ea typeface="Arial"/>
                <a:cs typeface="Arial"/>
                <a:sym typeface="Arial"/>
              </a:rPr>
              <a:t> que pertences </a:t>
            </a:r>
            <a:r>
              <a:rPr lang="es-ES" sz="2000">
                <a:solidFill>
                  <a:schemeClr val="dk1"/>
                </a:solidFill>
                <a:latin typeface="Arial"/>
                <a:ea typeface="Arial"/>
                <a:cs typeface="Arial"/>
                <a:sym typeface="Arial"/>
              </a:rPr>
              <a:t>a </a:t>
            </a:r>
            <a:r>
              <a:rPr b="0" i="0" lang="es-ES" sz="2000" u="none" strike="noStrike">
                <a:solidFill>
                  <a:schemeClr val="dk1"/>
                </a:solidFill>
                <a:latin typeface="Old Standard TT"/>
                <a:ea typeface="Old Standard TT"/>
                <a:cs typeface="Old Standard TT"/>
                <a:sym typeface="Old Standard TT"/>
              </a:rPr>
              <a:t>E, se denomina </a:t>
            </a:r>
            <a:r>
              <a:rPr b="0" i="0" lang="es-ES" sz="2000" u="none" strike="noStrike">
                <a:solidFill>
                  <a:schemeClr val="dk1"/>
                </a:solidFill>
                <a:latin typeface="Arial"/>
                <a:ea typeface="Arial"/>
                <a:cs typeface="Arial"/>
                <a:sym typeface="Arial"/>
              </a:rPr>
              <a:t>suceso</a:t>
            </a:r>
            <a:r>
              <a:rPr lang="es-ES" sz="2000">
                <a:solidFill>
                  <a:schemeClr val="dk1"/>
                </a:solidFill>
                <a:latin typeface="Arial"/>
                <a:ea typeface="Arial"/>
                <a:cs typeface="Arial"/>
                <a:sym typeface="Arial"/>
              </a:rPr>
              <a:t> </a:t>
            </a:r>
            <a:r>
              <a:rPr b="0" i="0" lang="es-ES" sz="2000" u="none" strike="noStrike">
                <a:solidFill>
                  <a:schemeClr val="dk1"/>
                </a:solidFill>
                <a:latin typeface="Arial"/>
                <a:ea typeface="Arial"/>
                <a:cs typeface="Arial"/>
                <a:sym typeface="Arial"/>
              </a:rPr>
              <a:t>uni</a:t>
            </a:r>
            <a:r>
              <a:rPr lang="es-ES" sz="2000">
                <a:solidFill>
                  <a:schemeClr val="dk1"/>
                </a:solidFill>
                <a:latin typeface="Arial"/>
                <a:ea typeface="Arial"/>
                <a:cs typeface="Arial"/>
                <a:sym typeface="Arial"/>
              </a:rPr>
              <a:t>ó</a:t>
            </a:r>
            <a:r>
              <a:rPr b="0" i="0" lang="es-ES" sz="2000" u="none" strike="noStrike">
                <a:solidFill>
                  <a:schemeClr val="dk1"/>
                </a:solidFill>
                <a:latin typeface="Arial"/>
                <a:ea typeface="Arial"/>
                <a:cs typeface="Arial"/>
                <a:sym typeface="Arial"/>
              </a:rPr>
              <a:t>n </a:t>
            </a:r>
            <a:r>
              <a:rPr b="0" i="0" lang="es-ES" sz="2000" u="none" strike="noStrike">
                <a:solidFill>
                  <a:schemeClr val="dk1"/>
                </a:solidFill>
                <a:latin typeface="Old Standard TT"/>
                <a:ea typeface="Old Standard TT"/>
                <a:cs typeface="Old Standard TT"/>
                <a:sym typeface="Old Standard TT"/>
              </a:rPr>
              <a:t>de A y B al conjunto formado por todos los sucesos elementales que pertenecen a A o bien que pertenecen a B (incluyendo los que est</a:t>
            </a:r>
            <a:r>
              <a:rPr lang="es-ES" sz="2000">
                <a:solidFill>
                  <a:schemeClr val="dk1"/>
                </a:solidFill>
                <a:latin typeface="Old Standard TT"/>
                <a:ea typeface="Old Standard TT"/>
                <a:cs typeface="Old Standard TT"/>
                <a:sym typeface="Old Standard TT"/>
              </a:rPr>
              <a:t>á</a:t>
            </a:r>
            <a:r>
              <a:rPr b="0" i="0" lang="es-ES" sz="2000" u="none" strike="noStrike">
                <a:solidFill>
                  <a:schemeClr val="dk1"/>
                </a:solidFill>
                <a:latin typeface="Old Standard TT"/>
                <a:ea typeface="Old Standard TT"/>
                <a:cs typeface="Old Standard TT"/>
                <a:sym typeface="Old Standard TT"/>
              </a:rPr>
              <a:t>n en ambos simult</a:t>
            </a:r>
            <a:r>
              <a:rPr lang="es-ES" sz="2000">
                <a:solidFill>
                  <a:schemeClr val="dk1"/>
                </a:solidFill>
                <a:latin typeface="Old Standard TT"/>
                <a:ea typeface="Old Standard TT"/>
                <a:cs typeface="Old Standard TT"/>
                <a:sym typeface="Old Standard TT"/>
              </a:rPr>
              <a:t>á</a:t>
            </a:r>
            <a:r>
              <a:rPr b="0" i="0" lang="es-ES" sz="2000" u="none" strike="noStrike">
                <a:solidFill>
                  <a:schemeClr val="dk1"/>
                </a:solidFill>
                <a:latin typeface="Old Standard TT"/>
                <a:ea typeface="Old Standard TT"/>
                <a:cs typeface="Old Standard TT"/>
                <a:sym typeface="Old Standard TT"/>
              </a:rPr>
              <a:t>neamente), es decir</a:t>
            </a:r>
            <a:endParaRPr sz="2800">
              <a:solidFill>
                <a:schemeClr val="dk1"/>
              </a:solidFill>
              <a:latin typeface="Calibri"/>
              <a:ea typeface="Calibri"/>
              <a:cs typeface="Calibri"/>
              <a:sym typeface="Calibri"/>
            </a:endParaRPr>
          </a:p>
        </p:txBody>
      </p:sp>
      <p:pic>
        <p:nvPicPr>
          <p:cNvPr id="111" name="Google Shape;111;p4"/>
          <p:cNvPicPr preferRelativeResize="0"/>
          <p:nvPr/>
        </p:nvPicPr>
        <p:blipFill rotWithShape="1">
          <a:blip r:embed="rId3">
            <a:alphaModFix/>
          </a:blip>
          <a:srcRect b="0" l="0" r="0" t="0"/>
          <a:stretch/>
        </p:blipFill>
        <p:spPr>
          <a:xfrm>
            <a:off x="3372730" y="4009183"/>
            <a:ext cx="4255834" cy="622495"/>
          </a:xfrm>
          <a:prstGeom prst="rect">
            <a:avLst/>
          </a:prstGeom>
          <a:noFill/>
          <a:ln>
            <a:noFill/>
          </a:ln>
        </p:spPr>
      </p:pic>
      <p:sp>
        <p:nvSpPr>
          <p:cNvPr id="112" name="Google Shape;112;p4"/>
          <p:cNvSpPr txBox="1"/>
          <p:nvPr/>
        </p:nvSpPr>
        <p:spPr>
          <a:xfrm>
            <a:off x="812409" y="4631678"/>
            <a:ext cx="10751232"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Intersecci</a:t>
            </a:r>
            <a:r>
              <a:rPr lang="es-ES" sz="2400">
                <a:solidFill>
                  <a:schemeClr val="dk1"/>
                </a:solidFill>
                <a:latin typeface="Arial"/>
                <a:ea typeface="Arial"/>
                <a:cs typeface="Arial"/>
                <a:sym typeface="Arial"/>
              </a:rPr>
              <a:t>ó</a:t>
            </a:r>
            <a:r>
              <a:rPr b="0" i="0" lang="es-ES" sz="2400" u="none" strike="noStrike">
                <a:solidFill>
                  <a:schemeClr val="dk1"/>
                </a:solidFill>
                <a:latin typeface="Arial"/>
                <a:ea typeface="Arial"/>
                <a:cs typeface="Arial"/>
                <a:sym typeface="Arial"/>
              </a:rPr>
              <a:t>n</a:t>
            </a:r>
            <a:endParaRPr/>
          </a:p>
          <a:p>
            <a:pPr indent="0" lvl="0" marL="0" marR="0" rtl="0" algn="just">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Dados dos sucesos aleatorios A,B </a:t>
            </a:r>
            <a:r>
              <a:rPr b="0" i="0" lang="es-ES" sz="2000" u="none" strike="noStrike">
                <a:solidFill>
                  <a:schemeClr val="dk1"/>
                </a:solidFill>
                <a:latin typeface="Arial"/>
                <a:ea typeface="Arial"/>
                <a:cs typeface="Arial"/>
                <a:sym typeface="Arial"/>
              </a:rPr>
              <a:t> </a:t>
            </a:r>
            <a:r>
              <a:rPr b="0" i="0" lang="es-ES" sz="2000" u="none" strike="noStrike">
                <a:solidFill>
                  <a:schemeClr val="dk1"/>
                </a:solidFill>
                <a:latin typeface="Old Standard TT"/>
                <a:ea typeface="Old Standard TT"/>
                <a:cs typeface="Old Standard TT"/>
                <a:sym typeface="Old Standard TT"/>
              </a:rPr>
              <a:t>E, se denomina </a:t>
            </a:r>
            <a:r>
              <a:rPr b="0" i="0" lang="es-ES" sz="2000" u="none" strike="noStrike">
                <a:solidFill>
                  <a:schemeClr val="dk1"/>
                </a:solidFill>
                <a:latin typeface="Arial"/>
                <a:ea typeface="Arial"/>
                <a:cs typeface="Arial"/>
                <a:sym typeface="Arial"/>
              </a:rPr>
              <a:t>sucesso intersecci</a:t>
            </a:r>
            <a:r>
              <a:rPr lang="es-ES" sz="2000">
                <a:solidFill>
                  <a:schemeClr val="dk1"/>
                </a:solidFill>
                <a:latin typeface="Arial"/>
                <a:ea typeface="Arial"/>
                <a:cs typeface="Arial"/>
                <a:sym typeface="Arial"/>
              </a:rPr>
              <a:t>ó</a:t>
            </a:r>
            <a:r>
              <a:rPr b="0" i="0" lang="es-ES" sz="2000" u="none" strike="noStrike">
                <a:solidFill>
                  <a:schemeClr val="dk1"/>
                </a:solidFill>
                <a:latin typeface="Arial"/>
                <a:ea typeface="Arial"/>
                <a:cs typeface="Arial"/>
                <a:sym typeface="Arial"/>
              </a:rPr>
              <a:t>n </a:t>
            </a:r>
            <a:r>
              <a:rPr b="0" i="0" lang="es-ES" sz="2000" u="none" strike="noStrike">
                <a:solidFill>
                  <a:schemeClr val="dk1"/>
                </a:solidFill>
                <a:latin typeface="Old Standard TT"/>
                <a:ea typeface="Old Standard TT"/>
                <a:cs typeface="Old Standard TT"/>
                <a:sym typeface="Old Standard TT"/>
              </a:rPr>
              <a:t>de A y B al conjunto formado por todos los sucesos elementales que pertenecen a A y B a la vez, es decir,</a:t>
            </a:r>
            <a:endParaRPr sz="2800">
              <a:solidFill>
                <a:schemeClr val="dk1"/>
              </a:solidFill>
              <a:latin typeface="Calibri"/>
              <a:ea typeface="Calibri"/>
              <a:cs typeface="Calibri"/>
              <a:sym typeface="Calibri"/>
            </a:endParaRPr>
          </a:p>
        </p:txBody>
      </p:sp>
      <p:pic>
        <p:nvPicPr>
          <p:cNvPr id="113" name="Google Shape;113;p4"/>
          <p:cNvPicPr preferRelativeResize="0"/>
          <p:nvPr/>
        </p:nvPicPr>
        <p:blipFill rotWithShape="1">
          <a:blip r:embed="rId4">
            <a:alphaModFix/>
          </a:blip>
          <a:srcRect b="0" l="0" r="0" t="0"/>
          <a:stretch/>
        </p:blipFill>
        <p:spPr>
          <a:xfrm>
            <a:off x="3263705" y="5884767"/>
            <a:ext cx="5469372" cy="57285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5"/>
          <p:cNvSpPr txBox="1"/>
          <p:nvPr/>
        </p:nvSpPr>
        <p:spPr>
          <a:xfrm>
            <a:off x="657664" y="625401"/>
            <a:ext cx="10835642" cy="13849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2400" u="none" strike="noStrike">
                <a:solidFill>
                  <a:schemeClr val="dk1"/>
                </a:solidFill>
                <a:latin typeface="Arial"/>
                <a:ea typeface="Arial"/>
                <a:cs typeface="Arial"/>
                <a:sym typeface="Arial"/>
              </a:rPr>
              <a:t>Diferencia:</a:t>
            </a:r>
            <a:endParaRPr/>
          </a:p>
          <a:p>
            <a:pPr indent="0" lvl="0" marL="0" marR="0" rtl="0" algn="just">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Dados dos sucesos aleatorios A,B </a:t>
            </a:r>
            <a:r>
              <a:rPr b="0" i="0" lang="es-ES" sz="2000" u="none" strike="noStrike">
                <a:solidFill>
                  <a:schemeClr val="dk1"/>
                </a:solidFill>
                <a:latin typeface="Arial"/>
                <a:ea typeface="Arial"/>
                <a:cs typeface="Arial"/>
                <a:sym typeface="Arial"/>
              </a:rPr>
              <a:t> que pertenece a </a:t>
            </a:r>
            <a:r>
              <a:rPr b="0" i="0" lang="es-ES" sz="2000" u="none" strike="noStrike">
                <a:solidFill>
                  <a:schemeClr val="dk1"/>
                </a:solidFill>
                <a:latin typeface="Old Standard TT"/>
                <a:ea typeface="Old Standard TT"/>
                <a:cs typeface="Old Standard TT"/>
                <a:sym typeface="Old Standard TT"/>
              </a:rPr>
              <a:t>E, se llama </a:t>
            </a:r>
            <a:r>
              <a:rPr b="0" i="0" lang="es-ES" sz="2000" u="none" strike="noStrike">
                <a:solidFill>
                  <a:schemeClr val="dk1"/>
                </a:solidFill>
                <a:latin typeface="Arial"/>
                <a:ea typeface="Arial"/>
                <a:cs typeface="Arial"/>
                <a:sym typeface="Arial"/>
              </a:rPr>
              <a:t>suceso diferencia </a:t>
            </a:r>
            <a:r>
              <a:rPr b="0" i="0" lang="es-ES" sz="2000" u="none" strike="noStrike">
                <a:solidFill>
                  <a:schemeClr val="dk1"/>
                </a:solidFill>
                <a:latin typeface="Old Standard TT"/>
                <a:ea typeface="Old Standard TT"/>
                <a:cs typeface="Old Standard TT"/>
                <a:sym typeface="Old Standard TT"/>
              </a:rPr>
              <a:t>de</a:t>
            </a:r>
            <a:r>
              <a:rPr lang="es-ES" sz="2000">
                <a:solidFill>
                  <a:schemeClr val="dk1"/>
                </a:solidFill>
                <a:latin typeface="Old Standard TT"/>
                <a:ea typeface="Old Standard TT"/>
                <a:cs typeface="Old Standard TT"/>
                <a:sym typeface="Old Standard TT"/>
              </a:rPr>
              <a:t> </a:t>
            </a:r>
            <a:r>
              <a:rPr b="0" i="0" lang="es-ES" sz="2000" u="none" strike="noStrike">
                <a:solidFill>
                  <a:schemeClr val="dk1"/>
                </a:solidFill>
                <a:latin typeface="Old Standard TT"/>
                <a:ea typeface="Old Standard TT"/>
                <a:cs typeface="Old Standard TT"/>
                <a:sym typeface="Old Standard TT"/>
              </a:rPr>
              <a:t>A y B, y se representa mediante A</a:t>
            </a:r>
            <a:r>
              <a:rPr b="0" i="0" lang="es-ES" sz="2000" u="none" strike="noStrike">
                <a:solidFill>
                  <a:schemeClr val="dk1"/>
                </a:solidFill>
                <a:latin typeface="Arial"/>
                <a:ea typeface="Arial"/>
                <a:cs typeface="Arial"/>
                <a:sym typeface="Arial"/>
              </a:rPr>
              <a:t>\</a:t>
            </a:r>
            <a:r>
              <a:rPr b="0" i="0" lang="es-ES" sz="2000" u="none" strike="noStrike">
                <a:solidFill>
                  <a:schemeClr val="dk1"/>
                </a:solidFill>
                <a:latin typeface="Old Standard TT"/>
                <a:ea typeface="Old Standard TT"/>
                <a:cs typeface="Old Standard TT"/>
                <a:sym typeface="Old Standard TT"/>
              </a:rPr>
              <a:t>B, o bien A </a:t>
            </a:r>
            <a:r>
              <a:rPr b="0" i="0" lang="es-ES" sz="2000" u="none" strike="noStrike">
                <a:solidFill>
                  <a:schemeClr val="dk1"/>
                </a:solidFill>
                <a:latin typeface="Arial"/>
                <a:ea typeface="Arial"/>
                <a:cs typeface="Arial"/>
                <a:sym typeface="Arial"/>
              </a:rPr>
              <a:t>− </a:t>
            </a:r>
            <a:r>
              <a:rPr b="0" i="0" lang="es-ES" sz="2000" u="none" strike="noStrike">
                <a:solidFill>
                  <a:schemeClr val="dk1"/>
                </a:solidFill>
                <a:latin typeface="Old Standard TT"/>
                <a:ea typeface="Old Standard TT"/>
                <a:cs typeface="Old Standard TT"/>
                <a:sym typeface="Old Standard TT"/>
              </a:rPr>
              <a:t>B, al suceso aleatorio</a:t>
            </a:r>
            <a:r>
              <a:rPr lang="es-ES" sz="2000">
                <a:solidFill>
                  <a:schemeClr val="dk1"/>
                </a:solidFill>
                <a:latin typeface="Old Standard TT"/>
                <a:ea typeface="Old Standard TT"/>
                <a:cs typeface="Old Standard TT"/>
                <a:sym typeface="Old Standard TT"/>
              </a:rPr>
              <a:t> </a:t>
            </a:r>
            <a:r>
              <a:rPr b="0" i="0" lang="es-ES" sz="2000" u="none" strike="noStrike">
                <a:solidFill>
                  <a:schemeClr val="dk1"/>
                </a:solidFill>
                <a:latin typeface="Old Standard TT"/>
                <a:ea typeface="Old Standard TT"/>
                <a:cs typeface="Old Standard TT"/>
                <a:sym typeface="Old Standard TT"/>
              </a:rPr>
              <a:t>formado por todos los sucesos elementales que pertenecen a A, pero no a B:</a:t>
            </a:r>
            <a:endParaRPr sz="2000">
              <a:solidFill>
                <a:schemeClr val="dk1"/>
              </a:solidFill>
              <a:latin typeface="Calibri"/>
              <a:ea typeface="Calibri"/>
              <a:cs typeface="Calibri"/>
              <a:sym typeface="Calibri"/>
            </a:endParaRPr>
          </a:p>
        </p:txBody>
      </p:sp>
      <p:pic>
        <p:nvPicPr>
          <p:cNvPr id="119" name="Google Shape;119;p5"/>
          <p:cNvPicPr preferRelativeResize="0"/>
          <p:nvPr/>
        </p:nvPicPr>
        <p:blipFill rotWithShape="1">
          <a:blip r:embed="rId3">
            <a:alphaModFix/>
          </a:blip>
          <a:srcRect b="0" l="0" r="0" t="0"/>
          <a:stretch/>
        </p:blipFill>
        <p:spPr>
          <a:xfrm>
            <a:off x="2509095" y="2010396"/>
            <a:ext cx="7173809" cy="676533"/>
          </a:xfrm>
          <a:prstGeom prst="rect">
            <a:avLst/>
          </a:prstGeom>
          <a:noFill/>
          <a:ln>
            <a:noFill/>
          </a:ln>
        </p:spPr>
      </p:pic>
      <p:pic>
        <p:nvPicPr>
          <p:cNvPr id="120" name="Google Shape;120;p5"/>
          <p:cNvPicPr preferRelativeResize="0"/>
          <p:nvPr/>
        </p:nvPicPr>
        <p:blipFill rotWithShape="1">
          <a:blip r:embed="rId4">
            <a:alphaModFix/>
          </a:blip>
          <a:srcRect b="0" l="0" r="0" t="0"/>
          <a:stretch/>
        </p:blipFill>
        <p:spPr>
          <a:xfrm>
            <a:off x="889052" y="3288532"/>
            <a:ext cx="2529397" cy="1613579"/>
          </a:xfrm>
          <a:prstGeom prst="rect">
            <a:avLst/>
          </a:prstGeom>
          <a:noFill/>
          <a:ln>
            <a:noFill/>
          </a:ln>
        </p:spPr>
      </p:pic>
      <p:sp>
        <p:nvSpPr>
          <p:cNvPr id="121" name="Google Shape;121;p5"/>
          <p:cNvSpPr txBox="1"/>
          <p:nvPr/>
        </p:nvSpPr>
        <p:spPr>
          <a:xfrm>
            <a:off x="1459522" y="3061173"/>
            <a:ext cx="1171136" cy="369332"/>
          </a:xfrm>
          <a:prstGeom prst="rect">
            <a:avLst/>
          </a:prstGeom>
          <a:noFill/>
          <a:ln>
            <a:noFill/>
          </a:ln>
        </p:spPr>
        <p:txBody>
          <a:bodyPr anchorCtr="0" anchor="t" bIns="45700" lIns="91425" spcFirstLastPara="1" rIns="91425" wrap="square" tIns="45700">
            <a:spAutoFit/>
          </a:bodyPr>
          <a:lstStyle/>
          <a:p>
            <a:pPr indent="0" lvl="2" marL="240664" marR="0" rtl="0" algn="l">
              <a:lnSpc>
                <a:spcPct val="100000"/>
              </a:lnSpc>
              <a:spcBef>
                <a:spcPts val="0"/>
              </a:spcBef>
              <a:spcAft>
                <a:spcPts val="0"/>
              </a:spcAft>
              <a:buNone/>
            </a:pPr>
            <a:r>
              <a:rPr b="1" i="0" lang="es-ES" sz="1800" u="none" cap="none" strike="noStrike">
                <a:solidFill>
                  <a:schemeClr val="dk1"/>
                </a:solidFill>
                <a:latin typeface="Calibri"/>
                <a:ea typeface="Calibri"/>
                <a:cs typeface="Calibri"/>
                <a:sym typeface="Calibri"/>
              </a:rPr>
              <a:t>UNIÓN</a:t>
            </a:r>
            <a:endParaRPr b="0" i="0" sz="1800" u="none" cap="none" strike="noStrike">
              <a:solidFill>
                <a:schemeClr val="dk1"/>
              </a:solidFill>
              <a:latin typeface="Calibri"/>
              <a:ea typeface="Calibri"/>
              <a:cs typeface="Calibri"/>
              <a:sym typeface="Calibri"/>
            </a:endParaRPr>
          </a:p>
        </p:txBody>
      </p:sp>
      <p:pic>
        <p:nvPicPr>
          <p:cNvPr id="122" name="Google Shape;122;p5"/>
          <p:cNvPicPr preferRelativeResize="0"/>
          <p:nvPr/>
        </p:nvPicPr>
        <p:blipFill rotWithShape="1">
          <a:blip r:embed="rId5">
            <a:alphaModFix/>
          </a:blip>
          <a:srcRect b="0" l="0" r="0" t="0"/>
          <a:stretch/>
        </p:blipFill>
        <p:spPr>
          <a:xfrm>
            <a:off x="3773737" y="3429000"/>
            <a:ext cx="2322264" cy="1457018"/>
          </a:xfrm>
          <a:prstGeom prst="rect">
            <a:avLst/>
          </a:prstGeom>
          <a:noFill/>
          <a:ln>
            <a:noFill/>
          </a:ln>
        </p:spPr>
      </p:pic>
      <p:sp>
        <p:nvSpPr>
          <p:cNvPr id="123" name="Google Shape;123;p5"/>
          <p:cNvSpPr txBox="1"/>
          <p:nvPr/>
        </p:nvSpPr>
        <p:spPr>
          <a:xfrm>
            <a:off x="3939944" y="3059668"/>
            <a:ext cx="1989850" cy="369332"/>
          </a:xfrm>
          <a:prstGeom prst="rect">
            <a:avLst/>
          </a:prstGeom>
          <a:noFill/>
          <a:ln>
            <a:noFill/>
          </a:ln>
        </p:spPr>
        <p:txBody>
          <a:bodyPr anchorCtr="0" anchor="t" bIns="45700" lIns="91425" spcFirstLastPara="1" rIns="91425" wrap="square" tIns="45700">
            <a:spAutoFit/>
          </a:bodyPr>
          <a:lstStyle/>
          <a:p>
            <a:pPr indent="0" lvl="0" marL="240664" marR="0" rtl="0" algn="l">
              <a:lnSpc>
                <a:spcPct val="100000"/>
              </a:lnSpc>
              <a:spcBef>
                <a:spcPts val="0"/>
              </a:spcBef>
              <a:spcAft>
                <a:spcPts val="0"/>
              </a:spcAft>
              <a:buNone/>
            </a:pPr>
            <a:r>
              <a:rPr b="1" lang="es-ES" sz="1800">
                <a:solidFill>
                  <a:schemeClr val="dk1"/>
                </a:solidFill>
                <a:latin typeface="Calibri"/>
                <a:ea typeface="Calibri"/>
                <a:cs typeface="Calibri"/>
                <a:sym typeface="Calibri"/>
              </a:rPr>
              <a:t>INTERSECCIÓN</a:t>
            </a:r>
            <a:endParaRPr sz="1800">
              <a:solidFill>
                <a:schemeClr val="dk1"/>
              </a:solidFill>
              <a:latin typeface="Calibri"/>
              <a:ea typeface="Calibri"/>
              <a:cs typeface="Calibri"/>
              <a:sym typeface="Calibri"/>
            </a:endParaRPr>
          </a:p>
        </p:txBody>
      </p:sp>
      <p:pic>
        <p:nvPicPr>
          <p:cNvPr id="124" name="Google Shape;124;p5"/>
          <p:cNvPicPr preferRelativeResize="0"/>
          <p:nvPr/>
        </p:nvPicPr>
        <p:blipFill rotWithShape="1">
          <a:blip r:embed="rId6">
            <a:alphaModFix/>
          </a:blip>
          <a:srcRect b="0" l="0" r="0" t="0"/>
          <a:stretch/>
        </p:blipFill>
        <p:spPr>
          <a:xfrm>
            <a:off x="6451289" y="3485337"/>
            <a:ext cx="2186274" cy="1344344"/>
          </a:xfrm>
          <a:prstGeom prst="rect">
            <a:avLst/>
          </a:prstGeom>
          <a:noFill/>
          <a:ln>
            <a:noFill/>
          </a:ln>
        </p:spPr>
      </p:pic>
      <p:sp>
        <p:nvSpPr>
          <p:cNvPr id="125" name="Google Shape;125;p5"/>
          <p:cNvSpPr txBox="1"/>
          <p:nvPr/>
        </p:nvSpPr>
        <p:spPr>
          <a:xfrm>
            <a:off x="6617496" y="3059668"/>
            <a:ext cx="1598036" cy="369332"/>
          </a:xfrm>
          <a:prstGeom prst="rect">
            <a:avLst/>
          </a:prstGeom>
          <a:noFill/>
          <a:ln>
            <a:noFill/>
          </a:ln>
        </p:spPr>
        <p:txBody>
          <a:bodyPr anchorCtr="0" anchor="t" bIns="45700" lIns="91425" spcFirstLastPara="1" rIns="91425" wrap="square" tIns="45700">
            <a:spAutoFit/>
          </a:bodyPr>
          <a:lstStyle/>
          <a:p>
            <a:pPr indent="0" lvl="0" marL="240664" marR="0" rtl="0" algn="l">
              <a:lnSpc>
                <a:spcPct val="100000"/>
              </a:lnSpc>
              <a:spcBef>
                <a:spcPts val="0"/>
              </a:spcBef>
              <a:spcAft>
                <a:spcPts val="0"/>
              </a:spcAft>
              <a:buNone/>
            </a:pPr>
            <a:r>
              <a:rPr b="1" lang="es-ES" sz="1800">
                <a:solidFill>
                  <a:schemeClr val="dk1"/>
                </a:solidFill>
                <a:latin typeface="Calibri"/>
                <a:ea typeface="Calibri"/>
                <a:cs typeface="Calibri"/>
                <a:sym typeface="Calibri"/>
              </a:rPr>
              <a:t>DIFERENCIA</a:t>
            </a:r>
            <a:endParaRPr/>
          </a:p>
        </p:txBody>
      </p:sp>
      <p:pic>
        <p:nvPicPr>
          <p:cNvPr id="126" name="Google Shape;126;p5"/>
          <p:cNvPicPr preferRelativeResize="0"/>
          <p:nvPr/>
        </p:nvPicPr>
        <p:blipFill rotWithShape="1">
          <a:blip r:embed="rId7">
            <a:alphaModFix/>
          </a:blip>
          <a:srcRect b="0" l="0" r="0" t="0"/>
          <a:stretch/>
        </p:blipFill>
        <p:spPr>
          <a:xfrm>
            <a:off x="8968364" y="3458616"/>
            <a:ext cx="2334584" cy="1273410"/>
          </a:xfrm>
          <a:prstGeom prst="rect">
            <a:avLst/>
          </a:prstGeom>
          <a:noFill/>
          <a:ln>
            <a:noFill/>
          </a:ln>
        </p:spPr>
      </p:pic>
      <p:sp>
        <p:nvSpPr>
          <p:cNvPr id="127" name="Google Shape;127;p5"/>
          <p:cNvSpPr txBox="1"/>
          <p:nvPr/>
        </p:nvSpPr>
        <p:spPr>
          <a:xfrm>
            <a:off x="8968364" y="3059668"/>
            <a:ext cx="2058753" cy="369332"/>
          </a:xfrm>
          <a:prstGeom prst="rect">
            <a:avLst/>
          </a:prstGeom>
          <a:noFill/>
          <a:ln>
            <a:noFill/>
          </a:ln>
        </p:spPr>
        <p:txBody>
          <a:bodyPr anchorCtr="0" anchor="t" bIns="45700" lIns="91425" spcFirstLastPara="1" rIns="91425" wrap="square" tIns="45700">
            <a:spAutoFit/>
          </a:bodyPr>
          <a:lstStyle/>
          <a:p>
            <a:pPr indent="0" lvl="0" marL="240664" marR="0" rtl="0" algn="l">
              <a:lnSpc>
                <a:spcPct val="100000"/>
              </a:lnSpc>
              <a:spcBef>
                <a:spcPts val="0"/>
              </a:spcBef>
              <a:spcAft>
                <a:spcPts val="0"/>
              </a:spcAft>
              <a:buNone/>
            </a:pPr>
            <a:r>
              <a:rPr b="1" lang="es-ES" sz="1800">
                <a:solidFill>
                  <a:schemeClr val="dk1"/>
                </a:solidFill>
                <a:latin typeface="Calibri"/>
                <a:ea typeface="Calibri"/>
                <a:cs typeface="Calibri"/>
                <a:sym typeface="Calibri"/>
              </a:rPr>
              <a:t>COMPLEMENTO</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6"/>
          <p:cNvSpPr txBox="1"/>
          <p:nvPr/>
        </p:nvSpPr>
        <p:spPr>
          <a:xfrm>
            <a:off x="629529" y="441346"/>
            <a:ext cx="609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Experimentos aleatorios y probabilidad</a:t>
            </a:r>
            <a:endParaRPr sz="2400">
              <a:solidFill>
                <a:schemeClr val="dk1"/>
              </a:solidFill>
              <a:latin typeface="Calibri"/>
              <a:ea typeface="Calibri"/>
              <a:cs typeface="Calibri"/>
              <a:sym typeface="Calibri"/>
            </a:endParaRPr>
          </a:p>
        </p:txBody>
      </p:sp>
      <p:sp>
        <p:nvSpPr>
          <p:cNvPr id="133" name="Google Shape;133;p6"/>
          <p:cNvSpPr txBox="1"/>
          <p:nvPr/>
        </p:nvSpPr>
        <p:spPr>
          <a:xfrm>
            <a:off x="629529" y="1146909"/>
            <a:ext cx="1086377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Hablamos</a:t>
            </a:r>
            <a:r>
              <a:rPr lang="es-ES" sz="2000">
                <a:solidFill>
                  <a:schemeClr val="dk1"/>
                </a:solidFill>
                <a:latin typeface="Old Standard TT"/>
                <a:ea typeface="Old Standard TT"/>
                <a:cs typeface="Old Standard TT"/>
                <a:sym typeface="Old Standard TT"/>
              </a:rPr>
              <a:t> </a:t>
            </a:r>
            <a:r>
              <a:rPr b="0" i="0" lang="es-ES" sz="2000" u="none" strike="noStrike">
                <a:solidFill>
                  <a:schemeClr val="dk1"/>
                </a:solidFill>
                <a:latin typeface="Old Standard TT"/>
                <a:ea typeface="Old Standard TT"/>
                <a:cs typeface="Old Standard TT"/>
                <a:sym typeface="Old Standard TT"/>
              </a:rPr>
              <a:t>de </a:t>
            </a:r>
            <a:r>
              <a:rPr b="0" i="0" lang="es-ES" sz="2000" u="none" strike="noStrike">
                <a:solidFill>
                  <a:schemeClr val="dk1"/>
                </a:solidFill>
                <a:latin typeface="Arial"/>
                <a:ea typeface="Arial"/>
                <a:cs typeface="Arial"/>
                <a:sym typeface="Arial"/>
              </a:rPr>
              <a:t>experimento aleatorio cuando </a:t>
            </a:r>
            <a:r>
              <a:rPr b="0" i="0" lang="es-ES" sz="2000" u="none" strike="noStrike">
                <a:solidFill>
                  <a:schemeClr val="dk1"/>
                </a:solidFill>
                <a:latin typeface="Old Standard TT"/>
                <a:ea typeface="Old Standard TT"/>
                <a:cs typeface="Old Standard TT"/>
                <a:sym typeface="Old Standard TT"/>
              </a:rPr>
              <a:t>en un experimento no se puede predecir el resultado final</a:t>
            </a:r>
            <a:endParaRPr sz="2000">
              <a:solidFill>
                <a:schemeClr val="dk1"/>
              </a:solidFill>
              <a:latin typeface="Calibri"/>
              <a:ea typeface="Calibri"/>
              <a:cs typeface="Calibri"/>
              <a:sym typeface="Calibri"/>
            </a:endParaRPr>
          </a:p>
        </p:txBody>
      </p:sp>
      <p:sp>
        <p:nvSpPr>
          <p:cNvPr id="134" name="Google Shape;134;p6"/>
          <p:cNvSpPr txBox="1"/>
          <p:nvPr/>
        </p:nvSpPr>
        <p:spPr>
          <a:xfrm>
            <a:off x="629529" y="1779454"/>
            <a:ext cx="609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Noci</a:t>
            </a:r>
            <a:r>
              <a:rPr lang="es-ES" sz="2400">
                <a:solidFill>
                  <a:schemeClr val="dk1"/>
                </a:solidFill>
                <a:latin typeface="Arial"/>
                <a:ea typeface="Arial"/>
                <a:cs typeface="Arial"/>
                <a:sym typeface="Arial"/>
              </a:rPr>
              <a:t>ó</a:t>
            </a:r>
            <a:r>
              <a:rPr b="0" i="0" lang="es-ES" sz="2400" u="none" strike="noStrike">
                <a:solidFill>
                  <a:schemeClr val="dk1"/>
                </a:solidFill>
                <a:latin typeface="Arial"/>
                <a:ea typeface="Arial"/>
                <a:cs typeface="Arial"/>
                <a:sym typeface="Arial"/>
              </a:rPr>
              <a:t>n frecuentista de probabilidad</a:t>
            </a:r>
            <a:endParaRPr sz="2400">
              <a:solidFill>
                <a:schemeClr val="dk1"/>
              </a:solidFill>
              <a:latin typeface="Calibri"/>
              <a:ea typeface="Calibri"/>
              <a:cs typeface="Calibri"/>
              <a:sym typeface="Calibri"/>
            </a:endParaRPr>
          </a:p>
        </p:txBody>
      </p:sp>
      <p:sp>
        <p:nvSpPr>
          <p:cNvPr id="135" name="Google Shape;135;p6"/>
          <p:cNvSpPr txBox="1"/>
          <p:nvPr/>
        </p:nvSpPr>
        <p:spPr>
          <a:xfrm>
            <a:off x="629529" y="2473554"/>
            <a:ext cx="10863776" cy="101566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En los experimentos aleatorios se observa que cuando el n</a:t>
            </a:r>
            <a:r>
              <a:rPr lang="es-ES" sz="2000">
                <a:solidFill>
                  <a:schemeClr val="dk1"/>
                </a:solidFill>
                <a:latin typeface="Old Standard TT"/>
                <a:ea typeface="Old Standard TT"/>
                <a:cs typeface="Old Standard TT"/>
                <a:sym typeface="Old Standard TT"/>
              </a:rPr>
              <a:t>ú</a:t>
            </a:r>
            <a:r>
              <a:rPr b="0" i="0" lang="es-ES" sz="2000" u="none" strike="noStrike">
                <a:solidFill>
                  <a:schemeClr val="dk1"/>
                </a:solidFill>
                <a:latin typeface="Old Standard TT"/>
                <a:ea typeface="Old Standard TT"/>
                <a:cs typeface="Old Standard TT"/>
                <a:sym typeface="Old Standard TT"/>
              </a:rPr>
              <a:t>mero de experimentos aumenta, las frecuencias relativas con las que ocurre cierto suceso e, f</a:t>
            </a:r>
            <a:r>
              <a:rPr b="0" i="0" lang="es-ES" sz="2000" u="none" strike="noStrike">
                <a:solidFill>
                  <a:schemeClr val="dk1"/>
                </a:solidFill>
                <a:latin typeface="Arial"/>
                <a:ea typeface="Arial"/>
                <a:cs typeface="Arial"/>
                <a:sym typeface="Arial"/>
              </a:rPr>
              <a:t>n</a:t>
            </a:r>
            <a:r>
              <a:rPr b="0" i="0" lang="es-ES" sz="2000" u="none" strike="noStrike">
                <a:solidFill>
                  <a:schemeClr val="dk1"/>
                </a:solidFill>
                <a:latin typeface="Old Standard TT"/>
                <a:ea typeface="Old Standard TT"/>
                <a:cs typeface="Old Standard TT"/>
                <a:sym typeface="Old Standard TT"/>
              </a:rPr>
              <a:t>(e), tiende a converger hacia cierta cantidad que denominamos </a:t>
            </a:r>
            <a:r>
              <a:rPr b="0" i="0" lang="es-ES" sz="2000" u="none" strike="noStrike">
                <a:solidFill>
                  <a:schemeClr val="dk1"/>
                </a:solidFill>
                <a:latin typeface="Arial"/>
                <a:ea typeface="Arial"/>
                <a:cs typeface="Arial"/>
                <a:sym typeface="Arial"/>
              </a:rPr>
              <a:t>probabilidad </a:t>
            </a:r>
            <a:r>
              <a:rPr b="0" i="0" lang="es-ES" sz="2000" u="none" strike="noStrike">
                <a:solidFill>
                  <a:schemeClr val="dk1"/>
                </a:solidFill>
                <a:latin typeface="Old Standard TT"/>
                <a:ea typeface="Old Standard TT"/>
                <a:cs typeface="Old Standard TT"/>
                <a:sym typeface="Old Standard TT"/>
              </a:rPr>
              <a:t>de e. Esta es la </a:t>
            </a:r>
            <a:r>
              <a:rPr b="0" i="0" lang="es-ES" sz="2000" u="none" strike="noStrike">
                <a:solidFill>
                  <a:schemeClr val="dk1"/>
                </a:solidFill>
                <a:latin typeface="Arial"/>
                <a:ea typeface="Arial"/>
                <a:cs typeface="Arial"/>
                <a:sym typeface="Arial"/>
              </a:rPr>
              <a:t>noci</a:t>
            </a:r>
            <a:r>
              <a:rPr lang="es-ES" sz="2000">
                <a:solidFill>
                  <a:schemeClr val="dk1"/>
                </a:solidFill>
                <a:latin typeface="Arial"/>
                <a:ea typeface="Arial"/>
                <a:cs typeface="Arial"/>
                <a:sym typeface="Arial"/>
              </a:rPr>
              <a:t>ó</a:t>
            </a:r>
            <a:r>
              <a:rPr b="0" i="0" lang="es-ES" sz="2000" u="none" strike="noStrike">
                <a:solidFill>
                  <a:schemeClr val="dk1"/>
                </a:solidFill>
                <a:latin typeface="Arial"/>
                <a:ea typeface="Arial"/>
                <a:cs typeface="Arial"/>
                <a:sym typeface="Arial"/>
              </a:rPr>
              <a:t>n frecuentista de probabilidad</a:t>
            </a:r>
            <a:r>
              <a:rPr b="0" i="0" lang="es-ES" sz="2000" u="none" strike="noStrike">
                <a:solidFill>
                  <a:schemeClr val="dk1"/>
                </a:solidFill>
                <a:latin typeface="Old Standard TT"/>
                <a:ea typeface="Old Standard TT"/>
                <a:cs typeface="Old Standard TT"/>
                <a:sym typeface="Old Standard TT"/>
              </a:rPr>
              <a:t>.</a:t>
            </a:r>
            <a:endParaRPr sz="2000">
              <a:solidFill>
                <a:schemeClr val="dk1"/>
              </a:solidFill>
              <a:latin typeface="Calibri"/>
              <a:ea typeface="Calibri"/>
              <a:cs typeface="Calibri"/>
              <a:sym typeface="Calibri"/>
            </a:endParaRPr>
          </a:p>
        </p:txBody>
      </p:sp>
      <p:pic>
        <p:nvPicPr>
          <p:cNvPr id="136" name="Google Shape;136;p6"/>
          <p:cNvPicPr preferRelativeResize="0"/>
          <p:nvPr/>
        </p:nvPicPr>
        <p:blipFill rotWithShape="1">
          <a:blip r:embed="rId3">
            <a:alphaModFix/>
          </a:blip>
          <a:srcRect b="0" l="0" r="0" t="0"/>
          <a:stretch/>
        </p:blipFill>
        <p:spPr>
          <a:xfrm>
            <a:off x="822217" y="3721652"/>
            <a:ext cx="4650116" cy="870273"/>
          </a:xfrm>
          <a:prstGeom prst="rect">
            <a:avLst/>
          </a:prstGeom>
          <a:noFill/>
          <a:ln>
            <a:noFill/>
          </a:ln>
        </p:spPr>
      </p:pic>
      <p:pic>
        <p:nvPicPr>
          <p:cNvPr id="137" name="Google Shape;137;p6"/>
          <p:cNvPicPr preferRelativeResize="0"/>
          <p:nvPr/>
        </p:nvPicPr>
        <p:blipFill rotWithShape="1">
          <a:blip r:embed="rId4">
            <a:alphaModFix/>
          </a:blip>
          <a:srcRect b="0" l="0" r="0" t="0"/>
          <a:stretch/>
        </p:blipFill>
        <p:spPr>
          <a:xfrm>
            <a:off x="6719669" y="3721652"/>
            <a:ext cx="3033603" cy="665535"/>
          </a:xfrm>
          <a:prstGeom prst="rect">
            <a:avLst/>
          </a:prstGeom>
          <a:noFill/>
          <a:ln>
            <a:noFill/>
          </a:ln>
        </p:spPr>
      </p:pic>
      <p:pic>
        <p:nvPicPr>
          <p:cNvPr id="138" name="Google Shape;138;p6"/>
          <p:cNvPicPr preferRelativeResize="0"/>
          <p:nvPr/>
        </p:nvPicPr>
        <p:blipFill rotWithShape="1">
          <a:blip r:embed="rId5">
            <a:alphaModFix/>
          </a:blip>
          <a:srcRect b="0" l="0" r="0" t="0"/>
          <a:stretch/>
        </p:blipFill>
        <p:spPr>
          <a:xfrm>
            <a:off x="4234192" y="4591925"/>
            <a:ext cx="3654449" cy="20823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7"/>
          <p:cNvSpPr txBox="1"/>
          <p:nvPr/>
        </p:nvSpPr>
        <p:spPr>
          <a:xfrm>
            <a:off x="713936" y="567956"/>
            <a:ext cx="609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Probabilidad de Laplace</a:t>
            </a:r>
            <a:endParaRPr sz="2400">
              <a:solidFill>
                <a:schemeClr val="dk1"/>
              </a:solidFill>
              <a:latin typeface="Calibri"/>
              <a:ea typeface="Calibri"/>
              <a:cs typeface="Calibri"/>
              <a:sym typeface="Calibri"/>
            </a:endParaRPr>
          </a:p>
        </p:txBody>
      </p:sp>
      <p:sp>
        <p:nvSpPr>
          <p:cNvPr id="144" name="Google Shape;144;p7"/>
          <p:cNvSpPr txBox="1"/>
          <p:nvPr/>
        </p:nvSpPr>
        <p:spPr>
          <a:xfrm>
            <a:off x="713935" y="1345031"/>
            <a:ext cx="10723099" cy="13234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Si un experimento cualquiera puede dar lugar a un número finito de resultados posibles, y no existe ninguna raz</a:t>
            </a:r>
            <a:r>
              <a:rPr lang="es-ES" sz="2000">
                <a:solidFill>
                  <a:schemeClr val="dk1"/>
                </a:solidFill>
                <a:latin typeface="Old Standard TT"/>
                <a:ea typeface="Old Standard TT"/>
                <a:cs typeface="Old Standard TT"/>
                <a:sym typeface="Old Standard TT"/>
              </a:rPr>
              <a:t>ó</a:t>
            </a:r>
            <a:r>
              <a:rPr b="0" i="0" lang="es-ES" sz="2000" u="none" strike="noStrike">
                <a:solidFill>
                  <a:schemeClr val="dk1"/>
                </a:solidFill>
                <a:latin typeface="Old Standard TT"/>
                <a:ea typeface="Old Standard TT"/>
                <a:cs typeface="Old Standard TT"/>
                <a:sym typeface="Old Standard TT"/>
              </a:rPr>
              <a:t>n que privilegie unos resultados en contra de otros, se calcula la probabilidad de un suceso aleatorio A, seg</a:t>
            </a:r>
            <a:r>
              <a:rPr lang="es-ES" sz="2000">
                <a:solidFill>
                  <a:schemeClr val="dk1"/>
                </a:solidFill>
                <a:latin typeface="Old Standard TT"/>
                <a:ea typeface="Old Standard TT"/>
                <a:cs typeface="Old Standard TT"/>
                <a:sym typeface="Old Standard TT"/>
              </a:rPr>
              <a:t>ú</a:t>
            </a:r>
            <a:r>
              <a:rPr b="0" i="0" lang="es-ES" sz="2000" u="none" strike="noStrike">
                <a:solidFill>
                  <a:schemeClr val="dk1"/>
                </a:solidFill>
                <a:latin typeface="Old Standard TT"/>
                <a:ea typeface="Old Standard TT"/>
                <a:cs typeface="Old Standard TT"/>
                <a:sym typeface="Old Standard TT"/>
              </a:rPr>
              <a:t>n</a:t>
            </a:r>
            <a:r>
              <a:rPr lang="es-ES" sz="2000">
                <a:solidFill>
                  <a:schemeClr val="dk1"/>
                </a:solidFill>
                <a:latin typeface="Old Standard TT"/>
                <a:ea typeface="Old Standard TT"/>
                <a:cs typeface="Old Standard TT"/>
                <a:sym typeface="Old Standard TT"/>
              </a:rPr>
              <a:t> </a:t>
            </a:r>
            <a:r>
              <a:rPr b="0" i="0" lang="es-ES" sz="2000" u="none" strike="noStrike">
                <a:solidFill>
                  <a:schemeClr val="dk1"/>
                </a:solidFill>
                <a:latin typeface="Old Standard TT"/>
                <a:ea typeface="Old Standard TT"/>
                <a:cs typeface="Old Standard TT"/>
                <a:sym typeface="Old Standard TT"/>
              </a:rPr>
              <a:t>la </a:t>
            </a:r>
            <a:r>
              <a:rPr b="0" i="0" lang="es-ES" sz="2000" u="none" strike="noStrike">
                <a:solidFill>
                  <a:schemeClr val="dk1"/>
                </a:solidFill>
                <a:latin typeface="Arial"/>
                <a:ea typeface="Arial"/>
                <a:cs typeface="Arial"/>
                <a:sym typeface="Arial"/>
              </a:rPr>
              <a:t>regla de Laplace </a:t>
            </a:r>
            <a:r>
              <a:rPr b="0" i="0" lang="es-ES" sz="2000" u="none" strike="noStrike">
                <a:solidFill>
                  <a:schemeClr val="dk1"/>
                </a:solidFill>
                <a:latin typeface="Old Standard TT"/>
                <a:ea typeface="Old Standard TT"/>
                <a:cs typeface="Old Standard TT"/>
                <a:sym typeface="Old Standard TT"/>
              </a:rPr>
              <a:t>como el cociente entre el n</a:t>
            </a:r>
            <a:r>
              <a:rPr lang="es-ES" sz="2000">
                <a:solidFill>
                  <a:schemeClr val="dk1"/>
                </a:solidFill>
                <a:latin typeface="Old Standard TT"/>
                <a:ea typeface="Old Standard TT"/>
                <a:cs typeface="Old Standard TT"/>
                <a:sym typeface="Old Standard TT"/>
              </a:rPr>
              <a:t>ú</a:t>
            </a:r>
            <a:r>
              <a:rPr b="0" i="0" lang="es-ES" sz="2000" u="none" strike="noStrike">
                <a:solidFill>
                  <a:schemeClr val="dk1"/>
                </a:solidFill>
                <a:latin typeface="Old Standard TT"/>
                <a:ea typeface="Old Standard TT"/>
                <a:cs typeface="Old Standard TT"/>
                <a:sym typeface="Old Standard TT"/>
              </a:rPr>
              <a:t>mero de casos favorables a A, y el de todos los posibles resultados del experimento:</a:t>
            </a:r>
            <a:endParaRPr sz="2000">
              <a:solidFill>
                <a:schemeClr val="dk1"/>
              </a:solidFill>
              <a:latin typeface="Calibri"/>
              <a:ea typeface="Calibri"/>
              <a:cs typeface="Calibri"/>
              <a:sym typeface="Calibri"/>
            </a:endParaRPr>
          </a:p>
        </p:txBody>
      </p:sp>
      <p:pic>
        <p:nvPicPr>
          <p:cNvPr id="145" name="Google Shape;145;p7"/>
          <p:cNvPicPr preferRelativeResize="0"/>
          <p:nvPr/>
        </p:nvPicPr>
        <p:blipFill rotWithShape="1">
          <a:blip r:embed="rId3">
            <a:alphaModFix/>
          </a:blip>
          <a:srcRect b="0" l="0" r="0" t="0"/>
          <a:stretch/>
        </p:blipFill>
        <p:spPr>
          <a:xfrm>
            <a:off x="3385040" y="2946056"/>
            <a:ext cx="4817050" cy="965887"/>
          </a:xfrm>
          <a:prstGeom prst="rect">
            <a:avLst/>
          </a:prstGeom>
          <a:noFill/>
          <a:ln>
            <a:noFill/>
          </a:ln>
        </p:spPr>
      </p:pic>
      <p:sp>
        <p:nvSpPr>
          <p:cNvPr id="146" name="Google Shape;146;p7"/>
          <p:cNvSpPr txBox="1"/>
          <p:nvPr/>
        </p:nvSpPr>
        <p:spPr>
          <a:xfrm>
            <a:off x="713936" y="4189529"/>
            <a:ext cx="609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Definici</a:t>
            </a:r>
            <a:r>
              <a:rPr lang="es-ES" sz="2400">
                <a:solidFill>
                  <a:schemeClr val="dk1"/>
                </a:solidFill>
                <a:latin typeface="Arial"/>
                <a:ea typeface="Arial"/>
                <a:cs typeface="Arial"/>
                <a:sym typeface="Arial"/>
              </a:rPr>
              <a:t>ó</a:t>
            </a:r>
            <a:r>
              <a:rPr b="0" i="0" lang="es-ES" sz="2400" u="none" strike="noStrike">
                <a:solidFill>
                  <a:schemeClr val="dk1"/>
                </a:solidFill>
                <a:latin typeface="Arial"/>
                <a:ea typeface="Arial"/>
                <a:cs typeface="Arial"/>
                <a:sym typeface="Arial"/>
              </a:rPr>
              <a:t>n axiom</a:t>
            </a:r>
            <a:r>
              <a:rPr lang="es-ES" sz="2400">
                <a:solidFill>
                  <a:schemeClr val="dk1"/>
                </a:solidFill>
                <a:latin typeface="Arial"/>
                <a:ea typeface="Arial"/>
                <a:cs typeface="Arial"/>
                <a:sym typeface="Arial"/>
              </a:rPr>
              <a:t>á</a:t>
            </a:r>
            <a:r>
              <a:rPr b="0" i="0" lang="es-ES" sz="2400" u="none" strike="noStrike">
                <a:solidFill>
                  <a:schemeClr val="dk1"/>
                </a:solidFill>
                <a:latin typeface="Arial"/>
                <a:ea typeface="Arial"/>
                <a:cs typeface="Arial"/>
                <a:sym typeface="Arial"/>
              </a:rPr>
              <a:t>tica de probabilidad</a:t>
            </a:r>
            <a:endParaRPr sz="2400">
              <a:solidFill>
                <a:schemeClr val="dk1"/>
              </a:solidFill>
              <a:latin typeface="Calibri"/>
              <a:ea typeface="Calibri"/>
              <a:cs typeface="Calibri"/>
              <a:sym typeface="Calibri"/>
            </a:endParaRPr>
          </a:p>
        </p:txBody>
      </p:sp>
      <p:sp>
        <p:nvSpPr>
          <p:cNvPr id="147" name="Google Shape;147;p7"/>
          <p:cNvSpPr txBox="1"/>
          <p:nvPr/>
        </p:nvSpPr>
        <p:spPr>
          <a:xfrm>
            <a:off x="713936" y="5051304"/>
            <a:ext cx="10723098" cy="70788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Dado un espacio muestral E, diremos que </a:t>
            </a:r>
            <a:r>
              <a:rPr b="0" i="0" lang="es-ES" sz="2000" u="none" strike="noStrike">
                <a:solidFill>
                  <a:schemeClr val="dk1"/>
                </a:solidFill>
                <a:latin typeface="Arial"/>
                <a:ea typeface="Arial"/>
                <a:cs typeface="Arial"/>
                <a:sym typeface="Arial"/>
              </a:rPr>
              <a:t>P </a:t>
            </a:r>
            <a:r>
              <a:rPr b="0" i="0" lang="es-ES" sz="2000" u="none" strike="noStrike">
                <a:solidFill>
                  <a:schemeClr val="dk1"/>
                </a:solidFill>
                <a:latin typeface="Old Standard TT"/>
                <a:ea typeface="Old Standard TT"/>
                <a:cs typeface="Old Standard TT"/>
                <a:sym typeface="Old Standard TT"/>
              </a:rPr>
              <a:t>es una </a:t>
            </a:r>
            <a:r>
              <a:rPr b="0" i="0" lang="es-ES" sz="2000" u="none" strike="noStrike">
                <a:solidFill>
                  <a:schemeClr val="dk1"/>
                </a:solidFill>
                <a:latin typeface="Arial"/>
                <a:ea typeface="Arial"/>
                <a:cs typeface="Arial"/>
                <a:sym typeface="Arial"/>
              </a:rPr>
              <a:t>probabilidad </a:t>
            </a:r>
            <a:r>
              <a:rPr b="0" i="0" lang="es-ES" sz="2000" u="none" strike="noStrike">
                <a:solidFill>
                  <a:schemeClr val="dk1"/>
                </a:solidFill>
                <a:latin typeface="Old Standard TT"/>
                <a:ea typeface="Old Standard TT"/>
                <a:cs typeface="Old Standard TT"/>
                <a:sym typeface="Old Standard TT"/>
              </a:rPr>
              <a:t>sobre </a:t>
            </a:r>
            <a:r>
              <a:rPr b="0" i="0" lang="es-ES" sz="2000" u="none" strike="noStrike">
                <a:solidFill>
                  <a:schemeClr val="dk1"/>
                </a:solidFill>
                <a:latin typeface="Arial"/>
                <a:ea typeface="Arial"/>
                <a:cs typeface="Arial"/>
                <a:sym typeface="Arial"/>
              </a:rPr>
              <a:t>A </a:t>
            </a:r>
            <a:r>
              <a:rPr b="0" i="0" lang="es-ES" sz="2000" u="none" strike="noStrike">
                <a:solidFill>
                  <a:schemeClr val="dk1"/>
                </a:solidFill>
                <a:latin typeface="Old Standard TT"/>
                <a:ea typeface="Old Standard TT"/>
                <a:cs typeface="Old Standard TT"/>
                <a:sym typeface="Old Standard TT"/>
              </a:rPr>
              <a:t>si las siguientes propiedades </a:t>
            </a:r>
            <a:r>
              <a:rPr b="0" i="0" lang="es-ES" sz="2000" u="none" strike="noStrike">
                <a:solidFill>
                  <a:schemeClr val="dk1"/>
                </a:solidFill>
                <a:latin typeface="Arial"/>
                <a:ea typeface="Arial"/>
                <a:cs typeface="Arial"/>
                <a:sym typeface="Arial"/>
              </a:rPr>
              <a:t>(axiomas) </a:t>
            </a:r>
            <a:r>
              <a:rPr b="0" i="0" lang="es-ES" sz="2000" u="none" strike="noStrike">
                <a:solidFill>
                  <a:schemeClr val="dk1"/>
                </a:solidFill>
                <a:latin typeface="Old Standard TT"/>
                <a:ea typeface="Old Standard TT"/>
                <a:cs typeface="Old Standard TT"/>
                <a:sym typeface="Old Standard TT"/>
              </a:rPr>
              <a:t>son verificadas:</a:t>
            </a:r>
            <a:endParaRPr sz="2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8"/>
          <p:cNvSpPr txBox="1"/>
          <p:nvPr/>
        </p:nvSpPr>
        <p:spPr>
          <a:xfrm>
            <a:off x="713935" y="949961"/>
            <a:ext cx="10483948" cy="70788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Ax-1: La probabilidad es una funci</a:t>
            </a:r>
            <a:r>
              <a:rPr lang="es-ES" sz="2000">
                <a:solidFill>
                  <a:schemeClr val="dk1"/>
                </a:solidFill>
                <a:latin typeface="Old Standard TT"/>
                <a:ea typeface="Old Standard TT"/>
                <a:cs typeface="Old Standard TT"/>
                <a:sym typeface="Old Standard TT"/>
              </a:rPr>
              <a:t>ó</a:t>
            </a:r>
            <a:r>
              <a:rPr b="0" i="0" lang="es-ES" sz="2000" u="none" strike="noStrike">
                <a:solidFill>
                  <a:schemeClr val="dk1"/>
                </a:solidFill>
                <a:latin typeface="Old Standard TT"/>
                <a:ea typeface="Old Standard TT"/>
                <a:cs typeface="Old Standard TT"/>
                <a:sym typeface="Old Standard TT"/>
              </a:rPr>
              <a:t>n definida sobre </a:t>
            </a:r>
            <a:r>
              <a:rPr b="0" i="0" lang="es-ES" sz="2000" u="none" strike="noStrike">
                <a:solidFill>
                  <a:schemeClr val="dk1"/>
                </a:solidFill>
                <a:latin typeface="Arial"/>
                <a:ea typeface="Arial"/>
                <a:cs typeface="Arial"/>
                <a:sym typeface="Arial"/>
              </a:rPr>
              <a:t>A </a:t>
            </a:r>
            <a:r>
              <a:rPr b="0" i="0" lang="es-ES" sz="2000" u="none" strike="noStrike">
                <a:solidFill>
                  <a:schemeClr val="dk1"/>
                </a:solidFill>
                <a:latin typeface="Old Standard TT"/>
                <a:ea typeface="Old Standard TT"/>
                <a:cs typeface="Old Standard TT"/>
                <a:sym typeface="Old Standard TT"/>
              </a:rPr>
              <a:t>y que s</a:t>
            </a:r>
            <a:r>
              <a:rPr lang="es-ES" sz="2000">
                <a:solidFill>
                  <a:schemeClr val="dk1"/>
                </a:solidFill>
                <a:latin typeface="Old Standard TT"/>
                <a:ea typeface="Old Standard TT"/>
                <a:cs typeface="Old Standard TT"/>
                <a:sym typeface="Old Standard TT"/>
              </a:rPr>
              <a:t>ó</a:t>
            </a:r>
            <a:r>
              <a:rPr b="0" i="0" lang="es-ES" sz="2000" u="none" strike="noStrike">
                <a:solidFill>
                  <a:schemeClr val="dk1"/>
                </a:solidFill>
                <a:latin typeface="Old Standard TT"/>
                <a:ea typeface="Old Standard TT"/>
                <a:cs typeface="Old Standard TT"/>
                <a:sym typeface="Old Standard TT"/>
              </a:rPr>
              <a:t>lo toma valores positivos comprendidos entre 0 y 1</a:t>
            </a:r>
            <a:endParaRPr sz="2000">
              <a:solidFill>
                <a:schemeClr val="dk1"/>
              </a:solidFill>
              <a:latin typeface="Calibri"/>
              <a:ea typeface="Calibri"/>
              <a:cs typeface="Calibri"/>
              <a:sym typeface="Calibri"/>
            </a:endParaRPr>
          </a:p>
        </p:txBody>
      </p:sp>
      <p:pic>
        <p:nvPicPr>
          <p:cNvPr id="153" name="Google Shape;153;p8"/>
          <p:cNvPicPr preferRelativeResize="0"/>
          <p:nvPr/>
        </p:nvPicPr>
        <p:blipFill rotWithShape="1">
          <a:blip r:embed="rId3">
            <a:alphaModFix/>
          </a:blip>
          <a:srcRect b="0" l="0" r="0" t="0"/>
          <a:stretch/>
        </p:blipFill>
        <p:spPr>
          <a:xfrm>
            <a:off x="3955797" y="1888745"/>
            <a:ext cx="3267531" cy="885949"/>
          </a:xfrm>
          <a:prstGeom prst="rect">
            <a:avLst/>
          </a:prstGeom>
          <a:noFill/>
          <a:ln>
            <a:noFill/>
          </a:ln>
        </p:spPr>
      </p:pic>
      <p:sp>
        <p:nvSpPr>
          <p:cNvPr id="154" name="Google Shape;154;p8"/>
          <p:cNvSpPr txBox="1"/>
          <p:nvPr/>
        </p:nvSpPr>
        <p:spPr>
          <a:xfrm>
            <a:off x="713935" y="2820926"/>
            <a:ext cx="609834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000" u="none" strike="noStrike">
                <a:solidFill>
                  <a:schemeClr val="dk1"/>
                </a:solidFill>
                <a:latin typeface="Arial"/>
                <a:ea typeface="Arial"/>
                <a:cs typeface="Arial"/>
                <a:sym typeface="Arial"/>
              </a:rPr>
              <a:t>Ax-2. </a:t>
            </a:r>
            <a:r>
              <a:rPr b="0" i="0" lang="es-ES" sz="2000" u="none" strike="noStrike">
                <a:solidFill>
                  <a:schemeClr val="dk1"/>
                </a:solidFill>
                <a:latin typeface="Old Standard TT"/>
                <a:ea typeface="Old Standard TT"/>
                <a:cs typeface="Old Standard TT"/>
                <a:sym typeface="Old Standard TT"/>
              </a:rPr>
              <a:t>La probabilidad del suceso seguro es 1</a:t>
            </a:r>
            <a:endParaRPr sz="2000">
              <a:solidFill>
                <a:schemeClr val="dk1"/>
              </a:solidFill>
              <a:latin typeface="Calibri"/>
              <a:ea typeface="Calibri"/>
              <a:cs typeface="Calibri"/>
              <a:sym typeface="Calibri"/>
            </a:endParaRPr>
          </a:p>
        </p:txBody>
      </p:sp>
      <p:pic>
        <p:nvPicPr>
          <p:cNvPr id="155" name="Google Shape;155;p8"/>
          <p:cNvPicPr preferRelativeResize="0"/>
          <p:nvPr/>
        </p:nvPicPr>
        <p:blipFill rotWithShape="1">
          <a:blip r:embed="rId4">
            <a:alphaModFix/>
          </a:blip>
          <a:srcRect b="0" l="0" r="0" t="0"/>
          <a:stretch/>
        </p:blipFill>
        <p:spPr>
          <a:xfrm>
            <a:off x="5146587" y="3277819"/>
            <a:ext cx="885949" cy="438211"/>
          </a:xfrm>
          <a:prstGeom prst="rect">
            <a:avLst/>
          </a:prstGeom>
          <a:noFill/>
          <a:ln>
            <a:noFill/>
          </a:ln>
        </p:spPr>
      </p:pic>
      <p:sp>
        <p:nvSpPr>
          <p:cNvPr id="156" name="Google Shape;156;p8"/>
          <p:cNvSpPr txBox="1"/>
          <p:nvPr/>
        </p:nvSpPr>
        <p:spPr>
          <a:xfrm>
            <a:off x="713935" y="3772813"/>
            <a:ext cx="104839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000" u="none" strike="noStrike">
                <a:solidFill>
                  <a:schemeClr val="dk1"/>
                </a:solidFill>
                <a:latin typeface="Arial"/>
                <a:ea typeface="Arial"/>
                <a:cs typeface="Arial"/>
                <a:sym typeface="Arial"/>
              </a:rPr>
              <a:t>Ax-3. </a:t>
            </a:r>
            <a:r>
              <a:rPr b="0" i="0" lang="es-ES" sz="2000" u="none" strike="noStrike">
                <a:solidFill>
                  <a:schemeClr val="dk1"/>
                </a:solidFill>
                <a:latin typeface="Old Standard TT"/>
                <a:ea typeface="Old Standard TT"/>
                <a:cs typeface="Old Standard TT"/>
                <a:sym typeface="Old Standard TT"/>
              </a:rPr>
              <a:t>La probabilidad de la uni</a:t>
            </a:r>
            <a:r>
              <a:rPr lang="es-ES" sz="2000">
                <a:solidFill>
                  <a:schemeClr val="dk1"/>
                </a:solidFill>
                <a:latin typeface="Old Standard TT"/>
                <a:ea typeface="Old Standard TT"/>
                <a:cs typeface="Old Standard TT"/>
                <a:sym typeface="Old Standard TT"/>
              </a:rPr>
              <a:t>ó</a:t>
            </a:r>
            <a:r>
              <a:rPr b="0" i="0" lang="es-ES" sz="2000" u="none" strike="noStrike">
                <a:solidFill>
                  <a:schemeClr val="dk1"/>
                </a:solidFill>
                <a:latin typeface="Old Standard TT"/>
                <a:ea typeface="Old Standard TT"/>
                <a:cs typeface="Old Standard TT"/>
                <a:sym typeface="Old Standard TT"/>
              </a:rPr>
              <a:t>n numerable de sucesos disjuntos es la suma de sus probabilidades</a:t>
            </a:r>
            <a:endParaRPr sz="2000">
              <a:solidFill>
                <a:schemeClr val="dk1"/>
              </a:solidFill>
              <a:latin typeface="Calibri"/>
              <a:ea typeface="Calibri"/>
              <a:cs typeface="Calibri"/>
              <a:sym typeface="Calibri"/>
            </a:endParaRPr>
          </a:p>
        </p:txBody>
      </p:sp>
      <p:pic>
        <p:nvPicPr>
          <p:cNvPr id="157" name="Google Shape;157;p8"/>
          <p:cNvPicPr preferRelativeResize="0"/>
          <p:nvPr/>
        </p:nvPicPr>
        <p:blipFill rotWithShape="1">
          <a:blip r:embed="rId5">
            <a:alphaModFix/>
          </a:blip>
          <a:srcRect b="0" l="0" r="0" t="0"/>
          <a:stretch/>
        </p:blipFill>
        <p:spPr>
          <a:xfrm>
            <a:off x="3477263" y="4602475"/>
            <a:ext cx="4780472" cy="77821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9"/>
          <p:cNvSpPr txBox="1"/>
          <p:nvPr/>
        </p:nvSpPr>
        <p:spPr>
          <a:xfrm>
            <a:off x="995288" y="710810"/>
            <a:ext cx="821904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Probabilidad condicionada e independencia de sucesos</a:t>
            </a:r>
            <a:endParaRPr sz="2400">
              <a:solidFill>
                <a:schemeClr val="dk1"/>
              </a:solidFill>
              <a:latin typeface="Calibri"/>
              <a:ea typeface="Calibri"/>
              <a:cs typeface="Calibri"/>
              <a:sym typeface="Calibri"/>
            </a:endParaRPr>
          </a:p>
        </p:txBody>
      </p:sp>
      <p:sp>
        <p:nvSpPr>
          <p:cNvPr id="163" name="Google Shape;163;p9"/>
          <p:cNvSpPr txBox="1"/>
          <p:nvPr/>
        </p:nvSpPr>
        <p:spPr>
          <a:xfrm>
            <a:off x="995288" y="1545159"/>
            <a:ext cx="10357340" cy="1015663"/>
          </a:xfrm>
          <a:prstGeom prst="rect">
            <a:avLst/>
          </a:prstGeom>
          <a:blipFill rotWithShape="1">
            <a:blip r:embed="rId3">
              <a:alphaModFix/>
            </a:blip>
            <a:stretch>
              <a:fillRect b="-9579" l="-588" r="-587" t="-299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ES" sz="1800">
                <a:latin typeface="Calibri"/>
                <a:ea typeface="Calibri"/>
                <a:cs typeface="Calibri"/>
                <a:sym typeface="Calibri"/>
              </a:rPr>
              <a:t> </a:t>
            </a:r>
            <a:endParaRPr/>
          </a:p>
        </p:txBody>
      </p:sp>
      <p:pic>
        <p:nvPicPr>
          <p:cNvPr id="164" name="Google Shape;164;p9"/>
          <p:cNvPicPr preferRelativeResize="0"/>
          <p:nvPr/>
        </p:nvPicPr>
        <p:blipFill rotWithShape="1">
          <a:blip r:embed="rId4">
            <a:alphaModFix/>
          </a:blip>
          <a:srcRect b="0" l="0" r="0" t="0"/>
          <a:stretch/>
        </p:blipFill>
        <p:spPr>
          <a:xfrm>
            <a:off x="4813057" y="2560822"/>
            <a:ext cx="2565885" cy="1015663"/>
          </a:xfrm>
          <a:prstGeom prst="rect">
            <a:avLst/>
          </a:prstGeom>
          <a:noFill/>
          <a:ln>
            <a:noFill/>
          </a:ln>
        </p:spPr>
      </p:pic>
      <p:sp>
        <p:nvSpPr>
          <p:cNvPr id="165" name="Google Shape;165;p9"/>
          <p:cNvSpPr txBox="1"/>
          <p:nvPr/>
        </p:nvSpPr>
        <p:spPr>
          <a:xfrm>
            <a:off x="995288" y="3803525"/>
            <a:ext cx="609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Independencia</a:t>
            </a:r>
            <a:endParaRPr sz="2400">
              <a:solidFill>
                <a:schemeClr val="dk1"/>
              </a:solidFill>
              <a:latin typeface="Calibri"/>
              <a:ea typeface="Calibri"/>
              <a:cs typeface="Calibri"/>
              <a:sym typeface="Calibri"/>
            </a:endParaRPr>
          </a:p>
        </p:txBody>
      </p:sp>
      <p:pic>
        <p:nvPicPr>
          <p:cNvPr id="166" name="Google Shape;166;p9"/>
          <p:cNvPicPr preferRelativeResize="0"/>
          <p:nvPr/>
        </p:nvPicPr>
        <p:blipFill rotWithShape="1">
          <a:blip r:embed="rId5">
            <a:alphaModFix/>
          </a:blip>
          <a:srcRect b="0" l="0" r="0" t="0"/>
          <a:stretch/>
        </p:blipFill>
        <p:spPr>
          <a:xfrm>
            <a:off x="1823023" y="4746980"/>
            <a:ext cx="8545954" cy="56586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0"/>
          <p:cNvSpPr txBox="1"/>
          <p:nvPr/>
        </p:nvSpPr>
        <p:spPr>
          <a:xfrm>
            <a:off x="636104" y="398430"/>
            <a:ext cx="60960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Teorema de probabilidad total</a:t>
            </a:r>
            <a:endParaRPr/>
          </a:p>
        </p:txBody>
      </p:sp>
      <p:sp>
        <p:nvSpPr>
          <p:cNvPr id="172" name="Google Shape;172;p10"/>
          <p:cNvSpPr txBox="1"/>
          <p:nvPr/>
        </p:nvSpPr>
        <p:spPr>
          <a:xfrm>
            <a:off x="636104" y="988801"/>
            <a:ext cx="10972800" cy="2053639"/>
          </a:xfrm>
          <a:prstGeom prst="rect">
            <a:avLst/>
          </a:prstGeom>
          <a:blipFill rotWithShape="1">
            <a:blip r:embed="rId3">
              <a:alphaModFix/>
            </a:blip>
            <a:stretch>
              <a:fillRect b="0" l="-443" r="-609" t="-14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ES" sz="1800">
                <a:latin typeface="Calibri"/>
                <a:ea typeface="Calibri"/>
                <a:cs typeface="Calibri"/>
                <a:sym typeface="Calibri"/>
              </a:rPr>
              <a:t> </a:t>
            </a:r>
            <a:endParaRPr/>
          </a:p>
        </p:txBody>
      </p:sp>
      <p:pic>
        <p:nvPicPr>
          <p:cNvPr id="173" name="Google Shape;173;p10"/>
          <p:cNvPicPr preferRelativeResize="0"/>
          <p:nvPr/>
        </p:nvPicPr>
        <p:blipFill rotWithShape="1">
          <a:blip r:embed="rId4">
            <a:alphaModFix/>
          </a:blip>
          <a:srcRect b="0" l="0" r="0" t="0"/>
          <a:stretch/>
        </p:blipFill>
        <p:spPr>
          <a:xfrm>
            <a:off x="636104" y="2682145"/>
            <a:ext cx="4924425" cy="2266950"/>
          </a:xfrm>
          <a:prstGeom prst="rect">
            <a:avLst/>
          </a:prstGeom>
          <a:noFill/>
          <a:ln>
            <a:noFill/>
          </a:ln>
        </p:spPr>
      </p:pic>
      <p:pic>
        <p:nvPicPr>
          <p:cNvPr id="174" name="Google Shape;174;p10"/>
          <p:cNvPicPr preferRelativeResize="0"/>
          <p:nvPr/>
        </p:nvPicPr>
        <p:blipFill rotWithShape="1">
          <a:blip r:embed="rId5">
            <a:alphaModFix/>
          </a:blip>
          <a:srcRect b="0" l="0" r="0" t="0"/>
          <a:stretch/>
        </p:blipFill>
        <p:spPr>
          <a:xfrm>
            <a:off x="636104" y="5101696"/>
            <a:ext cx="7419975" cy="1533525"/>
          </a:xfrm>
          <a:prstGeom prst="rect">
            <a:avLst/>
          </a:prstGeom>
          <a:noFill/>
          <a:ln>
            <a:noFill/>
          </a:ln>
        </p:spPr>
      </p:pic>
      <p:pic>
        <p:nvPicPr>
          <p:cNvPr id="175" name="Google Shape;175;p10"/>
          <p:cNvPicPr preferRelativeResize="0"/>
          <p:nvPr/>
        </p:nvPicPr>
        <p:blipFill rotWithShape="1">
          <a:blip r:embed="rId6">
            <a:alphaModFix/>
          </a:blip>
          <a:srcRect b="0" l="0" r="0" t="0"/>
          <a:stretch/>
        </p:blipFill>
        <p:spPr>
          <a:xfrm>
            <a:off x="7527314" y="2525723"/>
            <a:ext cx="4028582" cy="2404560"/>
          </a:xfrm>
          <a:prstGeom prst="rect">
            <a:avLst/>
          </a:prstGeom>
          <a:noFill/>
          <a:ln>
            <a:noFill/>
          </a:ln>
        </p:spPr>
      </p:pic>
      <p:sp>
        <p:nvSpPr>
          <p:cNvPr id="176" name="Google Shape;176;p10"/>
          <p:cNvSpPr txBox="1"/>
          <p:nvPr/>
        </p:nvSpPr>
        <p:spPr>
          <a:xfrm>
            <a:off x="8295860" y="5141927"/>
            <a:ext cx="3472070"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Esta fórmula puede comprobarse simplemente inspeccionando la siguiente figura, donde el espacio muestral se divide en ocho partes.</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11"/>
          <p:cNvPicPr preferRelativeResize="0"/>
          <p:nvPr/>
        </p:nvPicPr>
        <p:blipFill rotWithShape="1">
          <a:blip r:embed="rId3">
            <a:alphaModFix/>
          </a:blip>
          <a:srcRect b="0" l="0" r="0" t="0"/>
          <a:stretch/>
        </p:blipFill>
        <p:spPr>
          <a:xfrm>
            <a:off x="2511288" y="1857380"/>
            <a:ext cx="7169424" cy="3566744"/>
          </a:xfrm>
          <a:prstGeom prst="rect">
            <a:avLst/>
          </a:prstGeom>
          <a:noFill/>
          <a:ln>
            <a:noFill/>
          </a:ln>
        </p:spPr>
      </p:pic>
      <p:pic>
        <p:nvPicPr>
          <p:cNvPr id="182" name="Google Shape;182;p11"/>
          <p:cNvPicPr preferRelativeResize="0"/>
          <p:nvPr/>
        </p:nvPicPr>
        <p:blipFill rotWithShape="1">
          <a:blip r:embed="rId4">
            <a:alphaModFix/>
          </a:blip>
          <a:srcRect b="0" l="0" r="0" t="0"/>
          <a:stretch/>
        </p:blipFill>
        <p:spPr>
          <a:xfrm>
            <a:off x="1762540" y="5424124"/>
            <a:ext cx="8666920" cy="1166289"/>
          </a:xfrm>
          <a:prstGeom prst="rect">
            <a:avLst/>
          </a:prstGeom>
          <a:noFill/>
          <a:ln>
            <a:noFill/>
          </a:ln>
        </p:spPr>
      </p:pic>
      <p:sp>
        <p:nvSpPr>
          <p:cNvPr id="183" name="Google Shape;183;p11"/>
          <p:cNvSpPr txBox="1"/>
          <p:nvPr/>
        </p:nvSpPr>
        <p:spPr>
          <a:xfrm>
            <a:off x="742122" y="418213"/>
            <a:ext cx="11012556"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Utilizando el esquema de probabilidades condicionales, si no se conoce directamente la probabilidad de ocurrencia de un evento A, la misma puede obtenerse utilizando la ley de la probabilidad total, la cual determina la probabilidad de un evento por medio de las probabilidades conjuntas del mismo con otros eventos mutuamente excluyentes y colectivamente exhaustivos.</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12"/>
          <p:cNvPicPr preferRelativeResize="0"/>
          <p:nvPr/>
        </p:nvPicPr>
        <p:blipFill rotWithShape="1">
          <a:blip r:embed="rId3">
            <a:alphaModFix/>
          </a:blip>
          <a:srcRect b="0" l="0" r="0" t="0"/>
          <a:stretch/>
        </p:blipFill>
        <p:spPr>
          <a:xfrm>
            <a:off x="2034208" y="369236"/>
            <a:ext cx="8123583" cy="611952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3"/>
          <p:cNvSpPr txBox="1"/>
          <p:nvPr/>
        </p:nvSpPr>
        <p:spPr>
          <a:xfrm>
            <a:off x="490330" y="358673"/>
            <a:ext cx="60960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Teorema de Bayes</a:t>
            </a:r>
            <a:endParaRPr/>
          </a:p>
        </p:txBody>
      </p:sp>
      <p:sp>
        <p:nvSpPr>
          <p:cNvPr id="194" name="Google Shape;194;p13"/>
          <p:cNvSpPr txBox="1"/>
          <p:nvPr/>
        </p:nvSpPr>
        <p:spPr>
          <a:xfrm>
            <a:off x="490330" y="758783"/>
            <a:ext cx="11131827"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Otro resultado interesante que involucra probabilidades condicionales es el famoso teorema de Bayes. Este resultado fue publicado por primera vez en 1763, dos años después de la muerte de su creador, el matemático y teólogo inglés Thomas Bayes.</a:t>
            </a:r>
            <a:endParaRPr sz="1800">
              <a:solidFill>
                <a:schemeClr val="dk1"/>
              </a:solidFill>
              <a:latin typeface="Calibri"/>
              <a:ea typeface="Calibri"/>
              <a:cs typeface="Calibri"/>
              <a:sym typeface="Calibri"/>
            </a:endParaRPr>
          </a:p>
        </p:txBody>
      </p:sp>
      <p:pic>
        <p:nvPicPr>
          <p:cNvPr id="195" name="Google Shape;195;p13"/>
          <p:cNvPicPr preferRelativeResize="0"/>
          <p:nvPr/>
        </p:nvPicPr>
        <p:blipFill rotWithShape="1">
          <a:blip r:embed="rId3">
            <a:alphaModFix/>
          </a:blip>
          <a:srcRect b="0" l="0" r="0" t="0"/>
          <a:stretch/>
        </p:blipFill>
        <p:spPr>
          <a:xfrm>
            <a:off x="2341490" y="1548773"/>
            <a:ext cx="7429500" cy="2076450"/>
          </a:xfrm>
          <a:prstGeom prst="rect">
            <a:avLst/>
          </a:prstGeom>
          <a:noFill/>
          <a:ln>
            <a:noFill/>
          </a:ln>
        </p:spPr>
      </p:pic>
      <p:pic>
        <p:nvPicPr>
          <p:cNvPr id="196" name="Google Shape;196;p13"/>
          <p:cNvPicPr preferRelativeResize="0"/>
          <p:nvPr/>
        </p:nvPicPr>
        <p:blipFill rotWithShape="1">
          <a:blip r:embed="rId4">
            <a:alphaModFix/>
          </a:blip>
          <a:srcRect b="0" l="0" r="0" t="0"/>
          <a:stretch/>
        </p:blipFill>
        <p:spPr>
          <a:xfrm>
            <a:off x="2184327" y="3619350"/>
            <a:ext cx="7743825" cy="3028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4"/>
          <p:cNvSpPr txBox="1"/>
          <p:nvPr/>
        </p:nvSpPr>
        <p:spPr>
          <a:xfrm>
            <a:off x="587325" y="445702"/>
            <a:ext cx="886616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Arial"/>
                <a:ea typeface="Arial"/>
                <a:cs typeface="Arial"/>
                <a:sym typeface="Arial"/>
              </a:rPr>
              <a:t>Variables aleatorias discretas y distribuciones de probabilidad</a:t>
            </a:r>
            <a:endParaRPr/>
          </a:p>
        </p:txBody>
      </p:sp>
      <p:sp>
        <p:nvSpPr>
          <p:cNvPr id="202" name="Google Shape;202;p14"/>
          <p:cNvSpPr txBox="1"/>
          <p:nvPr/>
        </p:nvSpPr>
        <p:spPr>
          <a:xfrm>
            <a:off x="551570" y="1315054"/>
            <a:ext cx="11088860"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1800" u="none" strike="noStrike">
                <a:solidFill>
                  <a:schemeClr val="dk1"/>
                </a:solidFill>
                <a:latin typeface="Arial"/>
                <a:ea typeface="Arial"/>
                <a:cs typeface="Arial"/>
                <a:sym typeface="Arial"/>
              </a:rPr>
              <a:t>Ya sea que un experimento produzca resultados cualitativos o cuantitativos, los métodos de análisis estadístico requieren enfocarse en ciertos aspectos numéricos de los datos (como la proporción muestral </a:t>
            </a:r>
            <a:r>
              <a:rPr b="0" i="1" lang="es-ES" sz="1800" u="none" strike="noStrike">
                <a:solidFill>
                  <a:schemeClr val="dk1"/>
                </a:solidFill>
                <a:latin typeface="Arial"/>
                <a:ea typeface="Arial"/>
                <a:cs typeface="Arial"/>
                <a:sym typeface="Arial"/>
              </a:rPr>
              <a:t>x</a:t>
            </a:r>
            <a:r>
              <a:rPr b="0" i="0" lang="es-ES" sz="1800" u="none" strike="noStrike">
                <a:solidFill>
                  <a:schemeClr val="dk1"/>
                </a:solidFill>
                <a:latin typeface="Arial"/>
                <a:ea typeface="Arial"/>
                <a:cs typeface="Arial"/>
                <a:sym typeface="Arial"/>
              </a:rPr>
              <a:t>/</a:t>
            </a:r>
            <a:r>
              <a:rPr b="0" i="1" lang="es-ES" sz="1800" u="none" strike="noStrike">
                <a:solidFill>
                  <a:schemeClr val="dk1"/>
                </a:solidFill>
                <a:latin typeface="Arial"/>
                <a:ea typeface="Arial"/>
                <a:cs typeface="Arial"/>
                <a:sym typeface="Arial"/>
              </a:rPr>
              <a:t>n</a:t>
            </a:r>
            <a:r>
              <a:rPr b="0" i="0" lang="es-ES" sz="1800" u="none" strike="noStrike">
                <a:solidFill>
                  <a:schemeClr val="dk1"/>
                </a:solidFill>
                <a:latin typeface="Arial"/>
                <a:ea typeface="Arial"/>
                <a:cs typeface="Arial"/>
                <a:sym typeface="Arial"/>
              </a:rPr>
              <a:t>, la media </a:t>
            </a:r>
            <a:r>
              <a:rPr b="0" i="1" lang="es-ES" sz="1800" u="none" strike="noStrike">
                <a:solidFill>
                  <a:schemeClr val="dk1"/>
                </a:solidFill>
                <a:latin typeface="Arial"/>
                <a:ea typeface="Arial"/>
                <a:cs typeface="Arial"/>
                <a:sym typeface="Arial"/>
              </a:rPr>
              <a:t>x</a:t>
            </a:r>
            <a:r>
              <a:rPr i="1" lang="es-ES" sz="1800">
                <a:solidFill>
                  <a:schemeClr val="dk1"/>
                </a:solidFill>
                <a:latin typeface="Arial"/>
                <a:ea typeface="Arial"/>
                <a:cs typeface="Arial"/>
                <a:sym typeface="Arial"/>
              </a:rPr>
              <a:t> </a:t>
            </a:r>
            <a:r>
              <a:rPr b="0" i="0" lang="es-ES" sz="1800" u="none" strike="noStrike">
                <a:solidFill>
                  <a:schemeClr val="dk1"/>
                </a:solidFill>
                <a:latin typeface="Arial"/>
                <a:ea typeface="Arial"/>
                <a:cs typeface="Arial"/>
                <a:sym typeface="Arial"/>
              </a:rPr>
              <a:t>o la desviación estándar </a:t>
            </a:r>
            <a:r>
              <a:rPr b="0" i="1" lang="es-ES" sz="1800" u="none" strike="noStrike">
                <a:solidFill>
                  <a:schemeClr val="dk1"/>
                </a:solidFill>
                <a:latin typeface="Arial"/>
                <a:ea typeface="Arial"/>
                <a:cs typeface="Arial"/>
                <a:sym typeface="Arial"/>
              </a:rPr>
              <a:t>s</a:t>
            </a:r>
            <a:r>
              <a:rPr b="0" i="0" lang="es-ES" sz="1800" u="none" strike="noStrike">
                <a:solidFill>
                  <a:schemeClr val="dk1"/>
                </a:solidFill>
                <a:latin typeface="Arial"/>
                <a:ea typeface="Arial"/>
                <a:cs typeface="Arial"/>
                <a:sym typeface="Arial"/>
              </a:rPr>
              <a:t>). El concepto de variable aleatoria permite pasar de los resultados experimentales a la función numérica de los resultados. Existen dos tipos fundamentalmente diferentes de variables aleatorias: las variables aleatorias discretas y las variables aleatorias continuas.</a:t>
            </a:r>
            <a:endParaRPr sz="1800">
              <a:solidFill>
                <a:schemeClr val="dk1"/>
              </a:solidFill>
              <a:latin typeface="Calibri"/>
              <a:ea typeface="Calibri"/>
              <a:cs typeface="Calibri"/>
              <a:sym typeface="Calibri"/>
            </a:endParaRPr>
          </a:p>
        </p:txBody>
      </p:sp>
      <p:sp>
        <p:nvSpPr>
          <p:cNvPr id="203" name="Google Shape;203;p14"/>
          <p:cNvSpPr txBox="1"/>
          <p:nvPr/>
        </p:nvSpPr>
        <p:spPr>
          <a:xfrm>
            <a:off x="551725" y="3200050"/>
            <a:ext cx="110889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ES" sz="1800">
                <a:solidFill>
                  <a:schemeClr val="dk1"/>
                </a:solidFill>
              </a:rPr>
              <a:t>Una variable aleatoria es un suceso o evento numérico cuyo valor se determina por medio de un proceso aleatorio. Cuando a todos los posibles valores numéricos de una variable aleatoria xi se le asignan valores de probabilidad, ya sea mediante un listado o una función matemática el resultado es una distribución de probabilidad. La suma de las probabilidades de todos los resultados numéricos posibles debe ser igual a 1.</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5"/>
          <p:cNvSpPr txBox="1"/>
          <p:nvPr/>
        </p:nvSpPr>
        <p:spPr>
          <a:xfrm>
            <a:off x="573258" y="483550"/>
            <a:ext cx="609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Variables aleatorias</a:t>
            </a:r>
            <a:endParaRPr sz="2400">
              <a:solidFill>
                <a:schemeClr val="dk1"/>
              </a:solidFill>
              <a:latin typeface="Calibri"/>
              <a:ea typeface="Calibri"/>
              <a:cs typeface="Calibri"/>
              <a:sym typeface="Calibri"/>
            </a:endParaRPr>
          </a:p>
        </p:txBody>
      </p:sp>
      <p:sp>
        <p:nvSpPr>
          <p:cNvPr id="209" name="Google Shape;209;p15"/>
          <p:cNvSpPr txBox="1"/>
          <p:nvPr/>
        </p:nvSpPr>
        <p:spPr>
          <a:xfrm>
            <a:off x="573255" y="1028587"/>
            <a:ext cx="11004453" cy="13234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Normalmente, los resultados posibles (</a:t>
            </a:r>
            <a:r>
              <a:rPr b="0" i="0" lang="es-ES" sz="2000" u="none" strike="noStrike">
                <a:solidFill>
                  <a:schemeClr val="dk1"/>
                </a:solidFill>
                <a:latin typeface="Arial"/>
                <a:ea typeface="Arial"/>
                <a:cs typeface="Arial"/>
                <a:sym typeface="Arial"/>
              </a:rPr>
              <a:t>espacio muestral </a:t>
            </a:r>
            <a:r>
              <a:rPr b="0" i="0" lang="es-ES" sz="2000" u="none" strike="noStrike">
                <a:solidFill>
                  <a:schemeClr val="dk1"/>
                </a:solidFill>
                <a:latin typeface="Old Standard TT"/>
                <a:ea typeface="Old Standard TT"/>
                <a:cs typeface="Old Standard TT"/>
                <a:sym typeface="Old Standard TT"/>
              </a:rPr>
              <a:t>E) de un experimento aleatorio no son valores num</a:t>
            </a:r>
            <a:r>
              <a:rPr lang="es-ES" sz="2000">
                <a:solidFill>
                  <a:schemeClr val="dk1"/>
                </a:solidFill>
                <a:latin typeface="Old Standard TT"/>
                <a:ea typeface="Old Standard TT"/>
                <a:cs typeface="Old Standard TT"/>
                <a:sym typeface="Old Standard TT"/>
              </a:rPr>
              <a:t>é</a:t>
            </a:r>
            <a:r>
              <a:rPr b="0" i="0" lang="es-ES" sz="2000" u="none" strike="noStrike">
                <a:solidFill>
                  <a:schemeClr val="dk1"/>
                </a:solidFill>
                <a:latin typeface="Old Standard TT"/>
                <a:ea typeface="Old Standard TT"/>
                <a:cs typeface="Old Standard TT"/>
                <a:sym typeface="Old Standard TT"/>
              </a:rPr>
              <a:t>ricos. Por ejemplo, si el experimento consiste en lanzar de modo ordenado tres monedas al aire, para observar el n</a:t>
            </a:r>
            <a:r>
              <a:rPr lang="es-ES" sz="2000">
                <a:solidFill>
                  <a:schemeClr val="dk1"/>
                </a:solidFill>
                <a:latin typeface="Old Standard TT"/>
                <a:ea typeface="Old Standard TT"/>
                <a:cs typeface="Old Standard TT"/>
                <a:sym typeface="Old Standard TT"/>
              </a:rPr>
              <a:t>ú</a:t>
            </a:r>
            <a:r>
              <a:rPr b="0" i="0" lang="es-ES" sz="2000" u="none" strike="noStrike">
                <a:solidFill>
                  <a:schemeClr val="dk1"/>
                </a:solidFill>
                <a:latin typeface="Old Standard TT"/>
                <a:ea typeface="Old Standard TT"/>
                <a:cs typeface="Old Standard TT"/>
                <a:sym typeface="Old Standard TT"/>
              </a:rPr>
              <a:t>mero de caras (</a:t>
            </a:r>
            <a:r>
              <a:rPr b="0" i="0" lang="es-ES" sz="2000" u="none" strike="noStrike">
                <a:solidFill>
                  <a:schemeClr val="dk1"/>
                </a:solidFill>
                <a:latin typeface="Arial"/>
                <a:ea typeface="Arial"/>
                <a:cs typeface="Arial"/>
                <a:sym typeface="Arial"/>
              </a:rPr>
              <a:t>C</a:t>
            </a:r>
            <a:r>
              <a:rPr b="0" i="0" lang="es-ES" sz="2000" u="none" strike="noStrike">
                <a:solidFill>
                  <a:schemeClr val="dk1"/>
                </a:solidFill>
                <a:latin typeface="Old Standard TT"/>
                <a:ea typeface="Old Standard TT"/>
                <a:cs typeface="Old Standard TT"/>
                <a:sym typeface="Old Standard TT"/>
              </a:rPr>
              <a:t>) y cruces (</a:t>
            </a:r>
            <a:r>
              <a:rPr b="0" i="0" lang="es-ES" sz="2000" u="none" strike="noStrike">
                <a:solidFill>
                  <a:schemeClr val="dk1"/>
                </a:solidFill>
                <a:latin typeface="Arial"/>
                <a:ea typeface="Arial"/>
                <a:cs typeface="Arial"/>
                <a:sym typeface="Arial"/>
              </a:rPr>
              <a:t>R</a:t>
            </a:r>
            <a:r>
              <a:rPr b="0" i="0" lang="es-ES" sz="2000" u="none" strike="noStrike">
                <a:solidFill>
                  <a:schemeClr val="dk1"/>
                </a:solidFill>
                <a:latin typeface="Old Standard TT"/>
                <a:ea typeface="Old Standard TT"/>
                <a:cs typeface="Old Standard TT"/>
                <a:sym typeface="Old Standard TT"/>
              </a:rPr>
              <a:t>) que se obtienen, el espacio muestral asociado a dicho experimento aleatorio ser</a:t>
            </a:r>
            <a:r>
              <a:rPr lang="es-ES" sz="2000">
                <a:solidFill>
                  <a:schemeClr val="dk1"/>
                </a:solidFill>
                <a:latin typeface="Old Standard TT"/>
                <a:ea typeface="Old Standard TT"/>
                <a:cs typeface="Old Standard TT"/>
                <a:sym typeface="Old Standard TT"/>
              </a:rPr>
              <a:t>í</a:t>
            </a:r>
            <a:r>
              <a:rPr b="0" i="0" lang="es-ES" sz="2000" u="none" strike="noStrike">
                <a:solidFill>
                  <a:schemeClr val="dk1"/>
                </a:solidFill>
                <a:latin typeface="Old Standard TT"/>
                <a:ea typeface="Old Standard TT"/>
                <a:cs typeface="Old Standard TT"/>
                <a:sym typeface="Old Standard TT"/>
              </a:rPr>
              <a:t>a:</a:t>
            </a:r>
            <a:endParaRPr sz="2000">
              <a:solidFill>
                <a:schemeClr val="dk1"/>
              </a:solidFill>
              <a:latin typeface="Calibri"/>
              <a:ea typeface="Calibri"/>
              <a:cs typeface="Calibri"/>
              <a:sym typeface="Calibri"/>
            </a:endParaRPr>
          </a:p>
        </p:txBody>
      </p:sp>
      <p:pic>
        <p:nvPicPr>
          <p:cNvPr id="210" name="Google Shape;210;p15"/>
          <p:cNvPicPr preferRelativeResize="0"/>
          <p:nvPr/>
        </p:nvPicPr>
        <p:blipFill rotWithShape="1">
          <a:blip r:embed="rId3">
            <a:alphaModFix/>
          </a:blip>
          <a:srcRect b="0" l="0" r="0" t="0"/>
          <a:stretch/>
        </p:blipFill>
        <p:spPr>
          <a:xfrm>
            <a:off x="2670254" y="2435398"/>
            <a:ext cx="6570137" cy="521699"/>
          </a:xfrm>
          <a:prstGeom prst="rect">
            <a:avLst/>
          </a:prstGeom>
          <a:noFill/>
          <a:ln>
            <a:noFill/>
          </a:ln>
        </p:spPr>
      </p:pic>
      <p:sp>
        <p:nvSpPr>
          <p:cNvPr id="211" name="Google Shape;211;p15"/>
          <p:cNvSpPr txBox="1"/>
          <p:nvPr/>
        </p:nvSpPr>
        <p:spPr>
          <a:xfrm>
            <a:off x="573256" y="3015905"/>
            <a:ext cx="11004452" cy="193899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En estad</a:t>
            </a:r>
            <a:r>
              <a:rPr lang="es-ES" sz="2000">
                <a:solidFill>
                  <a:schemeClr val="dk1"/>
                </a:solidFill>
                <a:latin typeface="Old Standard TT"/>
                <a:ea typeface="Old Standard TT"/>
                <a:cs typeface="Old Standard TT"/>
                <a:sym typeface="Old Standard TT"/>
              </a:rPr>
              <a:t>í</a:t>
            </a:r>
            <a:r>
              <a:rPr b="0" i="0" lang="es-ES" sz="2000" u="none" strike="noStrike">
                <a:solidFill>
                  <a:schemeClr val="dk1"/>
                </a:solidFill>
                <a:latin typeface="Old Standard TT"/>
                <a:ea typeface="Old Standard TT"/>
                <a:cs typeface="Old Standard TT"/>
                <a:sym typeface="Old Standard TT"/>
              </a:rPr>
              <a:t>stica resulta m</a:t>
            </a:r>
            <a:r>
              <a:rPr lang="es-ES" sz="2000">
                <a:solidFill>
                  <a:schemeClr val="dk1"/>
                </a:solidFill>
                <a:latin typeface="Old Standard TT"/>
                <a:ea typeface="Old Standard TT"/>
                <a:cs typeface="Old Standard TT"/>
                <a:sym typeface="Old Standard TT"/>
              </a:rPr>
              <a:t>á</a:t>
            </a:r>
            <a:r>
              <a:rPr b="0" i="0" lang="es-ES" sz="2000" u="none" strike="noStrike">
                <a:solidFill>
                  <a:schemeClr val="dk1"/>
                </a:solidFill>
                <a:latin typeface="Old Standard TT"/>
                <a:ea typeface="Old Standard TT"/>
                <a:cs typeface="Old Standard TT"/>
                <a:sym typeface="Old Standard TT"/>
              </a:rPr>
              <a:t>s f</a:t>
            </a:r>
            <a:r>
              <a:rPr lang="es-ES" sz="2000">
                <a:solidFill>
                  <a:schemeClr val="dk1"/>
                </a:solidFill>
                <a:latin typeface="Old Standard TT"/>
                <a:ea typeface="Old Standard TT"/>
                <a:cs typeface="Old Standard TT"/>
                <a:sym typeface="Old Standard TT"/>
              </a:rPr>
              <a:t>á</a:t>
            </a:r>
            <a:r>
              <a:rPr b="0" i="0" lang="es-ES" sz="2000" u="none" strike="noStrike">
                <a:solidFill>
                  <a:schemeClr val="dk1"/>
                </a:solidFill>
                <a:latin typeface="Old Standard TT"/>
                <a:ea typeface="Old Standard TT"/>
                <a:cs typeface="Old Standard TT"/>
                <a:sym typeface="Old Standard TT"/>
              </a:rPr>
              <a:t>cil utilizar valores num</a:t>
            </a:r>
            <a:r>
              <a:rPr lang="es-ES" sz="2000">
                <a:solidFill>
                  <a:schemeClr val="dk1"/>
                </a:solidFill>
                <a:latin typeface="Old Standard TT"/>
                <a:ea typeface="Old Standard TT"/>
                <a:cs typeface="Old Standard TT"/>
                <a:sym typeface="Old Standard TT"/>
              </a:rPr>
              <a:t>é</a:t>
            </a:r>
            <a:r>
              <a:rPr b="0" i="0" lang="es-ES" sz="2000" u="none" strike="noStrike">
                <a:solidFill>
                  <a:schemeClr val="dk1"/>
                </a:solidFill>
                <a:latin typeface="Old Standard TT"/>
                <a:ea typeface="Old Standard TT"/>
                <a:cs typeface="Old Standard TT"/>
                <a:sym typeface="Old Standard TT"/>
              </a:rPr>
              <a:t>ricos en lugar de trabajar directamente con los elementos de un espacio muestral como el anterior. As</a:t>
            </a:r>
            <a:r>
              <a:rPr lang="es-ES" sz="2000">
                <a:solidFill>
                  <a:schemeClr val="dk1"/>
                </a:solidFill>
                <a:latin typeface="Old Standard TT"/>
                <a:ea typeface="Old Standard TT"/>
                <a:cs typeface="Old Standard TT"/>
                <a:sym typeface="Old Standard TT"/>
              </a:rPr>
              <a:t>í</a:t>
            </a:r>
            <a:r>
              <a:rPr b="0" i="0" lang="es-ES" sz="2000" u="none" strike="noStrike">
                <a:solidFill>
                  <a:schemeClr val="dk1"/>
                </a:solidFill>
                <a:latin typeface="Old Standard TT"/>
                <a:ea typeface="Old Standard TT"/>
                <a:cs typeface="Old Standard TT"/>
                <a:sym typeface="Old Standard TT"/>
              </a:rPr>
              <a:t> se identifica los sucesos </a:t>
            </a:r>
            <a:r>
              <a:rPr b="0" i="0" lang="es-ES" sz="2000" u="none" strike="noStrike">
                <a:solidFill>
                  <a:schemeClr val="dk1"/>
                </a:solidFill>
                <a:latin typeface="Arial"/>
                <a:ea typeface="Arial"/>
                <a:cs typeface="Arial"/>
                <a:sym typeface="Arial"/>
              </a:rPr>
              <a:t>{CRR</a:t>
            </a:r>
            <a:r>
              <a:rPr b="0" i="0" lang="es-ES" sz="2000" u="none" strike="noStrike">
                <a:solidFill>
                  <a:schemeClr val="dk1"/>
                </a:solidFill>
                <a:latin typeface="Old Standard TT"/>
                <a:ea typeface="Old Standard TT"/>
                <a:cs typeface="Old Standard TT"/>
                <a:sym typeface="Old Standard TT"/>
              </a:rPr>
              <a:t>,</a:t>
            </a:r>
            <a:r>
              <a:rPr b="0" i="0" lang="es-ES" sz="2000" u="none" strike="noStrike">
                <a:solidFill>
                  <a:schemeClr val="dk1"/>
                </a:solidFill>
                <a:latin typeface="Arial"/>
                <a:ea typeface="Arial"/>
                <a:cs typeface="Arial"/>
                <a:sym typeface="Arial"/>
              </a:rPr>
              <a:t>RCR</a:t>
            </a:r>
            <a:r>
              <a:rPr b="0" i="0" lang="es-ES" sz="2000" u="none" strike="noStrike">
                <a:solidFill>
                  <a:schemeClr val="dk1"/>
                </a:solidFill>
                <a:latin typeface="Old Standard TT"/>
                <a:ea typeface="Old Standard TT"/>
                <a:cs typeface="Old Standard TT"/>
                <a:sym typeface="Old Standard TT"/>
              </a:rPr>
              <a:t>,</a:t>
            </a:r>
            <a:r>
              <a:rPr b="0" i="0" lang="es-ES" sz="2000" u="none" strike="noStrike">
                <a:solidFill>
                  <a:schemeClr val="dk1"/>
                </a:solidFill>
                <a:latin typeface="Arial"/>
                <a:ea typeface="Arial"/>
                <a:cs typeface="Arial"/>
                <a:sym typeface="Arial"/>
              </a:rPr>
              <a:t>RRC} </a:t>
            </a:r>
            <a:r>
              <a:rPr b="0" i="0" lang="es-ES" sz="2000" u="none" strike="noStrike">
                <a:solidFill>
                  <a:schemeClr val="dk1"/>
                </a:solidFill>
                <a:latin typeface="Old Standard TT"/>
                <a:ea typeface="Old Standard TT"/>
                <a:cs typeface="Old Standard TT"/>
                <a:sym typeface="Old Standard TT"/>
              </a:rPr>
              <a:t>con el valor num</a:t>
            </a:r>
            <a:r>
              <a:rPr lang="es-ES" sz="2000">
                <a:solidFill>
                  <a:schemeClr val="dk1"/>
                </a:solidFill>
                <a:latin typeface="Old Standard TT"/>
                <a:ea typeface="Old Standard TT"/>
                <a:cs typeface="Old Standard TT"/>
                <a:sym typeface="Old Standard TT"/>
              </a:rPr>
              <a:t>é</a:t>
            </a:r>
            <a:r>
              <a:rPr b="0" i="0" lang="es-ES" sz="2000" u="none" strike="noStrike">
                <a:solidFill>
                  <a:schemeClr val="dk1"/>
                </a:solidFill>
                <a:latin typeface="Old Standard TT"/>
                <a:ea typeface="Old Standard TT"/>
                <a:cs typeface="Old Standard TT"/>
                <a:sym typeface="Old Standard TT"/>
              </a:rPr>
              <a:t>rico 1 que representa el </a:t>
            </a:r>
            <a:r>
              <a:rPr b="0" i="0" lang="es-ES" sz="2000" u="none" strike="noStrike">
                <a:solidFill>
                  <a:schemeClr val="dk1"/>
                </a:solidFill>
                <a:latin typeface="Arial"/>
                <a:ea typeface="Arial"/>
                <a:cs typeface="Arial"/>
                <a:sym typeface="Arial"/>
              </a:rPr>
              <a:t>n</a:t>
            </a:r>
            <a:r>
              <a:rPr lang="es-ES" sz="2000">
                <a:solidFill>
                  <a:schemeClr val="dk1"/>
                </a:solidFill>
                <a:latin typeface="Arial"/>
                <a:ea typeface="Arial"/>
                <a:cs typeface="Arial"/>
                <a:sym typeface="Arial"/>
              </a:rPr>
              <a:t>ú</a:t>
            </a:r>
            <a:r>
              <a:rPr b="0" i="0" lang="es-ES" sz="2000" u="none" strike="noStrike">
                <a:solidFill>
                  <a:schemeClr val="dk1"/>
                </a:solidFill>
                <a:latin typeface="Arial"/>
                <a:ea typeface="Arial"/>
                <a:cs typeface="Arial"/>
                <a:sym typeface="Arial"/>
              </a:rPr>
              <a:t>mero de caras obtenidas al realizar el experimento</a:t>
            </a:r>
            <a:r>
              <a:rPr b="0" i="0" lang="es-ES" sz="2000" u="none" strike="noStrike">
                <a:solidFill>
                  <a:schemeClr val="dk1"/>
                </a:solidFill>
                <a:latin typeface="Old Standard TT"/>
                <a:ea typeface="Old Standard TT"/>
                <a:cs typeface="Old Standard TT"/>
                <a:sym typeface="Old Standard TT"/>
              </a:rPr>
              <a:t>. </a:t>
            </a:r>
            <a:r>
              <a:rPr lang="es-ES" sz="2000">
                <a:solidFill>
                  <a:schemeClr val="dk1"/>
                </a:solidFill>
                <a:latin typeface="Arial"/>
                <a:ea typeface="Arial"/>
                <a:cs typeface="Arial"/>
                <a:sym typeface="Arial"/>
              </a:rPr>
              <a:t>Si nos interesa el número de veces que sale cara. De esta forma, a cada punto en el espacio muestral se le asignará un valor numérico de 0, 1, 2 o 3. Estos valores son cantidades aleatorias determinadas por el resultado del experimento.</a:t>
            </a:r>
            <a:endParaRPr sz="2000">
              <a:solidFill>
                <a:schemeClr val="dk1"/>
              </a:solidFill>
              <a:latin typeface="Arial"/>
              <a:ea typeface="Arial"/>
              <a:cs typeface="Arial"/>
              <a:sym typeface="Arial"/>
            </a:endParaRPr>
          </a:p>
        </p:txBody>
      </p:sp>
      <p:sp>
        <p:nvSpPr>
          <p:cNvPr id="212" name="Google Shape;212;p15"/>
          <p:cNvSpPr txBox="1"/>
          <p:nvPr/>
        </p:nvSpPr>
        <p:spPr>
          <a:xfrm>
            <a:off x="573255" y="5013705"/>
            <a:ext cx="11004452" cy="13234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Una variable aleatoria es una función que asocia un número real con cada elemento del espacio muestral.</a:t>
            </a:r>
            <a:endParaRPr/>
          </a:p>
          <a:p>
            <a:pPr indent="0" lvl="0" marL="0" marR="0" rtl="0" algn="just">
              <a:spcBef>
                <a:spcPts val="0"/>
              </a:spcBef>
              <a:spcAft>
                <a:spcPts val="0"/>
              </a:spcAft>
              <a:buNone/>
            </a:pPr>
            <a:r>
              <a:rPr b="0" i="0" lang="es-ES" sz="2000" u="none" strike="noStrike">
                <a:solidFill>
                  <a:schemeClr val="dk1"/>
                </a:solidFill>
                <a:latin typeface="Arial"/>
                <a:ea typeface="Arial"/>
                <a:cs typeface="Arial"/>
                <a:sym typeface="Arial"/>
              </a:rPr>
              <a:t>v.a. discreta </a:t>
            </a:r>
            <a:r>
              <a:rPr b="0" i="0" lang="es-ES" sz="2000" u="none" strike="noStrike">
                <a:solidFill>
                  <a:schemeClr val="dk1"/>
                </a:solidFill>
                <a:latin typeface="Old Standard TT"/>
                <a:ea typeface="Old Standard TT"/>
                <a:cs typeface="Old Standard TT"/>
                <a:sym typeface="Old Standard TT"/>
              </a:rPr>
              <a:t>es aquella que s</a:t>
            </a:r>
            <a:r>
              <a:rPr lang="es-ES" sz="2000">
                <a:solidFill>
                  <a:schemeClr val="dk1"/>
                </a:solidFill>
                <a:latin typeface="Old Standard TT"/>
                <a:ea typeface="Old Standard TT"/>
                <a:cs typeface="Old Standard TT"/>
                <a:sym typeface="Old Standard TT"/>
              </a:rPr>
              <a:t>ó</a:t>
            </a:r>
            <a:r>
              <a:rPr b="0" i="0" lang="es-ES" sz="2000" u="none" strike="noStrike">
                <a:solidFill>
                  <a:schemeClr val="dk1"/>
                </a:solidFill>
                <a:latin typeface="Old Standard TT"/>
                <a:ea typeface="Old Standard TT"/>
                <a:cs typeface="Old Standard TT"/>
                <a:sym typeface="Old Standard TT"/>
              </a:rPr>
              <a:t>lo puede tomar un n</a:t>
            </a:r>
            <a:r>
              <a:rPr lang="es-ES" sz="2000">
                <a:solidFill>
                  <a:schemeClr val="dk1"/>
                </a:solidFill>
                <a:latin typeface="Old Standard TT"/>
                <a:ea typeface="Old Standard TT"/>
                <a:cs typeface="Old Standard TT"/>
                <a:sym typeface="Old Standard TT"/>
              </a:rPr>
              <a:t>ú</a:t>
            </a:r>
            <a:r>
              <a:rPr b="0" i="0" lang="es-ES" sz="2000" u="none" strike="noStrike">
                <a:solidFill>
                  <a:schemeClr val="dk1"/>
                </a:solidFill>
                <a:latin typeface="Old Standard TT"/>
                <a:ea typeface="Old Standard TT"/>
                <a:cs typeface="Old Standard TT"/>
                <a:sym typeface="Old Standard TT"/>
              </a:rPr>
              <a:t>mero finito o infinito numerable de valores.</a:t>
            </a:r>
            <a:endParaRPr/>
          </a:p>
          <a:p>
            <a:pPr indent="0" lvl="0" marL="0" marR="0" rtl="0" algn="just">
              <a:spcBef>
                <a:spcPts val="0"/>
              </a:spcBef>
              <a:spcAft>
                <a:spcPts val="0"/>
              </a:spcAft>
              <a:buNone/>
            </a:pPr>
            <a:r>
              <a:rPr b="0" i="0" lang="es-ES" sz="2000" u="none" strike="noStrike">
                <a:solidFill>
                  <a:schemeClr val="dk1"/>
                </a:solidFill>
                <a:latin typeface="Arial"/>
                <a:ea typeface="Arial"/>
                <a:cs typeface="Arial"/>
                <a:sym typeface="Arial"/>
              </a:rPr>
              <a:t>v.a. continua </a:t>
            </a:r>
            <a:r>
              <a:rPr b="0" i="0" lang="es-ES" sz="2000" u="none" strike="noStrike">
                <a:solidFill>
                  <a:schemeClr val="dk1"/>
                </a:solidFill>
                <a:latin typeface="Old Standard TT"/>
                <a:ea typeface="Old Standard TT"/>
                <a:cs typeface="Old Standard TT"/>
                <a:sym typeface="Old Standard TT"/>
              </a:rPr>
              <a:t>es la que puede tomar un n</a:t>
            </a:r>
            <a:r>
              <a:rPr lang="es-ES" sz="2000">
                <a:solidFill>
                  <a:schemeClr val="dk1"/>
                </a:solidFill>
                <a:latin typeface="Old Standard TT"/>
                <a:ea typeface="Old Standard TT"/>
                <a:cs typeface="Old Standard TT"/>
                <a:sym typeface="Old Standard TT"/>
              </a:rPr>
              <a:t>ú</a:t>
            </a:r>
            <a:r>
              <a:rPr b="0" i="0" lang="es-ES" sz="2000" u="none" strike="noStrike">
                <a:solidFill>
                  <a:schemeClr val="dk1"/>
                </a:solidFill>
                <a:latin typeface="Old Standard TT"/>
                <a:ea typeface="Old Standard TT"/>
                <a:cs typeface="Old Standard TT"/>
                <a:sym typeface="Old Standard TT"/>
              </a:rPr>
              <a:t>mero infinito no numerable de valores.</a:t>
            </a:r>
            <a:endParaRPr sz="20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16"/>
          <p:cNvPicPr preferRelativeResize="0"/>
          <p:nvPr/>
        </p:nvPicPr>
        <p:blipFill rotWithShape="1">
          <a:blip r:embed="rId3">
            <a:alphaModFix/>
          </a:blip>
          <a:srcRect b="0" l="0" r="0" t="0"/>
          <a:stretch/>
        </p:blipFill>
        <p:spPr>
          <a:xfrm>
            <a:off x="927100" y="4064358"/>
            <a:ext cx="10242647" cy="2023081"/>
          </a:xfrm>
          <a:prstGeom prst="rect">
            <a:avLst/>
          </a:prstGeom>
          <a:noFill/>
          <a:ln>
            <a:noFill/>
          </a:ln>
        </p:spPr>
      </p:pic>
      <p:pic>
        <p:nvPicPr>
          <p:cNvPr id="218" name="Google Shape;218;p16"/>
          <p:cNvPicPr preferRelativeResize="0"/>
          <p:nvPr/>
        </p:nvPicPr>
        <p:blipFill rotWithShape="1">
          <a:blip r:embed="rId4">
            <a:alphaModFix/>
          </a:blip>
          <a:srcRect b="0" l="0" r="0" t="0"/>
          <a:stretch/>
        </p:blipFill>
        <p:spPr>
          <a:xfrm>
            <a:off x="927101" y="1062755"/>
            <a:ext cx="10242646" cy="2716142"/>
          </a:xfrm>
          <a:prstGeom prst="rect">
            <a:avLst/>
          </a:prstGeom>
          <a:noFill/>
          <a:ln>
            <a:noFill/>
          </a:ln>
        </p:spPr>
      </p:pic>
      <p:sp>
        <p:nvSpPr>
          <p:cNvPr id="219" name="Google Shape;219;p16"/>
          <p:cNvSpPr txBox="1"/>
          <p:nvPr/>
        </p:nvSpPr>
        <p:spPr>
          <a:xfrm>
            <a:off x="927100" y="550693"/>
            <a:ext cx="115800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000">
                <a:solidFill>
                  <a:schemeClr val="dk1"/>
                </a:solidFill>
                <a:latin typeface="Calibri"/>
                <a:ea typeface="Calibri"/>
                <a:cs typeface="Calibri"/>
                <a:sym typeface="Calibri"/>
              </a:rPr>
              <a:t>EJEMPLO</a:t>
            </a:r>
            <a:endParaRPr b="1" sz="20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7"/>
          <p:cNvSpPr txBox="1"/>
          <p:nvPr/>
        </p:nvSpPr>
        <p:spPr>
          <a:xfrm>
            <a:off x="657664" y="511685"/>
            <a:ext cx="748752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Distribución de Probabilidad (Variables Discretas) </a:t>
            </a:r>
            <a:endParaRPr b="0" i="0" sz="2400" u="none" strike="noStrike">
              <a:solidFill>
                <a:schemeClr val="dk1"/>
              </a:solidFill>
              <a:latin typeface="Arial"/>
              <a:ea typeface="Arial"/>
              <a:cs typeface="Arial"/>
              <a:sym typeface="Arial"/>
            </a:endParaRPr>
          </a:p>
        </p:txBody>
      </p:sp>
      <p:sp>
        <p:nvSpPr>
          <p:cNvPr id="225" name="Google Shape;225;p17"/>
          <p:cNvSpPr txBox="1"/>
          <p:nvPr/>
        </p:nvSpPr>
        <p:spPr>
          <a:xfrm>
            <a:off x="657663" y="1141995"/>
            <a:ext cx="10737167" cy="163121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La distribución de probabilidad está constituida por el conjunto de todos los valores de la variable aleatoria xi (x1, x2,…, xn), asociados con sus correspondientes probabilidades pi (p1, p2,…, pn), tales que debe cumplirse la siguiente condición, a la que se denomina condición de cierre: que la suma de las probabilidades a lo largo del campo de variación de la variable aleatoria sea igual a la unidad.</a:t>
            </a:r>
            <a:endParaRPr/>
          </a:p>
          <a:p>
            <a:pPr indent="0" lvl="0" marL="0" marR="0" rtl="0" algn="just">
              <a:spcBef>
                <a:spcPts val="0"/>
              </a:spcBef>
              <a:spcAft>
                <a:spcPts val="0"/>
              </a:spcAft>
              <a:buNone/>
            </a:pPr>
            <a:r>
              <a:t/>
            </a:r>
            <a:endParaRPr sz="2000">
              <a:solidFill>
                <a:schemeClr val="dk1"/>
              </a:solidFill>
              <a:latin typeface="Old Standard TT"/>
              <a:ea typeface="Old Standard TT"/>
              <a:cs typeface="Old Standard TT"/>
              <a:sym typeface="Old Standard TT"/>
            </a:endParaRPr>
          </a:p>
        </p:txBody>
      </p:sp>
      <p:sp>
        <p:nvSpPr>
          <p:cNvPr id="226" name="Google Shape;226;p17"/>
          <p:cNvSpPr txBox="1"/>
          <p:nvPr/>
        </p:nvSpPr>
        <p:spPr>
          <a:xfrm>
            <a:off x="645060" y="5793720"/>
            <a:ext cx="10737167"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Si x</a:t>
            </a:r>
            <a:r>
              <a:rPr b="0" i="0" lang="es-ES" sz="2000" u="none" strike="noStrike">
                <a:solidFill>
                  <a:schemeClr val="dk1"/>
                </a:solidFill>
                <a:latin typeface="Arial"/>
                <a:ea typeface="Arial"/>
                <a:cs typeface="Arial"/>
                <a:sym typeface="Arial"/>
              </a:rPr>
              <a:t>i </a:t>
            </a:r>
            <a:r>
              <a:rPr b="0" i="0" lang="es-ES" sz="2000" u="none" strike="noStrike">
                <a:solidFill>
                  <a:schemeClr val="dk1"/>
                </a:solidFill>
                <a:latin typeface="Old Standard TT"/>
                <a:ea typeface="Old Standard TT"/>
                <a:cs typeface="Old Standard TT"/>
                <a:sym typeface="Old Standard TT"/>
              </a:rPr>
              <a:t>no es uno de los valores que puede tomar X, entonces f(x</a:t>
            </a:r>
            <a:r>
              <a:rPr b="0" i="0" lang="es-ES" sz="2000" u="none" strike="noStrike">
                <a:solidFill>
                  <a:schemeClr val="dk1"/>
                </a:solidFill>
                <a:latin typeface="Arial"/>
                <a:ea typeface="Arial"/>
                <a:cs typeface="Arial"/>
                <a:sym typeface="Arial"/>
              </a:rPr>
              <a:t>i</a:t>
            </a:r>
            <a:r>
              <a:rPr b="0" i="0" lang="es-ES" sz="2000" u="none" strike="noStrike">
                <a:solidFill>
                  <a:schemeClr val="dk1"/>
                </a:solidFill>
                <a:latin typeface="Old Standard TT"/>
                <a:ea typeface="Old Standard TT"/>
                <a:cs typeface="Old Standard TT"/>
                <a:sym typeface="Old Standard TT"/>
              </a:rPr>
              <a:t>) = 0.</a:t>
            </a:r>
            <a:endParaRPr/>
          </a:p>
          <a:p>
            <a:pPr indent="0" lvl="0" marL="0" marR="0" rtl="0" algn="l">
              <a:spcBef>
                <a:spcPts val="0"/>
              </a:spcBef>
              <a:spcAft>
                <a:spcPts val="0"/>
              </a:spcAft>
              <a:buNone/>
            </a:pPr>
            <a:r>
              <a:t/>
            </a:r>
            <a:endParaRPr sz="2000">
              <a:solidFill>
                <a:schemeClr val="dk1"/>
              </a:solidFill>
              <a:latin typeface="Old Standard TT"/>
              <a:ea typeface="Old Standard TT"/>
              <a:cs typeface="Old Standard TT"/>
              <a:sym typeface="Old Standard TT"/>
            </a:endParaRPr>
          </a:p>
        </p:txBody>
      </p:sp>
      <p:pic>
        <p:nvPicPr>
          <p:cNvPr id="227" name="Google Shape;227;p17"/>
          <p:cNvPicPr preferRelativeResize="0"/>
          <p:nvPr/>
        </p:nvPicPr>
        <p:blipFill rotWithShape="1">
          <a:blip r:embed="rId3">
            <a:alphaModFix/>
          </a:blip>
          <a:srcRect b="0" l="0" r="0" t="0"/>
          <a:stretch/>
        </p:blipFill>
        <p:spPr>
          <a:xfrm>
            <a:off x="1595933" y="4230709"/>
            <a:ext cx="2124371" cy="1371791"/>
          </a:xfrm>
          <a:prstGeom prst="rect">
            <a:avLst/>
          </a:prstGeom>
          <a:noFill/>
          <a:ln>
            <a:noFill/>
          </a:ln>
        </p:spPr>
      </p:pic>
      <p:pic>
        <p:nvPicPr>
          <p:cNvPr id="228" name="Google Shape;228;p17"/>
          <p:cNvPicPr preferRelativeResize="0"/>
          <p:nvPr/>
        </p:nvPicPr>
        <p:blipFill rotWithShape="1">
          <a:blip r:embed="rId4">
            <a:alphaModFix/>
          </a:blip>
          <a:srcRect b="0" l="0" r="0" t="0"/>
          <a:stretch/>
        </p:blipFill>
        <p:spPr>
          <a:xfrm>
            <a:off x="5365578" y="4458250"/>
            <a:ext cx="5249008" cy="657317"/>
          </a:xfrm>
          <a:prstGeom prst="rect">
            <a:avLst/>
          </a:prstGeom>
          <a:noFill/>
          <a:ln>
            <a:noFill/>
          </a:ln>
        </p:spPr>
      </p:pic>
      <p:pic>
        <p:nvPicPr>
          <p:cNvPr id="229" name="Google Shape;229;p17"/>
          <p:cNvPicPr preferRelativeResize="0"/>
          <p:nvPr/>
        </p:nvPicPr>
        <p:blipFill rotWithShape="1">
          <a:blip r:embed="rId5">
            <a:alphaModFix/>
          </a:blip>
          <a:srcRect b="0" l="0" r="0" t="0"/>
          <a:stretch/>
        </p:blipFill>
        <p:spPr>
          <a:xfrm>
            <a:off x="1577414" y="2622117"/>
            <a:ext cx="9037172" cy="141737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8"/>
          <p:cNvSpPr txBox="1"/>
          <p:nvPr/>
        </p:nvSpPr>
        <p:spPr>
          <a:xfrm>
            <a:off x="727415" y="526725"/>
            <a:ext cx="10737167" cy="13234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Una cierta gasolinería tiene seis bombas. Sea X el número de bombas que están en servicio a una hora particular del día. Suponga que la distribución de probabilidad de X es como se da en la tabla siguiente; la primera fila de la tabla contiene los posibles valores de X y la segunda da la probabilidad de dicho valor.</a:t>
            </a:r>
            <a:endParaRPr sz="2000">
              <a:solidFill>
                <a:schemeClr val="dk1"/>
              </a:solidFill>
              <a:latin typeface="Old Standard TT"/>
              <a:ea typeface="Old Standard TT"/>
              <a:cs typeface="Old Standard TT"/>
              <a:sym typeface="Old Standard TT"/>
            </a:endParaRPr>
          </a:p>
        </p:txBody>
      </p:sp>
      <p:pic>
        <p:nvPicPr>
          <p:cNvPr id="235" name="Google Shape;235;p18"/>
          <p:cNvPicPr preferRelativeResize="0"/>
          <p:nvPr/>
        </p:nvPicPr>
        <p:blipFill rotWithShape="1">
          <a:blip r:embed="rId3">
            <a:alphaModFix/>
          </a:blip>
          <a:srcRect b="0" l="0" r="0" t="0"/>
          <a:stretch/>
        </p:blipFill>
        <p:spPr>
          <a:xfrm>
            <a:off x="2874888" y="1850164"/>
            <a:ext cx="6074701" cy="980181"/>
          </a:xfrm>
          <a:prstGeom prst="rect">
            <a:avLst/>
          </a:prstGeom>
          <a:noFill/>
          <a:ln>
            <a:noFill/>
          </a:ln>
        </p:spPr>
      </p:pic>
      <p:sp>
        <p:nvSpPr>
          <p:cNvPr id="236" name="Google Shape;236;p18"/>
          <p:cNvSpPr txBox="1"/>
          <p:nvPr/>
        </p:nvSpPr>
        <p:spPr>
          <a:xfrm>
            <a:off x="753204" y="2893926"/>
            <a:ext cx="917565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000">
                <a:solidFill>
                  <a:schemeClr val="dk1"/>
                </a:solidFill>
                <a:latin typeface="Old Standard TT"/>
                <a:ea typeface="Old Standard TT"/>
                <a:cs typeface="Old Standard TT"/>
                <a:sym typeface="Old Standard TT"/>
              </a:rPr>
              <a:t>La probabilidad de que cuando mucho dos bombas estén en servicio es</a:t>
            </a:r>
            <a:endParaRPr/>
          </a:p>
        </p:txBody>
      </p:sp>
      <p:pic>
        <p:nvPicPr>
          <p:cNvPr id="237" name="Google Shape;237;p18"/>
          <p:cNvPicPr preferRelativeResize="0"/>
          <p:nvPr/>
        </p:nvPicPr>
        <p:blipFill rotWithShape="1">
          <a:blip r:embed="rId4">
            <a:alphaModFix/>
          </a:blip>
          <a:srcRect b="0" l="0" r="0" t="0"/>
          <a:stretch/>
        </p:blipFill>
        <p:spPr>
          <a:xfrm>
            <a:off x="2552203" y="3342293"/>
            <a:ext cx="7598249" cy="388083"/>
          </a:xfrm>
          <a:prstGeom prst="rect">
            <a:avLst/>
          </a:prstGeom>
          <a:noFill/>
          <a:ln>
            <a:noFill/>
          </a:ln>
        </p:spPr>
      </p:pic>
      <p:pic>
        <p:nvPicPr>
          <p:cNvPr id="238" name="Google Shape;238;p18"/>
          <p:cNvPicPr preferRelativeResize="0"/>
          <p:nvPr/>
        </p:nvPicPr>
        <p:blipFill rotWithShape="1">
          <a:blip r:embed="rId5">
            <a:alphaModFix/>
          </a:blip>
          <a:srcRect b="0" l="0" r="0" t="0"/>
          <a:stretch/>
        </p:blipFill>
        <p:spPr>
          <a:xfrm>
            <a:off x="2552202" y="3943555"/>
            <a:ext cx="4731845" cy="367414"/>
          </a:xfrm>
          <a:prstGeom prst="rect">
            <a:avLst/>
          </a:prstGeom>
          <a:noFill/>
          <a:ln>
            <a:noFill/>
          </a:ln>
        </p:spPr>
      </p:pic>
      <p:sp>
        <p:nvSpPr>
          <p:cNvPr id="239" name="Google Shape;239;p18"/>
          <p:cNvSpPr txBox="1"/>
          <p:nvPr/>
        </p:nvSpPr>
        <p:spPr>
          <a:xfrm>
            <a:off x="753204" y="4419176"/>
            <a:ext cx="1031807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000">
                <a:solidFill>
                  <a:schemeClr val="dk1"/>
                </a:solidFill>
                <a:latin typeface="Old Standard TT"/>
                <a:ea typeface="Old Standard TT"/>
                <a:cs typeface="Old Standard TT"/>
                <a:sym typeface="Old Standard TT"/>
              </a:rPr>
              <a:t>La probabilidad de que entre 2 y 5 bombas inclusive estén en servicio es</a:t>
            </a:r>
            <a:endParaRPr sz="2000">
              <a:solidFill>
                <a:schemeClr val="dk1"/>
              </a:solidFill>
              <a:latin typeface="Old Standard TT"/>
              <a:ea typeface="Old Standard TT"/>
              <a:cs typeface="Old Standard TT"/>
              <a:sym typeface="Old Standard TT"/>
            </a:endParaRPr>
          </a:p>
        </p:txBody>
      </p:sp>
      <p:pic>
        <p:nvPicPr>
          <p:cNvPr id="240" name="Google Shape;240;p18"/>
          <p:cNvPicPr preferRelativeResize="0"/>
          <p:nvPr/>
        </p:nvPicPr>
        <p:blipFill rotWithShape="1">
          <a:blip r:embed="rId6">
            <a:alphaModFix/>
          </a:blip>
          <a:srcRect b="0" l="0" r="0" t="0"/>
          <a:stretch/>
        </p:blipFill>
        <p:spPr>
          <a:xfrm>
            <a:off x="2552203" y="4927496"/>
            <a:ext cx="7426214" cy="367414"/>
          </a:xfrm>
          <a:prstGeom prst="rect">
            <a:avLst/>
          </a:prstGeom>
          <a:noFill/>
          <a:ln>
            <a:noFill/>
          </a:ln>
        </p:spPr>
      </p:pic>
      <p:sp>
        <p:nvSpPr>
          <p:cNvPr id="241" name="Google Shape;241;p18"/>
          <p:cNvSpPr txBox="1"/>
          <p:nvPr/>
        </p:nvSpPr>
        <p:spPr>
          <a:xfrm>
            <a:off x="753204" y="5508087"/>
            <a:ext cx="1071137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000">
                <a:solidFill>
                  <a:schemeClr val="dk1"/>
                </a:solidFill>
                <a:latin typeface="Old Standard TT"/>
                <a:ea typeface="Old Standard TT"/>
                <a:cs typeface="Old Standard TT"/>
                <a:sym typeface="Old Standard TT"/>
              </a:rPr>
              <a:t>La probabilidad de que el número de bombas en servicio esté estrictamente entre 2 y 5 es</a:t>
            </a:r>
            <a:endParaRPr/>
          </a:p>
        </p:txBody>
      </p:sp>
      <p:pic>
        <p:nvPicPr>
          <p:cNvPr id="242" name="Google Shape;242;p18"/>
          <p:cNvPicPr preferRelativeResize="0"/>
          <p:nvPr/>
        </p:nvPicPr>
        <p:blipFill rotWithShape="1">
          <a:blip r:embed="rId7">
            <a:alphaModFix/>
          </a:blip>
          <a:srcRect b="0" l="0" r="0" t="0"/>
          <a:stretch/>
        </p:blipFill>
        <p:spPr>
          <a:xfrm>
            <a:off x="2552202" y="6121374"/>
            <a:ext cx="5530141" cy="4788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19"/>
          <p:cNvPicPr preferRelativeResize="0"/>
          <p:nvPr/>
        </p:nvPicPr>
        <p:blipFill rotWithShape="1">
          <a:blip r:embed="rId3">
            <a:alphaModFix/>
          </a:blip>
          <a:srcRect b="0" l="0" r="0" t="0"/>
          <a:stretch/>
        </p:blipFill>
        <p:spPr>
          <a:xfrm>
            <a:off x="1623163" y="589173"/>
            <a:ext cx="8945674" cy="3337700"/>
          </a:xfrm>
          <a:prstGeom prst="rect">
            <a:avLst/>
          </a:prstGeom>
          <a:noFill/>
          <a:ln>
            <a:noFill/>
          </a:ln>
        </p:spPr>
      </p:pic>
      <p:pic>
        <p:nvPicPr>
          <p:cNvPr id="248" name="Google Shape;248;p19"/>
          <p:cNvPicPr preferRelativeResize="0"/>
          <p:nvPr/>
        </p:nvPicPr>
        <p:blipFill rotWithShape="1">
          <a:blip r:embed="rId4">
            <a:alphaModFix/>
          </a:blip>
          <a:srcRect b="0" l="0" r="0" t="0"/>
          <a:stretch/>
        </p:blipFill>
        <p:spPr>
          <a:xfrm>
            <a:off x="3768644" y="3926873"/>
            <a:ext cx="3905970" cy="272209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0"/>
          <p:cNvSpPr txBox="1"/>
          <p:nvPr/>
        </p:nvSpPr>
        <p:spPr>
          <a:xfrm>
            <a:off x="559190" y="682675"/>
            <a:ext cx="765634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Medidas de tendencia central y dispersi</a:t>
            </a:r>
            <a:r>
              <a:rPr lang="es-ES" sz="2400">
                <a:solidFill>
                  <a:schemeClr val="dk1"/>
                </a:solidFill>
                <a:latin typeface="Arial"/>
                <a:ea typeface="Arial"/>
                <a:cs typeface="Arial"/>
                <a:sym typeface="Arial"/>
              </a:rPr>
              <a:t>ó</a:t>
            </a:r>
            <a:r>
              <a:rPr b="0" i="0" lang="es-ES" sz="2400" u="none" strike="noStrike">
                <a:solidFill>
                  <a:schemeClr val="dk1"/>
                </a:solidFill>
                <a:latin typeface="Arial"/>
                <a:ea typeface="Arial"/>
                <a:cs typeface="Arial"/>
                <a:sym typeface="Arial"/>
              </a:rPr>
              <a:t>n de v.a.</a:t>
            </a:r>
            <a:endParaRPr sz="2400">
              <a:solidFill>
                <a:schemeClr val="dk1"/>
              </a:solidFill>
              <a:latin typeface="Calibri"/>
              <a:ea typeface="Calibri"/>
              <a:cs typeface="Calibri"/>
              <a:sym typeface="Calibri"/>
            </a:endParaRPr>
          </a:p>
        </p:txBody>
      </p:sp>
      <p:sp>
        <p:nvSpPr>
          <p:cNvPr id="254" name="Google Shape;254;p20"/>
          <p:cNvSpPr txBox="1"/>
          <p:nvPr/>
        </p:nvSpPr>
        <p:spPr>
          <a:xfrm>
            <a:off x="559190" y="1383881"/>
            <a:ext cx="609834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000" u="none" strike="noStrike">
                <a:solidFill>
                  <a:schemeClr val="dk1"/>
                </a:solidFill>
                <a:latin typeface="Arial"/>
                <a:ea typeface="Arial"/>
                <a:cs typeface="Arial"/>
                <a:sym typeface="Arial"/>
              </a:rPr>
              <a:t>Valor esperado o esperanza matem</a:t>
            </a:r>
            <a:r>
              <a:rPr lang="es-ES" sz="2000">
                <a:solidFill>
                  <a:schemeClr val="dk1"/>
                </a:solidFill>
                <a:latin typeface="Arial"/>
                <a:ea typeface="Arial"/>
                <a:cs typeface="Arial"/>
                <a:sym typeface="Arial"/>
              </a:rPr>
              <a:t>á</a:t>
            </a:r>
            <a:r>
              <a:rPr b="0" i="0" lang="es-ES" sz="2000" u="none" strike="noStrike">
                <a:solidFill>
                  <a:schemeClr val="dk1"/>
                </a:solidFill>
                <a:latin typeface="Arial"/>
                <a:ea typeface="Arial"/>
                <a:cs typeface="Arial"/>
                <a:sym typeface="Arial"/>
              </a:rPr>
              <a:t>tica</a:t>
            </a:r>
            <a:endParaRPr sz="2000">
              <a:solidFill>
                <a:schemeClr val="dk1"/>
              </a:solidFill>
              <a:latin typeface="Calibri"/>
              <a:ea typeface="Calibri"/>
              <a:cs typeface="Calibri"/>
              <a:sym typeface="Calibri"/>
            </a:endParaRPr>
          </a:p>
        </p:txBody>
      </p:sp>
      <p:sp>
        <p:nvSpPr>
          <p:cNvPr id="255" name="Google Shape;255;p20"/>
          <p:cNvSpPr txBox="1"/>
          <p:nvPr/>
        </p:nvSpPr>
        <p:spPr>
          <a:xfrm>
            <a:off x="559190" y="1951672"/>
            <a:ext cx="11104688"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Sea X una v.a. </a:t>
            </a:r>
            <a:r>
              <a:rPr b="0" i="0" lang="es-ES" sz="2000" u="none" strike="noStrike">
                <a:solidFill>
                  <a:schemeClr val="dk1"/>
                </a:solidFill>
                <a:latin typeface="Arial"/>
                <a:ea typeface="Arial"/>
                <a:cs typeface="Arial"/>
                <a:sym typeface="Arial"/>
              </a:rPr>
              <a:t>discreta</a:t>
            </a:r>
            <a:r>
              <a:rPr b="0" i="0" lang="es-ES" sz="2000" u="none" strike="noStrike">
                <a:solidFill>
                  <a:schemeClr val="dk1"/>
                </a:solidFill>
                <a:latin typeface="Old Standard TT"/>
                <a:ea typeface="Old Standard TT"/>
                <a:cs typeface="Old Standard TT"/>
                <a:sym typeface="Old Standard TT"/>
              </a:rPr>
              <a:t>. Se denomina </a:t>
            </a:r>
            <a:r>
              <a:rPr b="0" i="0" lang="es-ES" sz="2000" u="none" strike="noStrike">
                <a:solidFill>
                  <a:schemeClr val="dk1"/>
                </a:solidFill>
                <a:latin typeface="Arial"/>
                <a:ea typeface="Arial"/>
                <a:cs typeface="Arial"/>
                <a:sym typeface="Arial"/>
              </a:rPr>
              <a:t>esperanza matem</a:t>
            </a:r>
            <a:r>
              <a:rPr lang="es-ES" sz="2000">
                <a:solidFill>
                  <a:schemeClr val="dk1"/>
                </a:solidFill>
                <a:latin typeface="Arial"/>
                <a:ea typeface="Arial"/>
                <a:cs typeface="Arial"/>
                <a:sym typeface="Arial"/>
              </a:rPr>
              <a:t>á</a:t>
            </a:r>
            <a:r>
              <a:rPr b="0" i="0" lang="es-ES" sz="2000" u="none" strike="noStrike">
                <a:solidFill>
                  <a:schemeClr val="dk1"/>
                </a:solidFill>
                <a:latin typeface="Arial"/>
                <a:ea typeface="Arial"/>
                <a:cs typeface="Arial"/>
                <a:sym typeface="Arial"/>
              </a:rPr>
              <a:t>tica </a:t>
            </a:r>
            <a:r>
              <a:rPr b="0" i="0" lang="es-ES" sz="2000" u="none" strike="noStrike">
                <a:solidFill>
                  <a:schemeClr val="dk1"/>
                </a:solidFill>
                <a:latin typeface="Old Standard TT"/>
                <a:ea typeface="Old Standard TT"/>
                <a:cs typeface="Old Standard TT"/>
                <a:sym typeface="Old Standard TT"/>
              </a:rPr>
              <a:t>de X o </a:t>
            </a:r>
            <a:r>
              <a:rPr b="0" i="0" lang="es-ES" sz="2000" u="none" strike="noStrike">
                <a:solidFill>
                  <a:schemeClr val="dk1"/>
                </a:solidFill>
                <a:latin typeface="Arial"/>
                <a:ea typeface="Arial"/>
                <a:cs typeface="Arial"/>
                <a:sym typeface="Arial"/>
              </a:rPr>
              <a:t>valor esperado</a:t>
            </a:r>
            <a:r>
              <a:rPr b="0" i="0" lang="es-ES" sz="2000" u="none" strike="noStrike">
                <a:solidFill>
                  <a:schemeClr val="dk1"/>
                </a:solidFill>
                <a:latin typeface="Old Standard TT"/>
                <a:ea typeface="Old Standard TT"/>
                <a:cs typeface="Old Standard TT"/>
                <a:sym typeface="Old Standard TT"/>
              </a:rPr>
              <a:t>, y se denota bien </a:t>
            </a:r>
            <a:r>
              <a:rPr b="0" i="0" lang="es-ES" sz="2000" u="none" strike="noStrike">
                <a:solidFill>
                  <a:schemeClr val="dk1"/>
                </a:solidFill>
                <a:latin typeface="Arial"/>
                <a:ea typeface="Arial"/>
                <a:cs typeface="Arial"/>
                <a:sym typeface="Arial"/>
              </a:rPr>
              <a:t>E</a:t>
            </a:r>
            <a:r>
              <a:rPr b="0" i="0" lang="es-ES" sz="2000" u="none" strike="noStrike">
                <a:solidFill>
                  <a:schemeClr val="dk1"/>
                </a:solidFill>
                <a:latin typeface="Old Standard TT"/>
                <a:ea typeface="Old Standard TT"/>
                <a:cs typeface="Old Standard TT"/>
                <a:sym typeface="Old Standard TT"/>
              </a:rPr>
              <a:t>[X] o bien μ, a la cantidad que se expresa como:</a:t>
            </a:r>
            <a:endParaRPr sz="2000">
              <a:solidFill>
                <a:schemeClr val="dk1"/>
              </a:solidFill>
              <a:latin typeface="Calibri"/>
              <a:ea typeface="Calibri"/>
              <a:cs typeface="Calibri"/>
              <a:sym typeface="Calibri"/>
            </a:endParaRPr>
          </a:p>
        </p:txBody>
      </p:sp>
      <p:pic>
        <p:nvPicPr>
          <p:cNvPr id="256" name="Google Shape;256;p20"/>
          <p:cNvPicPr preferRelativeResize="0"/>
          <p:nvPr/>
        </p:nvPicPr>
        <p:blipFill rotWithShape="1">
          <a:blip r:embed="rId3">
            <a:alphaModFix/>
          </a:blip>
          <a:srcRect b="0" l="0" r="0" t="0"/>
          <a:stretch/>
        </p:blipFill>
        <p:spPr>
          <a:xfrm>
            <a:off x="4922917" y="2827239"/>
            <a:ext cx="2346166" cy="851793"/>
          </a:xfrm>
          <a:prstGeom prst="rect">
            <a:avLst/>
          </a:prstGeom>
          <a:noFill/>
          <a:ln>
            <a:noFill/>
          </a:ln>
        </p:spPr>
      </p:pic>
      <p:sp>
        <p:nvSpPr>
          <p:cNvPr id="257" name="Google Shape;257;p20"/>
          <p:cNvSpPr txBox="1"/>
          <p:nvPr/>
        </p:nvSpPr>
        <p:spPr>
          <a:xfrm>
            <a:off x="627766" y="4198443"/>
            <a:ext cx="1103611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Si X es una v.a. </a:t>
            </a:r>
            <a:r>
              <a:rPr b="0" i="0" lang="es-ES" sz="2000" u="none" strike="noStrike">
                <a:solidFill>
                  <a:schemeClr val="dk1"/>
                </a:solidFill>
                <a:latin typeface="Arial"/>
                <a:ea typeface="Arial"/>
                <a:cs typeface="Arial"/>
                <a:sym typeface="Arial"/>
              </a:rPr>
              <a:t>continua</a:t>
            </a:r>
            <a:r>
              <a:rPr b="0" i="0" lang="es-ES" sz="2000" u="none" strike="noStrike">
                <a:solidFill>
                  <a:schemeClr val="dk1"/>
                </a:solidFill>
                <a:latin typeface="Old Standard TT"/>
                <a:ea typeface="Old Standard TT"/>
                <a:cs typeface="Old Standard TT"/>
                <a:sym typeface="Old Standard TT"/>
              </a:rPr>
              <a:t>, se define su esperanza a partir de la funci</a:t>
            </a:r>
            <a:r>
              <a:rPr lang="es-ES" sz="2000">
                <a:solidFill>
                  <a:schemeClr val="dk1"/>
                </a:solidFill>
                <a:latin typeface="Old Standard TT"/>
                <a:ea typeface="Old Standard TT"/>
                <a:cs typeface="Old Standard TT"/>
                <a:sym typeface="Old Standard TT"/>
              </a:rPr>
              <a:t>ó</a:t>
            </a:r>
            <a:r>
              <a:rPr b="0" i="0" lang="es-ES" sz="2000" u="none" strike="noStrike">
                <a:solidFill>
                  <a:schemeClr val="dk1"/>
                </a:solidFill>
                <a:latin typeface="Old Standard TT"/>
                <a:ea typeface="Old Standard TT"/>
                <a:cs typeface="Old Standard TT"/>
                <a:sym typeface="Old Standard TT"/>
              </a:rPr>
              <a:t>n</a:t>
            </a:r>
            <a:r>
              <a:rPr lang="es-ES" sz="2000">
                <a:solidFill>
                  <a:schemeClr val="dk1"/>
                </a:solidFill>
                <a:latin typeface="Old Standard TT"/>
                <a:ea typeface="Old Standard TT"/>
                <a:cs typeface="Old Standard TT"/>
                <a:sym typeface="Old Standard TT"/>
              </a:rPr>
              <a:t> </a:t>
            </a:r>
            <a:r>
              <a:rPr b="0" i="0" lang="es-ES" sz="2000" u="none" strike="noStrike">
                <a:solidFill>
                  <a:schemeClr val="dk1"/>
                </a:solidFill>
                <a:latin typeface="Old Standard TT"/>
                <a:ea typeface="Old Standard TT"/>
                <a:cs typeface="Old Standard TT"/>
                <a:sym typeface="Old Standard TT"/>
              </a:rPr>
              <a:t>de densidad como sigue:</a:t>
            </a:r>
            <a:endParaRPr sz="2000">
              <a:solidFill>
                <a:schemeClr val="dk1"/>
              </a:solidFill>
              <a:latin typeface="Calibri"/>
              <a:ea typeface="Calibri"/>
              <a:cs typeface="Calibri"/>
              <a:sym typeface="Calibri"/>
            </a:endParaRPr>
          </a:p>
        </p:txBody>
      </p:sp>
      <p:pic>
        <p:nvPicPr>
          <p:cNvPr id="258" name="Google Shape;258;p20"/>
          <p:cNvPicPr preferRelativeResize="0"/>
          <p:nvPr/>
        </p:nvPicPr>
        <p:blipFill rotWithShape="1">
          <a:blip r:embed="rId4">
            <a:alphaModFix/>
          </a:blip>
          <a:srcRect b="0" l="0" r="0" t="0"/>
          <a:stretch/>
        </p:blipFill>
        <p:spPr>
          <a:xfrm>
            <a:off x="4670757" y="5217917"/>
            <a:ext cx="2850485" cy="78533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id="263" name="Google Shape;263;p21"/>
          <p:cNvPicPr preferRelativeResize="0"/>
          <p:nvPr/>
        </p:nvPicPr>
        <p:blipFill rotWithShape="1">
          <a:blip r:embed="rId3">
            <a:alphaModFix/>
          </a:blip>
          <a:srcRect b="0" l="0" r="0" t="0"/>
          <a:stretch/>
        </p:blipFill>
        <p:spPr>
          <a:xfrm>
            <a:off x="2283655" y="167249"/>
            <a:ext cx="7624690" cy="65235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2"/>
          <p:cNvSpPr txBox="1"/>
          <p:nvPr/>
        </p:nvSpPr>
        <p:spPr>
          <a:xfrm>
            <a:off x="685800" y="553888"/>
            <a:ext cx="609834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000" u="none" strike="noStrike">
                <a:solidFill>
                  <a:schemeClr val="dk1"/>
                </a:solidFill>
                <a:latin typeface="Arial"/>
                <a:ea typeface="Arial"/>
                <a:cs typeface="Arial"/>
                <a:sym typeface="Arial"/>
              </a:rPr>
              <a:t>Varianza</a:t>
            </a:r>
            <a:endParaRPr sz="2000">
              <a:solidFill>
                <a:schemeClr val="dk1"/>
              </a:solidFill>
              <a:latin typeface="Calibri"/>
              <a:ea typeface="Calibri"/>
              <a:cs typeface="Calibri"/>
              <a:sym typeface="Calibri"/>
            </a:endParaRPr>
          </a:p>
        </p:txBody>
      </p:sp>
      <p:pic>
        <p:nvPicPr>
          <p:cNvPr id="270" name="Google Shape;270;p22"/>
          <p:cNvPicPr preferRelativeResize="0"/>
          <p:nvPr/>
        </p:nvPicPr>
        <p:blipFill rotWithShape="1">
          <a:blip r:embed="rId3">
            <a:alphaModFix/>
          </a:blip>
          <a:srcRect b="0" l="0" r="0" t="0"/>
          <a:stretch/>
        </p:blipFill>
        <p:spPr>
          <a:xfrm>
            <a:off x="845222" y="1508969"/>
            <a:ext cx="8222587" cy="2338934"/>
          </a:xfrm>
          <a:prstGeom prst="rect">
            <a:avLst/>
          </a:prstGeom>
          <a:noFill/>
          <a:ln>
            <a:noFill/>
          </a:ln>
        </p:spPr>
      </p:pic>
      <p:pic>
        <p:nvPicPr>
          <p:cNvPr id="271" name="Google Shape;271;p22"/>
          <p:cNvPicPr preferRelativeResize="0"/>
          <p:nvPr/>
        </p:nvPicPr>
        <p:blipFill rotWithShape="1">
          <a:blip r:embed="rId4">
            <a:alphaModFix/>
          </a:blip>
          <a:srcRect b="0" l="0" r="0" t="0"/>
          <a:stretch/>
        </p:blipFill>
        <p:spPr>
          <a:xfrm>
            <a:off x="2833123" y="3897529"/>
            <a:ext cx="5611008" cy="2819794"/>
          </a:xfrm>
          <a:prstGeom prst="rect">
            <a:avLst/>
          </a:prstGeom>
          <a:noFill/>
          <a:ln>
            <a:noFill/>
          </a:ln>
        </p:spPr>
      </p:pic>
      <p:pic>
        <p:nvPicPr>
          <p:cNvPr id="272" name="Google Shape;272;p22"/>
          <p:cNvPicPr preferRelativeResize="0"/>
          <p:nvPr/>
        </p:nvPicPr>
        <p:blipFill rotWithShape="1">
          <a:blip r:embed="rId5">
            <a:alphaModFix/>
          </a:blip>
          <a:srcRect b="0" l="0" r="0" t="0"/>
          <a:stretch/>
        </p:blipFill>
        <p:spPr>
          <a:xfrm>
            <a:off x="7260650" y="2179033"/>
            <a:ext cx="4428534" cy="6907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3"/>
          <p:cNvSpPr txBox="1"/>
          <p:nvPr/>
        </p:nvSpPr>
        <p:spPr>
          <a:xfrm>
            <a:off x="798341" y="586378"/>
            <a:ext cx="795176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Principales leyes de distribución de variables aleatorias</a:t>
            </a:r>
            <a:endParaRPr sz="2400">
              <a:solidFill>
                <a:schemeClr val="dk1"/>
              </a:solidFill>
              <a:latin typeface="Calibri"/>
              <a:ea typeface="Calibri"/>
              <a:cs typeface="Calibri"/>
              <a:sym typeface="Calibri"/>
            </a:endParaRPr>
          </a:p>
        </p:txBody>
      </p:sp>
      <p:sp>
        <p:nvSpPr>
          <p:cNvPr id="278" name="Google Shape;278;p23"/>
          <p:cNvSpPr txBox="1"/>
          <p:nvPr/>
        </p:nvSpPr>
        <p:spPr>
          <a:xfrm>
            <a:off x="798341" y="1285408"/>
            <a:ext cx="609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Distribuciones discretas</a:t>
            </a:r>
            <a:endParaRPr sz="2400">
              <a:solidFill>
                <a:schemeClr val="dk1"/>
              </a:solidFill>
              <a:latin typeface="Calibri"/>
              <a:ea typeface="Calibri"/>
              <a:cs typeface="Calibri"/>
              <a:sym typeface="Calibri"/>
            </a:endParaRPr>
          </a:p>
        </p:txBody>
      </p:sp>
      <p:sp>
        <p:nvSpPr>
          <p:cNvPr id="279" name="Google Shape;279;p23"/>
          <p:cNvSpPr txBox="1"/>
          <p:nvPr/>
        </p:nvSpPr>
        <p:spPr>
          <a:xfrm>
            <a:off x="798341" y="1984438"/>
            <a:ext cx="609834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000" u="none" strike="noStrike">
                <a:solidFill>
                  <a:schemeClr val="dk1"/>
                </a:solidFill>
                <a:latin typeface="Arial"/>
                <a:ea typeface="Arial"/>
                <a:cs typeface="Arial"/>
                <a:sym typeface="Arial"/>
              </a:rPr>
              <a:t>Distribuci</a:t>
            </a:r>
            <a:r>
              <a:rPr lang="es-ES" sz="2000">
                <a:solidFill>
                  <a:schemeClr val="dk1"/>
                </a:solidFill>
                <a:latin typeface="Arial"/>
                <a:ea typeface="Arial"/>
                <a:cs typeface="Arial"/>
                <a:sym typeface="Arial"/>
              </a:rPr>
              <a:t>ó</a:t>
            </a:r>
            <a:r>
              <a:rPr b="0" i="0" lang="es-ES" sz="2000" u="none" strike="noStrike">
                <a:solidFill>
                  <a:schemeClr val="dk1"/>
                </a:solidFill>
                <a:latin typeface="Arial"/>
                <a:ea typeface="Arial"/>
                <a:cs typeface="Arial"/>
                <a:sym typeface="Arial"/>
              </a:rPr>
              <a:t>n de Bernoulli</a:t>
            </a:r>
            <a:endParaRPr sz="2000">
              <a:solidFill>
                <a:schemeClr val="dk1"/>
              </a:solidFill>
              <a:latin typeface="Calibri"/>
              <a:ea typeface="Calibri"/>
              <a:cs typeface="Calibri"/>
              <a:sym typeface="Calibri"/>
            </a:endParaRPr>
          </a:p>
        </p:txBody>
      </p:sp>
      <p:sp>
        <p:nvSpPr>
          <p:cNvPr id="280" name="Google Shape;280;p23"/>
          <p:cNvSpPr txBox="1"/>
          <p:nvPr/>
        </p:nvSpPr>
        <p:spPr>
          <a:xfrm>
            <a:off x="798341" y="2582279"/>
            <a:ext cx="10900704" cy="70788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Consiste en realizar un experimento aleatorio una s</a:t>
            </a:r>
            <a:r>
              <a:rPr lang="es-ES" sz="2000">
                <a:solidFill>
                  <a:schemeClr val="dk1"/>
                </a:solidFill>
                <a:latin typeface="Old Standard TT"/>
                <a:ea typeface="Old Standard TT"/>
                <a:cs typeface="Old Standard TT"/>
                <a:sym typeface="Old Standard TT"/>
              </a:rPr>
              <a:t>ó</a:t>
            </a:r>
            <a:r>
              <a:rPr b="0" i="0" lang="es-ES" sz="2000" u="none" strike="noStrike">
                <a:solidFill>
                  <a:schemeClr val="dk1"/>
                </a:solidFill>
                <a:latin typeface="Old Standard TT"/>
                <a:ea typeface="Old Standard TT"/>
                <a:cs typeface="Old Standard TT"/>
                <a:sym typeface="Old Standard TT"/>
              </a:rPr>
              <a:t>la vez y observar si cierto suceso ocurre o no, siendo p la probabilidad de que esto sea as</a:t>
            </a:r>
            <a:r>
              <a:rPr lang="es-ES" sz="2000">
                <a:solidFill>
                  <a:schemeClr val="dk1"/>
                </a:solidFill>
                <a:latin typeface="Old Standard TT"/>
                <a:ea typeface="Old Standard TT"/>
                <a:cs typeface="Old Standard TT"/>
                <a:sym typeface="Old Standard TT"/>
              </a:rPr>
              <a:t>í</a:t>
            </a:r>
            <a:r>
              <a:rPr b="0" i="0" lang="es-ES" sz="2000" u="none" strike="noStrike">
                <a:solidFill>
                  <a:schemeClr val="dk1"/>
                </a:solidFill>
                <a:latin typeface="Old Standard TT"/>
                <a:ea typeface="Old Standard TT"/>
                <a:cs typeface="Old Standard TT"/>
                <a:sym typeface="Old Standard TT"/>
              </a:rPr>
              <a:t> </a:t>
            </a:r>
            <a:r>
              <a:rPr b="0" i="0" lang="es-ES" sz="2000" u="none" strike="noStrike">
                <a:solidFill>
                  <a:schemeClr val="dk1"/>
                </a:solidFill>
                <a:latin typeface="Arial"/>
                <a:ea typeface="Arial"/>
                <a:cs typeface="Arial"/>
                <a:sym typeface="Arial"/>
              </a:rPr>
              <a:t>(éxito) </a:t>
            </a:r>
            <a:r>
              <a:rPr b="0" i="0" lang="es-ES" sz="2000" u="none" strike="noStrike">
                <a:solidFill>
                  <a:schemeClr val="dk1"/>
                </a:solidFill>
                <a:latin typeface="Old Standard TT"/>
                <a:ea typeface="Old Standard TT"/>
                <a:cs typeface="Old Standard TT"/>
                <a:sym typeface="Old Standard TT"/>
              </a:rPr>
              <a:t>y q = 1</a:t>
            </a:r>
            <a:r>
              <a:rPr b="0" i="0" lang="es-ES" sz="2000" u="none" strike="noStrike">
                <a:solidFill>
                  <a:schemeClr val="dk1"/>
                </a:solidFill>
                <a:latin typeface="Arial"/>
                <a:ea typeface="Arial"/>
                <a:cs typeface="Arial"/>
                <a:sym typeface="Arial"/>
              </a:rPr>
              <a:t>−</a:t>
            </a:r>
            <a:r>
              <a:rPr b="0" i="0" lang="es-ES" sz="2000" u="none" strike="noStrike">
                <a:solidFill>
                  <a:schemeClr val="dk1"/>
                </a:solidFill>
                <a:latin typeface="Old Standard TT"/>
                <a:ea typeface="Old Standard TT"/>
                <a:cs typeface="Old Standard TT"/>
                <a:sym typeface="Old Standard TT"/>
              </a:rPr>
              <a:t>p el que no lo sea </a:t>
            </a:r>
            <a:r>
              <a:rPr b="0" i="0" lang="es-ES" sz="2000" u="none" strike="noStrike">
                <a:solidFill>
                  <a:schemeClr val="dk1"/>
                </a:solidFill>
                <a:latin typeface="Arial"/>
                <a:ea typeface="Arial"/>
                <a:cs typeface="Arial"/>
                <a:sym typeface="Arial"/>
              </a:rPr>
              <a:t>(fracaso)</a:t>
            </a:r>
            <a:r>
              <a:rPr b="0" i="0" lang="es-ES" sz="2000" u="none" strike="noStrike">
                <a:solidFill>
                  <a:schemeClr val="dk1"/>
                </a:solidFill>
                <a:latin typeface="Old Standard TT"/>
                <a:ea typeface="Old Standard TT"/>
                <a:cs typeface="Old Standard TT"/>
                <a:sym typeface="Old Standard TT"/>
              </a:rPr>
              <a:t>.</a:t>
            </a:r>
            <a:endParaRPr sz="2000">
              <a:solidFill>
                <a:schemeClr val="dk1"/>
              </a:solidFill>
              <a:latin typeface="Calibri"/>
              <a:ea typeface="Calibri"/>
              <a:cs typeface="Calibri"/>
              <a:sym typeface="Calibri"/>
            </a:endParaRPr>
          </a:p>
        </p:txBody>
      </p:sp>
      <p:sp>
        <p:nvSpPr>
          <p:cNvPr id="281" name="Google Shape;281;p23"/>
          <p:cNvSpPr txBox="1"/>
          <p:nvPr/>
        </p:nvSpPr>
        <p:spPr>
          <a:xfrm>
            <a:off x="798341" y="3320943"/>
            <a:ext cx="10900704" cy="70788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Se define este experimento mediante una v.a. discreta X que toma</a:t>
            </a:r>
            <a:r>
              <a:rPr lang="es-ES" sz="2000">
                <a:solidFill>
                  <a:schemeClr val="dk1"/>
                </a:solidFill>
                <a:latin typeface="Old Standard TT"/>
                <a:ea typeface="Old Standard TT"/>
                <a:cs typeface="Old Standard TT"/>
                <a:sym typeface="Old Standard TT"/>
              </a:rPr>
              <a:t> </a:t>
            </a:r>
            <a:r>
              <a:rPr b="0" i="0" lang="es-ES" sz="2000" u="none" strike="noStrike">
                <a:solidFill>
                  <a:schemeClr val="dk1"/>
                </a:solidFill>
                <a:latin typeface="Old Standard TT"/>
                <a:ea typeface="Old Standard TT"/>
                <a:cs typeface="Old Standard TT"/>
                <a:sym typeface="Old Standard TT"/>
              </a:rPr>
              <a:t>los valores X = 0 si el suceso no ocurre, y X = 1 en caso contrario, y que se denota</a:t>
            </a:r>
            <a:endParaRPr sz="2000">
              <a:solidFill>
                <a:schemeClr val="dk1"/>
              </a:solidFill>
              <a:latin typeface="Calibri"/>
              <a:ea typeface="Calibri"/>
              <a:cs typeface="Calibri"/>
              <a:sym typeface="Calibri"/>
            </a:endParaRPr>
          </a:p>
        </p:txBody>
      </p:sp>
      <p:pic>
        <p:nvPicPr>
          <p:cNvPr id="282" name="Google Shape;282;p23"/>
          <p:cNvPicPr preferRelativeResize="0"/>
          <p:nvPr/>
        </p:nvPicPr>
        <p:blipFill rotWithShape="1">
          <a:blip r:embed="rId3">
            <a:alphaModFix/>
          </a:blip>
          <a:srcRect b="0" l="0" r="0" t="0"/>
          <a:stretch/>
        </p:blipFill>
        <p:spPr>
          <a:xfrm>
            <a:off x="2939999" y="4059607"/>
            <a:ext cx="6312002" cy="1175339"/>
          </a:xfrm>
          <a:prstGeom prst="rect">
            <a:avLst/>
          </a:prstGeom>
          <a:noFill/>
          <a:ln>
            <a:noFill/>
          </a:ln>
        </p:spPr>
      </p:pic>
      <p:pic>
        <p:nvPicPr>
          <p:cNvPr id="283" name="Google Shape;283;p23"/>
          <p:cNvPicPr preferRelativeResize="0"/>
          <p:nvPr/>
        </p:nvPicPr>
        <p:blipFill rotWithShape="1">
          <a:blip r:embed="rId4">
            <a:alphaModFix/>
          </a:blip>
          <a:srcRect b="0" l="0" r="0" t="0"/>
          <a:stretch/>
        </p:blipFill>
        <p:spPr>
          <a:xfrm>
            <a:off x="1307224" y="5392334"/>
            <a:ext cx="9577552" cy="120019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4"/>
          <p:cNvSpPr txBox="1"/>
          <p:nvPr/>
        </p:nvSpPr>
        <p:spPr>
          <a:xfrm>
            <a:off x="798340" y="698920"/>
            <a:ext cx="10905979" cy="70788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Un ejemplo t</a:t>
            </a:r>
            <a:r>
              <a:rPr lang="es-ES" sz="2000">
                <a:solidFill>
                  <a:schemeClr val="dk1"/>
                </a:solidFill>
                <a:latin typeface="Old Standard TT"/>
                <a:ea typeface="Old Standard TT"/>
                <a:cs typeface="Old Standard TT"/>
                <a:sym typeface="Old Standard TT"/>
              </a:rPr>
              <a:t>í</a:t>
            </a:r>
            <a:r>
              <a:rPr b="0" i="0" lang="es-ES" sz="2000" u="none" strike="noStrike">
                <a:solidFill>
                  <a:schemeClr val="dk1"/>
                </a:solidFill>
                <a:latin typeface="Old Standard TT"/>
                <a:ea typeface="Old Standard TT"/>
                <a:cs typeface="Old Standard TT"/>
                <a:sym typeface="Old Standard TT"/>
              </a:rPr>
              <a:t>pico de este tipo de variables aleatorias consiste en lanzar una moneda al aire y considerar la v.a.</a:t>
            </a:r>
            <a:endParaRPr sz="2000">
              <a:solidFill>
                <a:schemeClr val="dk1"/>
              </a:solidFill>
              <a:latin typeface="Calibri"/>
              <a:ea typeface="Calibri"/>
              <a:cs typeface="Calibri"/>
              <a:sym typeface="Calibri"/>
            </a:endParaRPr>
          </a:p>
        </p:txBody>
      </p:sp>
      <p:pic>
        <p:nvPicPr>
          <p:cNvPr id="289" name="Google Shape;289;p24"/>
          <p:cNvPicPr preferRelativeResize="0"/>
          <p:nvPr/>
        </p:nvPicPr>
        <p:blipFill rotWithShape="1">
          <a:blip r:embed="rId3">
            <a:alphaModFix/>
          </a:blip>
          <a:srcRect b="0" l="0" r="0" t="0"/>
          <a:stretch/>
        </p:blipFill>
        <p:spPr>
          <a:xfrm>
            <a:off x="2998816" y="1378634"/>
            <a:ext cx="6194367" cy="1645846"/>
          </a:xfrm>
          <a:prstGeom prst="rect">
            <a:avLst/>
          </a:prstGeom>
          <a:noFill/>
          <a:ln>
            <a:noFill/>
          </a:ln>
        </p:spPr>
      </p:pic>
      <p:sp>
        <p:nvSpPr>
          <p:cNvPr id="290" name="Google Shape;290;p24"/>
          <p:cNvSpPr txBox="1"/>
          <p:nvPr/>
        </p:nvSpPr>
        <p:spPr>
          <a:xfrm>
            <a:off x="798339" y="3187190"/>
            <a:ext cx="109059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1800" u="none" strike="noStrike">
                <a:solidFill>
                  <a:schemeClr val="dk1"/>
                </a:solidFill>
                <a:latin typeface="Old Standard TT"/>
                <a:ea typeface="Old Standard TT"/>
                <a:cs typeface="Old Standard TT"/>
                <a:sym typeface="Old Standard TT"/>
              </a:rPr>
              <a:t>Para una v.a. de Bernouilli, tenemos que su funci</a:t>
            </a:r>
            <a:r>
              <a:rPr lang="es-ES" sz="1800">
                <a:solidFill>
                  <a:schemeClr val="dk1"/>
                </a:solidFill>
                <a:latin typeface="Old Standard TT"/>
                <a:ea typeface="Old Standard TT"/>
                <a:cs typeface="Old Standard TT"/>
                <a:sym typeface="Old Standard TT"/>
              </a:rPr>
              <a:t>ó</a:t>
            </a:r>
            <a:r>
              <a:rPr b="0" i="0" lang="es-ES" sz="1800" u="none" strike="noStrike">
                <a:solidFill>
                  <a:schemeClr val="dk1"/>
                </a:solidFill>
                <a:latin typeface="Old Standard TT"/>
                <a:ea typeface="Old Standard TT"/>
                <a:cs typeface="Old Standard TT"/>
                <a:sym typeface="Old Standard TT"/>
              </a:rPr>
              <a:t>n de probabilidad es:</a:t>
            </a:r>
            <a:endParaRPr sz="1800">
              <a:solidFill>
                <a:schemeClr val="dk1"/>
              </a:solidFill>
              <a:latin typeface="Calibri"/>
              <a:ea typeface="Calibri"/>
              <a:cs typeface="Calibri"/>
              <a:sym typeface="Calibri"/>
            </a:endParaRPr>
          </a:p>
        </p:txBody>
      </p:sp>
      <p:pic>
        <p:nvPicPr>
          <p:cNvPr id="291" name="Google Shape;291;p24"/>
          <p:cNvPicPr preferRelativeResize="0"/>
          <p:nvPr/>
        </p:nvPicPr>
        <p:blipFill rotWithShape="1">
          <a:blip r:embed="rId4">
            <a:alphaModFix/>
          </a:blip>
          <a:srcRect b="0" l="0" r="0" t="0"/>
          <a:stretch/>
        </p:blipFill>
        <p:spPr>
          <a:xfrm>
            <a:off x="3831616" y="3719232"/>
            <a:ext cx="4528768" cy="1204460"/>
          </a:xfrm>
          <a:prstGeom prst="rect">
            <a:avLst/>
          </a:prstGeom>
          <a:noFill/>
          <a:ln>
            <a:noFill/>
          </a:ln>
        </p:spPr>
      </p:pic>
      <p:sp>
        <p:nvSpPr>
          <p:cNvPr id="292" name="Google Shape;292;p24"/>
          <p:cNvSpPr txBox="1"/>
          <p:nvPr/>
        </p:nvSpPr>
        <p:spPr>
          <a:xfrm>
            <a:off x="798339" y="5086402"/>
            <a:ext cx="609834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Los principales momentos de X son:</a:t>
            </a:r>
            <a:endParaRPr sz="2000">
              <a:solidFill>
                <a:schemeClr val="dk1"/>
              </a:solidFill>
              <a:latin typeface="Calibri"/>
              <a:ea typeface="Calibri"/>
              <a:cs typeface="Calibri"/>
              <a:sym typeface="Calibri"/>
            </a:endParaRPr>
          </a:p>
        </p:txBody>
      </p:sp>
      <p:pic>
        <p:nvPicPr>
          <p:cNvPr id="293" name="Google Shape;293;p24"/>
          <p:cNvPicPr preferRelativeResize="0"/>
          <p:nvPr/>
        </p:nvPicPr>
        <p:blipFill rotWithShape="1">
          <a:blip r:embed="rId5">
            <a:alphaModFix/>
          </a:blip>
          <a:srcRect b="0" l="0" r="0" t="0"/>
          <a:stretch/>
        </p:blipFill>
        <p:spPr>
          <a:xfrm>
            <a:off x="4938697" y="5479366"/>
            <a:ext cx="2314603" cy="96706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5"/>
          <p:cNvSpPr txBox="1"/>
          <p:nvPr/>
        </p:nvSpPr>
        <p:spPr>
          <a:xfrm>
            <a:off x="615461" y="582023"/>
            <a:ext cx="609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Distribuci</a:t>
            </a:r>
            <a:r>
              <a:rPr lang="es-ES" sz="2400">
                <a:solidFill>
                  <a:schemeClr val="dk1"/>
                </a:solidFill>
                <a:latin typeface="Arial"/>
                <a:ea typeface="Arial"/>
                <a:cs typeface="Arial"/>
                <a:sym typeface="Arial"/>
              </a:rPr>
              <a:t>ó</a:t>
            </a:r>
            <a:r>
              <a:rPr b="0" i="0" lang="es-ES" sz="2400" u="none" strike="noStrike">
                <a:solidFill>
                  <a:schemeClr val="dk1"/>
                </a:solidFill>
                <a:latin typeface="Arial"/>
                <a:ea typeface="Arial"/>
                <a:cs typeface="Arial"/>
                <a:sym typeface="Arial"/>
              </a:rPr>
              <a:t>n binomial</a:t>
            </a:r>
            <a:endParaRPr sz="2400">
              <a:solidFill>
                <a:schemeClr val="dk1"/>
              </a:solidFill>
              <a:latin typeface="Calibri"/>
              <a:ea typeface="Calibri"/>
              <a:cs typeface="Calibri"/>
              <a:sym typeface="Calibri"/>
            </a:endParaRPr>
          </a:p>
        </p:txBody>
      </p:sp>
      <p:sp>
        <p:nvSpPr>
          <p:cNvPr id="299" name="Google Shape;299;p25"/>
          <p:cNvSpPr txBox="1"/>
          <p:nvPr/>
        </p:nvSpPr>
        <p:spPr>
          <a:xfrm>
            <a:off x="615460" y="1265982"/>
            <a:ext cx="10427677" cy="70788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Se dice que una v.a. X sigue una </a:t>
            </a:r>
            <a:r>
              <a:rPr b="0" i="0" lang="es-ES" sz="2000" u="none" strike="noStrike">
                <a:solidFill>
                  <a:schemeClr val="dk1"/>
                </a:solidFill>
                <a:latin typeface="Arial"/>
                <a:ea typeface="Arial"/>
                <a:cs typeface="Arial"/>
                <a:sym typeface="Arial"/>
              </a:rPr>
              <a:t>ley binomial </a:t>
            </a:r>
            <a:r>
              <a:rPr b="0" i="0" lang="es-ES" sz="2000" u="none" strike="noStrike">
                <a:solidFill>
                  <a:schemeClr val="dk1"/>
                </a:solidFill>
                <a:latin typeface="Old Standard TT"/>
                <a:ea typeface="Old Standard TT"/>
                <a:cs typeface="Old Standard TT"/>
                <a:sym typeface="Old Standard TT"/>
              </a:rPr>
              <a:t>de par</a:t>
            </a:r>
            <a:r>
              <a:rPr lang="es-ES" sz="2000">
                <a:solidFill>
                  <a:schemeClr val="dk1"/>
                </a:solidFill>
                <a:latin typeface="Old Standard TT"/>
                <a:ea typeface="Old Standard TT"/>
                <a:cs typeface="Old Standard TT"/>
                <a:sym typeface="Old Standard TT"/>
              </a:rPr>
              <a:t>á</a:t>
            </a:r>
            <a:r>
              <a:rPr b="0" i="0" lang="es-ES" sz="2000" u="none" strike="noStrike">
                <a:solidFill>
                  <a:schemeClr val="dk1"/>
                </a:solidFill>
                <a:latin typeface="Old Standard TT"/>
                <a:ea typeface="Old Standard TT"/>
                <a:cs typeface="Old Standard TT"/>
                <a:sym typeface="Old Standard TT"/>
              </a:rPr>
              <a:t>metros n y p, si es la suma de n v.a. independientes de Bernouilli con el mismo par</a:t>
            </a:r>
            <a:r>
              <a:rPr lang="es-ES" sz="2000">
                <a:solidFill>
                  <a:schemeClr val="dk1"/>
                </a:solidFill>
                <a:latin typeface="Old Standard TT"/>
                <a:ea typeface="Old Standard TT"/>
                <a:cs typeface="Old Standard TT"/>
                <a:sym typeface="Old Standard TT"/>
              </a:rPr>
              <a:t>á</a:t>
            </a:r>
            <a:r>
              <a:rPr b="0" i="0" lang="es-ES" sz="2000" u="none" strike="noStrike">
                <a:solidFill>
                  <a:schemeClr val="dk1"/>
                </a:solidFill>
                <a:latin typeface="Old Standard TT"/>
                <a:ea typeface="Old Standard TT"/>
                <a:cs typeface="Old Standard TT"/>
                <a:sym typeface="Old Standard TT"/>
              </a:rPr>
              <a:t>metro, p:</a:t>
            </a:r>
            <a:endParaRPr sz="2000">
              <a:solidFill>
                <a:schemeClr val="dk1"/>
              </a:solidFill>
              <a:latin typeface="Calibri"/>
              <a:ea typeface="Calibri"/>
              <a:cs typeface="Calibri"/>
              <a:sym typeface="Calibri"/>
            </a:endParaRPr>
          </a:p>
        </p:txBody>
      </p:sp>
      <p:pic>
        <p:nvPicPr>
          <p:cNvPr id="300" name="Google Shape;300;p25"/>
          <p:cNvPicPr preferRelativeResize="0"/>
          <p:nvPr/>
        </p:nvPicPr>
        <p:blipFill rotWithShape="1">
          <a:blip r:embed="rId3">
            <a:alphaModFix/>
          </a:blip>
          <a:srcRect b="0" l="0" r="0" t="0"/>
          <a:stretch/>
        </p:blipFill>
        <p:spPr>
          <a:xfrm>
            <a:off x="2124222" y="2196162"/>
            <a:ext cx="8497747" cy="433400"/>
          </a:xfrm>
          <a:prstGeom prst="rect">
            <a:avLst/>
          </a:prstGeom>
          <a:noFill/>
          <a:ln>
            <a:noFill/>
          </a:ln>
        </p:spPr>
      </p:pic>
      <p:sp>
        <p:nvSpPr>
          <p:cNvPr id="301" name="Google Shape;301;p25"/>
          <p:cNvSpPr txBox="1"/>
          <p:nvPr/>
        </p:nvSpPr>
        <p:spPr>
          <a:xfrm>
            <a:off x="615460" y="2712320"/>
            <a:ext cx="10427676" cy="101566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Esta definici</a:t>
            </a:r>
            <a:r>
              <a:rPr lang="es-ES" sz="2000">
                <a:solidFill>
                  <a:schemeClr val="dk1"/>
                </a:solidFill>
                <a:latin typeface="Old Standard TT"/>
                <a:ea typeface="Old Standard TT"/>
                <a:cs typeface="Old Standard TT"/>
                <a:sym typeface="Old Standard TT"/>
              </a:rPr>
              <a:t>ó</a:t>
            </a:r>
            <a:r>
              <a:rPr b="0" i="0" lang="es-ES" sz="2000" u="none" strike="noStrike">
                <a:solidFill>
                  <a:schemeClr val="dk1"/>
                </a:solidFill>
                <a:latin typeface="Old Standard TT"/>
                <a:ea typeface="Old Standard TT"/>
                <a:cs typeface="Old Standard TT"/>
                <a:sym typeface="Old Standard TT"/>
              </a:rPr>
              <a:t>n puede interpretarse en el siguiente sentido: Supongamos que realizamos n pruebas de Bernouilli, X</a:t>
            </a:r>
            <a:r>
              <a:rPr b="0" i="0" lang="es-ES" sz="2000" u="none" strike="noStrike">
                <a:solidFill>
                  <a:schemeClr val="dk1"/>
                </a:solidFill>
                <a:latin typeface="Arial"/>
                <a:ea typeface="Arial"/>
                <a:cs typeface="Arial"/>
                <a:sym typeface="Arial"/>
              </a:rPr>
              <a:t>i</a:t>
            </a:r>
            <a:r>
              <a:rPr b="0" i="0" lang="es-ES" sz="2000" u="none" strike="noStrike">
                <a:solidFill>
                  <a:schemeClr val="dk1"/>
                </a:solidFill>
                <a:latin typeface="Old Standard TT"/>
                <a:ea typeface="Old Standard TT"/>
                <a:cs typeface="Old Standard TT"/>
                <a:sym typeface="Old Standard TT"/>
              </a:rPr>
              <a:t>, donde en todas ellas, la probabilidad de éxito es la misma (p), y queremos calcular el n</a:t>
            </a:r>
            <a:r>
              <a:rPr lang="es-ES" sz="2000">
                <a:solidFill>
                  <a:schemeClr val="dk1"/>
                </a:solidFill>
                <a:latin typeface="Old Standard TT"/>
                <a:ea typeface="Old Standard TT"/>
                <a:cs typeface="Old Standard TT"/>
                <a:sym typeface="Old Standard TT"/>
              </a:rPr>
              <a:t>ú</a:t>
            </a:r>
            <a:r>
              <a:rPr b="0" i="0" lang="es-ES" sz="2000" u="none" strike="noStrike">
                <a:solidFill>
                  <a:schemeClr val="dk1"/>
                </a:solidFill>
                <a:latin typeface="Old Standard TT"/>
                <a:ea typeface="Old Standard TT"/>
                <a:cs typeface="Old Standard TT"/>
                <a:sym typeface="Old Standard TT"/>
              </a:rPr>
              <a:t>mero de </a:t>
            </a:r>
            <a:r>
              <a:rPr lang="es-ES" sz="2000">
                <a:solidFill>
                  <a:schemeClr val="dk1"/>
                </a:solidFill>
                <a:latin typeface="Old Standard TT"/>
                <a:ea typeface="Old Standard TT"/>
                <a:cs typeface="Old Standard TT"/>
                <a:sym typeface="Old Standard TT"/>
              </a:rPr>
              <a:t>é</a:t>
            </a:r>
            <a:r>
              <a:rPr b="0" i="0" lang="es-ES" sz="2000" u="none" strike="noStrike">
                <a:solidFill>
                  <a:schemeClr val="dk1"/>
                </a:solidFill>
                <a:latin typeface="Old Standard TT"/>
                <a:ea typeface="Old Standard TT"/>
                <a:cs typeface="Old Standard TT"/>
                <a:sym typeface="Old Standard TT"/>
              </a:rPr>
              <a:t>xitos, X, obtenidos en el total de las n pruebas.</a:t>
            </a:r>
            <a:endParaRPr sz="2000">
              <a:solidFill>
                <a:schemeClr val="dk1"/>
              </a:solidFill>
              <a:latin typeface="Calibri"/>
              <a:ea typeface="Calibri"/>
              <a:cs typeface="Calibri"/>
              <a:sym typeface="Calibri"/>
            </a:endParaRPr>
          </a:p>
        </p:txBody>
      </p:sp>
      <p:pic>
        <p:nvPicPr>
          <p:cNvPr id="302" name="Google Shape;302;p25"/>
          <p:cNvPicPr preferRelativeResize="0"/>
          <p:nvPr/>
        </p:nvPicPr>
        <p:blipFill rotWithShape="1">
          <a:blip r:embed="rId4">
            <a:alphaModFix/>
          </a:blip>
          <a:srcRect b="0" l="0" r="0" t="0"/>
          <a:stretch/>
        </p:blipFill>
        <p:spPr>
          <a:xfrm>
            <a:off x="2169585" y="3810741"/>
            <a:ext cx="7852829" cy="1312069"/>
          </a:xfrm>
          <a:prstGeom prst="rect">
            <a:avLst/>
          </a:prstGeom>
          <a:noFill/>
          <a:ln>
            <a:noFill/>
          </a:ln>
        </p:spPr>
      </p:pic>
      <p:pic>
        <p:nvPicPr>
          <p:cNvPr id="303" name="Google Shape;303;p25"/>
          <p:cNvPicPr preferRelativeResize="0"/>
          <p:nvPr/>
        </p:nvPicPr>
        <p:blipFill rotWithShape="1">
          <a:blip r:embed="rId5">
            <a:alphaModFix/>
          </a:blip>
          <a:srcRect b="0" l="0" r="0" t="0"/>
          <a:stretch/>
        </p:blipFill>
        <p:spPr>
          <a:xfrm>
            <a:off x="2124222" y="5425528"/>
            <a:ext cx="7852829" cy="95837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6"/>
          <p:cNvSpPr txBox="1"/>
          <p:nvPr/>
        </p:nvSpPr>
        <p:spPr>
          <a:xfrm>
            <a:off x="615461" y="1271651"/>
            <a:ext cx="10751236" cy="317009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1. El experimento consta de una secuencia de n experimentos más pequeños llamados ensayos, donde n se fija antes del experimento. </a:t>
            </a:r>
            <a:endParaRPr/>
          </a:p>
          <a:p>
            <a:pPr indent="0" lvl="0" marL="0" marR="0" rtl="0" algn="just">
              <a:spcBef>
                <a:spcPts val="0"/>
              </a:spcBef>
              <a:spcAft>
                <a:spcPts val="0"/>
              </a:spcAft>
              <a:buNone/>
            </a:pPr>
            <a:r>
              <a:t/>
            </a:r>
            <a:endParaRPr sz="2000">
              <a:solidFill>
                <a:schemeClr val="dk1"/>
              </a:solidFill>
              <a:latin typeface="Old Standard TT"/>
              <a:ea typeface="Old Standard TT"/>
              <a:cs typeface="Old Standard TT"/>
              <a:sym typeface="Old Standard TT"/>
            </a:endParaRPr>
          </a:p>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2. Cada ensayo puede dar por resultado uno de los mismos dos resultados posibles (ensayos dicotómicos), los cuales se denotan como éxito (E) y falla (F).</a:t>
            </a:r>
            <a:endParaRPr/>
          </a:p>
          <a:p>
            <a:pPr indent="0" lvl="0" marL="0" marR="0" rtl="0" algn="just">
              <a:spcBef>
                <a:spcPts val="0"/>
              </a:spcBef>
              <a:spcAft>
                <a:spcPts val="0"/>
              </a:spcAft>
              <a:buNone/>
            </a:pPr>
            <a:r>
              <a:t/>
            </a:r>
            <a:endParaRPr sz="2000">
              <a:solidFill>
                <a:schemeClr val="dk1"/>
              </a:solidFill>
              <a:latin typeface="Old Standard TT"/>
              <a:ea typeface="Old Standard TT"/>
              <a:cs typeface="Old Standard TT"/>
              <a:sym typeface="Old Standard TT"/>
            </a:endParaRPr>
          </a:p>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3. Los ensayos son independientes, de modo que el resultado en cualquier ensayo particular no influye en el resultado de cualquier otro ensayo.</a:t>
            </a:r>
            <a:endParaRPr/>
          </a:p>
          <a:p>
            <a:pPr indent="0" lvl="0" marL="0" marR="0" rtl="0" algn="just">
              <a:spcBef>
                <a:spcPts val="0"/>
              </a:spcBef>
              <a:spcAft>
                <a:spcPts val="0"/>
              </a:spcAft>
              <a:buNone/>
            </a:pPr>
            <a:r>
              <a:t/>
            </a:r>
            <a:endParaRPr sz="2000">
              <a:solidFill>
                <a:schemeClr val="dk1"/>
              </a:solidFill>
              <a:latin typeface="Old Standard TT"/>
              <a:ea typeface="Old Standard TT"/>
              <a:cs typeface="Old Standard TT"/>
              <a:sym typeface="Old Standard TT"/>
            </a:endParaRPr>
          </a:p>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4. La probabilidad de éxito es constante de un ensayo a otro; esta probabilidad se denota por p.</a:t>
            </a:r>
            <a:endParaRPr/>
          </a:p>
        </p:txBody>
      </p:sp>
      <p:pic>
        <p:nvPicPr>
          <p:cNvPr id="309" name="Google Shape;309;p26"/>
          <p:cNvPicPr preferRelativeResize="0"/>
          <p:nvPr/>
        </p:nvPicPr>
        <p:blipFill rotWithShape="1">
          <a:blip r:embed="rId3">
            <a:alphaModFix/>
          </a:blip>
          <a:srcRect b="0" l="0" r="0" t="0"/>
          <a:stretch/>
        </p:blipFill>
        <p:spPr>
          <a:xfrm>
            <a:off x="1471536" y="4669714"/>
            <a:ext cx="9248927" cy="1773290"/>
          </a:xfrm>
          <a:prstGeom prst="rect">
            <a:avLst/>
          </a:prstGeom>
          <a:noFill/>
          <a:ln>
            <a:noFill/>
          </a:ln>
        </p:spPr>
      </p:pic>
      <p:sp>
        <p:nvSpPr>
          <p:cNvPr id="310" name="Google Shape;310;p26"/>
          <p:cNvSpPr txBox="1"/>
          <p:nvPr/>
        </p:nvSpPr>
        <p:spPr>
          <a:xfrm>
            <a:off x="615461" y="629473"/>
            <a:ext cx="609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Distribuci</a:t>
            </a:r>
            <a:r>
              <a:rPr lang="es-ES" sz="2400">
                <a:solidFill>
                  <a:schemeClr val="dk1"/>
                </a:solidFill>
                <a:latin typeface="Arial"/>
                <a:ea typeface="Arial"/>
                <a:cs typeface="Arial"/>
                <a:sym typeface="Arial"/>
              </a:rPr>
              <a:t>ó</a:t>
            </a:r>
            <a:r>
              <a:rPr b="0" i="0" lang="es-ES" sz="2400" u="none" strike="noStrike">
                <a:solidFill>
                  <a:schemeClr val="dk1"/>
                </a:solidFill>
                <a:latin typeface="Arial"/>
                <a:ea typeface="Arial"/>
                <a:cs typeface="Arial"/>
                <a:sym typeface="Arial"/>
              </a:rPr>
              <a:t>n binomial</a:t>
            </a:r>
            <a:endParaRPr sz="24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7"/>
          <p:cNvSpPr txBox="1"/>
          <p:nvPr/>
        </p:nvSpPr>
        <p:spPr>
          <a:xfrm>
            <a:off x="868679" y="582023"/>
            <a:ext cx="609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Distribuci</a:t>
            </a:r>
            <a:r>
              <a:rPr lang="es-ES" sz="2400">
                <a:solidFill>
                  <a:schemeClr val="dk1"/>
                </a:solidFill>
                <a:latin typeface="Arial"/>
                <a:ea typeface="Arial"/>
                <a:cs typeface="Arial"/>
                <a:sym typeface="Arial"/>
              </a:rPr>
              <a:t>ó</a:t>
            </a:r>
            <a:r>
              <a:rPr b="0" i="0" lang="es-ES" sz="2400" u="none" strike="noStrike">
                <a:solidFill>
                  <a:schemeClr val="dk1"/>
                </a:solidFill>
                <a:latin typeface="Arial"/>
                <a:ea typeface="Arial"/>
                <a:cs typeface="Arial"/>
                <a:sym typeface="Arial"/>
              </a:rPr>
              <a:t>n hipergeom</a:t>
            </a:r>
            <a:r>
              <a:rPr lang="es-ES" sz="2400">
                <a:solidFill>
                  <a:schemeClr val="dk1"/>
                </a:solidFill>
                <a:latin typeface="Arial"/>
                <a:ea typeface="Arial"/>
                <a:cs typeface="Arial"/>
                <a:sym typeface="Arial"/>
              </a:rPr>
              <a:t>é</a:t>
            </a:r>
            <a:r>
              <a:rPr b="0" i="0" lang="es-ES" sz="2400" u="none" strike="noStrike">
                <a:solidFill>
                  <a:schemeClr val="dk1"/>
                </a:solidFill>
                <a:latin typeface="Arial"/>
                <a:ea typeface="Arial"/>
                <a:cs typeface="Arial"/>
                <a:sym typeface="Arial"/>
              </a:rPr>
              <a:t>trica</a:t>
            </a:r>
            <a:endParaRPr sz="2400">
              <a:solidFill>
                <a:schemeClr val="dk1"/>
              </a:solidFill>
              <a:latin typeface="Calibri"/>
              <a:ea typeface="Calibri"/>
              <a:cs typeface="Calibri"/>
              <a:sym typeface="Calibri"/>
            </a:endParaRPr>
          </a:p>
        </p:txBody>
      </p:sp>
      <p:sp>
        <p:nvSpPr>
          <p:cNvPr id="316" name="Google Shape;316;p27"/>
          <p:cNvSpPr txBox="1"/>
          <p:nvPr/>
        </p:nvSpPr>
        <p:spPr>
          <a:xfrm>
            <a:off x="868678" y="1305341"/>
            <a:ext cx="10638693" cy="501675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Tanto la distribución binomial como la hipergeométrica se ocupan de las mismas cuestiones: el número de éxitos en una muestra que contenga n observaciones. Lo que diferencia a éstas dos distribuciones de probabilidad discreta es la forma en que se obtienen los datos. </a:t>
            </a:r>
            <a:endParaRPr/>
          </a:p>
          <a:p>
            <a:pPr indent="0" lvl="0" marL="0" marR="0" rtl="0" algn="just">
              <a:spcBef>
                <a:spcPts val="0"/>
              </a:spcBef>
              <a:spcAft>
                <a:spcPts val="0"/>
              </a:spcAft>
              <a:buNone/>
            </a:pPr>
            <a:r>
              <a:t/>
            </a:r>
            <a:endParaRPr sz="2000">
              <a:solidFill>
                <a:schemeClr val="dk1"/>
              </a:solidFill>
              <a:latin typeface="Old Standard TT"/>
              <a:ea typeface="Old Standard TT"/>
              <a:cs typeface="Old Standard TT"/>
              <a:sym typeface="Old Standard TT"/>
            </a:endParaRPr>
          </a:p>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Para la distribución binomial, los datos de la muestra se extraen con reemplazamiento de una población infinita o finita con reemplazamiento. Para la distribución hipergeométrica, los datos se extraen de una población finita sin reemplazamiento. Por ello, mientras la probabilidad, p, de éxito es constante en todas las observaciones de un experimento binomial y el resultado de cualquier observación es independiente de cualquier otro, no se puede decir lo mismo de un experimento hipergeométrico. En él, el resultado de una observación es afectado por los resultados de las observaciones previas, por tanto las probabilidades son condicionales.</a:t>
            </a:r>
            <a:endParaRPr/>
          </a:p>
          <a:p>
            <a:pPr indent="0" lvl="0" marL="0" marR="0" rtl="0" algn="just">
              <a:spcBef>
                <a:spcPts val="0"/>
              </a:spcBef>
              <a:spcAft>
                <a:spcPts val="0"/>
              </a:spcAft>
              <a:buNone/>
            </a:pPr>
            <a:r>
              <a:t/>
            </a:r>
            <a:endParaRPr sz="2000">
              <a:solidFill>
                <a:schemeClr val="dk1"/>
              </a:solidFill>
              <a:latin typeface="Old Standard TT"/>
              <a:ea typeface="Old Standard TT"/>
              <a:cs typeface="Old Standard TT"/>
              <a:sym typeface="Old Standard TT"/>
            </a:endParaRPr>
          </a:p>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La Distribución Hipergeométrica se aplica cuando las realizaciones del experimento aleatorio se realizan sin reposición o generan sucesos que son condicionales, lo cual marca la principal diferencia con las distribuciones Binomial y de Poisson, ambas para realizaciones con reposición o independientes entre sí.</a:t>
            </a:r>
            <a:endParaRPr sz="2000">
              <a:solidFill>
                <a:schemeClr val="dk1"/>
              </a:solidFill>
              <a:latin typeface="Old Standard TT"/>
              <a:ea typeface="Old Standard TT"/>
              <a:cs typeface="Old Standard TT"/>
              <a:sym typeface="Old Standard T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8"/>
          <p:cNvSpPr txBox="1"/>
          <p:nvPr/>
        </p:nvSpPr>
        <p:spPr>
          <a:xfrm>
            <a:off x="868679" y="582023"/>
            <a:ext cx="609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Distribuci</a:t>
            </a:r>
            <a:r>
              <a:rPr lang="es-ES" sz="2400">
                <a:solidFill>
                  <a:schemeClr val="dk1"/>
                </a:solidFill>
                <a:latin typeface="Arial"/>
                <a:ea typeface="Arial"/>
                <a:cs typeface="Arial"/>
                <a:sym typeface="Arial"/>
              </a:rPr>
              <a:t>ó</a:t>
            </a:r>
            <a:r>
              <a:rPr b="0" i="0" lang="es-ES" sz="2400" u="none" strike="noStrike">
                <a:solidFill>
                  <a:schemeClr val="dk1"/>
                </a:solidFill>
                <a:latin typeface="Arial"/>
                <a:ea typeface="Arial"/>
                <a:cs typeface="Arial"/>
                <a:sym typeface="Arial"/>
              </a:rPr>
              <a:t>n hipergeom</a:t>
            </a:r>
            <a:r>
              <a:rPr lang="es-ES" sz="2400">
                <a:solidFill>
                  <a:schemeClr val="dk1"/>
                </a:solidFill>
                <a:latin typeface="Arial"/>
                <a:ea typeface="Arial"/>
                <a:cs typeface="Arial"/>
                <a:sym typeface="Arial"/>
              </a:rPr>
              <a:t>é</a:t>
            </a:r>
            <a:r>
              <a:rPr b="0" i="0" lang="es-ES" sz="2400" u="none" strike="noStrike">
                <a:solidFill>
                  <a:schemeClr val="dk1"/>
                </a:solidFill>
                <a:latin typeface="Arial"/>
                <a:ea typeface="Arial"/>
                <a:cs typeface="Arial"/>
                <a:sym typeface="Arial"/>
              </a:rPr>
              <a:t>trica</a:t>
            </a:r>
            <a:endParaRPr sz="2400">
              <a:solidFill>
                <a:schemeClr val="dk1"/>
              </a:solidFill>
              <a:latin typeface="Calibri"/>
              <a:ea typeface="Calibri"/>
              <a:cs typeface="Calibri"/>
              <a:sym typeface="Calibri"/>
            </a:endParaRPr>
          </a:p>
        </p:txBody>
      </p:sp>
      <p:sp>
        <p:nvSpPr>
          <p:cNvPr id="322" name="Google Shape;322;p28"/>
          <p:cNvSpPr txBox="1"/>
          <p:nvPr/>
        </p:nvSpPr>
        <p:spPr>
          <a:xfrm>
            <a:off x="868678" y="1289935"/>
            <a:ext cx="10849709" cy="378565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Las suposiciones que conducen a la distribución hipergeométrica son las siguientes:</a:t>
            </a:r>
            <a:endParaRPr/>
          </a:p>
          <a:p>
            <a:pPr indent="0" lvl="0" marL="0" marR="0" rtl="0" algn="just">
              <a:spcBef>
                <a:spcPts val="0"/>
              </a:spcBef>
              <a:spcAft>
                <a:spcPts val="0"/>
              </a:spcAft>
              <a:buNone/>
            </a:pPr>
            <a:r>
              <a:t/>
            </a:r>
            <a:endParaRPr sz="2000">
              <a:solidFill>
                <a:schemeClr val="dk1"/>
              </a:solidFill>
              <a:latin typeface="Old Standard TT"/>
              <a:ea typeface="Old Standard TT"/>
              <a:cs typeface="Old Standard TT"/>
              <a:sym typeface="Old Standard TT"/>
            </a:endParaRPr>
          </a:p>
          <a:p>
            <a:pPr indent="-342900" lvl="0" marL="342900" marR="0" rtl="0" algn="just">
              <a:spcBef>
                <a:spcPts val="0"/>
              </a:spcBef>
              <a:spcAft>
                <a:spcPts val="0"/>
              </a:spcAft>
              <a:buClr>
                <a:schemeClr val="dk1"/>
              </a:buClr>
              <a:buSzPts val="2000"/>
              <a:buFont typeface="Old Standard TT"/>
              <a:buAutoNum type="arabicPeriod"/>
            </a:pPr>
            <a:r>
              <a:rPr lang="es-ES" sz="2000">
                <a:solidFill>
                  <a:schemeClr val="dk1"/>
                </a:solidFill>
                <a:latin typeface="Old Standard TT"/>
                <a:ea typeface="Old Standard TT"/>
                <a:cs typeface="Old Standard TT"/>
                <a:sym typeface="Old Standard TT"/>
              </a:rPr>
              <a:t>La población o conjunto que se va a muestrear se compone de N individuos, objetos o elementos (una población </a:t>
            </a:r>
            <a:r>
              <a:rPr i="1" lang="es-ES" sz="2000">
                <a:solidFill>
                  <a:schemeClr val="dk1"/>
                </a:solidFill>
                <a:latin typeface="Old Standard TT"/>
                <a:ea typeface="Old Standard TT"/>
                <a:cs typeface="Old Standard TT"/>
                <a:sym typeface="Old Standard TT"/>
              </a:rPr>
              <a:t>finita</a:t>
            </a:r>
            <a:r>
              <a:rPr lang="es-ES" sz="2000">
                <a:solidFill>
                  <a:schemeClr val="dk1"/>
                </a:solidFill>
                <a:latin typeface="Old Standard TT"/>
                <a:ea typeface="Old Standard TT"/>
                <a:cs typeface="Old Standard TT"/>
                <a:sym typeface="Old Standard TT"/>
              </a:rPr>
              <a:t>).</a:t>
            </a:r>
            <a:endParaRPr/>
          </a:p>
          <a:p>
            <a:pPr indent="-215900" lvl="0" marL="342900" marR="0" rtl="0" algn="just">
              <a:spcBef>
                <a:spcPts val="0"/>
              </a:spcBef>
              <a:spcAft>
                <a:spcPts val="0"/>
              </a:spcAft>
              <a:buClr>
                <a:schemeClr val="dk1"/>
              </a:buClr>
              <a:buSzPts val="2000"/>
              <a:buFont typeface="Calibri"/>
              <a:buNone/>
            </a:pPr>
            <a:r>
              <a:t/>
            </a:r>
            <a:endParaRPr sz="2000">
              <a:solidFill>
                <a:schemeClr val="dk1"/>
              </a:solidFill>
              <a:latin typeface="Old Standard TT"/>
              <a:ea typeface="Old Standard TT"/>
              <a:cs typeface="Old Standard TT"/>
              <a:sym typeface="Old Standard TT"/>
            </a:endParaRPr>
          </a:p>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2. Cada individuo puede ser caracterizado como éxito (E) o falla (F) y hay M éxitos en la población.</a:t>
            </a:r>
            <a:endParaRPr/>
          </a:p>
          <a:p>
            <a:pPr indent="0" lvl="0" marL="0" marR="0" rtl="0" algn="just">
              <a:spcBef>
                <a:spcPts val="0"/>
              </a:spcBef>
              <a:spcAft>
                <a:spcPts val="0"/>
              </a:spcAft>
              <a:buNone/>
            </a:pPr>
            <a:r>
              <a:t/>
            </a:r>
            <a:endParaRPr sz="2000">
              <a:solidFill>
                <a:schemeClr val="dk1"/>
              </a:solidFill>
              <a:latin typeface="Old Standard TT"/>
              <a:ea typeface="Old Standard TT"/>
              <a:cs typeface="Old Standard TT"/>
              <a:sym typeface="Old Standard TT"/>
            </a:endParaRPr>
          </a:p>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3. Se selecciona una muestra de </a:t>
            </a:r>
            <a:r>
              <a:rPr i="1" lang="es-ES" sz="2000">
                <a:solidFill>
                  <a:schemeClr val="dk1"/>
                </a:solidFill>
                <a:latin typeface="Old Standard TT"/>
                <a:ea typeface="Old Standard TT"/>
                <a:cs typeface="Old Standard TT"/>
                <a:sym typeface="Old Standard TT"/>
              </a:rPr>
              <a:t>n</a:t>
            </a:r>
            <a:r>
              <a:rPr lang="es-ES" sz="2000">
                <a:solidFill>
                  <a:schemeClr val="dk1"/>
                </a:solidFill>
                <a:latin typeface="Old Standard TT"/>
                <a:ea typeface="Old Standard TT"/>
                <a:cs typeface="Old Standard TT"/>
                <a:sym typeface="Old Standard TT"/>
              </a:rPr>
              <a:t> individuos sin reemplazo de tal modo que cada subconjunto de tamaño </a:t>
            </a:r>
            <a:r>
              <a:rPr i="1" lang="es-ES" sz="2000">
                <a:solidFill>
                  <a:schemeClr val="dk1"/>
                </a:solidFill>
                <a:latin typeface="Old Standard TT"/>
                <a:ea typeface="Old Standard TT"/>
                <a:cs typeface="Old Standard TT"/>
                <a:sym typeface="Old Standard TT"/>
              </a:rPr>
              <a:t>n</a:t>
            </a:r>
            <a:r>
              <a:rPr lang="es-ES" sz="2000">
                <a:solidFill>
                  <a:schemeClr val="dk1"/>
                </a:solidFill>
                <a:latin typeface="Old Standard TT"/>
                <a:ea typeface="Old Standard TT"/>
                <a:cs typeface="Old Standard TT"/>
                <a:sym typeface="Old Standard TT"/>
              </a:rPr>
              <a:t> es igualmente probable de ser seleccionado.</a:t>
            </a:r>
            <a:endParaRPr/>
          </a:p>
          <a:p>
            <a:pPr indent="0" lvl="0" marL="0" marR="0" rtl="0" algn="just">
              <a:spcBef>
                <a:spcPts val="0"/>
              </a:spcBef>
              <a:spcAft>
                <a:spcPts val="0"/>
              </a:spcAft>
              <a:buNone/>
            </a:pPr>
            <a:r>
              <a:t/>
            </a:r>
            <a:endParaRPr sz="2000">
              <a:solidFill>
                <a:schemeClr val="dk1"/>
              </a:solidFill>
              <a:latin typeface="Old Standard TT"/>
              <a:ea typeface="Old Standard TT"/>
              <a:cs typeface="Old Standard TT"/>
              <a:sym typeface="Old Standard TT"/>
            </a:endParaRPr>
          </a:p>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La variable aleatoria de interés es X  el número de éxitos en la muestra. La distribución de probabilidad de X depende de los parámetros n, M y N, así que se desea obtener P(X=x) = h(x; n, M, N).</a:t>
            </a:r>
            <a:endParaRPr sz="2000">
              <a:solidFill>
                <a:schemeClr val="dk1"/>
              </a:solidFill>
              <a:latin typeface="Old Standard TT"/>
              <a:ea typeface="Old Standard TT"/>
              <a:cs typeface="Old Standard TT"/>
              <a:sym typeface="Old Standard T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id="327" name="Google Shape;327;p29"/>
          <p:cNvPicPr preferRelativeResize="0"/>
          <p:nvPr/>
        </p:nvPicPr>
        <p:blipFill rotWithShape="1">
          <a:blip r:embed="rId3">
            <a:alphaModFix/>
          </a:blip>
          <a:srcRect b="0" l="0" r="0" t="0"/>
          <a:stretch/>
        </p:blipFill>
        <p:spPr>
          <a:xfrm>
            <a:off x="1005454" y="692033"/>
            <a:ext cx="10181092" cy="3716098"/>
          </a:xfrm>
          <a:prstGeom prst="rect">
            <a:avLst/>
          </a:prstGeom>
          <a:noFill/>
          <a:ln>
            <a:noFill/>
          </a:ln>
        </p:spPr>
      </p:pic>
      <p:pic>
        <p:nvPicPr>
          <p:cNvPr id="328" name="Google Shape;328;p29"/>
          <p:cNvPicPr preferRelativeResize="0"/>
          <p:nvPr/>
        </p:nvPicPr>
        <p:blipFill rotWithShape="1">
          <a:blip r:embed="rId4">
            <a:alphaModFix/>
          </a:blip>
          <a:srcRect b="0" l="0" r="0" t="0"/>
          <a:stretch/>
        </p:blipFill>
        <p:spPr>
          <a:xfrm>
            <a:off x="9564021" y="2370952"/>
            <a:ext cx="924054" cy="771633"/>
          </a:xfrm>
          <a:prstGeom prst="rect">
            <a:avLst/>
          </a:prstGeom>
          <a:noFill/>
          <a:ln>
            <a:noFill/>
          </a:ln>
        </p:spPr>
      </p:pic>
      <p:pic>
        <p:nvPicPr>
          <p:cNvPr id="329" name="Google Shape;329;p29"/>
          <p:cNvPicPr preferRelativeResize="0"/>
          <p:nvPr/>
        </p:nvPicPr>
        <p:blipFill rotWithShape="1">
          <a:blip r:embed="rId5">
            <a:alphaModFix/>
          </a:blip>
          <a:srcRect b="0" l="0" r="0" t="0"/>
          <a:stretch/>
        </p:blipFill>
        <p:spPr>
          <a:xfrm>
            <a:off x="691056" y="4619563"/>
            <a:ext cx="7630590" cy="1781424"/>
          </a:xfrm>
          <a:prstGeom prst="rect">
            <a:avLst/>
          </a:prstGeom>
          <a:noFill/>
          <a:ln>
            <a:noFill/>
          </a:ln>
        </p:spPr>
      </p:pic>
      <p:pic>
        <p:nvPicPr>
          <p:cNvPr id="330" name="Google Shape;330;p29"/>
          <p:cNvPicPr preferRelativeResize="0"/>
          <p:nvPr/>
        </p:nvPicPr>
        <p:blipFill rotWithShape="1">
          <a:blip r:embed="rId6">
            <a:alphaModFix/>
          </a:blip>
          <a:srcRect b="0" l="0" r="0" t="0"/>
          <a:stretch/>
        </p:blipFill>
        <p:spPr>
          <a:xfrm>
            <a:off x="8461783" y="4933500"/>
            <a:ext cx="3039161" cy="11535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0"/>
          <p:cNvSpPr txBox="1"/>
          <p:nvPr/>
        </p:nvSpPr>
        <p:spPr>
          <a:xfrm>
            <a:off x="840543" y="473586"/>
            <a:ext cx="609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Distribuci</a:t>
            </a:r>
            <a:r>
              <a:rPr lang="es-ES" sz="2400">
                <a:solidFill>
                  <a:schemeClr val="dk1"/>
                </a:solidFill>
                <a:latin typeface="Arial"/>
                <a:ea typeface="Arial"/>
                <a:cs typeface="Arial"/>
                <a:sym typeface="Arial"/>
              </a:rPr>
              <a:t>ó</a:t>
            </a:r>
            <a:r>
              <a:rPr b="0" i="0" lang="es-ES" sz="2400" u="none" strike="noStrike">
                <a:solidFill>
                  <a:schemeClr val="dk1"/>
                </a:solidFill>
                <a:latin typeface="Arial"/>
                <a:ea typeface="Arial"/>
                <a:cs typeface="Arial"/>
                <a:sym typeface="Arial"/>
              </a:rPr>
              <a:t>n de Poisson o de los sucesos raros</a:t>
            </a:r>
            <a:endParaRPr sz="2400">
              <a:solidFill>
                <a:schemeClr val="dk1"/>
              </a:solidFill>
              <a:latin typeface="Calibri"/>
              <a:ea typeface="Calibri"/>
              <a:cs typeface="Calibri"/>
              <a:sym typeface="Calibri"/>
            </a:endParaRPr>
          </a:p>
        </p:txBody>
      </p:sp>
      <p:sp>
        <p:nvSpPr>
          <p:cNvPr id="336" name="Google Shape;336;p30"/>
          <p:cNvSpPr txBox="1"/>
          <p:nvPr/>
        </p:nvSpPr>
        <p:spPr>
          <a:xfrm>
            <a:off x="840543" y="1131250"/>
            <a:ext cx="1079343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Una v.a. X posee una </a:t>
            </a:r>
            <a:r>
              <a:rPr b="0" i="0" lang="es-ES" sz="2000" u="none" strike="noStrike">
                <a:solidFill>
                  <a:schemeClr val="dk1"/>
                </a:solidFill>
                <a:latin typeface="Arial"/>
                <a:ea typeface="Arial"/>
                <a:cs typeface="Arial"/>
                <a:sym typeface="Arial"/>
              </a:rPr>
              <a:t>ley de distribuci</a:t>
            </a:r>
            <a:r>
              <a:rPr lang="es-ES" sz="2000">
                <a:solidFill>
                  <a:schemeClr val="dk1"/>
                </a:solidFill>
                <a:latin typeface="Arial"/>
                <a:ea typeface="Arial"/>
                <a:cs typeface="Arial"/>
                <a:sym typeface="Arial"/>
              </a:rPr>
              <a:t>ó</a:t>
            </a:r>
            <a:r>
              <a:rPr b="0" i="0" lang="es-ES" sz="2000" u="none" strike="noStrike">
                <a:solidFill>
                  <a:schemeClr val="dk1"/>
                </a:solidFill>
                <a:latin typeface="Arial"/>
                <a:ea typeface="Arial"/>
                <a:cs typeface="Arial"/>
                <a:sym typeface="Arial"/>
              </a:rPr>
              <a:t>n de probabilidades del tipo</a:t>
            </a:r>
            <a:r>
              <a:rPr lang="es-ES" sz="2000">
                <a:solidFill>
                  <a:schemeClr val="dk1"/>
                </a:solidFill>
                <a:latin typeface="Arial"/>
                <a:ea typeface="Arial"/>
                <a:cs typeface="Arial"/>
                <a:sym typeface="Arial"/>
              </a:rPr>
              <a:t> </a:t>
            </a:r>
            <a:r>
              <a:rPr b="0" i="0" lang="es-ES" sz="2000" u="none" strike="noStrike">
                <a:solidFill>
                  <a:schemeClr val="dk1"/>
                </a:solidFill>
                <a:latin typeface="Arial"/>
                <a:ea typeface="Arial"/>
                <a:cs typeface="Arial"/>
                <a:sym typeface="Arial"/>
              </a:rPr>
              <a:t>Poisson </a:t>
            </a:r>
            <a:r>
              <a:rPr b="0" i="0" lang="es-ES" sz="2000" u="none" strike="noStrike">
                <a:solidFill>
                  <a:schemeClr val="dk1"/>
                </a:solidFill>
                <a:latin typeface="Old Standard TT"/>
                <a:ea typeface="Old Standard TT"/>
                <a:cs typeface="Old Standard TT"/>
                <a:sym typeface="Old Standard TT"/>
              </a:rPr>
              <a:t>cuando</a:t>
            </a:r>
            <a:endParaRPr sz="2000">
              <a:solidFill>
                <a:schemeClr val="dk1"/>
              </a:solidFill>
              <a:latin typeface="Calibri"/>
              <a:ea typeface="Calibri"/>
              <a:cs typeface="Calibri"/>
              <a:sym typeface="Calibri"/>
            </a:endParaRPr>
          </a:p>
        </p:txBody>
      </p:sp>
      <p:pic>
        <p:nvPicPr>
          <p:cNvPr id="337" name="Google Shape;337;p30"/>
          <p:cNvPicPr preferRelativeResize="0"/>
          <p:nvPr/>
        </p:nvPicPr>
        <p:blipFill rotWithShape="1">
          <a:blip r:embed="rId3">
            <a:alphaModFix/>
          </a:blip>
          <a:srcRect b="0" l="0" r="0" t="0"/>
          <a:stretch/>
        </p:blipFill>
        <p:spPr>
          <a:xfrm>
            <a:off x="3547990" y="1780797"/>
            <a:ext cx="4895129" cy="753097"/>
          </a:xfrm>
          <a:prstGeom prst="rect">
            <a:avLst/>
          </a:prstGeom>
          <a:noFill/>
          <a:ln>
            <a:noFill/>
          </a:ln>
        </p:spPr>
      </p:pic>
      <p:sp>
        <p:nvSpPr>
          <p:cNvPr id="338" name="Google Shape;338;p30"/>
          <p:cNvSpPr txBox="1"/>
          <p:nvPr/>
        </p:nvSpPr>
        <p:spPr>
          <a:xfrm>
            <a:off x="791306" y="2586309"/>
            <a:ext cx="10891911" cy="70788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Este tipo de leyes se aplican a sucesos con probabilidad muy baja de ocurrir, obteniéndose como la distribuci</a:t>
            </a:r>
            <a:r>
              <a:rPr lang="es-ES" sz="2000">
                <a:solidFill>
                  <a:schemeClr val="dk1"/>
                </a:solidFill>
                <a:latin typeface="Old Standard TT"/>
                <a:ea typeface="Old Standard TT"/>
                <a:cs typeface="Old Standard TT"/>
                <a:sym typeface="Old Standard TT"/>
              </a:rPr>
              <a:t>ó</a:t>
            </a:r>
            <a:r>
              <a:rPr b="0" i="0" lang="es-ES" sz="2000" u="none" strike="noStrike">
                <a:solidFill>
                  <a:schemeClr val="dk1"/>
                </a:solidFill>
                <a:latin typeface="Old Standard TT"/>
                <a:ea typeface="Old Standard TT"/>
                <a:cs typeface="Old Standard TT"/>
                <a:sym typeface="Old Standard TT"/>
              </a:rPr>
              <a:t>n l</a:t>
            </a:r>
            <a:r>
              <a:rPr lang="es-ES" sz="2000">
                <a:solidFill>
                  <a:schemeClr val="dk1"/>
                </a:solidFill>
                <a:latin typeface="Old Standard TT"/>
                <a:ea typeface="Old Standard TT"/>
                <a:cs typeface="Old Standard TT"/>
                <a:sym typeface="Old Standard TT"/>
              </a:rPr>
              <a:t>í</a:t>
            </a:r>
            <a:r>
              <a:rPr b="0" i="0" lang="es-ES" sz="2000" u="none" strike="noStrike">
                <a:solidFill>
                  <a:schemeClr val="dk1"/>
                </a:solidFill>
                <a:latin typeface="Old Standard TT"/>
                <a:ea typeface="Old Standard TT"/>
                <a:cs typeface="Old Standard TT"/>
                <a:sym typeface="Old Standard TT"/>
              </a:rPr>
              <a:t>mite de una sucesi</a:t>
            </a:r>
            <a:r>
              <a:rPr lang="es-ES" sz="2000">
                <a:solidFill>
                  <a:schemeClr val="dk1"/>
                </a:solidFill>
                <a:latin typeface="Old Standard TT"/>
                <a:ea typeface="Old Standard TT"/>
                <a:cs typeface="Old Standard TT"/>
                <a:sym typeface="Old Standard TT"/>
              </a:rPr>
              <a:t>ó</a:t>
            </a:r>
            <a:r>
              <a:rPr b="0" i="0" lang="es-ES" sz="2000" u="none" strike="noStrike">
                <a:solidFill>
                  <a:schemeClr val="dk1"/>
                </a:solidFill>
                <a:latin typeface="Old Standard TT"/>
                <a:ea typeface="Old Standard TT"/>
                <a:cs typeface="Old Standard TT"/>
                <a:sym typeface="Old Standard TT"/>
              </a:rPr>
              <a:t>n de variable binomiales,</a:t>
            </a:r>
            <a:endParaRPr sz="2000">
              <a:solidFill>
                <a:schemeClr val="dk1"/>
              </a:solidFill>
              <a:latin typeface="Calibri"/>
              <a:ea typeface="Calibri"/>
              <a:cs typeface="Calibri"/>
              <a:sym typeface="Calibri"/>
            </a:endParaRPr>
          </a:p>
        </p:txBody>
      </p:sp>
      <p:sp>
        <p:nvSpPr>
          <p:cNvPr id="339" name="Google Shape;339;p30"/>
          <p:cNvSpPr txBox="1"/>
          <p:nvPr/>
        </p:nvSpPr>
        <p:spPr>
          <a:xfrm>
            <a:off x="840543" y="4702130"/>
            <a:ext cx="10793438" cy="101566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2000" u="none" strike="noStrike">
                <a:solidFill>
                  <a:schemeClr val="dk1"/>
                </a:solidFill>
                <a:latin typeface="Old Standard TT"/>
                <a:ea typeface="Old Standard TT"/>
                <a:cs typeface="Old Standard TT"/>
                <a:sym typeface="Old Standard TT"/>
              </a:rPr>
              <a:t>En general utilizaremos la distribuci</a:t>
            </a:r>
            <a:r>
              <a:rPr lang="es-ES" sz="2000">
                <a:solidFill>
                  <a:schemeClr val="dk1"/>
                </a:solidFill>
                <a:latin typeface="Old Standard TT"/>
                <a:ea typeface="Old Standard TT"/>
                <a:cs typeface="Old Standard TT"/>
                <a:sym typeface="Old Standard TT"/>
              </a:rPr>
              <a:t>ó</a:t>
            </a:r>
            <a:r>
              <a:rPr b="0" i="0" lang="es-ES" sz="2000" u="none" strike="noStrike">
                <a:solidFill>
                  <a:schemeClr val="dk1"/>
                </a:solidFill>
                <a:latin typeface="Old Standard TT"/>
                <a:ea typeface="Old Standard TT"/>
                <a:cs typeface="Old Standard TT"/>
                <a:sym typeface="Old Standard TT"/>
              </a:rPr>
              <a:t>n de Poisson como aproximaci</a:t>
            </a:r>
            <a:r>
              <a:rPr lang="es-ES" sz="2000">
                <a:solidFill>
                  <a:schemeClr val="dk1"/>
                </a:solidFill>
                <a:latin typeface="Old Standard TT"/>
                <a:ea typeface="Old Standard TT"/>
                <a:cs typeface="Old Standard TT"/>
                <a:sym typeface="Old Standard TT"/>
              </a:rPr>
              <a:t>ó</a:t>
            </a:r>
            <a:r>
              <a:rPr b="0" i="0" lang="es-ES" sz="2000" u="none" strike="noStrike">
                <a:solidFill>
                  <a:schemeClr val="dk1"/>
                </a:solidFill>
                <a:latin typeface="Old Standard TT"/>
                <a:ea typeface="Old Standard TT"/>
                <a:cs typeface="Old Standard TT"/>
                <a:sym typeface="Old Standard TT"/>
              </a:rPr>
              <a:t>n de experimentos binomiales donde el n</a:t>
            </a:r>
            <a:r>
              <a:rPr lang="es-ES" sz="2000">
                <a:solidFill>
                  <a:schemeClr val="dk1"/>
                </a:solidFill>
                <a:latin typeface="Old Standard TT"/>
                <a:ea typeface="Old Standard TT"/>
                <a:cs typeface="Old Standard TT"/>
                <a:sym typeface="Old Standard TT"/>
              </a:rPr>
              <a:t>ú</a:t>
            </a:r>
            <a:r>
              <a:rPr b="0" i="0" lang="es-ES" sz="2000" u="none" strike="noStrike">
                <a:solidFill>
                  <a:schemeClr val="dk1"/>
                </a:solidFill>
                <a:latin typeface="Old Standard TT"/>
                <a:ea typeface="Old Standard TT"/>
                <a:cs typeface="Old Standard TT"/>
                <a:sym typeface="Old Standard TT"/>
              </a:rPr>
              <a:t>mero de pruebas es muy alto, pero la probabilidad de </a:t>
            </a:r>
            <a:r>
              <a:rPr lang="es-ES" sz="2000">
                <a:solidFill>
                  <a:schemeClr val="dk1"/>
                </a:solidFill>
                <a:latin typeface="Old Standard TT"/>
                <a:ea typeface="Old Standard TT"/>
                <a:cs typeface="Old Standard TT"/>
                <a:sym typeface="Old Standard TT"/>
              </a:rPr>
              <a:t>é</a:t>
            </a:r>
            <a:r>
              <a:rPr b="0" i="0" lang="es-ES" sz="2000" u="none" strike="noStrike">
                <a:solidFill>
                  <a:schemeClr val="dk1"/>
                </a:solidFill>
                <a:latin typeface="Old Standard TT"/>
                <a:ea typeface="Old Standard TT"/>
                <a:cs typeface="Old Standard TT"/>
                <a:sym typeface="Old Standard TT"/>
              </a:rPr>
              <a:t>xito muy baja. A veces se suele utilizar como criterio de aproximaci</a:t>
            </a:r>
            <a:r>
              <a:rPr lang="es-ES" sz="2000">
                <a:solidFill>
                  <a:schemeClr val="dk1"/>
                </a:solidFill>
                <a:latin typeface="Old Standard TT"/>
                <a:ea typeface="Old Standard TT"/>
                <a:cs typeface="Old Standard TT"/>
                <a:sym typeface="Old Standard TT"/>
              </a:rPr>
              <a:t>ó</a:t>
            </a:r>
            <a:r>
              <a:rPr b="0" i="0" lang="es-ES" sz="2000" u="none" strike="noStrike">
                <a:solidFill>
                  <a:schemeClr val="dk1"/>
                </a:solidFill>
                <a:latin typeface="Old Standard TT"/>
                <a:ea typeface="Old Standard TT"/>
                <a:cs typeface="Old Standard TT"/>
                <a:sym typeface="Old Standard TT"/>
              </a:rPr>
              <a:t>n:</a:t>
            </a:r>
            <a:endParaRPr sz="2000">
              <a:solidFill>
                <a:schemeClr val="dk1"/>
              </a:solidFill>
              <a:latin typeface="Calibri"/>
              <a:ea typeface="Calibri"/>
              <a:cs typeface="Calibri"/>
              <a:sym typeface="Calibri"/>
            </a:endParaRPr>
          </a:p>
        </p:txBody>
      </p:sp>
      <p:pic>
        <p:nvPicPr>
          <p:cNvPr id="340" name="Google Shape;340;p30"/>
          <p:cNvPicPr preferRelativeResize="0"/>
          <p:nvPr/>
        </p:nvPicPr>
        <p:blipFill rotWithShape="1">
          <a:blip r:embed="rId4">
            <a:alphaModFix/>
          </a:blip>
          <a:srcRect b="0" l="0" r="0" t="0"/>
          <a:stretch/>
        </p:blipFill>
        <p:spPr>
          <a:xfrm>
            <a:off x="3781163" y="5930675"/>
            <a:ext cx="4428784" cy="493655"/>
          </a:xfrm>
          <a:prstGeom prst="rect">
            <a:avLst/>
          </a:prstGeom>
          <a:noFill/>
          <a:ln>
            <a:noFill/>
          </a:ln>
        </p:spPr>
      </p:pic>
      <p:pic>
        <p:nvPicPr>
          <p:cNvPr id="341" name="Google Shape;341;p30"/>
          <p:cNvPicPr preferRelativeResize="0"/>
          <p:nvPr/>
        </p:nvPicPr>
        <p:blipFill rotWithShape="1">
          <a:blip r:embed="rId5">
            <a:alphaModFix/>
          </a:blip>
          <a:srcRect b="0" l="0" r="0" t="0"/>
          <a:stretch/>
        </p:blipFill>
        <p:spPr>
          <a:xfrm>
            <a:off x="1918174" y="3478266"/>
            <a:ext cx="8355652" cy="101566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pic>
        <p:nvPicPr>
          <p:cNvPr id="346" name="Google Shape;346;p31"/>
          <p:cNvPicPr preferRelativeResize="0"/>
          <p:nvPr/>
        </p:nvPicPr>
        <p:blipFill rotWithShape="1">
          <a:blip r:embed="rId3">
            <a:alphaModFix/>
          </a:blip>
          <a:srcRect b="0" l="0" r="0" t="0"/>
          <a:stretch/>
        </p:blipFill>
        <p:spPr>
          <a:xfrm>
            <a:off x="1079133" y="1523429"/>
            <a:ext cx="10033732" cy="1080365"/>
          </a:xfrm>
          <a:prstGeom prst="rect">
            <a:avLst/>
          </a:prstGeom>
          <a:noFill/>
          <a:ln>
            <a:noFill/>
          </a:ln>
        </p:spPr>
      </p:pic>
      <p:pic>
        <p:nvPicPr>
          <p:cNvPr id="347" name="Google Shape;347;p31"/>
          <p:cNvPicPr preferRelativeResize="0"/>
          <p:nvPr/>
        </p:nvPicPr>
        <p:blipFill rotWithShape="1">
          <a:blip r:embed="rId4">
            <a:alphaModFix/>
          </a:blip>
          <a:srcRect b="0" l="0" r="0" t="0"/>
          <a:stretch/>
        </p:blipFill>
        <p:spPr>
          <a:xfrm>
            <a:off x="1667942" y="3315072"/>
            <a:ext cx="8856115" cy="1080821"/>
          </a:xfrm>
          <a:prstGeom prst="rect">
            <a:avLst/>
          </a:prstGeom>
          <a:noFill/>
          <a:ln>
            <a:noFill/>
          </a:ln>
        </p:spPr>
      </p:pic>
      <p:sp>
        <p:nvSpPr>
          <p:cNvPr id="348" name="Google Shape;348;p31"/>
          <p:cNvSpPr txBox="1"/>
          <p:nvPr/>
        </p:nvSpPr>
        <p:spPr>
          <a:xfrm>
            <a:off x="840543" y="473586"/>
            <a:ext cx="609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Distribuci</a:t>
            </a:r>
            <a:r>
              <a:rPr lang="es-ES" sz="2400">
                <a:solidFill>
                  <a:schemeClr val="dk1"/>
                </a:solidFill>
                <a:latin typeface="Arial"/>
                <a:ea typeface="Arial"/>
                <a:cs typeface="Arial"/>
                <a:sym typeface="Arial"/>
              </a:rPr>
              <a:t>ó</a:t>
            </a:r>
            <a:r>
              <a:rPr b="0" i="0" lang="es-ES" sz="2400" u="none" strike="noStrike">
                <a:solidFill>
                  <a:schemeClr val="dk1"/>
                </a:solidFill>
                <a:latin typeface="Arial"/>
                <a:ea typeface="Arial"/>
                <a:cs typeface="Arial"/>
                <a:sym typeface="Arial"/>
              </a:rPr>
              <a:t>n de Poisson o de los sucesos raros</a:t>
            </a:r>
            <a:endParaRPr sz="24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2"/>
          <p:cNvSpPr txBox="1"/>
          <p:nvPr/>
        </p:nvSpPr>
        <p:spPr>
          <a:xfrm>
            <a:off x="615511" y="569687"/>
            <a:ext cx="609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Arial"/>
                <a:ea typeface="Arial"/>
                <a:cs typeface="Arial"/>
                <a:sym typeface="Arial"/>
              </a:rPr>
              <a:t>Proceso de Poisson</a:t>
            </a:r>
            <a:endParaRPr/>
          </a:p>
        </p:txBody>
      </p:sp>
      <p:sp>
        <p:nvSpPr>
          <p:cNvPr id="354" name="Google Shape;354;p32"/>
          <p:cNvSpPr txBox="1"/>
          <p:nvPr/>
        </p:nvSpPr>
        <p:spPr>
          <a:xfrm>
            <a:off x="615511" y="1210886"/>
            <a:ext cx="10934064" cy="193899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Una aplicación muy importante de la distribución de Poisson surge en conexión con la ocurrencia de eventos de algún tipo en el transcurso del tiempo. Eventos de interés podrían ser visitas a un sitio web particular, pulsos de alguna clase registrados por un contador, mensajes de correo electrónico enviados a una dirección particular, accidentes en una instalación industrial o lluvias de rayos cósmicos observados por astrónomos en un observatorio particular. Se hace la siguiente suposición sobre la forma en que los eventos de interés ocurren:</a:t>
            </a:r>
            <a:endParaRPr sz="2000">
              <a:solidFill>
                <a:schemeClr val="dk1"/>
              </a:solidFill>
              <a:latin typeface="Old Standard TT"/>
              <a:ea typeface="Old Standard TT"/>
              <a:cs typeface="Old Standard TT"/>
              <a:sym typeface="Old Standard T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3"/>
          <p:cNvSpPr txBox="1"/>
          <p:nvPr/>
        </p:nvSpPr>
        <p:spPr>
          <a:xfrm>
            <a:off x="1131475" y="738925"/>
            <a:ext cx="12055800" cy="3321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s-ES" sz="2200">
                <a:solidFill>
                  <a:srgbClr val="222222"/>
                </a:solidFill>
                <a:highlight>
                  <a:srgbClr val="FFFFFF"/>
                </a:highlight>
              </a:rPr>
              <a:t>Una compañía recibe un lote de 1.500 unidades. Para aceptarlo se seleccionan diez unidades de manera</a:t>
            </a:r>
            <a:r>
              <a:rPr lang="es-ES" sz="2200">
                <a:solidFill>
                  <a:srgbClr val="222222"/>
                </a:solidFill>
              </a:rPr>
              <a:t> </a:t>
            </a:r>
            <a:r>
              <a:rPr lang="es-ES" sz="2200">
                <a:solidFill>
                  <a:srgbClr val="222222"/>
                </a:solidFill>
                <a:highlight>
                  <a:srgbClr val="FFFFFF"/>
                </a:highlight>
              </a:rPr>
              <a:t>aleatoria, y se inspeccionan. Si ninguna se encuentra defectuosa, el lote se acepta; de otro modo, se rechaza.</a:t>
            </a:r>
            <a:r>
              <a:rPr lang="es-ES" sz="2200">
                <a:solidFill>
                  <a:srgbClr val="222222"/>
                </a:solidFill>
              </a:rPr>
              <a:t> </a:t>
            </a:r>
            <a:r>
              <a:rPr lang="es-ES" sz="2200">
                <a:solidFill>
                  <a:srgbClr val="222222"/>
                </a:solidFill>
                <a:highlight>
                  <a:srgbClr val="FFFFFF"/>
                </a:highlight>
              </a:rPr>
              <a:t>Si el lote contiene un 4% de unidades defectuosas:</a:t>
            </a:r>
            <a:endParaRPr sz="2200">
              <a:solidFill>
                <a:srgbClr val="222222"/>
              </a:solidFill>
              <a:highlight>
                <a:srgbClr val="FFFFFF"/>
              </a:highlight>
            </a:endParaRPr>
          </a:p>
          <a:p>
            <a:pPr indent="-228600" lvl="0" marL="0" rtl="0" algn="just">
              <a:lnSpc>
                <a:spcPct val="115000"/>
              </a:lnSpc>
              <a:spcBef>
                <a:spcPts val="1200"/>
              </a:spcBef>
              <a:spcAft>
                <a:spcPts val="0"/>
              </a:spcAft>
              <a:buNone/>
            </a:pPr>
            <a:r>
              <a:rPr lang="es-ES" sz="2200">
                <a:solidFill>
                  <a:srgbClr val="222222"/>
                </a:solidFill>
              </a:rPr>
              <a:t>a)</a:t>
            </a:r>
            <a:r>
              <a:rPr lang="es-ES" sz="1800">
                <a:solidFill>
                  <a:srgbClr val="222222"/>
                </a:solidFill>
              </a:rPr>
              <a:t>       </a:t>
            </a:r>
            <a:r>
              <a:rPr lang="es-ES" sz="2200">
                <a:solidFill>
                  <a:srgbClr val="222222"/>
                </a:solidFill>
                <a:highlight>
                  <a:srgbClr val="FFFFFF"/>
                </a:highlight>
              </a:rPr>
              <a:t>Determinar la probabilidad de aceptarlo mediante el empleo de la distribución hipergeométrica.</a:t>
            </a:r>
            <a:endParaRPr sz="2200">
              <a:solidFill>
                <a:srgbClr val="222222"/>
              </a:solidFill>
              <a:highlight>
                <a:srgbClr val="FFFFFF"/>
              </a:highlight>
            </a:endParaRPr>
          </a:p>
          <a:p>
            <a:pPr indent="-228600" lvl="0" marL="0" rtl="0" algn="just">
              <a:lnSpc>
                <a:spcPct val="115000"/>
              </a:lnSpc>
              <a:spcBef>
                <a:spcPts val="1200"/>
              </a:spcBef>
              <a:spcAft>
                <a:spcPts val="0"/>
              </a:spcAft>
              <a:buNone/>
            </a:pPr>
            <a:r>
              <a:rPr lang="es-ES" sz="2200">
                <a:solidFill>
                  <a:srgbClr val="222222"/>
                </a:solidFill>
              </a:rPr>
              <a:t>b)</a:t>
            </a:r>
            <a:r>
              <a:rPr lang="es-ES" sz="1800">
                <a:solidFill>
                  <a:srgbClr val="222222"/>
                </a:solidFill>
              </a:rPr>
              <a:t>      </a:t>
            </a:r>
            <a:r>
              <a:rPr lang="es-ES" sz="2200">
                <a:solidFill>
                  <a:srgbClr val="222222"/>
                </a:solidFill>
                <a:highlight>
                  <a:srgbClr val="FFFFFF"/>
                </a:highlight>
              </a:rPr>
              <a:t>Aproximar la respuesta de la parte a mediante el empleo de la distribución binomial.</a:t>
            </a:r>
            <a:endParaRPr sz="2200">
              <a:solidFill>
                <a:srgbClr val="222222"/>
              </a:solidFill>
              <a:highlight>
                <a:srgbClr val="FFFFFF"/>
              </a:highlight>
            </a:endParaRPr>
          </a:p>
          <a:p>
            <a:pPr indent="-228600" lvl="0" marL="0" rtl="0" algn="just">
              <a:lnSpc>
                <a:spcPct val="115000"/>
              </a:lnSpc>
              <a:spcBef>
                <a:spcPts val="1200"/>
              </a:spcBef>
              <a:spcAft>
                <a:spcPts val="1200"/>
              </a:spcAft>
              <a:buNone/>
            </a:pPr>
            <a:r>
              <a:rPr lang="es-ES" sz="2200">
                <a:solidFill>
                  <a:srgbClr val="222222"/>
                </a:solidFill>
              </a:rPr>
              <a:t>c)</a:t>
            </a:r>
            <a:r>
              <a:rPr lang="es-ES" sz="1800">
                <a:solidFill>
                  <a:srgbClr val="222222"/>
                </a:solidFill>
              </a:rPr>
              <a:t>       </a:t>
            </a:r>
            <a:r>
              <a:rPr lang="es-ES" sz="2200">
                <a:solidFill>
                  <a:srgbClr val="222222"/>
                </a:solidFill>
                <a:highlight>
                  <a:srgbClr val="FFFFFF"/>
                </a:highlight>
              </a:rPr>
              <a:t>Aproximar la respuesta de la parte b mediante el empleo de la distribución de Poisson</a:t>
            </a:r>
            <a:endParaRPr sz="2200">
              <a:solidFill>
                <a:srgbClr val="222222"/>
              </a:solidFill>
              <a:highlight>
                <a:srgbClr val="FFFFFF"/>
              </a:high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3"/>
          <p:cNvSpPr txBox="1"/>
          <p:nvPr/>
        </p:nvSpPr>
        <p:spPr>
          <a:xfrm>
            <a:off x="657664" y="511685"/>
            <a:ext cx="748752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Función de densidad (Variables Continuas) </a:t>
            </a:r>
            <a:endParaRPr b="0" i="0" sz="2400" u="none" strike="noStrike">
              <a:solidFill>
                <a:schemeClr val="dk1"/>
              </a:solidFill>
              <a:latin typeface="Arial"/>
              <a:ea typeface="Arial"/>
              <a:cs typeface="Arial"/>
              <a:sym typeface="Arial"/>
            </a:endParaRPr>
          </a:p>
        </p:txBody>
      </p:sp>
      <p:sp>
        <p:nvSpPr>
          <p:cNvPr id="365" name="Google Shape;365;p33"/>
          <p:cNvSpPr txBox="1"/>
          <p:nvPr/>
        </p:nvSpPr>
        <p:spPr>
          <a:xfrm>
            <a:off x="657664" y="1233218"/>
            <a:ext cx="10807505" cy="313932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Una variable aleatoria (va) discreta es una cuyos valores posibles o constituyen un conjunto finito o bien pueden ser puestos en lista en una secuencia infinita (una lista en la cual existe un primer elemento, un segundo elemento, etc.). Una variable aleatoria cuyo conjunto de valores posibles es un intervalo completo de números no es discreta</a:t>
            </a:r>
            <a:r>
              <a:rPr b="0" i="0" lang="es-ES" sz="1800" u="none" strike="noStrike">
                <a:solidFill>
                  <a:schemeClr val="dk1"/>
                </a:solidFill>
                <a:latin typeface="Times"/>
                <a:ea typeface="Times"/>
                <a:cs typeface="Times"/>
                <a:sym typeface="Times"/>
              </a:rPr>
              <a:t>.</a:t>
            </a:r>
            <a:endParaRPr/>
          </a:p>
          <a:p>
            <a:pPr indent="0" lvl="0" marL="0" marR="0" rtl="0" algn="just">
              <a:spcBef>
                <a:spcPts val="0"/>
              </a:spcBef>
              <a:spcAft>
                <a:spcPts val="0"/>
              </a:spcAft>
              <a:buNone/>
            </a:pPr>
            <a:r>
              <a:t/>
            </a:r>
            <a:endParaRPr sz="1800">
              <a:solidFill>
                <a:schemeClr val="dk1"/>
              </a:solidFill>
              <a:latin typeface="Times"/>
              <a:ea typeface="Times"/>
              <a:cs typeface="Times"/>
              <a:sym typeface="Times"/>
            </a:endParaRPr>
          </a:p>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Variables tales como altura, peso y temperatura son continuas, en la práctica las limitaciones de los instrumentos de medición nos restringen a un mundo discreto (aunque en ocasiones muy finamente subdividido). Sin embargo, los modelos continuos a menudo representan muy bien de forma aproximada situaciones del mundo real y con frecuencia es más fácil trabajar con matemáticas continuas (el cálculo) que con matemáticas de variables discretas y distribuciones.</a:t>
            </a:r>
            <a:endParaRPr sz="2000">
              <a:solidFill>
                <a:schemeClr val="dk1"/>
              </a:solidFill>
              <a:latin typeface="Old Standard TT"/>
              <a:ea typeface="Old Standard TT"/>
              <a:cs typeface="Old Standard TT"/>
              <a:sym typeface="Old Standard TT"/>
            </a:endParaRPr>
          </a:p>
        </p:txBody>
      </p:sp>
      <p:pic>
        <p:nvPicPr>
          <p:cNvPr id="366" name="Google Shape;366;p33"/>
          <p:cNvPicPr preferRelativeResize="0"/>
          <p:nvPr/>
        </p:nvPicPr>
        <p:blipFill rotWithShape="1">
          <a:blip r:embed="rId3">
            <a:alphaModFix/>
          </a:blip>
          <a:srcRect b="0" l="0" r="0" t="0"/>
          <a:stretch/>
        </p:blipFill>
        <p:spPr>
          <a:xfrm>
            <a:off x="2436647" y="4660155"/>
            <a:ext cx="7249537" cy="168616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4"/>
          <p:cNvSpPr txBox="1"/>
          <p:nvPr/>
        </p:nvSpPr>
        <p:spPr>
          <a:xfrm>
            <a:off x="657664" y="511685"/>
            <a:ext cx="748752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Función de densidad (Variables Continuas) </a:t>
            </a:r>
            <a:endParaRPr b="0" i="0" sz="2400" u="none" strike="noStrike">
              <a:solidFill>
                <a:schemeClr val="dk1"/>
              </a:solidFill>
              <a:latin typeface="Arial"/>
              <a:ea typeface="Arial"/>
              <a:cs typeface="Arial"/>
              <a:sym typeface="Arial"/>
            </a:endParaRPr>
          </a:p>
        </p:txBody>
      </p:sp>
      <p:pic>
        <p:nvPicPr>
          <p:cNvPr id="372" name="Google Shape;372;p34"/>
          <p:cNvPicPr preferRelativeResize="0"/>
          <p:nvPr/>
        </p:nvPicPr>
        <p:blipFill rotWithShape="1">
          <a:blip r:embed="rId3">
            <a:alphaModFix/>
          </a:blip>
          <a:srcRect b="0" l="0" r="0" t="0"/>
          <a:stretch/>
        </p:blipFill>
        <p:spPr>
          <a:xfrm>
            <a:off x="6861109" y="4700779"/>
            <a:ext cx="3647457" cy="1864763"/>
          </a:xfrm>
          <a:prstGeom prst="rect">
            <a:avLst/>
          </a:prstGeom>
          <a:noFill/>
          <a:ln>
            <a:noFill/>
          </a:ln>
        </p:spPr>
      </p:pic>
      <p:pic>
        <p:nvPicPr>
          <p:cNvPr id="373" name="Google Shape;373;p34"/>
          <p:cNvPicPr preferRelativeResize="0"/>
          <p:nvPr/>
        </p:nvPicPr>
        <p:blipFill rotWithShape="1">
          <a:blip r:embed="rId4">
            <a:alphaModFix/>
          </a:blip>
          <a:srcRect b="0" l="0" r="0" t="0"/>
          <a:stretch/>
        </p:blipFill>
        <p:spPr>
          <a:xfrm>
            <a:off x="1439940" y="1224839"/>
            <a:ext cx="9068626" cy="2996293"/>
          </a:xfrm>
          <a:prstGeom prst="rect">
            <a:avLst/>
          </a:prstGeom>
          <a:noFill/>
          <a:ln>
            <a:noFill/>
          </a:ln>
        </p:spPr>
      </p:pic>
      <p:sp>
        <p:nvSpPr>
          <p:cNvPr id="374" name="Google Shape;374;p34"/>
          <p:cNvSpPr txBox="1"/>
          <p:nvPr/>
        </p:nvSpPr>
        <p:spPr>
          <a:xfrm>
            <a:off x="762765" y="4472621"/>
            <a:ext cx="609834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1800" u="none" strike="noStrike">
                <a:solidFill>
                  <a:schemeClr val="dk1"/>
                </a:solidFill>
                <a:latin typeface="Times"/>
                <a:ea typeface="Times"/>
                <a:cs typeface="Times"/>
                <a:sym typeface="Times"/>
              </a:rPr>
              <a:t>Para que </a:t>
            </a:r>
            <a:r>
              <a:rPr b="0" i="1" lang="es-ES" sz="1800" u="none" strike="noStrike">
                <a:solidFill>
                  <a:schemeClr val="dk1"/>
                </a:solidFill>
                <a:latin typeface="Times"/>
                <a:ea typeface="Times"/>
                <a:cs typeface="Times"/>
                <a:sym typeface="Times"/>
              </a:rPr>
              <a:t>f</a:t>
            </a:r>
            <a:r>
              <a:rPr b="0" i="0" lang="es-ES" sz="1800" u="none" strike="noStrike">
                <a:solidFill>
                  <a:schemeClr val="dk1"/>
                </a:solidFill>
                <a:latin typeface="Times"/>
                <a:ea typeface="Times"/>
                <a:cs typeface="Times"/>
                <a:sym typeface="Times"/>
              </a:rPr>
              <a:t>(</a:t>
            </a:r>
            <a:r>
              <a:rPr b="0" i="1" lang="es-ES" sz="1800" u="none" strike="noStrike">
                <a:solidFill>
                  <a:schemeClr val="dk1"/>
                </a:solidFill>
                <a:latin typeface="Times"/>
                <a:ea typeface="Times"/>
                <a:cs typeface="Times"/>
                <a:sym typeface="Times"/>
              </a:rPr>
              <a:t>x</a:t>
            </a:r>
            <a:r>
              <a:rPr b="0" i="0" lang="es-ES" sz="1800" u="none" strike="noStrike">
                <a:solidFill>
                  <a:schemeClr val="dk1"/>
                </a:solidFill>
                <a:latin typeface="Times"/>
                <a:ea typeface="Times"/>
                <a:cs typeface="Times"/>
                <a:sym typeface="Times"/>
              </a:rPr>
              <a:t>) sea una función de densidad de probabilidad legítima, debe satisfacer las dos siguientes condiciones:</a:t>
            </a:r>
            <a:endParaRPr sz="1800">
              <a:solidFill>
                <a:schemeClr val="dk1"/>
              </a:solidFill>
              <a:latin typeface="Calibri"/>
              <a:ea typeface="Calibri"/>
              <a:cs typeface="Calibri"/>
              <a:sym typeface="Calibri"/>
            </a:endParaRPr>
          </a:p>
        </p:txBody>
      </p:sp>
      <p:pic>
        <p:nvPicPr>
          <p:cNvPr id="375" name="Google Shape;375;p34"/>
          <p:cNvPicPr preferRelativeResize="0"/>
          <p:nvPr/>
        </p:nvPicPr>
        <p:blipFill rotWithShape="1">
          <a:blip r:embed="rId5">
            <a:alphaModFix/>
          </a:blip>
          <a:srcRect b="0" l="0" r="0" t="0"/>
          <a:stretch/>
        </p:blipFill>
        <p:spPr>
          <a:xfrm>
            <a:off x="1183895" y="5370441"/>
            <a:ext cx="3849876" cy="97587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5"/>
          <p:cNvSpPr txBox="1"/>
          <p:nvPr/>
        </p:nvSpPr>
        <p:spPr>
          <a:xfrm>
            <a:off x="657664" y="511685"/>
            <a:ext cx="748752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Función de densidad (Variables Continuas) </a:t>
            </a:r>
            <a:endParaRPr b="0" i="0" sz="2400" u="none" strike="noStrike">
              <a:solidFill>
                <a:schemeClr val="dk1"/>
              </a:solidFill>
              <a:latin typeface="Arial"/>
              <a:ea typeface="Arial"/>
              <a:cs typeface="Arial"/>
              <a:sym typeface="Arial"/>
            </a:endParaRPr>
          </a:p>
        </p:txBody>
      </p:sp>
      <p:pic>
        <p:nvPicPr>
          <p:cNvPr id="381" name="Google Shape;381;p35"/>
          <p:cNvPicPr preferRelativeResize="0"/>
          <p:nvPr/>
        </p:nvPicPr>
        <p:blipFill rotWithShape="1">
          <a:blip r:embed="rId3">
            <a:alphaModFix/>
          </a:blip>
          <a:srcRect b="0" l="0" r="0" t="0"/>
          <a:stretch/>
        </p:blipFill>
        <p:spPr>
          <a:xfrm>
            <a:off x="1761753" y="1302410"/>
            <a:ext cx="8248015" cy="490144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6"/>
          <p:cNvSpPr txBox="1"/>
          <p:nvPr/>
        </p:nvSpPr>
        <p:spPr>
          <a:xfrm>
            <a:off x="671731" y="1127483"/>
            <a:ext cx="10385474" cy="101566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Para una variable aleatoria discreta X, E(X) se obtuvo sumando x  p(x) a lo largo de posibles valores de X. Aquí se reemplaza la suma con la integración y la función masa de probabilidad por la función de densidad de probabilidad para obtener un promedio ponderado continuo. </a:t>
            </a:r>
            <a:endParaRPr sz="2000">
              <a:solidFill>
                <a:schemeClr val="dk1"/>
              </a:solidFill>
              <a:latin typeface="Old Standard TT"/>
              <a:ea typeface="Old Standard TT"/>
              <a:cs typeface="Old Standard TT"/>
              <a:sym typeface="Old Standard TT"/>
            </a:endParaRPr>
          </a:p>
        </p:txBody>
      </p:sp>
      <p:pic>
        <p:nvPicPr>
          <p:cNvPr id="387" name="Google Shape;387;p36"/>
          <p:cNvPicPr preferRelativeResize="0"/>
          <p:nvPr/>
        </p:nvPicPr>
        <p:blipFill rotWithShape="1">
          <a:blip r:embed="rId3">
            <a:alphaModFix/>
          </a:blip>
          <a:srcRect b="0" l="0" r="0" t="0"/>
          <a:stretch/>
        </p:blipFill>
        <p:spPr>
          <a:xfrm>
            <a:off x="2285468" y="2296592"/>
            <a:ext cx="7621064" cy="1505160"/>
          </a:xfrm>
          <a:prstGeom prst="rect">
            <a:avLst/>
          </a:prstGeom>
          <a:noFill/>
          <a:ln>
            <a:noFill/>
          </a:ln>
        </p:spPr>
      </p:pic>
      <p:pic>
        <p:nvPicPr>
          <p:cNvPr id="388" name="Google Shape;388;p36"/>
          <p:cNvPicPr preferRelativeResize="0"/>
          <p:nvPr/>
        </p:nvPicPr>
        <p:blipFill rotWithShape="1">
          <a:blip r:embed="rId4">
            <a:alphaModFix/>
          </a:blip>
          <a:srcRect b="0" l="0" r="0" t="0"/>
          <a:stretch/>
        </p:blipFill>
        <p:spPr>
          <a:xfrm>
            <a:off x="2256889" y="4314471"/>
            <a:ext cx="7649643" cy="191479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7"/>
          <p:cNvSpPr txBox="1"/>
          <p:nvPr/>
        </p:nvSpPr>
        <p:spPr>
          <a:xfrm>
            <a:off x="699867" y="497617"/>
            <a:ext cx="609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Distribución Normal	</a:t>
            </a:r>
            <a:endParaRPr sz="2400">
              <a:solidFill>
                <a:schemeClr val="dk1"/>
              </a:solidFill>
              <a:latin typeface="Calibri"/>
              <a:ea typeface="Calibri"/>
              <a:cs typeface="Calibri"/>
              <a:sym typeface="Calibri"/>
            </a:endParaRPr>
          </a:p>
        </p:txBody>
      </p:sp>
      <p:sp>
        <p:nvSpPr>
          <p:cNvPr id="394" name="Google Shape;394;p37"/>
          <p:cNvSpPr txBox="1"/>
          <p:nvPr/>
        </p:nvSpPr>
        <p:spPr>
          <a:xfrm>
            <a:off x="699866" y="1392591"/>
            <a:ext cx="10934115" cy="255454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La distribución normal es la más importante en toda la probabilidad y estadística. Muchas poblaciones numéricas tienen distribuciones que pueden ser representadas muy fielmente por una curva normal apropiada.</a:t>
            </a:r>
            <a:endParaRPr/>
          </a:p>
          <a:p>
            <a:pPr indent="0" lvl="0" marL="0" marR="0" rtl="0" algn="just">
              <a:spcBef>
                <a:spcPts val="0"/>
              </a:spcBef>
              <a:spcAft>
                <a:spcPts val="0"/>
              </a:spcAft>
              <a:buNone/>
            </a:pPr>
            <a:r>
              <a:t/>
            </a:r>
            <a:endParaRPr sz="2000">
              <a:solidFill>
                <a:schemeClr val="dk1"/>
              </a:solidFill>
              <a:latin typeface="Old Standard TT"/>
              <a:ea typeface="Old Standard TT"/>
              <a:cs typeface="Old Standard TT"/>
              <a:sym typeface="Old Standard TT"/>
            </a:endParaRPr>
          </a:p>
          <a:p>
            <a:pPr indent="0" lvl="0" marL="0" marR="0" rtl="0" algn="just">
              <a:spcBef>
                <a:spcPts val="0"/>
              </a:spcBef>
              <a:spcAft>
                <a:spcPts val="0"/>
              </a:spcAft>
              <a:buNone/>
            </a:pPr>
            <a:r>
              <a:rPr lang="es-ES" sz="2000">
                <a:solidFill>
                  <a:schemeClr val="dk1"/>
                </a:solidFill>
                <a:latin typeface="Old Standard TT"/>
                <a:ea typeface="Old Standard TT"/>
                <a:cs typeface="Old Standard TT"/>
                <a:sym typeface="Old Standard TT"/>
              </a:rPr>
              <a:t>Incluso cuando la distribución subyacente es discreta, la curva normal a menudo da una excelente aproximación. Además, aun cuando las variables individuales no estén normalmente distribuidas, las sumas y promedios de las variables en condiciones adecuadas tendrán de manera aproximada una distribución normal; este es el contenido del Teorema del Límite Central</a:t>
            </a:r>
            <a:endParaRPr/>
          </a:p>
        </p:txBody>
      </p:sp>
      <p:pic>
        <p:nvPicPr>
          <p:cNvPr id="395" name="Google Shape;395;p37"/>
          <p:cNvPicPr preferRelativeResize="0"/>
          <p:nvPr/>
        </p:nvPicPr>
        <p:blipFill rotWithShape="1">
          <a:blip r:embed="rId3">
            <a:alphaModFix/>
          </a:blip>
          <a:srcRect b="0" l="0" r="0" t="0"/>
          <a:stretch/>
        </p:blipFill>
        <p:spPr>
          <a:xfrm>
            <a:off x="1929178" y="4222984"/>
            <a:ext cx="8333643" cy="20313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pic>
        <p:nvPicPr>
          <p:cNvPr id="400" name="Google Shape;400;p38"/>
          <p:cNvPicPr preferRelativeResize="0"/>
          <p:nvPr/>
        </p:nvPicPr>
        <p:blipFill rotWithShape="1">
          <a:blip r:embed="rId3">
            <a:alphaModFix/>
          </a:blip>
          <a:srcRect b="0" l="0" r="0" t="0"/>
          <a:stretch/>
        </p:blipFill>
        <p:spPr>
          <a:xfrm>
            <a:off x="844062" y="473916"/>
            <a:ext cx="10185009" cy="620120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pic>
        <p:nvPicPr>
          <p:cNvPr id="405" name="Google Shape;405;p39"/>
          <p:cNvPicPr preferRelativeResize="0"/>
          <p:nvPr/>
        </p:nvPicPr>
        <p:blipFill rotWithShape="1">
          <a:blip r:embed="rId3">
            <a:alphaModFix/>
          </a:blip>
          <a:srcRect b="0" l="0" r="0" t="0"/>
          <a:stretch/>
        </p:blipFill>
        <p:spPr>
          <a:xfrm>
            <a:off x="3971064" y="3844833"/>
            <a:ext cx="4249869" cy="2877434"/>
          </a:xfrm>
          <a:prstGeom prst="rect">
            <a:avLst/>
          </a:prstGeom>
          <a:noFill/>
          <a:ln>
            <a:noFill/>
          </a:ln>
        </p:spPr>
      </p:pic>
      <p:sp>
        <p:nvSpPr>
          <p:cNvPr id="406" name="Google Shape;406;p39"/>
          <p:cNvSpPr txBox="1"/>
          <p:nvPr/>
        </p:nvSpPr>
        <p:spPr>
          <a:xfrm>
            <a:off x="699867" y="497617"/>
            <a:ext cx="60983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400" u="none" strike="noStrike">
                <a:solidFill>
                  <a:schemeClr val="dk1"/>
                </a:solidFill>
                <a:latin typeface="Arial"/>
                <a:ea typeface="Arial"/>
                <a:cs typeface="Arial"/>
                <a:sym typeface="Arial"/>
              </a:rPr>
              <a:t>Distribución Normal Estandar	</a:t>
            </a:r>
            <a:endParaRPr sz="2400">
              <a:solidFill>
                <a:schemeClr val="dk1"/>
              </a:solidFill>
              <a:latin typeface="Calibri"/>
              <a:ea typeface="Calibri"/>
              <a:cs typeface="Calibri"/>
              <a:sym typeface="Calibri"/>
            </a:endParaRPr>
          </a:p>
        </p:txBody>
      </p:sp>
      <p:pic>
        <p:nvPicPr>
          <p:cNvPr id="407" name="Google Shape;407;p39"/>
          <p:cNvPicPr preferRelativeResize="0"/>
          <p:nvPr/>
        </p:nvPicPr>
        <p:blipFill rotWithShape="1">
          <a:blip r:embed="rId4">
            <a:alphaModFix/>
          </a:blip>
          <a:srcRect b="0" l="0" r="0" t="0"/>
          <a:stretch/>
        </p:blipFill>
        <p:spPr>
          <a:xfrm>
            <a:off x="2299757" y="1063608"/>
            <a:ext cx="7592485" cy="267689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g2d4b4114ace_0_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414" name="Google Shape;414;g2d4b4114ace_0_3"/>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415" name="Google Shape;415;g2d4b4114ace_0_3"/>
          <p:cNvPicPr preferRelativeResize="0"/>
          <p:nvPr/>
        </p:nvPicPr>
        <p:blipFill>
          <a:blip r:embed="rId3">
            <a:alphaModFix/>
          </a:blip>
          <a:stretch>
            <a:fillRect/>
          </a:stretch>
        </p:blipFill>
        <p:spPr>
          <a:xfrm>
            <a:off x="0" y="0"/>
            <a:ext cx="12192000" cy="6858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0"/>
          <p:cNvSpPr txBox="1"/>
          <p:nvPr/>
        </p:nvSpPr>
        <p:spPr>
          <a:xfrm>
            <a:off x="882748" y="726053"/>
            <a:ext cx="10540218"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Si bien previamente se ha indicado que la forma de hallar las probabilidades en la distribución normal consiste en calcular la integral de la función correspondiente entre dos puntos cualesquiera de la variable aleatoria bajo estudio, lo que equivale a un área, la solución práctica para obtener esas probabilidades consiste en utilizar la Tabla de Probabilidades, apropiada para calcular cualquier probabilidad en el caso normal, sin que importe cuáles son los valores particulares de la variable aleatoria ni los parámetros de la distribución. </a:t>
            </a:r>
            <a:endParaRPr sz="1800">
              <a:solidFill>
                <a:schemeClr val="dk1"/>
              </a:solidFill>
              <a:latin typeface="Calibri"/>
              <a:ea typeface="Calibri"/>
              <a:cs typeface="Calibri"/>
              <a:sym typeface="Calibri"/>
            </a:endParaRPr>
          </a:p>
        </p:txBody>
      </p:sp>
      <p:pic>
        <p:nvPicPr>
          <p:cNvPr id="421" name="Google Shape;421;p40"/>
          <p:cNvPicPr preferRelativeResize="0"/>
          <p:nvPr/>
        </p:nvPicPr>
        <p:blipFill rotWithShape="1">
          <a:blip r:embed="rId3">
            <a:alphaModFix/>
          </a:blip>
          <a:srcRect b="0" l="0" r="0" t="0"/>
          <a:stretch/>
        </p:blipFill>
        <p:spPr>
          <a:xfrm>
            <a:off x="5007016" y="2350656"/>
            <a:ext cx="1145841" cy="812748"/>
          </a:xfrm>
          <a:prstGeom prst="rect">
            <a:avLst/>
          </a:prstGeom>
          <a:noFill/>
          <a:ln>
            <a:noFill/>
          </a:ln>
        </p:spPr>
      </p:pic>
      <p:sp>
        <p:nvSpPr>
          <p:cNvPr id="422" name="Google Shape;422;p40"/>
          <p:cNvSpPr txBox="1"/>
          <p:nvPr/>
        </p:nvSpPr>
        <p:spPr>
          <a:xfrm>
            <a:off x="882747" y="3354233"/>
            <a:ext cx="10540217"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Efectuada la transformación se utiliza la tabla, reconociéndose dos casos diferentes de búsqueda: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s-ES" sz="1800">
                <a:solidFill>
                  <a:schemeClr val="dk1"/>
                </a:solidFill>
                <a:latin typeface="Calibri"/>
                <a:ea typeface="Calibri"/>
                <a:cs typeface="Calibri"/>
                <a:sym typeface="Calibri"/>
              </a:rPr>
              <a:t>Caso de búsqueda directa: se dispone de determinados valores de la variable aleatoria y se obtienen en la tabla las probabilidades que les corresponden.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s-ES" sz="1800">
                <a:solidFill>
                  <a:schemeClr val="dk1"/>
                </a:solidFill>
                <a:latin typeface="Calibri"/>
                <a:ea typeface="Calibri"/>
                <a:cs typeface="Calibri"/>
                <a:sym typeface="Calibri"/>
              </a:rPr>
              <a:t>Caso de búsqueda inversa: se dispone de ciertos valores de probabilidad y se desea encontrar a qué valores de la variable aleatoria corresponden. </a:t>
            </a:r>
            <a:endParaRPr sz="1800">
              <a:solidFill>
                <a:schemeClr val="dk1"/>
              </a:solidFill>
              <a:latin typeface="Calibri"/>
              <a:ea typeface="Calibri"/>
              <a:cs typeface="Calibri"/>
              <a:sym typeface="Calibri"/>
            </a:endParaRPr>
          </a:p>
        </p:txBody>
      </p:sp>
      <p:pic>
        <p:nvPicPr>
          <p:cNvPr id="423" name="Google Shape;423;p40"/>
          <p:cNvPicPr preferRelativeResize="0"/>
          <p:nvPr/>
        </p:nvPicPr>
        <p:blipFill>
          <a:blip r:embed="rId4">
            <a:alphaModFix/>
          </a:blip>
          <a:stretch>
            <a:fillRect/>
          </a:stretch>
        </p:blipFill>
        <p:spPr>
          <a:xfrm>
            <a:off x="0" y="0"/>
            <a:ext cx="12192000" cy="6858000"/>
          </a:xfrm>
          <a:prstGeom prst="rect">
            <a:avLst/>
          </a:prstGeom>
          <a:noFill/>
          <a:ln>
            <a:noFill/>
          </a:ln>
        </p:spPr>
      </p:pic>
      <p:pic>
        <p:nvPicPr>
          <p:cNvPr id="424" name="Google Shape;424;p40"/>
          <p:cNvPicPr preferRelativeResize="0"/>
          <p:nvPr/>
        </p:nvPicPr>
        <p:blipFill>
          <a:blip r:embed="rId5">
            <a:alphaModFix/>
          </a:blip>
          <a:stretch>
            <a:fillRect/>
          </a:stretch>
        </p:blipFill>
        <p:spPr>
          <a:xfrm>
            <a:off x="152400" y="152400"/>
            <a:ext cx="12192000" cy="6858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1"/>
          <p:cNvSpPr txBox="1"/>
          <p:nvPr/>
        </p:nvSpPr>
        <p:spPr>
          <a:xfrm>
            <a:off x="728003" y="582024"/>
            <a:ext cx="609834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2000" u="none" strike="noStrike">
                <a:solidFill>
                  <a:schemeClr val="dk1"/>
                </a:solidFill>
                <a:latin typeface="Arial"/>
                <a:ea typeface="Arial"/>
                <a:cs typeface="Arial"/>
                <a:sym typeface="Arial"/>
              </a:rPr>
              <a:t>Distribuci</a:t>
            </a:r>
            <a:r>
              <a:rPr lang="es-ES" sz="2000">
                <a:solidFill>
                  <a:schemeClr val="dk1"/>
                </a:solidFill>
                <a:latin typeface="Arial"/>
                <a:ea typeface="Arial"/>
                <a:cs typeface="Arial"/>
                <a:sym typeface="Arial"/>
              </a:rPr>
              <a:t>ón t-student</a:t>
            </a:r>
            <a:endParaRPr sz="2000">
              <a:solidFill>
                <a:schemeClr val="dk1"/>
              </a:solidFill>
              <a:latin typeface="Calibri"/>
              <a:ea typeface="Calibri"/>
              <a:cs typeface="Calibri"/>
              <a:sym typeface="Calibri"/>
            </a:endParaRPr>
          </a:p>
        </p:txBody>
      </p:sp>
      <p:sp>
        <p:nvSpPr>
          <p:cNvPr id="430" name="Google Shape;430;p41"/>
          <p:cNvSpPr txBox="1"/>
          <p:nvPr/>
        </p:nvSpPr>
        <p:spPr>
          <a:xfrm>
            <a:off x="728003" y="1221602"/>
            <a:ext cx="11004452"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En las muestras de tamaño mayor a 30, llamadas muestras grandes, las distribuciones de muchos estadísticos son aproximadamente normales, y la aproximación es tanto mejor conforme aumenta el tamaño de la muestra. </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Para muestras de tamaño menor o igual a 30, llamadas muestras pequeñas, esta aproximación no es buena y va siendo peor a medida que el tamaño de la muestra disminuye.</a:t>
            </a:r>
            <a:endParaRPr sz="1800">
              <a:solidFill>
                <a:schemeClr val="dk1"/>
              </a:solidFill>
              <a:latin typeface="Calibri"/>
              <a:ea typeface="Calibri"/>
              <a:cs typeface="Calibri"/>
              <a:sym typeface="Calibri"/>
            </a:endParaRPr>
          </a:p>
        </p:txBody>
      </p:sp>
      <p:pic>
        <p:nvPicPr>
          <p:cNvPr id="431" name="Google Shape;431;p41"/>
          <p:cNvPicPr preferRelativeResize="0"/>
          <p:nvPr/>
        </p:nvPicPr>
        <p:blipFill rotWithShape="1">
          <a:blip r:embed="rId3">
            <a:alphaModFix/>
          </a:blip>
          <a:srcRect b="0" l="0" r="0" t="0"/>
          <a:stretch/>
        </p:blipFill>
        <p:spPr>
          <a:xfrm>
            <a:off x="4709779" y="2661399"/>
            <a:ext cx="2772442" cy="1200329"/>
          </a:xfrm>
          <a:prstGeom prst="rect">
            <a:avLst/>
          </a:prstGeom>
          <a:noFill/>
          <a:ln>
            <a:noFill/>
          </a:ln>
        </p:spPr>
      </p:pic>
      <p:sp>
        <p:nvSpPr>
          <p:cNvPr id="432" name="Google Shape;432;p41"/>
          <p:cNvSpPr txBox="1"/>
          <p:nvPr/>
        </p:nvSpPr>
        <p:spPr>
          <a:xfrm>
            <a:off x="728002" y="4436069"/>
            <a:ext cx="1100445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En la variable t de Student aparece el concepto de grados de libertad, que se simboliza con v y que resulta ser el número de variables linealmente independientes que se utilizan en el cálculo de las estadísticas.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2"/>
          <p:cNvSpPr txBox="1"/>
          <p:nvPr/>
        </p:nvSpPr>
        <p:spPr>
          <a:xfrm>
            <a:off x="858129" y="956604"/>
            <a:ext cx="10494499" cy="31700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000">
                <a:solidFill>
                  <a:schemeClr val="dk1"/>
                </a:solidFill>
                <a:latin typeface="Calibri"/>
                <a:ea typeface="Calibri"/>
                <a:cs typeface="Calibri"/>
                <a:sym typeface="Calibri"/>
              </a:rPr>
              <a:t>La distribución t de Student tiene las siguientes características:  </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Es simétrica, con media de 0, y variancia mayor que 1. </a:t>
            </a:r>
            <a:endParaRPr/>
          </a:p>
          <a:p>
            <a:pPr indent="-285750" lvl="0" marL="285750" marR="0" rtl="0" algn="l">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Es más achatada que la normal y adopta diferentes formas, según el número de grados de libertad.  </a:t>
            </a:r>
            <a:endParaRPr/>
          </a:p>
          <a:p>
            <a:pPr indent="-285750" lvl="0" marL="285750" marR="0" rtl="0" algn="l">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La variable t se extiende desde - ∞ a + ∞ </a:t>
            </a:r>
            <a:endParaRPr/>
          </a:p>
          <a:p>
            <a:pPr indent="-285750" lvl="0" marL="285750" marR="0" rtl="0" algn="l">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A medida que aumenta los grados de libertad la distribución “t” se aproxima en su forma a una distribución normal.</a:t>
            </a:r>
            <a:endParaRPr/>
          </a:p>
          <a:p>
            <a:pPr indent="-285750" lvl="0" marL="285750" marR="0" rtl="0" algn="l">
              <a:spcBef>
                <a:spcPts val="0"/>
              </a:spcBef>
              <a:spcAft>
                <a:spcPts val="0"/>
              </a:spcAft>
              <a:buClr>
                <a:schemeClr val="dk1"/>
              </a:buClr>
              <a:buSzPts val="2000"/>
              <a:buFont typeface="Arial"/>
              <a:buChar char="•"/>
            </a:pPr>
            <a:r>
              <a:rPr lang="es-ES" sz="2000">
                <a:solidFill>
                  <a:schemeClr val="dk1"/>
                </a:solidFill>
                <a:latin typeface="Calibri"/>
                <a:ea typeface="Calibri"/>
                <a:cs typeface="Calibri"/>
                <a:sym typeface="Calibri"/>
              </a:rPr>
              <a:t>El parámetro de la distribución son los grados de libertad, originando una distribución diferente para cada tamaño de muestra.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pic>
        <p:nvPicPr>
          <p:cNvPr id="442" name="Google Shape;442;p44"/>
          <p:cNvPicPr preferRelativeResize="0"/>
          <p:nvPr/>
        </p:nvPicPr>
        <p:blipFill>
          <a:blip r:embed="rId3">
            <a:alphaModFix/>
          </a:blip>
          <a:stretch>
            <a:fillRect/>
          </a:stretch>
        </p:blipFill>
        <p:spPr>
          <a:xfrm>
            <a:off x="152400" y="152400"/>
            <a:ext cx="11650132" cy="655319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pic>
        <p:nvPicPr>
          <p:cNvPr id="448" name="Google Shape;448;g2d4b4114ace_0_12"/>
          <p:cNvPicPr preferRelativeResize="0"/>
          <p:nvPr/>
        </p:nvPicPr>
        <p:blipFill>
          <a:blip r:embed="rId3">
            <a:alphaModFix/>
          </a:blip>
          <a:stretch>
            <a:fillRect/>
          </a:stretch>
        </p:blipFill>
        <p:spPr>
          <a:xfrm>
            <a:off x="0" y="939725"/>
            <a:ext cx="11370001" cy="39603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pic>
        <p:nvPicPr>
          <p:cNvPr id="454" name="Google Shape;454;g2d4b4114ace_0_19"/>
          <p:cNvPicPr preferRelativeResize="0"/>
          <p:nvPr/>
        </p:nvPicPr>
        <p:blipFill>
          <a:blip r:embed="rId3">
            <a:alphaModFix/>
          </a:blip>
          <a:stretch>
            <a:fillRect/>
          </a:stretch>
        </p:blipFill>
        <p:spPr>
          <a:xfrm>
            <a:off x="152400" y="152400"/>
            <a:ext cx="11016343" cy="67056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2024-05-03T14:14:01Z</dcterms:created>
  <dc:creator>Walter Ramirez</dc:creator>
</cp:coreProperties>
</file>