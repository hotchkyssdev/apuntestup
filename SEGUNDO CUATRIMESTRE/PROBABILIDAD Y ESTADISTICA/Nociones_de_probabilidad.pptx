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Lst>
  <p:sldSz cy="6858000" cx="12192000"/>
  <p:notesSz cx="6858000" cy="9144000"/>
  <p:embeddedFontLst>
    <p:embeddedFont>
      <p:font typeface="Noto Sans Symbols"/>
      <p:regular r:id="rId48"/>
      <p:bold r:id="rId49"/>
    </p:embeddedFont>
    <p:embeddedFont>
      <p:font typeface="Cambria Math"/>
      <p:regular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il3fBdpvx9avMFop57TD9sBzv0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NotoSansSymbols-regular.fntdata"/><Relationship Id="rId47" Type="http://schemas.openxmlformats.org/officeDocument/2006/relationships/slide" Target="slides/slide43.xml"/><Relationship Id="rId49" Type="http://schemas.openxmlformats.org/officeDocument/2006/relationships/font" Target="fonts/NotoSansSymbols-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font" Target="fonts/CambriaMath-regular.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4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4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4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4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4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4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4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5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5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5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3"/>
          <p:cNvSpPr/>
          <p:nvPr>
            <p:ph idx="2" type="pic"/>
          </p:nvPr>
        </p:nvSpPr>
        <p:spPr>
          <a:xfrm>
            <a:off x="5183188" y="987425"/>
            <a:ext cx="6172200" cy="4873625"/>
          </a:xfrm>
          <a:prstGeom prst="rect">
            <a:avLst/>
          </a:prstGeom>
          <a:noFill/>
          <a:ln>
            <a:noFill/>
          </a:ln>
        </p:spPr>
      </p:sp>
      <p:sp>
        <p:nvSpPr>
          <p:cNvPr id="64" name="Google Shape;64;p5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5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9.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7.png"/><Relationship Id="rId5"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22.png"/><Relationship Id="rId5" Type="http://schemas.openxmlformats.org/officeDocument/2006/relationships/image" Target="../media/image37.png"/><Relationship Id="rId6"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3.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7.png"/><Relationship Id="rId4" Type="http://schemas.openxmlformats.org/officeDocument/2006/relationships/image" Target="../media/image33.png"/><Relationship Id="rId5" Type="http://schemas.openxmlformats.org/officeDocument/2006/relationships/image" Target="../media/image4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1.png"/><Relationship Id="rId4" Type="http://schemas.openxmlformats.org/officeDocument/2006/relationships/image" Target="../media/image4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9.png"/><Relationship Id="rId4" Type="http://schemas.openxmlformats.org/officeDocument/2006/relationships/image" Target="../media/image36.png"/><Relationship Id="rId5" Type="http://schemas.openxmlformats.org/officeDocument/2006/relationships/image" Target="../media/image43.png"/><Relationship Id="rId6" Type="http://schemas.openxmlformats.org/officeDocument/2006/relationships/image" Target="../media/image5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2.png"/><Relationship Id="rId4" Type="http://schemas.openxmlformats.org/officeDocument/2006/relationships/image" Target="../media/image4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6.png"/><Relationship Id="rId4" Type="http://schemas.openxmlformats.org/officeDocument/2006/relationships/image" Target="../media/image5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s-ES"/>
              <a:t>ESTADISTICA</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s-ES"/>
              <a:t>2025</a:t>
            </a:r>
            <a:endParaRPr/>
          </a:p>
          <a:p>
            <a:pPr indent="0" lvl="0" marL="0" rtl="0" algn="ctr">
              <a:lnSpc>
                <a:spcPct val="90000"/>
              </a:lnSpc>
              <a:spcBef>
                <a:spcPts val="100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nvSpPr>
        <p:spPr>
          <a:xfrm>
            <a:off x="874644" y="887895"/>
            <a:ext cx="10402957" cy="2862322"/>
          </a:xfrm>
          <a:prstGeom prst="rect">
            <a:avLst/>
          </a:prstGeom>
          <a:blipFill rotWithShape="1">
            <a:blip r:embed="rId3">
              <a:alphaModFix/>
            </a:blip>
            <a:stretch>
              <a:fillRect b="-2558" l="-468" r="-467" t="-127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s-ES" sz="1800" u="none" cap="none" strike="noStrike">
                <a:latin typeface="Calibri"/>
                <a:ea typeface="Calibri"/>
                <a:cs typeface="Calibri"/>
                <a:sym typeface="Calibri"/>
              </a:rPr>
              <a:t> </a:t>
            </a:r>
            <a:endParaRPr/>
          </a:p>
        </p:txBody>
      </p:sp>
      <p:pic>
        <p:nvPicPr>
          <p:cNvPr id="91" name="Google Shape;91;p2"/>
          <p:cNvPicPr preferRelativeResize="0"/>
          <p:nvPr/>
        </p:nvPicPr>
        <p:blipFill rotWithShape="1">
          <a:blip r:embed="rId4">
            <a:alphaModFix/>
          </a:blip>
          <a:srcRect b="0" l="0" r="0" t="0"/>
          <a:stretch/>
        </p:blipFill>
        <p:spPr>
          <a:xfrm>
            <a:off x="874644" y="3983623"/>
            <a:ext cx="9899374" cy="222946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nvSpPr>
        <p:spPr>
          <a:xfrm>
            <a:off x="901147" y="808384"/>
            <a:ext cx="10416209" cy="3804760"/>
          </a:xfrm>
          <a:prstGeom prst="rect">
            <a:avLst/>
          </a:prstGeom>
          <a:noFill/>
          <a:ln>
            <a:noFill/>
          </a:ln>
        </p:spPr>
        <p:txBody>
          <a:bodyPr anchorCtr="0" anchor="t" bIns="45700" lIns="91425" spcFirstLastPara="1" rIns="91425" wrap="square" tIns="45700">
            <a:spAutoFit/>
          </a:bodyPr>
          <a:lstStyle/>
          <a:p>
            <a:pPr indent="0" lvl="0" marL="12700" marR="0" rtl="0" algn="l">
              <a:lnSpc>
                <a:spcPct val="100000"/>
              </a:lnSpc>
              <a:spcBef>
                <a:spcPts val="0"/>
              </a:spcBef>
              <a:spcAft>
                <a:spcPts val="0"/>
              </a:spcAft>
              <a:buNone/>
            </a:pPr>
            <a:r>
              <a:rPr b="1" lang="es-ES" sz="1800">
                <a:solidFill>
                  <a:schemeClr val="dk1"/>
                </a:solidFill>
                <a:latin typeface="Calibri"/>
                <a:ea typeface="Calibri"/>
                <a:cs typeface="Calibri"/>
                <a:sym typeface="Calibri"/>
              </a:rPr>
              <a:t>Conjunto Vacío: </a:t>
            </a:r>
            <a:r>
              <a:rPr lang="es-ES" sz="1800">
                <a:solidFill>
                  <a:schemeClr val="dk1"/>
                </a:solidFill>
                <a:latin typeface="Calibri"/>
                <a:ea typeface="Calibri"/>
                <a:cs typeface="Calibri"/>
                <a:sym typeface="Calibri"/>
              </a:rPr>
              <a:t>se simboliza con  y es aquel conjunto que no posee elementos.</a:t>
            </a:r>
            <a:endParaRPr sz="1800">
              <a:solidFill>
                <a:schemeClr val="dk1"/>
              </a:solidFill>
              <a:latin typeface="Calibri"/>
              <a:ea typeface="Calibri"/>
              <a:cs typeface="Calibri"/>
              <a:sym typeface="Calibri"/>
            </a:endParaRPr>
          </a:p>
          <a:p>
            <a:pPr indent="0" lvl="0" marL="12700" marR="0" rtl="0" algn="l">
              <a:lnSpc>
                <a:spcPct val="100000"/>
              </a:lnSpc>
              <a:spcBef>
                <a:spcPts val="685"/>
              </a:spcBef>
              <a:spcAft>
                <a:spcPts val="0"/>
              </a:spcAft>
              <a:buNone/>
            </a:pPr>
            <a:r>
              <a:t/>
            </a:r>
            <a:endParaRPr b="1" sz="1800">
              <a:solidFill>
                <a:schemeClr val="dk1"/>
              </a:solidFill>
              <a:latin typeface="Calibri"/>
              <a:ea typeface="Calibri"/>
              <a:cs typeface="Calibri"/>
              <a:sym typeface="Calibri"/>
            </a:endParaRPr>
          </a:p>
          <a:p>
            <a:pPr indent="0" lvl="0" marL="12700" marR="0" rtl="0" algn="l">
              <a:lnSpc>
                <a:spcPct val="100000"/>
              </a:lnSpc>
              <a:spcBef>
                <a:spcPts val="685"/>
              </a:spcBef>
              <a:spcAft>
                <a:spcPts val="0"/>
              </a:spcAft>
              <a:buNone/>
            </a:pPr>
            <a:r>
              <a:rPr b="1" lang="es-ES" sz="1800">
                <a:solidFill>
                  <a:schemeClr val="dk1"/>
                </a:solidFill>
                <a:latin typeface="Calibri"/>
                <a:ea typeface="Calibri"/>
                <a:cs typeface="Calibri"/>
                <a:sym typeface="Calibri"/>
              </a:rPr>
              <a:t>Ejemplo</a:t>
            </a:r>
            <a:r>
              <a:rPr lang="es-ES" sz="1800">
                <a:solidFill>
                  <a:schemeClr val="dk1"/>
                </a:solidFill>
                <a:latin typeface="Calibri"/>
                <a:ea typeface="Calibri"/>
                <a:cs typeface="Calibri"/>
                <a:sym typeface="Calibri"/>
              </a:rPr>
              <a:t>: A = {números impares entre 5 y 7} = </a:t>
            </a:r>
            <a:r>
              <a:rPr lang="es-ES" sz="1600">
                <a:solidFill>
                  <a:schemeClr val="dk1"/>
                </a:solidFill>
                <a:latin typeface="Calibri"/>
                <a:ea typeface="Calibri"/>
                <a:cs typeface="Calibri"/>
                <a:sym typeface="Calibri"/>
              </a:rPr>
              <a:t>∅</a:t>
            </a:r>
            <a:endParaRPr sz="1600">
              <a:solidFill>
                <a:schemeClr val="dk1"/>
              </a:solidFill>
              <a:latin typeface="Calibri"/>
              <a:ea typeface="Calibri"/>
              <a:cs typeface="Calibri"/>
              <a:sym typeface="Calibri"/>
            </a:endParaRPr>
          </a:p>
          <a:p>
            <a:pPr indent="0" lvl="0" marL="12700" marR="0" rtl="0" algn="l">
              <a:lnSpc>
                <a:spcPct val="100000"/>
              </a:lnSpc>
              <a:spcBef>
                <a:spcPts val="625"/>
              </a:spcBef>
              <a:spcAft>
                <a:spcPts val="0"/>
              </a:spcAft>
              <a:buNone/>
            </a:pPr>
            <a:r>
              <a:rPr lang="es-ES" sz="1800">
                <a:solidFill>
                  <a:schemeClr val="dk1"/>
                </a:solidFill>
                <a:latin typeface="Calibri"/>
                <a:ea typeface="Calibri"/>
                <a:cs typeface="Calibri"/>
                <a:sym typeface="Calibri"/>
              </a:rPr>
              <a:t>No existe ningún número impar entre los números 5 y 7.</a:t>
            </a:r>
            <a:endParaRPr sz="1800">
              <a:solidFill>
                <a:schemeClr val="dk1"/>
              </a:solidFill>
              <a:latin typeface="Calibri"/>
              <a:ea typeface="Calibri"/>
              <a:cs typeface="Calibri"/>
              <a:sym typeface="Calibri"/>
            </a:endParaRPr>
          </a:p>
          <a:p>
            <a:pPr indent="0" lvl="0" marL="0" marR="0" rtl="0" algn="l">
              <a:lnSpc>
                <a:spcPct val="100000"/>
              </a:lnSpc>
              <a:spcBef>
                <a:spcPts val="50"/>
              </a:spcBef>
              <a:spcAft>
                <a:spcPts val="0"/>
              </a:spcAft>
              <a:buNone/>
            </a:pPr>
            <a:r>
              <a:t/>
            </a:r>
            <a:endParaRPr sz="2800">
              <a:solidFill>
                <a:schemeClr val="dk1"/>
              </a:solidFill>
              <a:latin typeface="Calibri"/>
              <a:ea typeface="Calibri"/>
              <a:cs typeface="Calibri"/>
              <a:sym typeface="Calibri"/>
            </a:endParaRPr>
          </a:p>
          <a:p>
            <a:pPr indent="0" lvl="0" marL="12700" marR="142240" rtl="0" algn="l">
              <a:lnSpc>
                <a:spcPct val="144200"/>
              </a:lnSpc>
              <a:spcBef>
                <a:spcPts val="0"/>
              </a:spcBef>
              <a:spcAft>
                <a:spcPts val="0"/>
              </a:spcAft>
              <a:buNone/>
            </a:pPr>
            <a:r>
              <a:rPr b="1" lang="es-ES" sz="1800">
                <a:solidFill>
                  <a:schemeClr val="dk1"/>
                </a:solidFill>
                <a:latin typeface="Calibri"/>
                <a:ea typeface="Calibri"/>
                <a:cs typeface="Calibri"/>
                <a:sym typeface="Calibri"/>
              </a:rPr>
              <a:t>Conjunto Universal: </a:t>
            </a:r>
            <a:r>
              <a:rPr lang="es-ES" sz="1800">
                <a:solidFill>
                  <a:schemeClr val="dk1"/>
                </a:solidFill>
                <a:latin typeface="Calibri"/>
                <a:ea typeface="Calibri"/>
                <a:cs typeface="Calibri"/>
                <a:sym typeface="Calibri"/>
              </a:rPr>
              <a:t>se simboliza con </a:t>
            </a:r>
            <a:r>
              <a:rPr b="1" lang="es-ES" sz="1800">
                <a:solidFill>
                  <a:schemeClr val="dk1"/>
                </a:solidFill>
                <a:latin typeface="Calibri"/>
                <a:ea typeface="Calibri"/>
                <a:cs typeface="Calibri"/>
                <a:sym typeface="Calibri"/>
              </a:rPr>
              <a:t>U </a:t>
            </a:r>
            <a:r>
              <a:rPr lang="es-ES" sz="1800">
                <a:solidFill>
                  <a:schemeClr val="dk1"/>
                </a:solidFill>
                <a:latin typeface="Calibri"/>
                <a:ea typeface="Calibri"/>
                <a:cs typeface="Calibri"/>
                <a:sym typeface="Calibri"/>
              </a:rPr>
              <a:t>y es aquel conjunto que contiene todos los elementos</a:t>
            </a:r>
            <a:endParaRPr/>
          </a:p>
          <a:p>
            <a:pPr indent="0" lvl="0" marL="12700" marR="142240" rtl="0" algn="l">
              <a:lnSpc>
                <a:spcPct val="144200"/>
              </a:lnSpc>
              <a:spcBef>
                <a:spcPts val="0"/>
              </a:spcBef>
              <a:spcAft>
                <a:spcPts val="0"/>
              </a:spcAft>
              <a:buNone/>
            </a:pPr>
            <a:r>
              <a:t/>
            </a:r>
            <a:endParaRPr sz="1800">
              <a:solidFill>
                <a:schemeClr val="dk1"/>
              </a:solidFill>
              <a:latin typeface="Calibri"/>
              <a:ea typeface="Calibri"/>
              <a:cs typeface="Calibri"/>
              <a:sym typeface="Calibri"/>
            </a:endParaRPr>
          </a:p>
          <a:p>
            <a:pPr indent="0" lvl="0" marL="101600" marR="0" rtl="0" algn="l">
              <a:lnSpc>
                <a:spcPct val="100000"/>
              </a:lnSpc>
              <a:spcBef>
                <a:spcPts val="910"/>
              </a:spcBef>
              <a:spcAft>
                <a:spcPts val="0"/>
              </a:spcAft>
              <a:buNone/>
            </a:pPr>
            <a:r>
              <a:rPr lang="es-ES" sz="1800">
                <a:solidFill>
                  <a:schemeClr val="dk1"/>
                </a:solidFill>
                <a:latin typeface="Calibri"/>
                <a:ea typeface="Calibri"/>
                <a:cs typeface="Calibri"/>
                <a:sym typeface="Calibri"/>
              </a:rPr>
              <a:t>Si un conjunto tiene </a:t>
            </a:r>
            <a:r>
              <a:rPr b="1" lang="es-ES" sz="1800">
                <a:solidFill>
                  <a:schemeClr val="dk1"/>
                </a:solidFill>
                <a:latin typeface="Calibri"/>
                <a:ea typeface="Calibri"/>
                <a:cs typeface="Calibri"/>
                <a:sym typeface="Calibri"/>
              </a:rPr>
              <a:t>n </a:t>
            </a:r>
            <a:r>
              <a:rPr lang="es-ES" sz="1800">
                <a:solidFill>
                  <a:schemeClr val="dk1"/>
                </a:solidFill>
                <a:latin typeface="Calibri"/>
                <a:ea typeface="Calibri"/>
                <a:cs typeface="Calibri"/>
                <a:sym typeface="Calibri"/>
              </a:rPr>
              <a:t>elementos, se dice que es </a:t>
            </a:r>
            <a:r>
              <a:rPr b="1" lang="es-ES" sz="1800">
                <a:solidFill>
                  <a:schemeClr val="dk1"/>
                </a:solidFill>
                <a:latin typeface="Calibri"/>
                <a:ea typeface="Calibri"/>
                <a:cs typeface="Calibri"/>
                <a:sym typeface="Calibri"/>
              </a:rPr>
              <a:t>finito</a:t>
            </a:r>
            <a:r>
              <a:rPr lang="es-ES" sz="1800">
                <a:solidFill>
                  <a:schemeClr val="dk1"/>
                </a:solidFill>
                <a:latin typeface="Calibri"/>
                <a:ea typeface="Calibri"/>
                <a:cs typeface="Calibri"/>
                <a:sym typeface="Calibri"/>
              </a:rPr>
              <a:t>, caso contrario el conjunto es</a:t>
            </a:r>
            <a:endParaRPr sz="1800">
              <a:solidFill>
                <a:schemeClr val="dk1"/>
              </a:solidFill>
              <a:latin typeface="Calibri"/>
              <a:ea typeface="Calibri"/>
              <a:cs typeface="Calibri"/>
              <a:sym typeface="Calibri"/>
            </a:endParaRPr>
          </a:p>
          <a:p>
            <a:pPr indent="0" lvl="0" marL="101600" marR="0" rtl="0" algn="l">
              <a:lnSpc>
                <a:spcPct val="100000"/>
              </a:lnSpc>
              <a:spcBef>
                <a:spcPts val="625"/>
              </a:spcBef>
              <a:spcAft>
                <a:spcPts val="0"/>
              </a:spcAft>
              <a:buNone/>
            </a:pPr>
            <a:r>
              <a:rPr b="1" lang="es-ES" sz="1800">
                <a:solidFill>
                  <a:schemeClr val="dk1"/>
                </a:solidFill>
                <a:latin typeface="Calibri"/>
                <a:ea typeface="Calibri"/>
                <a:cs typeface="Calibri"/>
                <a:sym typeface="Calibri"/>
              </a:rPr>
              <a:t>infinito</a:t>
            </a:r>
            <a:r>
              <a:rPr lang="es-E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0" lvl="0" marL="12700" marR="142240" rtl="0" algn="l">
              <a:lnSpc>
                <a:spcPct val="144200"/>
              </a:lnSpc>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nvSpPr>
        <p:spPr>
          <a:xfrm>
            <a:off x="728870" y="596347"/>
            <a:ext cx="10694504" cy="1647952"/>
          </a:xfrm>
          <a:prstGeom prst="rect">
            <a:avLst/>
          </a:prstGeom>
          <a:noFill/>
          <a:ln>
            <a:noFill/>
          </a:ln>
        </p:spPr>
        <p:txBody>
          <a:bodyPr anchorCtr="0" anchor="t" bIns="45700" lIns="91425" spcFirstLastPara="1" rIns="91425" wrap="square" tIns="45700">
            <a:spAutoFit/>
          </a:bodyPr>
          <a:lstStyle/>
          <a:p>
            <a:pPr indent="-861060" lvl="0" marL="2143125" marR="917575" rtl="0" algn="l">
              <a:lnSpc>
                <a:spcPct val="144200"/>
              </a:lnSpc>
              <a:spcBef>
                <a:spcPts val="0"/>
              </a:spcBef>
              <a:spcAft>
                <a:spcPts val="0"/>
              </a:spcAft>
              <a:buNone/>
            </a:pPr>
            <a:r>
              <a:rPr b="1" lang="es-ES" sz="1800">
                <a:solidFill>
                  <a:schemeClr val="dk1"/>
                </a:solidFill>
                <a:latin typeface="Calibri"/>
                <a:ea typeface="Calibri"/>
                <a:cs typeface="Calibri"/>
                <a:sym typeface="Calibri"/>
              </a:rPr>
              <a:t>       REPRESENTACIÓN GRÁFICA DE CONJUNTOS DIAGRAMAS DE VENN</a:t>
            </a:r>
            <a:endParaRPr sz="1800">
              <a:solidFill>
                <a:schemeClr val="dk1"/>
              </a:solidFill>
              <a:latin typeface="Calibri"/>
              <a:ea typeface="Calibri"/>
              <a:cs typeface="Calibri"/>
              <a:sym typeface="Calibri"/>
            </a:endParaRPr>
          </a:p>
          <a:p>
            <a:pPr indent="0" lvl="0" marL="12700" marR="5080" rtl="0" algn="l">
              <a:lnSpc>
                <a:spcPct val="115555"/>
              </a:lnSpc>
              <a:spcBef>
                <a:spcPts val="135"/>
              </a:spcBef>
              <a:spcAft>
                <a:spcPts val="0"/>
              </a:spcAft>
              <a:buNone/>
            </a:pPr>
            <a:r>
              <a:rPr lang="es-ES" sz="1800">
                <a:solidFill>
                  <a:schemeClr val="dk1"/>
                </a:solidFill>
                <a:latin typeface="Calibri"/>
                <a:ea typeface="Calibri"/>
                <a:cs typeface="Calibri"/>
                <a:sym typeface="Calibri"/>
              </a:rPr>
              <a:t>Los conjuntos pueden representarse gráficamente mediante diagramas de Venn, en honor al matemático John Venn.</a:t>
            </a:r>
            <a:endParaRPr sz="1800">
              <a:solidFill>
                <a:schemeClr val="dk1"/>
              </a:solidFill>
              <a:latin typeface="Calibri"/>
              <a:ea typeface="Calibri"/>
              <a:cs typeface="Calibri"/>
              <a:sym typeface="Calibri"/>
            </a:endParaRPr>
          </a:p>
          <a:p>
            <a:pPr indent="0" lvl="0" marL="12700" marR="0" rtl="0" algn="l">
              <a:lnSpc>
                <a:spcPct val="100000"/>
              </a:lnSpc>
              <a:spcBef>
                <a:spcPts val="445"/>
              </a:spcBef>
              <a:spcAft>
                <a:spcPts val="0"/>
              </a:spcAft>
              <a:buNone/>
            </a:pPr>
            <a:r>
              <a:rPr lang="es-ES" sz="1800">
                <a:solidFill>
                  <a:schemeClr val="dk1"/>
                </a:solidFill>
                <a:latin typeface="Calibri"/>
                <a:ea typeface="Calibri"/>
                <a:cs typeface="Calibri"/>
                <a:sym typeface="Calibri"/>
              </a:rPr>
              <a:t>El conjunto universal se representa con un rectángulo, y el diagrama para un conjunto A cualquiera es una curva cerrada en cuyo interior se colocan puntos que representan a los elementos del conjunto A.</a:t>
            </a:r>
            <a:endParaRPr sz="1800">
              <a:solidFill>
                <a:schemeClr val="dk1"/>
              </a:solidFill>
              <a:latin typeface="Calibri"/>
              <a:ea typeface="Calibri"/>
              <a:cs typeface="Calibri"/>
              <a:sym typeface="Calibri"/>
            </a:endParaRPr>
          </a:p>
        </p:txBody>
      </p:sp>
      <p:pic>
        <p:nvPicPr>
          <p:cNvPr id="102" name="Google Shape;102;p4"/>
          <p:cNvPicPr preferRelativeResize="0"/>
          <p:nvPr/>
        </p:nvPicPr>
        <p:blipFill rotWithShape="1">
          <a:blip r:embed="rId3">
            <a:alphaModFix/>
          </a:blip>
          <a:srcRect b="0" l="0" r="0" t="0"/>
          <a:stretch/>
        </p:blipFill>
        <p:spPr>
          <a:xfrm>
            <a:off x="2534882" y="2538833"/>
            <a:ext cx="6896949" cy="414973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5"/>
          <p:cNvSpPr txBox="1"/>
          <p:nvPr/>
        </p:nvSpPr>
        <p:spPr>
          <a:xfrm>
            <a:off x="556591" y="470766"/>
            <a:ext cx="11423373" cy="1572866"/>
          </a:xfrm>
          <a:prstGeom prst="rect">
            <a:avLst/>
          </a:prstGeom>
          <a:noFill/>
          <a:ln>
            <a:noFill/>
          </a:ln>
        </p:spPr>
        <p:txBody>
          <a:bodyPr anchorCtr="0" anchor="t" bIns="45700" lIns="91425" spcFirstLastPara="1" rIns="91425" wrap="square" tIns="45700">
            <a:spAutoFit/>
          </a:bodyPr>
          <a:lstStyle/>
          <a:p>
            <a:pPr indent="0" lvl="0" marL="5080" marR="0" rtl="0" algn="ctr">
              <a:lnSpc>
                <a:spcPct val="100000"/>
              </a:lnSpc>
              <a:spcBef>
                <a:spcPts val="0"/>
              </a:spcBef>
              <a:spcAft>
                <a:spcPts val="0"/>
              </a:spcAft>
              <a:buNone/>
            </a:pPr>
            <a:r>
              <a:rPr b="1" lang="es-ES" sz="1800">
                <a:solidFill>
                  <a:schemeClr val="dk1"/>
                </a:solidFill>
                <a:latin typeface="Calibri"/>
                <a:ea typeface="Calibri"/>
                <a:cs typeface="Calibri"/>
                <a:sym typeface="Calibri"/>
              </a:rPr>
              <a:t>INCLUSIÓN - SUBCONJUNTOS</a:t>
            </a:r>
            <a:endParaRPr/>
          </a:p>
          <a:p>
            <a:pPr indent="0" lvl="0" marL="5080" marR="0" rtl="0" algn="ctr">
              <a:lnSpc>
                <a:spcPct val="100000"/>
              </a:lnSpc>
              <a:spcBef>
                <a:spcPts val="700"/>
              </a:spcBef>
              <a:spcAft>
                <a:spcPts val="0"/>
              </a:spcAft>
              <a:buNone/>
            </a:pPr>
            <a:r>
              <a:t/>
            </a:r>
            <a:endParaRPr sz="1800">
              <a:solidFill>
                <a:schemeClr val="dk1"/>
              </a:solidFill>
              <a:latin typeface="Calibri"/>
              <a:ea typeface="Calibri"/>
              <a:cs typeface="Calibri"/>
              <a:sym typeface="Calibri"/>
            </a:endParaRPr>
          </a:p>
          <a:p>
            <a:pPr indent="0" lvl="0" marL="12700" marR="5080" rtl="0" algn="l">
              <a:lnSpc>
                <a:spcPct val="120000"/>
              </a:lnSpc>
              <a:spcBef>
                <a:spcPts val="0"/>
              </a:spcBef>
              <a:spcAft>
                <a:spcPts val="0"/>
              </a:spcAft>
              <a:buNone/>
            </a:pPr>
            <a:r>
              <a:rPr lang="es-ES" sz="1800">
                <a:solidFill>
                  <a:schemeClr val="dk1"/>
                </a:solidFill>
                <a:latin typeface="Calibri"/>
                <a:ea typeface="Calibri"/>
                <a:cs typeface="Calibri"/>
                <a:sym typeface="Calibri"/>
              </a:rPr>
              <a:t>Se dice que el conjunto A está </a:t>
            </a:r>
            <a:r>
              <a:rPr b="1" lang="es-ES" sz="1800">
                <a:solidFill>
                  <a:schemeClr val="dk1"/>
                </a:solidFill>
                <a:latin typeface="Calibri"/>
                <a:ea typeface="Calibri"/>
                <a:cs typeface="Calibri"/>
                <a:sym typeface="Calibri"/>
              </a:rPr>
              <a:t>contenido </a:t>
            </a:r>
            <a:r>
              <a:rPr lang="es-ES" sz="1800">
                <a:solidFill>
                  <a:schemeClr val="dk1"/>
                </a:solidFill>
                <a:latin typeface="Calibri"/>
                <a:ea typeface="Calibri"/>
                <a:cs typeface="Calibri"/>
                <a:sym typeface="Calibri"/>
              </a:rPr>
              <a:t>en B (o que A es un </a:t>
            </a:r>
            <a:r>
              <a:rPr b="1" lang="es-ES" sz="1800">
                <a:solidFill>
                  <a:schemeClr val="dk1"/>
                </a:solidFill>
                <a:latin typeface="Calibri"/>
                <a:ea typeface="Calibri"/>
                <a:cs typeface="Calibri"/>
                <a:sym typeface="Calibri"/>
              </a:rPr>
              <a:t>subconjunto </a:t>
            </a:r>
            <a:r>
              <a:rPr lang="es-ES" sz="1800">
                <a:solidFill>
                  <a:schemeClr val="dk1"/>
                </a:solidFill>
                <a:latin typeface="Calibri"/>
                <a:ea typeface="Calibri"/>
                <a:cs typeface="Calibri"/>
                <a:sym typeface="Calibri"/>
              </a:rPr>
              <a:t>de B), y se simboliza A  B, si todos los elementos de A son elementos de B.</a:t>
            </a:r>
            <a:endParaRPr/>
          </a:p>
          <a:p>
            <a:pPr indent="0" lvl="0" marL="12700" marR="5080" rtl="0" algn="l">
              <a:lnSpc>
                <a:spcPct val="120000"/>
              </a:lnSpc>
              <a:spcBef>
                <a:spcPts val="0"/>
              </a:spcBef>
              <a:spcAft>
                <a:spcPts val="0"/>
              </a:spcAft>
              <a:buNone/>
            </a:pPr>
            <a:r>
              <a:t/>
            </a:r>
            <a:endParaRPr sz="1800">
              <a:solidFill>
                <a:schemeClr val="dk1"/>
              </a:solidFill>
              <a:latin typeface="Calibri"/>
              <a:ea typeface="Calibri"/>
              <a:cs typeface="Calibri"/>
              <a:sym typeface="Calibri"/>
            </a:endParaRPr>
          </a:p>
        </p:txBody>
      </p:sp>
      <p:pic>
        <p:nvPicPr>
          <p:cNvPr id="108" name="Google Shape;108;p5"/>
          <p:cNvPicPr preferRelativeResize="0"/>
          <p:nvPr/>
        </p:nvPicPr>
        <p:blipFill rotWithShape="1">
          <a:blip r:embed="rId3">
            <a:alphaModFix/>
          </a:blip>
          <a:srcRect b="0" l="0" r="0" t="0"/>
          <a:stretch/>
        </p:blipFill>
        <p:spPr>
          <a:xfrm>
            <a:off x="5214730" y="1498651"/>
            <a:ext cx="1206752" cy="1199303"/>
          </a:xfrm>
          <a:prstGeom prst="rect">
            <a:avLst/>
          </a:prstGeom>
          <a:noFill/>
          <a:ln>
            <a:noFill/>
          </a:ln>
        </p:spPr>
      </p:pic>
      <p:sp>
        <p:nvSpPr>
          <p:cNvPr id="109" name="Google Shape;109;p5"/>
          <p:cNvSpPr txBox="1"/>
          <p:nvPr/>
        </p:nvSpPr>
        <p:spPr>
          <a:xfrm>
            <a:off x="556591" y="2653326"/>
            <a:ext cx="11131825" cy="462819"/>
          </a:xfrm>
          <a:prstGeom prst="rect">
            <a:avLst/>
          </a:prstGeom>
          <a:noFill/>
          <a:ln>
            <a:noFill/>
          </a:ln>
        </p:spPr>
        <p:txBody>
          <a:bodyPr anchorCtr="0" anchor="t" bIns="45700" lIns="91425" spcFirstLastPara="1" rIns="91425" wrap="square" tIns="45700">
            <a:spAutoFit/>
          </a:bodyPr>
          <a:lstStyle/>
          <a:p>
            <a:pPr indent="0" lvl="0" marL="38100" marR="30480" rtl="0" algn="l">
              <a:lnSpc>
                <a:spcPct val="149300"/>
              </a:lnSpc>
              <a:spcBef>
                <a:spcPts val="0"/>
              </a:spcBef>
              <a:spcAft>
                <a:spcPts val="0"/>
              </a:spcAft>
              <a:buNone/>
            </a:pPr>
            <a:r>
              <a:rPr lang="es-ES" sz="1800">
                <a:solidFill>
                  <a:schemeClr val="dk1"/>
                </a:solidFill>
                <a:latin typeface="Calibri"/>
                <a:ea typeface="Calibri"/>
                <a:cs typeface="Calibri"/>
                <a:sym typeface="Calibri"/>
              </a:rPr>
              <a:t>En caso contrario, se dice que A no está contenido en B (o que A no es subconjunto de B) y se simboliza A B.</a:t>
            </a:r>
            <a:endParaRPr sz="1800">
              <a:solidFill>
                <a:schemeClr val="dk1"/>
              </a:solidFill>
              <a:latin typeface="Calibri"/>
              <a:ea typeface="Calibri"/>
              <a:cs typeface="Calibri"/>
              <a:sym typeface="Calibri"/>
            </a:endParaRPr>
          </a:p>
        </p:txBody>
      </p:sp>
      <p:pic>
        <p:nvPicPr>
          <p:cNvPr id="110" name="Google Shape;110;p5"/>
          <p:cNvPicPr preferRelativeResize="0"/>
          <p:nvPr/>
        </p:nvPicPr>
        <p:blipFill rotWithShape="1">
          <a:blip r:embed="rId4">
            <a:alphaModFix/>
          </a:blip>
          <a:srcRect b="0" l="0" r="0" t="0"/>
          <a:stretch/>
        </p:blipFill>
        <p:spPr>
          <a:xfrm>
            <a:off x="602974" y="3170816"/>
            <a:ext cx="4801270" cy="33818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nvSpPr>
        <p:spPr>
          <a:xfrm>
            <a:off x="808382" y="963469"/>
            <a:ext cx="10747513" cy="1910010"/>
          </a:xfrm>
          <a:prstGeom prst="rect">
            <a:avLst/>
          </a:prstGeom>
          <a:noFill/>
          <a:ln>
            <a:noFill/>
          </a:ln>
        </p:spPr>
        <p:txBody>
          <a:bodyPr anchorCtr="0" anchor="t" bIns="45700" lIns="91425" spcFirstLastPara="1" rIns="91425" wrap="square" tIns="45700">
            <a:spAutoFit/>
          </a:bodyPr>
          <a:lstStyle/>
          <a:p>
            <a:pPr indent="0" lvl="0" marL="1745614" marR="0" rtl="0" algn="l">
              <a:lnSpc>
                <a:spcPct val="100000"/>
              </a:lnSpc>
              <a:spcBef>
                <a:spcPts val="0"/>
              </a:spcBef>
              <a:spcAft>
                <a:spcPts val="0"/>
              </a:spcAft>
              <a:buNone/>
            </a:pPr>
            <a:r>
              <a:rPr b="1" lang="es-ES" sz="1800">
                <a:solidFill>
                  <a:schemeClr val="dk1"/>
                </a:solidFill>
                <a:latin typeface="Calibri"/>
                <a:ea typeface="Calibri"/>
                <a:cs typeface="Calibri"/>
                <a:sym typeface="Calibri"/>
              </a:rPr>
              <a:t>OPERACIONES CON CONJUNTOS</a:t>
            </a:r>
            <a:endParaRPr sz="1800">
              <a:solidFill>
                <a:schemeClr val="dk1"/>
              </a:solidFill>
              <a:latin typeface="Calibri"/>
              <a:ea typeface="Calibri"/>
              <a:cs typeface="Calibri"/>
              <a:sym typeface="Calibri"/>
            </a:endParaRPr>
          </a:p>
          <a:p>
            <a:pPr indent="-220345" lvl="2" marL="461009" marR="0" rtl="0" algn="l">
              <a:lnSpc>
                <a:spcPct val="100000"/>
              </a:lnSpc>
              <a:spcBef>
                <a:spcPts val="635"/>
              </a:spcBef>
              <a:spcAft>
                <a:spcPts val="0"/>
              </a:spcAft>
              <a:buClr>
                <a:schemeClr val="dk1"/>
              </a:buClr>
              <a:buSzPts val="1800"/>
              <a:buFont typeface="Noto Sans Symbols"/>
              <a:buChar char="❖"/>
            </a:pPr>
            <a:r>
              <a:rPr b="1" i="0" lang="es-ES" sz="1800" u="none" cap="none" strike="noStrike">
                <a:solidFill>
                  <a:schemeClr val="dk1"/>
                </a:solidFill>
                <a:latin typeface="Calibri"/>
                <a:ea typeface="Calibri"/>
                <a:cs typeface="Calibri"/>
                <a:sym typeface="Calibri"/>
              </a:rPr>
              <a:t>UNIÓN</a:t>
            </a:r>
            <a:endParaRPr b="0" i="0" sz="1800" u="none" cap="none" strike="noStrike">
              <a:solidFill>
                <a:schemeClr val="dk1"/>
              </a:solidFill>
              <a:latin typeface="Calibri"/>
              <a:ea typeface="Calibri"/>
              <a:cs typeface="Calibri"/>
              <a:sym typeface="Calibri"/>
            </a:endParaRPr>
          </a:p>
          <a:p>
            <a:pPr indent="0" lvl="0" marL="12700" marR="245109" rtl="0" algn="l">
              <a:lnSpc>
                <a:spcPct val="147500"/>
              </a:lnSpc>
              <a:spcBef>
                <a:spcPts val="0"/>
              </a:spcBef>
              <a:spcAft>
                <a:spcPts val="0"/>
              </a:spcAft>
              <a:buNone/>
            </a:pPr>
            <a:r>
              <a:rPr lang="es-ES" sz="1800">
                <a:solidFill>
                  <a:schemeClr val="dk1"/>
                </a:solidFill>
                <a:latin typeface="Calibri"/>
                <a:ea typeface="Calibri"/>
                <a:cs typeface="Calibri"/>
                <a:sym typeface="Calibri"/>
              </a:rPr>
              <a:t>Si A y B son dos conjuntos, se define la </a:t>
            </a:r>
            <a:r>
              <a:rPr b="1" lang="es-ES" sz="1800">
                <a:solidFill>
                  <a:schemeClr val="dk1"/>
                </a:solidFill>
                <a:latin typeface="Calibri"/>
                <a:ea typeface="Calibri"/>
                <a:cs typeface="Calibri"/>
                <a:sym typeface="Calibri"/>
              </a:rPr>
              <a:t>unión entre A y B</a:t>
            </a:r>
            <a:r>
              <a:rPr lang="es-ES" sz="1800">
                <a:solidFill>
                  <a:schemeClr val="dk1"/>
                </a:solidFill>
                <a:latin typeface="Calibri"/>
                <a:ea typeface="Calibri"/>
                <a:cs typeface="Calibri"/>
                <a:sym typeface="Calibri"/>
              </a:rPr>
              <a:t>, que se denota </a:t>
            </a:r>
            <a:r>
              <a:rPr b="1" lang="es-ES" sz="1800">
                <a:solidFill>
                  <a:schemeClr val="dk1"/>
                </a:solidFill>
                <a:latin typeface="Calibri"/>
                <a:ea typeface="Calibri"/>
                <a:cs typeface="Calibri"/>
                <a:sym typeface="Calibri"/>
              </a:rPr>
              <a:t>A</a:t>
            </a:r>
            <a:r>
              <a:rPr lang="es-ES" sz="1800">
                <a:solidFill>
                  <a:schemeClr val="dk1"/>
                </a:solidFill>
                <a:latin typeface="Calibri"/>
                <a:ea typeface="Calibri"/>
                <a:cs typeface="Calibri"/>
                <a:sym typeface="Calibri"/>
              </a:rPr>
              <a:t> </a:t>
            </a:r>
            <a:r>
              <a:rPr b="1" lang="es-ES" sz="1800">
                <a:solidFill>
                  <a:schemeClr val="dk1"/>
                </a:solidFill>
                <a:latin typeface="Calibri"/>
                <a:ea typeface="Calibri"/>
                <a:cs typeface="Calibri"/>
                <a:sym typeface="Calibri"/>
              </a:rPr>
              <a:t>B</a:t>
            </a:r>
            <a:r>
              <a:rPr lang="es-ES" sz="1800">
                <a:solidFill>
                  <a:schemeClr val="dk1"/>
                </a:solidFill>
                <a:latin typeface="Calibri"/>
                <a:ea typeface="Calibri"/>
                <a:cs typeface="Calibri"/>
                <a:sym typeface="Calibri"/>
              </a:rPr>
              <a:t>, al conjunto cuyos elementos pertenecen a A </a:t>
            </a:r>
            <a:r>
              <a:rPr b="1" lang="es-ES" sz="1800">
                <a:solidFill>
                  <a:schemeClr val="dk1"/>
                </a:solidFill>
                <a:latin typeface="Calibri"/>
                <a:ea typeface="Calibri"/>
                <a:cs typeface="Calibri"/>
                <a:sym typeface="Calibri"/>
              </a:rPr>
              <a:t>o </a:t>
            </a:r>
            <a:r>
              <a:rPr lang="es-ES" sz="1800">
                <a:solidFill>
                  <a:schemeClr val="dk1"/>
                </a:solidFill>
                <a:latin typeface="Calibri"/>
                <a:ea typeface="Calibri"/>
                <a:cs typeface="Calibri"/>
                <a:sym typeface="Calibri"/>
              </a:rPr>
              <a:t>a B </a:t>
            </a:r>
            <a:r>
              <a:rPr b="1" lang="es-ES" sz="1800">
                <a:solidFill>
                  <a:schemeClr val="dk1"/>
                </a:solidFill>
                <a:latin typeface="Calibri"/>
                <a:ea typeface="Calibri"/>
                <a:cs typeface="Calibri"/>
                <a:sym typeface="Calibri"/>
              </a:rPr>
              <a:t>o </a:t>
            </a:r>
            <a:r>
              <a:rPr lang="es-ES" sz="1800">
                <a:solidFill>
                  <a:schemeClr val="dk1"/>
                </a:solidFill>
                <a:latin typeface="Calibri"/>
                <a:ea typeface="Calibri"/>
                <a:cs typeface="Calibri"/>
                <a:sym typeface="Calibri"/>
              </a:rPr>
              <a:t>a ambos.</a:t>
            </a:r>
            <a:endParaRPr sz="1800">
              <a:solidFill>
                <a:schemeClr val="dk1"/>
              </a:solidFill>
              <a:latin typeface="Calibri"/>
              <a:ea typeface="Calibri"/>
              <a:cs typeface="Calibri"/>
              <a:sym typeface="Calibri"/>
            </a:endParaRPr>
          </a:p>
          <a:p>
            <a:pPr indent="0" lvl="0" marL="12700" marR="0" rtl="0" algn="l">
              <a:lnSpc>
                <a:spcPct val="100000"/>
              </a:lnSpc>
              <a:spcBef>
                <a:spcPts val="710"/>
              </a:spcBef>
              <a:spcAft>
                <a:spcPts val="0"/>
              </a:spcAft>
              <a:buNone/>
            </a:pPr>
            <a:r>
              <a:rPr lang="es-ES" sz="1800">
                <a:solidFill>
                  <a:schemeClr val="dk1"/>
                </a:solidFill>
                <a:latin typeface="Calibri"/>
                <a:ea typeface="Calibri"/>
                <a:cs typeface="Calibri"/>
                <a:sym typeface="Calibri"/>
              </a:rPr>
              <a:t>Simbólicamente se expresa: </a:t>
            </a:r>
            <a:r>
              <a:rPr lang="es-ES" sz="1800">
                <a:solidFill>
                  <a:schemeClr val="dk1"/>
                </a:solidFill>
                <a:latin typeface="Times New Roman"/>
                <a:ea typeface="Times New Roman"/>
                <a:cs typeface="Times New Roman"/>
                <a:sym typeface="Times New Roman"/>
              </a:rPr>
              <a:t>A</a:t>
            </a:r>
            <a:r>
              <a:rPr lang="es-ES" sz="1800">
                <a:solidFill>
                  <a:schemeClr val="dk1"/>
                </a:solidFill>
                <a:latin typeface="Noto Sans Symbols"/>
                <a:ea typeface="Noto Sans Symbols"/>
                <a:cs typeface="Noto Sans Symbols"/>
                <a:sym typeface="Noto Sans Symbols"/>
              </a:rPr>
              <a:t>∪</a:t>
            </a:r>
            <a:r>
              <a:rPr lang="es-ES" sz="1800">
                <a:solidFill>
                  <a:schemeClr val="dk1"/>
                </a:solidFill>
                <a:latin typeface="Times New Roman"/>
                <a:ea typeface="Times New Roman"/>
                <a:cs typeface="Times New Roman"/>
                <a:sym typeface="Times New Roman"/>
              </a:rPr>
              <a:t> B= {x / x </a:t>
            </a:r>
            <a:r>
              <a:rPr lang="es-ES" sz="1800">
                <a:solidFill>
                  <a:schemeClr val="dk1"/>
                </a:solidFill>
                <a:latin typeface="Noto Sans Symbols"/>
                <a:ea typeface="Noto Sans Symbols"/>
                <a:cs typeface="Noto Sans Symbols"/>
                <a:sym typeface="Noto Sans Symbols"/>
              </a:rPr>
              <a:t>∈</a:t>
            </a:r>
            <a:r>
              <a:rPr lang="es-ES" sz="1800">
                <a:solidFill>
                  <a:schemeClr val="dk1"/>
                </a:solidFill>
                <a:latin typeface="Times New Roman"/>
                <a:ea typeface="Times New Roman"/>
                <a:cs typeface="Times New Roman"/>
                <a:sym typeface="Times New Roman"/>
              </a:rPr>
              <a:t>A </a:t>
            </a:r>
            <a:r>
              <a:rPr b="1" lang="es-ES" sz="1800">
                <a:solidFill>
                  <a:schemeClr val="dk1"/>
                </a:solidFill>
                <a:latin typeface="Times New Roman"/>
                <a:ea typeface="Times New Roman"/>
                <a:cs typeface="Times New Roman"/>
                <a:sym typeface="Times New Roman"/>
              </a:rPr>
              <a:t>o </a:t>
            </a:r>
            <a:r>
              <a:rPr lang="es-ES" sz="1800">
                <a:solidFill>
                  <a:schemeClr val="dk1"/>
                </a:solidFill>
                <a:latin typeface="Times New Roman"/>
                <a:ea typeface="Times New Roman"/>
                <a:cs typeface="Times New Roman"/>
                <a:sym typeface="Times New Roman"/>
              </a:rPr>
              <a:t>x </a:t>
            </a:r>
            <a:r>
              <a:rPr lang="es-ES" sz="1800">
                <a:solidFill>
                  <a:schemeClr val="dk1"/>
                </a:solidFill>
                <a:latin typeface="Noto Sans Symbols"/>
                <a:ea typeface="Noto Sans Symbols"/>
                <a:cs typeface="Noto Sans Symbols"/>
                <a:sym typeface="Noto Sans Symbols"/>
              </a:rPr>
              <a:t>∈</a:t>
            </a:r>
            <a:r>
              <a:rPr lang="es-ES" sz="1800">
                <a:solidFill>
                  <a:schemeClr val="dk1"/>
                </a:solidFill>
                <a:latin typeface="Times New Roman"/>
                <a:ea typeface="Times New Roman"/>
                <a:cs typeface="Times New Roman"/>
                <a:sym typeface="Times New Roman"/>
              </a:rPr>
              <a:t>B}</a:t>
            </a:r>
            <a:endParaRPr sz="1800">
              <a:solidFill>
                <a:schemeClr val="dk1"/>
              </a:solidFill>
              <a:latin typeface="Times New Roman"/>
              <a:ea typeface="Times New Roman"/>
              <a:cs typeface="Times New Roman"/>
              <a:sym typeface="Times New Roman"/>
            </a:endParaRPr>
          </a:p>
        </p:txBody>
      </p:sp>
      <p:pic>
        <p:nvPicPr>
          <p:cNvPr id="116" name="Google Shape;116;p6"/>
          <p:cNvPicPr preferRelativeResize="0"/>
          <p:nvPr/>
        </p:nvPicPr>
        <p:blipFill rotWithShape="1">
          <a:blip r:embed="rId3">
            <a:alphaModFix/>
          </a:blip>
          <a:srcRect b="0" l="0" r="0" t="0"/>
          <a:stretch/>
        </p:blipFill>
        <p:spPr>
          <a:xfrm>
            <a:off x="1484243" y="3215853"/>
            <a:ext cx="5804453" cy="172636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nvSpPr>
        <p:spPr>
          <a:xfrm>
            <a:off x="975354" y="843908"/>
            <a:ext cx="10474524" cy="1559722"/>
          </a:xfrm>
          <a:prstGeom prst="rect">
            <a:avLst/>
          </a:prstGeom>
          <a:noFill/>
          <a:ln>
            <a:noFill/>
          </a:ln>
        </p:spPr>
        <p:txBody>
          <a:bodyPr anchorCtr="0" anchor="t" bIns="0" lIns="0" spcFirstLastPara="1" rIns="0" wrap="square" tIns="100950">
            <a:spAutoFit/>
          </a:bodyPr>
          <a:lstStyle/>
          <a:p>
            <a:pPr indent="-220345" lvl="0" marL="461009" marR="0" rtl="0" algn="l">
              <a:lnSpc>
                <a:spcPct val="100000"/>
              </a:lnSpc>
              <a:spcBef>
                <a:spcPts val="0"/>
              </a:spcBef>
              <a:spcAft>
                <a:spcPts val="0"/>
              </a:spcAft>
              <a:buClr>
                <a:schemeClr val="dk1"/>
              </a:buClr>
              <a:buSzPts val="1800"/>
              <a:buFont typeface="Noto Sans Symbols"/>
              <a:buChar char="❖"/>
            </a:pPr>
            <a:r>
              <a:rPr b="1" lang="es-ES" sz="1800">
                <a:solidFill>
                  <a:schemeClr val="dk1"/>
                </a:solidFill>
                <a:latin typeface="Calibri"/>
                <a:ea typeface="Calibri"/>
                <a:cs typeface="Calibri"/>
                <a:sym typeface="Calibri"/>
              </a:rPr>
              <a:t>INTERSECCIÓN</a:t>
            </a:r>
            <a:endParaRPr sz="1800">
              <a:solidFill>
                <a:schemeClr val="dk1"/>
              </a:solidFill>
              <a:latin typeface="Calibri"/>
              <a:ea typeface="Calibri"/>
              <a:cs typeface="Calibri"/>
              <a:sym typeface="Calibri"/>
            </a:endParaRPr>
          </a:p>
          <a:p>
            <a:pPr indent="0" lvl="0" marL="12700" marR="5080" rtl="0" algn="l">
              <a:lnSpc>
                <a:spcPct val="147500"/>
              </a:lnSpc>
              <a:spcBef>
                <a:spcPts val="10"/>
              </a:spcBef>
              <a:spcAft>
                <a:spcPts val="0"/>
              </a:spcAft>
              <a:buNone/>
            </a:pPr>
            <a:r>
              <a:rPr lang="es-ES" sz="1800">
                <a:solidFill>
                  <a:schemeClr val="dk1"/>
                </a:solidFill>
                <a:latin typeface="Calibri"/>
                <a:ea typeface="Calibri"/>
                <a:cs typeface="Calibri"/>
                <a:sym typeface="Calibri"/>
              </a:rPr>
              <a:t>Si A y B son dos conjuntos, se define la </a:t>
            </a:r>
            <a:r>
              <a:rPr b="1" lang="es-ES" sz="1800">
                <a:solidFill>
                  <a:schemeClr val="dk1"/>
                </a:solidFill>
                <a:latin typeface="Calibri"/>
                <a:ea typeface="Calibri"/>
                <a:cs typeface="Calibri"/>
                <a:sym typeface="Calibri"/>
              </a:rPr>
              <a:t>intersección entre A y B</a:t>
            </a:r>
            <a:r>
              <a:rPr lang="es-ES" sz="1800">
                <a:solidFill>
                  <a:schemeClr val="dk1"/>
                </a:solidFill>
                <a:latin typeface="Calibri"/>
                <a:ea typeface="Calibri"/>
                <a:cs typeface="Calibri"/>
                <a:sym typeface="Calibri"/>
              </a:rPr>
              <a:t>, que se denota </a:t>
            </a:r>
            <a:r>
              <a:rPr lang="es-ES" sz="1800">
                <a:solidFill>
                  <a:schemeClr val="dk1"/>
                </a:solidFill>
                <a:latin typeface="Times New Roman"/>
                <a:ea typeface="Times New Roman"/>
                <a:cs typeface="Times New Roman"/>
                <a:sym typeface="Times New Roman"/>
              </a:rPr>
              <a:t>A </a:t>
            </a:r>
            <a:r>
              <a:rPr lang="es-ES" sz="1800">
                <a:solidFill>
                  <a:schemeClr val="dk1"/>
                </a:solidFill>
                <a:latin typeface="Noto Sans Symbols"/>
                <a:ea typeface="Noto Sans Symbols"/>
                <a:cs typeface="Noto Sans Symbols"/>
                <a:sym typeface="Noto Sans Symbols"/>
              </a:rPr>
              <a:t>∩</a:t>
            </a:r>
            <a:r>
              <a:rPr lang="es-ES" sz="1800">
                <a:solidFill>
                  <a:schemeClr val="dk1"/>
                </a:solidFill>
                <a:latin typeface="Times New Roman"/>
                <a:ea typeface="Times New Roman"/>
                <a:cs typeface="Times New Roman"/>
                <a:sym typeface="Times New Roman"/>
              </a:rPr>
              <a:t> B </a:t>
            </a:r>
            <a:r>
              <a:rPr lang="es-ES" sz="1800">
                <a:solidFill>
                  <a:schemeClr val="dk1"/>
                </a:solidFill>
                <a:latin typeface="Calibri"/>
                <a:ea typeface="Calibri"/>
                <a:cs typeface="Calibri"/>
                <a:sym typeface="Calibri"/>
              </a:rPr>
              <a:t>, al conjunto cuyos elementos pertenecen a A </a:t>
            </a:r>
            <a:r>
              <a:rPr b="1" lang="es-ES" sz="1800">
                <a:solidFill>
                  <a:schemeClr val="dk1"/>
                </a:solidFill>
                <a:latin typeface="Calibri"/>
                <a:ea typeface="Calibri"/>
                <a:cs typeface="Calibri"/>
                <a:sym typeface="Calibri"/>
              </a:rPr>
              <a:t>y </a:t>
            </a:r>
            <a:r>
              <a:rPr lang="es-ES" sz="1800">
                <a:solidFill>
                  <a:schemeClr val="dk1"/>
                </a:solidFill>
                <a:latin typeface="Calibri"/>
                <a:ea typeface="Calibri"/>
                <a:cs typeface="Calibri"/>
                <a:sym typeface="Calibri"/>
              </a:rPr>
              <a:t>a B.</a:t>
            </a:r>
            <a:endParaRPr sz="1800">
              <a:solidFill>
                <a:schemeClr val="dk1"/>
              </a:solidFill>
              <a:latin typeface="Calibri"/>
              <a:ea typeface="Calibri"/>
              <a:cs typeface="Calibri"/>
              <a:sym typeface="Calibri"/>
            </a:endParaRPr>
          </a:p>
          <a:p>
            <a:pPr indent="0" lvl="0" marL="12700" marR="2032635" rtl="0" algn="l">
              <a:lnSpc>
                <a:spcPct val="147700"/>
              </a:lnSpc>
              <a:spcBef>
                <a:spcPts val="25"/>
              </a:spcBef>
              <a:spcAft>
                <a:spcPts val="0"/>
              </a:spcAft>
              <a:buNone/>
            </a:pPr>
            <a:r>
              <a:rPr lang="es-ES" sz="1800">
                <a:solidFill>
                  <a:schemeClr val="dk1"/>
                </a:solidFill>
                <a:latin typeface="Calibri"/>
                <a:ea typeface="Calibri"/>
                <a:cs typeface="Calibri"/>
                <a:sym typeface="Calibri"/>
              </a:rPr>
              <a:t>Simbólicamente se expresa</a:t>
            </a:r>
            <a:r>
              <a:rPr lang="es-ES" sz="1800">
                <a:solidFill>
                  <a:schemeClr val="dk1"/>
                </a:solidFill>
                <a:latin typeface="Times New Roman"/>
                <a:ea typeface="Times New Roman"/>
                <a:cs typeface="Times New Roman"/>
                <a:sym typeface="Times New Roman"/>
              </a:rPr>
              <a:t>: A </a:t>
            </a:r>
            <a:r>
              <a:rPr lang="es-ES" sz="1800">
                <a:solidFill>
                  <a:schemeClr val="dk1"/>
                </a:solidFill>
                <a:latin typeface="Noto Sans Symbols"/>
                <a:ea typeface="Noto Sans Symbols"/>
                <a:cs typeface="Noto Sans Symbols"/>
                <a:sym typeface="Noto Sans Symbols"/>
              </a:rPr>
              <a:t>∩</a:t>
            </a:r>
            <a:r>
              <a:rPr lang="es-ES" sz="1800">
                <a:solidFill>
                  <a:schemeClr val="dk1"/>
                </a:solidFill>
                <a:latin typeface="Times New Roman"/>
                <a:ea typeface="Times New Roman"/>
                <a:cs typeface="Times New Roman"/>
                <a:sym typeface="Times New Roman"/>
              </a:rPr>
              <a:t> B = {x / x</a:t>
            </a:r>
            <a:r>
              <a:rPr lang="es-ES" sz="1800">
                <a:solidFill>
                  <a:schemeClr val="dk1"/>
                </a:solidFill>
                <a:latin typeface="Noto Sans Symbols"/>
                <a:ea typeface="Noto Sans Symbols"/>
                <a:cs typeface="Noto Sans Symbols"/>
                <a:sym typeface="Noto Sans Symbols"/>
              </a:rPr>
              <a:t>∈</a:t>
            </a:r>
            <a:r>
              <a:rPr lang="es-ES" sz="1800">
                <a:solidFill>
                  <a:schemeClr val="dk1"/>
                </a:solidFill>
                <a:latin typeface="Times New Roman"/>
                <a:ea typeface="Times New Roman"/>
                <a:cs typeface="Times New Roman"/>
                <a:sym typeface="Times New Roman"/>
              </a:rPr>
              <a:t>A </a:t>
            </a:r>
            <a:r>
              <a:rPr b="1" lang="es-ES" sz="1800">
                <a:solidFill>
                  <a:schemeClr val="dk1"/>
                </a:solidFill>
                <a:latin typeface="Times New Roman"/>
                <a:ea typeface="Times New Roman"/>
                <a:cs typeface="Times New Roman"/>
                <a:sym typeface="Times New Roman"/>
              </a:rPr>
              <a:t>y </a:t>
            </a:r>
            <a:r>
              <a:rPr lang="es-ES" sz="1800">
                <a:solidFill>
                  <a:schemeClr val="dk1"/>
                </a:solidFill>
                <a:latin typeface="Times New Roman"/>
                <a:ea typeface="Times New Roman"/>
                <a:cs typeface="Times New Roman"/>
                <a:sym typeface="Times New Roman"/>
              </a:rPr>
              <a:t>x </a:t>
            </a:r>
            <a:r>
              <a:rPr lang="es-ES" sz="1800">
                <a:solidFill>
                  <a:schemeClr val="dk1"/>
                </a:solidFill>
                <a:latin typeface="Noto Sans Symbols"/>
                <a:ea typeface="Noto Sans Symbols"/>
                <a:cs typeface="Noto Sans Symbols"/>
                <a:sym typeface="Noto Sans Symbols"/>
              </a:rPr>
              <a:t>∈</a:t>
            </a:r>
            <a:r>
              <a:rPr lang="es-ES" sz="1800">
                <a:solidFill>
                  <a:schemeClr val="dk1"/>
                </a:solidFill>
                <a:latin typeface="Times New Roman"/>
                <a:ea typeface="Times New Roman"/>
                <a:cs typeface="Times New Roman"/>
                <a:sym typeface="Times New Roman"/>
              </a:rPr>
              <a:t>B</a:t>
            </a:r>
            <a:r>
              <a:rPr lang="es-ES" sz="1800">
                <a:solidFill>
                  <a:schemeClr val="dk1"/>
                </a:solidFill>
                <a:latin typeface="Calibri"/>
                <a:ea typeface="Calibri"/>
                <a:cs typeface="Calibri"/>
                <a:sym typeface="Calibri"/>
              </a:rPr>
              <a:t>} El diagrama de Venn es:</a:t>
            </a:r>
            <a:endParaRPr sz="1800">
              <a:solidFill>
                <a:schemeClr val="dk1"/>
              </a:solidFill>
              <a:latin typeface="Calibri"/>
              <a:ea typeface="Calibri"/>
              <a:cs typeface="Calibri"/>
              <a:sym typeface="Calibri"/>
            </a:endParaRPr>
          </a:p>
        </p:txBody>
      </p:sp>
      <p:pic>
        <p:nvPicPr>
          <p:cNvPr id="122" name="Google Shape;122;p7"/>
          <p:cNvPicPr preferRelativeResize="0"/>
          <p:nvPr/>
        </p:nvPicPr>
        <p:blipFill rotWithShape="1">
          <a:blip r:embed="rId3">
            <a:alphaModFix/>
          </a:blip>
          <a:srcRect b="0" l="0" r="0" t="0"/>
          <a:stretch/>
        </p:blipFill>
        <p:spPr>
          <a:xfrm>
            <a:off x="4690866" y="2531358"/>
            <a:ext cx="2810267" cy="1324160"/>
          </a:xfrm>
          <a:prstGeom prst="rect">
            <a:avLst/>
          </a:prstGeom>
          <a:noFill/>
          <a:ln>
            <a:noFill/>
          </a:ln>
        </p:spPr>
      </p:pic>
      <p:sp>
        <p:nvSpPr>
          <p:cNvPr id="123" name="Google Shape;123;p7"/>
          <p:cNvSpPr txBox="1"/>
          <p:nvPr/>
        </p:nvSpPr>
        <p:spPr>
          <a:xfrm>
            <a:off x="975353" y="3855518"/>
            <a:ext cx="10474523" cy="1777410"/>
          </a:xfrm>
          <a:prstGeom prst="rect">
            <a:avLst/>
          </a:prstGeom>
          <a:noFill/>
          <a:ln>
            <a:noFill/>
          </a:ln>
        </p:spPr>
        <p:txBody>
          <a:bodyPr anchorCtr="0" anchor="t" bIns="45700" lIns="91425" spcFirstLastPara="1" rIns="91425" wrap="square" tIns="45700">
            <a:spAutoFit/>
          </a:bodyPr>
          <a:lstStyle/>
          <a:p>
            <a:pPr indent="0" lvl="0" marL="12700" marR="0" rtl="0" algn="l">
              <a:lnSpc>
                <a:spcPct val="100000"/>
              </a:lnSpc>
              <a:spcBef>
                <a:spcPts val="0"/>
              </a:spcBef>
              <a:spcAft>
                <a:spcPts val="0"/>
              </a:spcAft>
              <a:buNone/>
            </a:pPr>
            <a:r>
              <a:rPr b="1" lang="es-ES" sz="1800">
                <a:solidFill>
                  <a:schemeClr val="dk1"/>
                </a:solidFill>
                <a:latin typeface="Calibri"/>
                <a:ea typeface="Calibri"/>
                <a:cs typeface="Calibri"/>
                <a:sym typeface="Calibri"/>
              </a:rPr>
              <a:t>Observación:</a:t>
            </a:r>
            <a:endParaRPr sz="1800">
              <a:solidFill>
                <a:schemeClr val="dk1"/>
              </a:solidFill>
              <a:latin typeface="Calibri"/>
              <a:ea typeface="Calibri"/>
              <a:cs typeface="Calibri"/>
              <a:sym typeface="Calibri"/>
            </a:endParaRPr>
          </a:p>
          <a:p>
            <a:pPr indent="0" lvl="0" marL="12700" marR="5080" rtl="0" algn="l">
              <a:lnSpc>
                <a:spcPct val="119444"/>
              </a:lnSpc>
              <a:spcBef>
                <a:spcPts val="95"/>
              </a:spcBef>
              <a:spcAft>
                <a:spcPts val="0"/>
              </a:spcAft>
              <a:buNone/>
            </a:pPr>
            <a:r>
              <a:rPr b="1" lang="es-ES" sz="1800">
                <a:solidFill>
                  <a:schemeClr val="dk1"/>
                </a:solidFill>
                <a:latin typeface="Calibri"/>
                <a:ea typeface="Calibri"/>
                <a:cs typeface="Calibri"/>
                <a:sym typeface="Calibri"/>
              </a:rPr>
              <a:t>Conjuntos disjuntos: </a:t>
            </a:r>
            <a:r>
              <a:rPr lang="es-ES" sz="1800">
                <a:solidFill>
                  <a:schemeClr val="dk1"/>
                </a:solidFill>
                <a:latin typeface="Calibri"/>
                <a:ea typeface="Calibri"/>
                <a:cs typeface="Calibri"/>
                <a:sym typeface="Calibri"/>
              </a:rPr>
              <a:t>Dos conjuntos son </a:t>
            </a:r>
            <a:r>
              <a:rPr b="1" lang="es-ES" sz="1800">
                <a:solidFill>
                  <a:schemeClr val="dk1"/>
                </a:solidFill>
                <a:latin typeface="Calibri"/>
                <a:ea typeface="Calibri"/>
                <a:cs typeface="Calibri"/>
                <a:sym typeface="Calibri"/>
              </a:rPr>
              <a:t>disjuntos </a:t>
            </a:r>
            <a:r>
              <a:rPr lang="es-ES" sz="1800">
                <a:solidFill>
                  <a:schemeClr val="dk1"/>
                </a:solidFill>
                <a:latin typeface="Calibri"/>
                <a:ea typeface="Calibri"/>
                <a:cs typeface="Calibri"/>
                <a:sym typeface="Calibri"/>
              </a:rPr>
              <a:t>cuando no tienen elementos comunes. Simbólicamente: A y B son </a:t>
            </a:r>
            <a:r>
              <a:rPr b="1" lang="es-ES" sz="1800">
                <a:solidFill>
                  <a:schemeClr val="dk1"/>
                </a:solidFill>
                <a:latin typeface="Calibri"/>
                <a:ea typeface="Calibri"/>
                <a:cs typeface="Calibri"/>
                <a:sym typeface="Calibri"/>
              </a:rPr>
              <a:t>disjuntos </a:t>
            </a:r>
            <a:r>
              <a:rPr lang="es-ES" sz="1800">
                <a:solidFill>
                  <a:schemeClr val="dk1"/>
                </a:solidFill>
                <a:latin typeface="Calibri"/>
                <a:ea typeface="Calibri"/>
                <a:cs typeface="Calibri"/>
                <a:sym typeface="Calibri"/>
              </a:rPr>
              <a:t>si y sólo si </a:t>
            </a:r>
            <a:r>
              <a:rPr lang="es-ES" sz="1800">
                <a:solidFill>
                  <a:schemeClr val="dk1"/>
                </a:solidFill>
                <a:latin typeface="Times New Roman"/>
                <a:ea typeface="Times New Roman"/>
                <a:cs typeface="Times New Roman"/>
                <a:sym typeface="Times New Roman"/>
              </a:rPr>
              <a:t>A </a:t>
            </a:r>
            <a:r>
              <a:rPr lang="es-ES" sz="1800">
                <a:solidFill>
                  <a:schemeClr val="dk1"/>
                </a:solidFill>
                <a:latin typeface="Noto Sans Symbols"/>
                <a:ea typeface="Noto Sans Symbols"/>
                <a:cs typeface="Noto Sans Symbols"/>
                <a:sym typeface="Noto Sans Symbols"/>
              </a:rPr>
              <a:t>∩</a:t>
            </a:r>
            <a:r>
              <a:rPr lang="es-ES" sz="1800">
                <a:solidFill>
                  <a:schemeClr val="dk1"/>
                </a:solidFill>
                <a:latin typeface="Times New Roman"/>
                <a:ea typeface="Times New Roman"/>
                <a:cs typeface="Times New Roman"/>
                <a:sym typeface="Times New Roman"/>
              </a:rPr>
              <a:t> B = </a:t>
            </a:r>
            <a:r>
              <a:rPr lang="es-ES" sz="1800">
                <a:solidFill>
                  <a:schemeClr val="dk1"/>
                </a:solidFill>
                <a:latin typeface="Noto Sans Symbols"/>
                <a:ea typeface="Noto Sans Symbols"/>
                <a:cs typeface="Noto Sans Symbols"/>
                <a:sym typeface="Noto Sans Symbols"/>
              </a:rPr>
              <a:t>φ</a:t>
            </a:r>
            <a:endParaRPr sz="1800">
              <a:solidFill>
                <a:schemeClr val="dk1"/>
              </a:solidFill>
              <a:latin typeface="Noto Sans Symbols"/>
              <a:ea typeface="Noto Sans Symbols"/>
              <a:cs typeface="Noto Sans Symbols"/>
              <a:sym typeface="Noto Sans Symbols"/>
            </a:endParaRPr>
          </a:p>
          <a:p>
            <a:pPr indent="0" lvl="0" marL="0" marR="0" rtl="0" algn="l">
              <a:lnSpc>
                <a:spcPct val="100000"/>
              </a:lnSpc>
              <a:spcBef>
                <a:spcPts val="45"/>
              </a:spcBef>
              <a:spcAft>
                <a:spcPts val="0"/>
              </a:spcAft>
              <a:buNone/>
            </a:pPr>
            <a:r>
              <a:t/>
            </a:r>
            <a:endParaRPr sz="3600">
              <a:solidFill>
                <a:schemeClr val="dk1"/>
              </a:solidFill>
              <a:latin typeface="Noto Sans Symbols"/>
              <a:ea typeface="Noto Sans Symbols"/>
              <a:cs typeface="Noto Sans Symbols"/>
              <a:sym typeface="Noto Sans Symbols"/>
            </a:endParaRPr>
          </a:p>
          <a:p>
            <a:pPr indent="0" lvl="0" marL="12700" marR="0" rtl="0" algn="l">
              <a:lnSpc>
                <a:spcPct val="100000"/>
              </a:lnSpc>
              <a:spcBef>
                <a:spcPts val="0"/>
              </a:spcBef>
              <a:spcAft>
                <a:spcPts val="0"/>
              </a:spcAft>
              <a:buNone/>
            </a:pPr>
            <a:r>
              <a:rPr lang="es-ES" sz="1800">
                <a:solidFill>
                  <a:schemeClr val="dk1"/>
                </a:solidFill>
                <a:latin typeface="Calibri"/>
                <a:ea typeface="Calibri"/>
                <a:cs typeface="Calibri"/>
                <a:sym typeface="Calibri"/>
              </a:rPr>
              <a:t>El diagrama de Venn es:</a:t>
            </a:r>
            <a:endParaRPr sz="1800">
              <a:solidFill>
                <a:schemeClr val="dk1"/>
              </a:solidFill>
              <a:latin typeface="Calibri"/>
              <a:ea typeface="Calibri"/>
              <a:cs typeface="Calibri"/>
              <a:sym typeface="Calibri"/>
            </a:endParaRPr>
          </a:p>
        </p:txBody>
      </p:sp>
      <p:pic>
        <p:nvPicPr>
          <p:cNvPr id="124" name="Google Shape;124;p7"/>
          <p:cNvPicPr preferRelativeResize="0"/>
          <p:nvPr/>
        </p:nvPicPr>
        <p:blipFill rotWithShape="1">
          <a:blip r:embed="rId4">
            <a:alphaModFix/>
          </a:blip>
          <a:srcRect b="0" l="0" r="0" t="0"/>
          <a:stretch/>
        </p:blipFill>
        <p:spPr>
          <a:xfrm>
            <a:off x="4567024" y="5189531"/>
            <a:ext cx="2934109" cy="14289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8"/>
          <p:cNvSpPr txBox="1"/>
          <p:nvPr/>
        </p:nvSpPr>
        <p:spPr>
          <a:xfrm>
            <a:off x="675861" y="618345"/>
            <a:ext cx="11012556" cy="1818255"/>
          </a:xfrm>
          <a:prstGeom prst="rect">
            <a:avLst/>
          </a:prstGeom>
          <a:noFill/>
          <a:ln>
            <a:noFill/>
          </a:ln>
        </p:spPr>
        <p:txBody>
          <a:bodyPr anchorCtr="0" anchor="t" bIns="45700" lIns="91425" spcFirstLastPara="1" rIns="91425" wrap="square" tIns="45700">
            <a:spAutoFit/>
          </a:bodyPr>
          <a:lstStyle/>
          <a:p>
            <a:pPr indent="-220345" lvl="0" marL="461009" marR="0" rtl="0" algn="l">
              <a:lnSpc>
                <a:spcPct val="100000"/>
              </a:lnSpc>
              <a:spcBef>
                <a:spcPts val="0"/>
              </a:spcBef>
              <a:spcAft>
                <a:spcPts val="0"/>
              </a:spcAft>
              <a:buClr>
                <a:schemeClr val="dk1"/>
              </a:buClr>
              <a:buSzPts val="1800"/>
              <a:buFont typeface="Noto Sans Symbols"/>
              <a:buChar char="❖"/>
            </a:pPr>
            <a:r>
              <a:rPr b="1" lang="es-ES" sz="1800">
                <a:solidFill>
                  <a:schemeClr val="dk1"/>
                </a:solidFill>
                <a:latin typeface="Calibri"/>
                <a:ea typeface="Calibri"/>
                <a:cs typeface="Calibri"/>
                <a:sym typeface="Calibri"/>
              </a:rPr>
              <a:t>COMPLEMENTO</a:t>
            </a:r>
            <a:endParaRPr sz="1800">
              <a:solidFill>
                <a:schemeClr val="dk1"/>
              </a:solidFill>
              <a:latin typeface="Calibri"/>
              <a:ea typeface="Calibri"/>
              <a:cs typeface="Calibri"/>
              <a:sym typeface="Calibri"/>
            </a:endParaRPr>
          </a:p>
          <a:p>
            <a:pPr indent="0" lvl="0" marL="12700" marR="0" rtl="0" algn="l">
              <a:lnSpc>
                <a:spcPct val="100000"/>
              </a:lnSpc>
              <a:spcBef>
                <a:spcPts val="600"/>
              </a:spcBef>
              <a:spcAft>
                <a:spcPts val="0"/>
              </a:spcAft>
              <a:buNone/>
            </a:pPr>
            <a:r>
              <a:rPr lang="es-ES" sz="1800">
                <a:solidFill>
                  <a:schemeClr val="dk1"/>
                </a:solidFill>
                <a:latin typeface="Calibri"/>
                <a:ea typeface="Calibri"/>
                <a:cs typeface="Calibri"/>
                <a:sym typeface="Calibri"/>
              </a:rPr>
              <a:t>Si U es el conjunto universal que contiene al conjunto A, se llama </a:t>
            </a:r>
            <a:r>
              <a:rPr b="1" lang="es-ES" sz="1800">
                <a:solidFill>
                  <a:schemeClr val="dk1"/>
                </a:solidFill>
                <a:latin typeface="Calibri"/>
                <a:ea typeface="Calibri"/>
                <a:cs typeface="Calibri"/>
                <a:sym typeface="Calibri"/>
              </a:rPr>
              <a:t>complemento </a:t>
            </a:r>
            <a:r>
              <a:rPr lang="es-ES" sz="1800">
                <a:solidFill>
                  <a:schemeClr val="dk1"/>
                </a:solidFill>
                <a:latin typeface="Calibri"/>
                <a:ea typeface="Calibri"/>
                <a:cs typeface="Calibri"/>
                <a:sym typeface="Calibri"/>
              </a:rPr>
              <a:t>de A y se simboliza A , al conjunto formado por todos los elementos del universo que no pertenecen al conjunto A.</a:t>
            </a:r>
            <a:endParaRPr sz="1800">
              <a:solidFill>
                <a:schemeClr val="dk1"/>
              </a:solidFill>
              <a:latin typeface="Calibri"/>
              <a:ea typeface="Calibri"/>
              <a:cs typeface="Calibri"/>
              <a:sym typeface="Calibri"/>
            </a:endParaRPr>
          </a:p>
          <a:p>
            <a:pPr indent="0" lvl="0" marL="12700" marR="3352800" rtl="0" algn="l">
              <a:lnSpc>
                <a:spcPct val="147100"/>
              </a:lnSpc>
              <a:spcBef>
                <a:spcPts val="240"/>
              </a:spcBef>
              <a:spcAft>
                <a:spcPts val="0"/>
              </a:spcAft>
              <a:buNone/>
            </a:pPr>
            <a:r>
              <a:rPr lang="es-ES" sz="1800">
                <a:solidFill>
                  <a:schemeClr val="dk1"/>
                </a:solidFill>
                <a:latin typeface="Calibri"/>
                <a:ea typeface="Calibri"/>
                <a:cs typeface="Calibri"/>
                <a:sym typeface="Calibri"/>
              </a:rPr>
              <a:t>Simbólicamente: </a:t>
            </a:r>
            <a:r>
              <a:rPr lang="es-ES" sz="1800">
                <a:solidFill>
                  <a:schemeClr val="dk1"/>
                </a:solidFill>
                <a:latin typeface="Times New Roman"/>
                <a:ea typeface="Times New Roman"/>
                <a:cs typeface="Times New Roman"/>
                <a:sym typeface="Times New Roman"/>
              </a:rPr>
              <a:t>A = {x </a:t>
            </a:r>
            <a:r>
              <a:rPr lang="es-ES" sz="1800">
                <a:solidFill>
                  <a:schemeClr val="dk1"/>
                </a:solidFill>
                <a:latin typeface="Noto Sans Symbols"/>
                <a:ea typeface="Noto Sans Symbols"/>
                <a:cs typeface="Noto Sans Symbols"/>
                <a:sym typeface="Noto Sans Symbols"/>
              </a:rPr>
              <a:t>∈</a:t>
            </a:r>
            <a:r>
              <a:rPr lang="es-ES" sz="1800">
                <a:solidFill>
                  <a:schemeClr val="dk1"/>
                </a:solidFill>
                <a:latin typeface="Times New Roman"/>
                <a:ea typeface="Times New Roman"/>
                <a:cs typeface="Times New Roman"/>
                <a:sym typeface="Times New Roman"/>
              </a:rPr>
              <a:t>U / x </a:t>
            </a:r>
            <a:r>
              <a:rPr lang="es-ES" sz="1800">
                <a:solidFill>
                  <a:schemeClr val="dk1"/>
                </a:solidFill>
                <a:latin typeface="Noto Sans Symbols"/>
                <a:ea typeface="Noto Sans Symbols"/>
                <a:cs typeface="Noto Sans Symbols"/>
                <a:sym typeface="Noto Sans Symbols"/>
              </a:rPr>
              <a:t>∉</a:t>
            </a:r>
            <a:r>
              <a:rPr lang="es-ES" sz="1800">
                <a:solidFill>
                  <a:schemeClr val="dk1"/>
                </a:solidFill>
                <a:latin typeface="Times New Roman"/>
                <a:ea typeface="Times New Roman"/>
                <a:cs typeface="Times New Roman"/>
                <a:sym typeface="Times New Roman"/>
              </a:rPr>
              <a:t> A} </a:t>
            </a:r>
            <a:endParaRPr/>
          </a:p>
          <a:p>
            <a:pPr indent="0" lvl="0" marL="12700" marR="3352800" rtl="0" algn="l">
              <a:lnSpc>
                <a:spcPct val="147100"/>
              </a:lnSpc>
              <a:spcBef>
                <a:spcPts val="240"/>
              </a:spcBef>
              <a:spcAft>
                <a:spcPts val="0"/>
              </a:spcAft>
              <a:buNone/>
            </a:pPr>
            <a:r>
              <a:rPr lang="es-ES" sz="1800">
                <a:solidFill>
                  <a:schemeClr val="dk1"/>
                </a:solidFill>
                <a:latin typeface="Calibri"/>
                <a:ea typeface="Calibri"/>
                <a:cs typeface="Calibri"/>
                <a:sym typeface="Calibri"/>
              </a:rPr>
              <a:t>El diagrama de Venn es:</a:t>
            </a:r>
            <a:endParaRPr/>
          </a:p>
        </p:txBody>
      </p:sp>
      <p:pic>
        <p:nvPicPr>
          <p:cNvPr id="130" name="Google Shape;130;p8"/>
          <p:cNvPicPr preferRelativeResize="0"/>
          <p:nvPr/>
        </p:nvPicPr>
        <p:blipFill rotWithShape="1">
          <a:blip r:embed="rId3">
            <a:alphaModFix/>
          </a:blip>
          <a:srcRect b="0" l="0" r="0" t="0"/>
          <a:stretch/>
        </p:blipFill>
        <p:spPr>
          <a:xfrm>
            <a:off x="4928708" y="2167042"/>
            <a:ext cx="2334584" cy="1273410"/>
          </a:xfrm>
          <a:prstGeom prst="rect">
            <a:avLst/>
          </a:prstGeom>
          <a:noFill/>
          <a:ln>
            <a:noFill/>
          </a:ln>
        </p:spPr>
      </p:pic>
      <p:sp>
        <p:nvSpPr>
          <p:cNvPr id="131" name="Google Shape;131;p8"/>
          <p:cNvSpPr txBox="1"/>
          <p:nvPr/>
        </p:nvSpPr>
        <p:spPr>
          <a:xfrm>
            <a:off x="675860" y="3710010"/>
            <a:ext cx="11012555" cy="1997983"/>
          </a:xfrm>
          <a:prstGeom prst="rect">
            <a:avLst/>
          </a:prstGeom>
          <a:noFill/>
          <a:ln>
            <a:noFill/>
          </a:ln>
        </p:spPr>
        <p:txBody>
          <a:bodyPr anchorCtr="0" anchor="t" bIns="45700" lIns="91425" spcFirstLastPara="1" rIns="91425" wrap="square" tIns="45700">
            <a:spAutoFit/>
          </a:bodyPr>
          <a:lstStyle/>
          <a:p>
            <a:pPr indent="-220345" lvl="0" marL="461009" marR="0" rtl="0" algn="l">
              <a:lnSpc>
                <a:spcPct val="100000"/>
              </a:lnSpc>
              <a:spcBef>
                <a:spcPts val="0"/>
              </a:spcBef>
              <a:spcAft>
                <a:spcPts val="0"/>
              </a:spcAft>
              <a:buClr>
                <a:schemeClr val="dk1"/>
              </a:buClr>
              <a:buSzPts val="1800"/>
              <a:buFont typeface="Noto Sans Symbols"/>
              <a:buChar char="❖"/>
            </a:pPr>
            <a:r>
              <a:rPr lang="es-ES" sz="1800">
                <a:solidFill>
                  <a:schemeClr val="dk1"/>
                </a:solidFill>
                <a:latin typeface="Calibri"/>
                <a:ea typeface="Calibri"/>
                <a:cs typeface="Calibri"/>
                <a:sym typeface="Calibri"/>
              </a:rPr>
              <a:t>DIFERENCIA</a:t>
            </a:r>
            <a:endParaRPr/>
          </a:p>
          <a:p>
            <a:pPr indent="0" lvl="0" marL="12700" marR="57150" rtl="0" algn="l">
              <a:lnSpc>
                <a:spcPct val="115555"/>
              </a:lnSpc>
              <a:spcBef>
                <a:spcPts val="140"/>
              </a:spcBef>
              <a:spcAft>
                <a:spcPts val="0"/>
              </a:spcAft>
              <a:buNone/>
            </a:pPr>
            <a:r>
              <a:rPr lang="es-ES" sz="1800">
                <a:solidFill>
                  <a:schemeClr val="dk1"/>
                </a:solidFill>
                <a:latin typeface="Calibri"/>
                <a:ea typeface="Calibri"/>
                <a:cs typeface="Calibri"/>
                <a:sym typeface="Calibri"/>
              </a:rPr>
              <a:t>Si A y B son dos conjuntos, se define la diferencia de A y B, que se simboliza A - B al conjunto formado por los elementos que pertenecen al conjunto A que no pertenecen al conjunto B.</a:t>
            </a:r>
            <a:endParaRPr/>
          </a:p>
          <a:p>
            <a:pPr indent="0" lvl="0" marL="12700" marR="3156585" rtl="0" algn="l">
              <a:lnSpc>
                <a:spcPct val="117777"/>
              </a:lnSpc>
              <a:spcBef>
                <a:spcPts val="0"/>
              </a:spcBef>
              <a:spcAft>
                <a:spcPts val="0"/>
              </a:spcAft>
              <a:buNone/>
            </a:pPr>
            <a:r>
              <a:t/>
            </a:r>
            <a:endParaRPr sz="1800">
              <a:solidFill>
                <a:schemeClr val="dk1"/>
              </a:solidFill>
              <a:latin typeface="Calibri"/>
              <a:ea typeface="Calibri"/>
              <a:cs typeface="Calibri"/>
              <a:sym typeface="Calibri"/>
            </a:endParaRPr>
          </a:p>
          <a:p>
            <a:pPr indent="0" lvl="0" marL="12700" marR="3156585" rtl="0" algn="l">
              <a:lnSpc>
                <a:spcPct val="117777"/>
              </a:lnSpc>
              <a:spcBef>
                <a:spcPts val="0"/>
              </a:spcBef>
              <a:spcAft>
                <a:spcPts val="0"/>
              </a:spcAft>
              <a:buNone/>
            </a:pPr>
            <a:r>
              <a:rPr lang="es-ES" sz="1800">
                <a:solidFill>
                  <a:schemeClr val="dk1"/>
                </a:solidFill>
                <a:latin typeface="Calibri"/>
                <a:ea typeface="Calibri"/>
                <a:cs typeface="Calibri"/>
                <a:sym typeface="Calibri"/>
              </a:rPr>
              <a:t>Simbólicamente</a:t>
            </a:r>
            <a:r>
              <a:rPr lang="es-ES" sz="1800">
                <a:solidFill>
                  <a:schemeClr val="dk1"/>
                </a:solidFill>
                <a:latin typeface="Times New Roman"/>
                <a:ea typeface="Times New Roman"/>
                <a:cs typeface="Times New Roman"/>
                <a:sym typeface="Times New Roman"/>
              </a:rPr>
              <a:t>: A </a:t>
            </a:r>
            <a:r>
              <a:rPr lang="es-ES" sz="1800">
                <a:solidFill>
                  <a:schemeClr val="dk1"/>
                </a:solidFill>
                <a:latin typeface="Noto Sans Symbols"/>
                <a:ea typeface="Noto Sans Symbols"/>
                <a:cs typeface="Noto Sans Symbols"/>
                <a:sym typeface="Noto Sans Symbols"/>
              </a:rPr>
              <a:t>−</a:t>
            </a:r>
            <a:r>
              <a:rPr lang="es-ES" sz="1800">
                <a:solidFill>
                  <a:schemeClr val="dk1"/>
                </a:solidFill>
                <a:latin typeface="Times New Roman"/>
                <a:ea typeface="Times New Roman"/>
                <a:cs typeface="Times New Roman"/>
                <a:sym typeface="Times New Roman"/>
              </a:rPr>
              <a:t> B = {x / x </a:t>
            </a:r>
            <a:r>
              <a:rPr lang="es-ES" sz="1800">
                <a:solidFill>
                  <a:schemeClr val="dk1"/>
                </a:solidFill>
                <a:latin typeface="Noto Sans Symbols"/>
                <a:ea typeface="Noto Sans Symbols"/>
                <a:cs typeface="Noto Sans Symbols"/>
                <a:sym typeface="Noto Sans Symbols"/>
              </a:rPr>
              <a:t>∈</a:t>
            </a:r>
            <a:r>
              <a:rPr lang="es-ES" sz="1800">
                <a:solidFill>
                  <a:schemeClr val="dk1"/>
                </a:solidFill>
                <a:latin typeface="Times New Roman"/>
                <a:ea typeface="Times New Roman"/>
                <a:cs typeface="Times New Roman"/>
                <a:sym typeface="Times New Roman"/>
              </a:rPr>
              <a:t> A </a:t>
            </a:r>
            <a:r>
              <a:rPr b="1" lang="es-ES" sz="1800">
                <a:solidFill>
                  <a:schemeClr val="dk1"/>
                </a:solidFill>
                <a:latin typeface="Times New Roman"/>
                <a:ea typeface="Times New Roman"/>
                <a:cs typeface="Times New Roman"/>
                <a:sym typeface="Times New Roman"/>
              </a:rPr>
              <a:t>y </a:t>
            </a:r>
            <a:r>
              <a:rPr lang="es-ES" sz="1800">
                <a:solidFill>
                  <a:schemeClr val="dk1"/>
                </a:solidFill>
                <a:latin typeface="Times New Roman"/>
                <a:ea typeface="Times New Roman"/>
                <a:cs typeface="Times New Roman"/>
                <a:sym typeface="Times New Roman"/>
              </a:rPr>
              <a:t>x </a:t>
            </a:r>
            <a:r>
              <a:rPr lang="es-ES" sz="1800">
                <a:solidFill>
                  <a:schemeClr val="dk1"/>
                </a:solidFill>
                <a:latin typeface="Noto Sans Symbols"/>
                <a:ea typeface="Noto Sans Symbols"/>
                <a:cs typeface="Noto Sans Symbols"/>
                <a:sym typeface="Noto Sans Symbols"/>
              </a:rPr>
              <a:t>∉</a:t>
            </a:r>
            <a:r>
              <a:rPr lang="es-ES" sz="1800">
                <a:solidFill>
                  <a:schemeClr val="dk1"/>
                </a:solidFill>
                <a:latin typeface="Times New Roman"/>
                <a:ea typeface="Times New Roman"/>
                <a:cs typeface="Times New Roman"/>
                <a:sym typeface="Times New Roman"/>
              </a:rPr>
              <a:t>B} </a:t>
            </a:r>
            <a:endParaRPr/>
          </a:p>
          <a:p>
            <a:pPr indent="0" lvl="0" marL="12700" marR="3156585" rtl="0" algn="l">
              <a:lnSpc>
                <a:spcPct val="117777"/>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12700" marR="3156585" rtl="0" algn="l">
              <a:lnSpc>
                <a:spcPct val="117777"/>
              </a:lnSpc>
              <a:spcBef>
                <a:spcPts val="0"/>
              </a:spcBef>
              <a:spcAft>
                <a:spcPts val="0"/>
              </a:spcAft>
              <a:buNone/>
            </a:pPr>
            <a:r>
              <a:rPr lang="es-ES" sz="1800">
                <a:solidFill>
                  <a:schemeClr val="dk1"/>
                </a:solidFill>
                <a:latin typeface="Calibri"/>
                <a:ea typeface="Calibri"/>
                <a:cs typeface="Calibri"/>
                <a:sym typeface="Calibri"/>
              </a:rPr>
              <a:t>El diagrama de Venn es:</a:t>
            </a:r>
            <a:endParaRPr/>
          </a:p>
        </p:txBody>
      </p:sp>
      <p:pic>
        <p:nvPicPr>
          <p:cNvPr id="132" name="Google Shape;132;p8"/>
          <p:cNvPicPr preferRelativeResize="0"/>
          <p:nvPr/>
        </p:nvPicPr>
        <p:blipFill rotWithShape="1">
          <a:blip r:embed="rId4">
            <a:alphaModFix/>
          </a:blip>
          <a:srcRect b="0" l="0" r="0" t="0"/>
          <a:stretch/>
        </p:blipFill>
        <p:spPr>
          <a:xfrm>
            <a:off x="4619419" y="5258313"/>
            <a:ext cx="2953162" cy="1438476"/>
          </a:xfrm>
          <a:prstGeom prst="rect">
            <a:avLst/>
          </a:prstGeom>
          <a:noFill/>
          <a:ln>
            <a:noFill/>
          </a:ln>
        </p:spPr>
      </p:pic>
      <p:sp>
        <p:nvSpPr>
          <p:cNvPr id="133" name="Google Shape;133;p8"/>
          <p:cNvSpPr txBox="1"/>
          <p:nvPr/>
        </p:nvSpPr>
        <p:spPr>
          <a:xfrm>
            <a:off x="7973976" y="4875778"/>
            <a:ext cx="3313043" cy="1821011"/>
          </a:xfrm>
          <a:prstGeom prst="rect">
            <a:avLst/>
          </a:prstGeom>
          <a:noFill/>
          <a:ln>
            <a:noFill/>
          </a:ln>
        </p:spPr>
        <p:txBody>
          <a:bodyPr anchorCtr="0" anchor="t" bIns="45700" lIns="91425" spcFirstLastPara="1" rIns="91425" wrap="square" tIns="45700">
            <a:spAutoFit/>
          </a:bodyPr>
          <a:lstStyle/>
          <a:p>
            <a:pPr indent="0" lvl="0" marL="101600" marR="0" rtl="0" algn="l">
              <a:lnSpc>
                <a:spcPct val="100000"/>
              </a:lnSpc>
              <a:spcBef>
                <a:spcPts val="0"/>
              </a:spcBef>
              <a:spcAft>
                <a:spcPts val="0"/>
              </a:spcAft>
              <a:buNone/>
            </a:pPr>
            <a:r>
              <a:rPr b="1" lang="es-ES" sz="1800">
                <a:solidFill>
                  <a:schemeClr val="dk1"/>
                </a:solidFill>
                <a:latin typeface="Times New Roman"/>
                <a:ea typeface="Times New Roman"/>
                <a:cs typeface="Times New Roman"/>
                <a:sym typeface="Times New Roman"/>
              </a:rPr>
              <a:t>Observación: </a:t>
            </a:r>
            <a:r>
              <a:rPr lang="es-ES" sz="1800">
                <a:solidFill>
                  <a:schemeClr val="dk1"/>
                </a:solidFill>
                <a:latin typeface="Times New Roman"/>
                <a:ea typeface="Times New Roman"/>
                <a:cs typeface="Times New Roman"/>
                <a:sym typeface="Times New Roman"/>
              </a:rPr>
              <a:t>Se verifica:</a:t>
            </a:r>
            <a:endParaRPr sz="1800">
              <a:solidFill>
                <a:schemeClr val="dk1"/>
              </a:solidFill>
              <a:latin typeface="Times New Roman"/>
              <a:ea typeface="Times New Roman"/>
              <a:cs typeface="Times New Roman"/>
              <a:sym typeface="Times New Roman"/>
            </a:endParaRPr>
          </a:p>
          <a:p>
            <a:pPr indent="-290195" lvl="0" marL="391795" marR="0" rtl="0" algn="l">
              <a:lnSpc>
                <a:spcPct val="100000"/>
              </a:lnSpc>
              <a:spcBef>
                <a:spcPts val="919"/>
              </a:spcBef>
              <a:spcAft>
                <a:spcPts val="0"/>
              </a:spcAft>
              <a:buClr>
                <a:schemeClr val="dk1"/>
              </a:buClr>
              <a:buSzPts val="1800"/>
              <a:buFont typeface="Noto Sans Symbols"/>
              <a:buChar char="❖"/>
            </a:pPr>
            <a:r>
              <a:rPr lang="es-ES" sz="1800">
                <a:solidFill>
                  <a:schemeClr val="dk1"/>
                </a:solidFill>
                <a:latin typeface="Times New Roman"/>
                <a:ea typeface="Times New Roman"/>
                <a:cs typeface="Times New Roman"/>
                <a:sym typeface="Times New Roman"/>
              </a:rPr>
              <a:t>A = U – A</a:t>
            </a:r>
            <a:endParaRPr sz="1800">
              <a:solidFill>
                <a:schemeClr val="dk1"/>
              </a:solidFill>
              <a:latin typeface="Times New Roman"/>
              <a:ea typeface="Times New Roman"/>
              <a:cs typeface="Times New Roman"/>
              <a:sym typeface="Times New Roman"/>
            </a:endParaRPr>
          </a:p>
          <a:p>
            <a:pPr indent="-227965" lvl="0" marL="329565" marR="0" rtl="0" algn="l">
              <a:lnSpc>
                <a:spcPct val="100000"/>
              </a:lnSpc>
              <a:spcBef>
                <a:spcPts val="900"/>
              </a:spcBef>
              <a:spcAft>
                <a:spcPts val="0"/>
              </a:spcAft>
              <a:buClr>
                <a:schemeClr val="dk1"/>
              </a:buClr>
              <a:buSzPts val="1800"/>
              <a:buFont typeface="Noto Sans Symbols"/>
              <a:buChar char="❖"/>
            </a:pPr>
            <a:r>
              <a:rPr lang="es-ES" sz="1800">
                <a:solidFill>
                  <a:schemeClr val="dk1"/>
                </a:solidFill>
                <a:latin typeface="Times New Roman"/>
                <a:ea typeface="Times New Roman"/>
                <a:cs typeface="Times New Roman"/>
                <a:sym typeface="Times New Roman"/>
              </a:rPr>
              <a:t>A – B = A </a:t>
            </a:r>
            <a:r>
              <a:rPr lang="es-ES" sz="1800">
                <a:solidFill>
                  <a:schemeClr val="dk1"/>
                </a:solidFill>
                <a:latin typeface="Noto Sans Symbols"/>
                <a:ea typeface="Noto Sans Symbols"/>
                <a:cs typeface="Noto Sans Symbols"/>
                <a:sym typeface="Noto Sans Symbols"/>
              </a:rPr>
              <a:t>∩</a:t>
            </a:r>
            <a:r>
              <a:rPr lang="es-ES" sz="1800">
                <a:solidFill>
                  <a:schemeClr val="dk1"/>
                </a:solidFill>
                <a:latin typeface="Times New Roman"/>
                <a:ea typeface="Times New Roman"/>
                <a:cs typeface="Times New Roman"/>
                <a:sym typeface="Times New Roman"/>
              </a:rPr>
              <a:t> B</a:t>
            </a:r>
            <a:endParaRPr sz="1800">
              <a:solidFill>
                <a:schemeClr val="dk1"/>
              </a:solidFill>
              <a:latin typeface="Times New Roman"/>
              <a:ea typeface="Times New Roman"/>
              <a:cs typeface="Times New Roman"/>
              <a:sym typeface="Times New Roman"/>
            </a:endParaRPr>
          </a:p>
          <a:p>
            <a:pPr indent="-227965" lvl="0" marL="329565" marR="0" rtl="0" algn="l">
              <a:lnSpc>
                <a:spcPct val="100000"/>
              </a:lnSpc>
              <a:spcBef>
                <a:spcPts val="760"/>
              </a:spcBef>
              <a:spcAft>
                <a:spcPts val="0"/>
              </a:spcAft>
              <a:buClr>
                <a:schemeClr val="dk1"/>
              </a:buClr>
              <a:buSzPts val="1800"/>
              <a:buFont typeface="Noto Sans Symbols"/>
              <a:buChar char="❖"/>
            </a:pPr>
            <a:r>
              <a:rPr lang="es-ES" sz="1800">
                <a:solidFill>
                  <a:schemeClr val="dk1"/>
                </a:solidFill>
                <a:latin typeface="Times New Roman"/>
                <a:ea typeface="Times New Roman"/>
                <a:cs typeface="Times New Roman"/>
                <a:sym typeface="Times New Roman"/>
              </a:rPr>
              <a:t>A </a:t>
            </a:r>
            <a:r>
              <a:rPr lang="es-ES" sz="1800">
                <a:solidFill>
                  <a:schemeClr val="dk1"/>
                </a:solidFill>
                <a:latin typeface="Noto Sans Symbols"/>
                <a:ea typeface="Noto Sans Symbols"/>
                <a:cs typeface="Noto Sans Symbols"/>
                <a:sym typeface="Noto Sans Symbols"/>
              </a:rPr>
              <a:t>−</a:t>
            </a:r>
            <a:r>
              <a:rPr lang="es-ES" sz="1800">
                <a:solidFill>
                  <a:schemeClr val="dk1"/>
                </a:solidFill>
                <a:latin typeface="Times New Roman"/>
                <a:ea typeface="Times New Roman"/>
                <a:cs typeface="Times New Roman"/>
                <a:sym typeface="Times New Roman"/>
              </a:rPr>
              <a:t> B </a:t>
            </a:r>
            <a:r>
              <a:rPr baseline="30000" lang="es-ES" sz="2800">
                <a:solidFill>
                  <a:schemeClr val="dk1"/>
                </a:solidFill>
                <a:latin typeface="Noto Sans Symbols"/>
                <a:ea typeface="Noto Sans Symbols"/>
                <a:cs typeface="Noto Sans Symbols"/>
                <a:sym typeface="Noto Sans Symbols"/>
              </a:rPr>
              <a:t>≠</a:t>
            </a:r>
            <a:r>
              <a:rPr baseline="30000" lang="es-ES" sz="2800">
                <a:solidFill>
                  <a:schemeClr val="dk1"/>
                </a:solidFill>
                <a:latin typeface="Times New Roman"/>
                <a:ea typeface="Times New Roman"/>
                <a:cs typeface="Times New Roman"/>
                <a:sym typeface="Times New Roman"/>
              </a:rPr>
              <a:t>  </a:t>
            </a:r>
            <a:r>
              <a:rPr lang="es-ES" sz="1800">
                <a:solidFill>
                  <a:schemeClr val="dk1"/>
                </a:solidFill>
                <a:latin typeface="Times New Roman"/>
                <a:ea typeface="Times New Roman"/>
                <a:cs typeface="Times New Roman"/>
                <a:sym typeface="Times New Roman"/>
              </a:rPr>
              <a:t>B </a:t>
            </a:r>
            <a:r>
              <a:rPr lang="es-ES" sz="1800">
                <a:solidFill>
                  <a:schemeClr val="dk1"/>
                </a:solidFill>
                <a:latin typeface="Noto Sans Symbols"/>
                <a:ea typeface="Noto Sans Symbols"/>
                <a:cs typeface="Noto Sans Symbols"/>
                <a:sym typeface="Noto Sans Symbols"/>
              </a:rPr>
              <a:t>−</a:t>
            </a:r>
            <a:r>
              <a:rPr lang="es-ES" sz="1800">
                <a:solidFill>
                  <a:schemeClr val="dk1"/>
                </a:solidFill>
                <a:latin typeface="Times New Roman"/>
                <a:ea typeface="Times New Roman"/>
                <a:cs typeface="Times New Roman"/>
                <a:sym typeface="Times New Roman"/>
              </a:rPr>
              <a:t> A	(la diferencia no es conmutativa)</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nvSpPr>
        <p:spPr>
          <a:xfrm>
            <a:off x="715616" y="288381"/>
            <a:ext cx="11131828" cy="6359305"/>
          </a:xfrm>
          <a:prstGeom prst="rect">
            <a:avLst/>
          </a:prstGeom>
          <a:blipFill rotWithShape="1">
            <a:blip r:embed="rId3">
              <a:alphaModFix/>
            </a:blip>
            <a:stretch>
              <a:fillRect b="0" l="-217" r="0" t="-28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ES" sz="1800">
                <a:latin typeface="Calibri"/>
                <a:ea typeface="Calibri"/>
                <a:cs typeface="Calibri"/>
                <a:sym typeface="Calibri"/>
              </a:rPr>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0"/>
          <p:cNvSpPr txBox="1"/>
          <p:nvPr/>
        </p:nvSpPr>
        <p:spPr>
          <a:xfrm>
            <a:off x="781878" y="564732"/>
            <a:ext cx="830911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2000" u="none" strike="noStrike">
                <a:solidFill>
                  <a:schemeClr val="dk1"/>
                </a:solidFill>
                <a:latin typeface="Calibri"/>
                <a:ea typeface="Calibri"/>
                <a:cs typeface="Calibri"/>
                <a:sym typeface="Calibri"/>
              </a:rPr>
              <a:t>Introducción a la estadística y al análisis de datos</a:t>
            </a:r>
            <a:endParaRPr b="1" sz="2000">
              <a:solidFill>
                <a:schemeClr val="dk1"/>
              </a:solidFill>
              <a:latin typeface="Calibri"/>
              <a:ea typeface="Calibri"/>
              <a:cs typeface="Calibri"/>
              <a:sym typeface="Calibri"/>
            </a:endParaRPr>
          </a:p>
        </p:txBody>
      </p:sp>
      <p:sp>
        <p:nvSpPr>
          <p:cNvPr id="144" name="Google Shape;144;p10"/>
          <p:cNvSpPr txBox="1"/>
          <p:nvPr/>
        </p:nvSpPr>
        <p:spPr>
          <a:xfrm>
            <a:off x="781878" y="1234613"/>
            <a:ext cx="104824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1800" u="none" strike="noStrike">
                <a:solidFill>
                  <a:srgbClr val="162931"/>
                </a:solidFill>
                <a:latin typeface="Calibri"/>
                <a:ea typeface="Calibri"/>
                <a:cs typeface="Calibri"/>
                <a:sym typeface="Calibri"/>
              </a:rPr>
              <a:t>Panorama general: inferencia estadística, muestras, poblaciones</a:t>
            </a:r>
            <a:r>
              <a:rPr b="1" lang="es-ES" sz="1800">
                <a:solidFill>
                  <a:srgbClr val="162931"/>
                </a:solidFill>
                <a:latin typeface="Calibri"/>
                <a:ea typeface="Calibri"/>
                <a:cs typeface="Calibri"/>
                <a:sym typeface="Calibri"/>
              </a:rPr>
              <a:t> </a:t>
            </a:r>
            <a:r>
              <a:rPr b="1" i="0" lang="es-ES" sz="1800" u="none" strike="noStrike">
                <a:solidFill>
                  <a:srgbClr val="162931"/>
                </a:solidFill>
                <a:latin typeface="Calibri"/>
                <a:ea typeface="Calibri"/>
                <a:cs typeface="Calibri"/>
                <a:sym typeface="Calibri"/>
              </a:rPr>
              <a:t>y el papel de la probabilidad</a:t>
            </a:r>
            <a:endParaRPr sz="1800">
              <a:solidFill>
                <a:schemeClr val="dk1"/>
              </a:solidFill>
              <a:latin typeface="Calibri"/>
              <a:ea typeface="Calibri"/>
              <a:cs typeface="Calibri"/>
              <a:sym typeface="Calibri"/>
            </a:endParaRPr>
          </a:p>
        </p:txBody>
      </p:sp>
      <p:sp>
        <p:nvSpPr>
          <p:cNvPr id="145" name="Google Shape;145;p10"/>
          <p:cNvSpPr txBox="1"/>
          <p:nvPr/>
        </p:nvSpPr>
        <p:spPr>
          <a:xfrm>
            <a:off x="781877" y="1771975"/>
            <a:ext cx="10880036"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Los métodos estadísticos se diseñan para contribuir al proceso de realizar juicios científicos frente a la </a:t>
            </a:r>
            <a:r>
              <a:rPr b="1" i="0" lang="es-ES" sz="1800" u="none" strike="noStrike">
                <a:solidFill>
                  <a:schemeClr val="dk1"/>
                </a:solidFill>
                <a:latin typeface="Calibri"/>
                <a:ea typeface="Calibri"/>
                <a:cs typeface="Calibri"/>
                <a:sym typeface="Calibri"/>
              </a:rPr>
              <a:t>incertidumbre </a:t>
            </a:r>
            <a:r>
              <a:rPr b="0" i="0" lang="es-ES" sz="1800" u="none" strike="noStrike">
                <a:solidFill>
                  <a:schemeClr val="dk1"/>
                </a:solidFill>
                <a:latin typeface="Calibri"/>
                <a:ea typeface="Calibri"/>
                <a:cs typeface="Calibri"/>
                <a:sym typeface="Calibri"/>
              </a:rPr>
              <a:t>y a la </a:t>
            </a:r>
            <a:r>
              <a:rPr b="1" i="0" lang="es-ES" sz="1800" u="none" strike="noStrike">
                <a:solidFill>
                  <a:schemeClr val="dk1"/>
                </a:solidFill>
                <a:latin typeface="Calibri"/>
                <a:ea typeface="Calibri"/>
                <a:cs typeface="Calibri"/>
                <a:sym typeface="Calibri"/>
              </a:rPr>
              <a:t>variación</a:t>
            </a:r>
            <a:r>
              <a:rPr b="0" i="0" lang="es-ES" sz="1800" u="none" strike="noStrike">
                <a:solidFill>
                  <a:schemeClr val="dk1"/>
                </a:solidFill>
                <a:latin typeface="Calibri"/>
                <a:ea typeface="Calibri"/>
                <a:cs typeface="Calibri"/>
                <a:sym typeface="Calibri"/>
              </a:rPr>
              <a:t>.</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Los métodos estadísticos se utilizan para analizar datos de procesos; el objetivo de esto es tener una mejor orientación respecto de cuáles cambios se deben realizar en el proceso para mejorar su </a:t>
            </a:r>
            <a:r>
              <a:rPr b="1" i="0" lang="es-ES" sz="1800" u="none" strike="noStrike">
                <a:solidFill>
                  <a:schemeClr val="dk1"/>
                </a:solidFill>
                <a:latin typeface="Calibri"/>
                <a:ea typeface="Calibri"/>
                <a:cs typeface="Calibri"/>
                <a:sym typeface="Calibri"/>
              </a:rPr>
              <a:t>calidad</a:t>
            </a:r>
            <a:endParaRPr sz="1800">
              <a:solidFill>
                <a:schemeClr val="dk1"/>
              </a:solidFill>
              <a:latin typeface="Calibri"/>
              <a:ea typeface="Calibri"/>
              <a:cs typeface="Calibri"/>
              <a:sym typeface="Calibri"/>
            </a:endParaRPr>
          </a:p>
        </p:txBody>
      </p:sp>
      <p:sp>
        <p:nvSpPr>
          <p:cNvPr id="146" name="Google Shape;146;p10"/>
          <p:cNvSpPr txBox="1"/>
          <p:nvPr/>
        </p:nvSpPr>
        <p:spPr>
          <a:xfrm>
            <a:off x="781877" y="3377866"/>
            <a:ext cx="10880035" cy="34163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1800" u="none" strike="noStrike">
                <a:solidFill>
                  <a:schemeClr val="dk1"/>
                </a:solidFill>
                <a:latin typeface="Calibri"/>
                <a:ea typeface="Calibri"/>
                <a:cs typeface="Calibri"/>
                <a:sym typeface="Calibri"/>
              </a:rPr>
              <a:t>Variabilidad en los datos científicos</a:t>
            </a:r>
            <a:endParaRPr/>
          </a:p>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Si la densidad del producto observada en el proceso fuera siempre la misma y siempre fuera la esperada, no habría necesidad de métodos estadísticos</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b="1" i="0" lang="es-ES" sz="1800" u="none" strike="noStrike">
                <a:solidFill>
                  <a:schemeClr val="dk1"/>
                </a:solidFill>
                <a:latin typeface="Calibri"/>
                <a:ea typeface="Calibri"/>
                <a:cs typeface="Calibri"/>
                <a:sym typeface="Calibri"/>
              </a:rPr>
              <a:t>El papel de la probabilidad</a:t>
            </a:r>
            <a:endParaRPr/>
          </a:p>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Los elementos de probabilidad nos permiten cuantificar la fortaleza o “confianza” en nuestras conclusiones. En este sentido, los conceptos de probabilidad forman un componente significativo que complementa los métodos estadísticos y ayuda a evaluar la consistencia de la inferencia estadística</a:t>
            </a:r>
            <a:endParaRPr/>
          </a:p>
          <a:p>
            <a:pPr indent="0" lvl="0" marL="0" marR="0" rtl="0" algn="l">
              <a:spcBef>
                <a:spcPts val="0"/>
              </a:spcBef>
              <a:spcAft>
                <a:spcPts val="0"/>
              </a:spcAft>
              <a:buNone/>
            </a:pPr>
            <a:r>
              <a:t/>
            </a:r>
            <a:endParaRPr b="0" i="0" sz="1800" u="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E</a:t>
            </a:r>
            <a:r>
              <a:rPr b="0" i="0" lang="es-ES" sz="1800" u="none" strike="noStrike">
                <a:solidFill>
                  <a:schemeClr val="dk1"/>
                </a:solidFill>
                <a:latin typeface="Calibri"/>
                <a:ea typeface="Calibri"/>
                <a:cs typeface="Calibri"/>
                <a:sym typeface="Calibri"/>
              </a:rPr>
              <a:t>l uso o la aplicación de conceptos de probabilidad permite interpretar la vida cotidiana a partir de los resultados de la inferencia estadística</a:t>
            </a:r>
            <a:endParaRPr b="1" i="0" sz="1800" u="none" strike="noStrike">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1"/>
          <p:cNvSpPr txBox="1"/>
          <p:nvPr/>
        </p:nvSpPr>
        <p:spPr>
          <a:xfrm>
            <a:off x="755374" y="517699"/>
            <a:ext cx="60960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2000" u="none" strike="noStrike">
                <a:solidFill>
                  <a:schemeClr val="dk1"/>
                </a:solidFill>
                <a:latin typeface="Calibri"/>
                <a:ea typeface="Calibri"/>
                <a:cs typeface="Calibri"/>
                <a:sym typeface="Calibri"/>
              </a:rPr>
              <a:t>Probabilidad</a:t>
            </a:r>
            <a:endParaRPr b="1" sz="2000">
              <a:solidFill>
                <a:schemeClr val="dk1"/>
              </a:solidFill>
              <a:latin typeface="Calibri"/>
              <a:ea typeface="Calibri"/>
              <a:cs typeface="Calibri"/>
              <a:sym typeface="Calibri"/>
            </a:endParaRPr>
          </a:p>
        </p:txBody>
      </p:sp>
      <p:sp>
        <p:nvSpPr>
          <p:cNvPr id="152" name="Google Shape;152;p11"/>
          <p:cNvSpPr txBox="1"/>
          <p:nvPr/>
        </p:nvSpPr>
        <p:spPr>
          <a:xfrm>
            <a:off x="755373" y="1140552"/>
            <a:ext cx="10561983"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2000" u="none" strike="noStrike">
                <a:solidFill>
                  <a:schemeClr val="dk1"/>
                </a:solidFill>
                <a:latin typeface="Calibri"/>
                <a:ea typeface="Calibri"/>
                <a:cs typeface="Calibri"/>
                <a:sym typeface="Calibri"/>
              </a:rPr>
              <a:t>Espacio muestral</a:t>
            </a:r>
            <a:endParaRPr/>
          </a:p>
          <a:p>
            <a:pPr indent="0" lvl="0" marL="0" marR="0" rtl="0" algn="l">
              <a:spcBef>
                <a:spcPts val="0"/>
              </a:spcBef>
              <a:spcAft>
                <a:spcPts val="0"/>
              </a:spcAft>
              <a:buNone/>
            </a:pPr>
            <a:r>
              <a:t/>
            </a:r>
            <a:endParaRPr b="1" i="0" sz="1800" u="none" strike="noStrike">
              <a:solidFill>
                <a:srgbClr val="344B53"/>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b="1" lang="es-ES" sz="1800">
                <a:solidFill>
                  <a:schemeClr val="dk1"/>
                </a:solidFill>
                <a:latin typeface="Calibri"/>
                <a:ea typeface="Calibri"/>
                <a:cs typeface="Calibri"/>
                <a:sym typeface="Calibri"/>
              </a:rPr>
              <a:t>Observaciones: </a:t>
            </a:r>
            <a:r>
              <a:rPr lang="es-ES" sz="1800">
                <a:solidFill>
                  <a:schemeClr val="dk1"/>
                </a:solidFill>
                <a:latin typeface="Calibri"/>
                <a:ea typeface="Calibri"/>
                <a:cs typeface="Calibri"/>
                <a:sym typeface="Calibri"/>
              </a:rPr>
              <a:t>cualquier registro de información</a:t>
            </a:r>
            <a:endParaRPr b="1"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b="1" lang="es-ES" sz="1800">
                <a:solidFill>
                  <a:schemeClr val="dk1"/>
                </a:solidFill>
                <a:latin typeface="Calibri"/>
                <a:ea typeface="Calibri"/>
                <a:cs typeface="Calibri"/>
                <a:sym typeface="Calibri"/>
              </a:rPr>
              <a:t>Experimento</a:t>
            </a:r>
            <a:r>
              <a:rPr b="1" lang="es-ES" sz="1800">
                <a:solidFill>
                  <a:srgbClr val="344B53"/>
                </a:solidFill>
                <a:latin typeface="Calibri"/>
                <a:ea typeface="Calibri"/>
                <a:cs typeface="Calibri"/>
                <a:sym typeface="Calibri"/>
              </a:rPr>
              <a:t>: </a:t>
            </a:r>
            <a:r>
              <a:rPr b="0" i="0" lang="es-ES" sz="1800" u="none" strike="noStrike">
                <a:solidFill>
                  <a:schemeClr val="dk1"/>
                </a:solidFill>
                <a:latin typeface="Calibri"/>
                <a:ea typeface="Calibri"/>
                <a:cs typeface="Calibri"/>
                <a:sym typeface="Calibri"/>
              </a:rPr>
              <a:t>describe cualquier proceso que genere un conjunto de datos</a:t>
            </a:r>
            <a:endParaRPr/>
          </a:p>
          <a:p>
            <a:pPr indent="-171450" lvl="0" marL="285750" marR="0" rtl="0" algn="l">
              <a:spcBef>
                <a:spcPts val="0"/>
              </a:spcBef>
              <a:spcAft>
                <a:spcPts val="0"/>
              </a:spcAft>
              <a:buClr>
                <a:schemeClr val="dk1"/>
              </a:buClr>
              <a:buSzPts val="1800"/>
              <a:buFont typeface="Arial"/>
              <a:buNone/>
            </a:pPr>
            <a:r>
              <a:t/>
            </a:r>
            <a:endParaRPr sz="1800">
              <a:solidFill>
                <a:srgbClr val="344B53"/>
              </a:solidFill>
              <a:latin typeface="Calibri"/>
              <a:ea typeface="Calibri"/>
              <a:cs typeface="Calibri"/>
              <a:sym typeface="Calibri"/>
            </a:endParaRPr>
          </a:p>
          <a:p>
            <a:pPr indent="0" lvl="0" marL="0" marR="0" rtl="0" algn="l">
              <a:spcBef>
                <a:spcPts val="0"/>
              </a:spcBef>
              <a:spcAft>
                <a:spcPts val="0"/>
              </a:spcAft>
              <a:buNone/>
            </a:pPr>
            <a:r>
              <a:rPr b="0" i="0" lang="es-ES" sz="1800" u="none" strike="noStrike">
                <a:solidFill>
                  <a:schemeClr val="dk1"/>
                </a:solidFill>
                <a:latin typeface="Calibri"/>
                <a:ea typeface="Calibri"/>
                <a:cs typeface="Calibri"/>
                <a:sym typeface="Calibri"/>
              </a:rPr>
              <a:t>En estadística nos interesan, en particular, las observaciones que se obtienen al repetir varias veces un experimento</a:t>
            </a:r>
            <a:endParaRPr b="1" i="0" sz="1800" u="none" strike="noStrike">
              <a:solidFill>
                <a:srgbClr val="344B53"/>
              </a:solidFill>
              <a:latin typeface="Calibri"/>
              <a:ea typeface="Calibri"/>
              <a:cs typeface="Calibri"/>
              <a:sym typeface="Calibri"/>
            </a:endParaRPr>
          </a:p>
          <a:p>
            <a:pPr indent="0" lvl="0" marL="0" marR="0" rtl="0" algn="l">
              <a:spcBef>
                <a:spcPts val="0"/>
              </a:spcBef>
              <a:spcAft>
                <a:spcPts val="0"/>
              </a:spcAft>
              <a:buNone/>
            </a:pPr>
            <a:r>
              <a:t/>
            </a:r>
            <a:endParaRPr b="1" sz="1800">
              <a:solidFill>
                <a:srgbClr val="344B53"/>
              </a:solidFill>
              <a:latin typeface="Calibri"/>
              <a:ea typeface="Calibri"/>
              <a:cs typeface="Calibri"/>
              <a:sym typeface="Calibri"/>
            </a:endParaRPr>
          </a:p>
          <a:p>
            <a:pPr indent="0" lvl="0" marL="0" marR="0" rtl="0" algn="l">
              <a:spcBef>
                <a:spcPts val="0"/>
              </a:spcBef>
              <a:spcAft>
                <a:spcPts val="0"/>
              </a:spcAft>
              <a:buNone/>
            </a:pPr>
            <a:r>
              <a:rPr b="0" i="0" lang="es-ES" sz="1800" u="none" strike="noStrike">
                <a:solidFill>
                  <a:schemeClr val="dk1"/>
                </a:solidFill>
                <a:latin typeface="Calibri"/>
                <a:ea typeface="Calibri"/>
                <a:cs typeface="Calibri"/>
                <a:sym typeface="Calibri"/>
              </a:rPr>
              <a:t>Al conjunto de todos los resultados posibles de un experimento estadístico se le llama </a:t>
            </a:r>
            <a:r>
              <a:rPr b="1" i="0" lang="es-ES" sz="1800" u="none" strike="noStrike">
                <a:solidFill>
                  <a:schemeClr val="dk1"/>
                </a:solidFill>
                <a:latin typeface="Calibri"/>
                <a:ea typeface="Calibri"/>
                <a:cs typeface="Calibri"/>
                <a:sym typeface="Calibri"/>
              </a:rPr>
              <a:t>espacio muestral </a:t>
            </a:r>
            <a:r>
              <a:rPr b="0" i="0" lang="es-ES" sz="1800" u="none" strike="noStrike">
                <a:solidFill>
                  <a:schemeClr val="dk1"/>
                </a:solidFill>
                <a:latin typeface="Calibri"/>
                <a:ea typeface="Calibri"/>
                <a:cs typeface="Calibri"/>
                <a:sym typeface="Calibri"/>
              </a:rPr>
              <a:t>y se representa con el símbolo </a:t>
            </a:r>
            <a:r>
              <a:rPr b="0" i="1" lang="es-ES" sz="1800" u="none" strike="noStrike">
                <a:solidFill>
                  <a:schemeClr val="dk1"/>
                </a:solidFill>
                <a:latin typeface="Calibri"/>
                <a:ea typeface="Calibri"/>
                <a:cs typeface="Calibri"/>
                <a:sym typeface="Calibri"/>
              </a:rPr>
              <a:t>S</a:t>
            </a:r>
            <a:r>
              <a:rPr b="0" i="0" lang="es-ES" sz="1800" u="none" strike="noStrike">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800">
              <a:solidFill>
                <a:srgbClr val="344B53"/>
              </a:solidFill>
              <a:latin typeface="Calibri"/>
              <a:ea typeface="Calibri"/>
              <a:cs typeface="Calibri"/>
              <a:sym typeface="Calibri"/>
            </a:endParaRPr>
          </a:p>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A cada resultado en un espacio muestral se le llama </a:t>
            </a:r>
            <a:r>
              <a:rPr b="1" i="0" lang="es-ES" sz="1800" u="none" strike="noStrike">
                <a:solidFill>
                  <a:schemeClr val="dk1"/>
                </a:solidFill>
                <a:latin typeface="Calibri"/>
                <a:ea typeface="Calibri"/>
                <a:cs typeface="Calibri"/>
                <a:sym typeface="Calibri"/>
              </a:rPr>
              <a:t>elemento </a:t>
            </a:r>
            <a:r>
              <a:rPr b="0" i="0" lang="es-ES" sz="1800" u="none" strike="noStrike">
                <a:solidFill>
                  <a:schemeClr val="dk1"/>
                </a:solidFill>
                <a:latin typeface="Calibri"/>
                <a:ea typeface="Calibri"/>
                <a:cs typeface="Calibri"/>
                <a:sym typeface="Calibri"/>
              </a:rPr>
              <a:t>o </a:t>
            </a:r>
            <a:r>
              <a:rPr b="1" i="0" lang="es-ES" sz="1800" u="none" strike="noStrike">
                <a:solidFill>
                  <a:schemeClr val="dk1"/>
                </a:solidFill>
                <a:latin typeface="Calibri"/>
                <a:ea typeface="Calibri"/>
                <a:cs typeface="Calibri"/>
                <a:sym typeface="Calibri"/>
              </a:rPr>
              <a:t>miembro </a:t>
            </a:r>
            <a:r>
              <a:rPr b="0" i="0" lang="es-ES" sz="1800" u="none" strike="noStrike">
                <a:solidFill>
                  <a:schemeClr val="dk1"/>
                </a:solidFill>
                <a:latin typeface="Calibri"/>
                <a:ea typeface="Calibri"/>
                <a:cs typeface="Calibri"/>
                <a:sym typeface="Calibri"/>
              </a:rPr>
              <a:t>del espacio muestral, o simplemente </a:t>
            </a:r>
            <a:r>
              <a:rPr b="1" i="0" lang="es-ES" sz="1800" u="none" strike="noStrike">
                <a:solidFill>
                  <a:schemeClr val="dk1"/>
                </a:solidFill>
                <a:latin typeface="Calibri"/>
                <a:ea typeface="Calibri"/>
                <a:cs typeface="Calibri"/>
                <a:sym typeface="Calibri"/>
              </a:rPr>
              <a:t>punto muestral</a:t>
            </a:r>
            <a:r>
              <a:rPr b="0" i="0" lang="es-ES" sz="1800" u="none" strike="noStrike">
                <a:solidFill>
                  <a:schemeClr val="dk1"/>
                </a:solidFill>
                <a:latin typeface="Calibri"/>
                <a:ea typeface="Calibri"/>
                <a:cs typeface="Calibri"/>
                <a:sym typeface="Calibri"/>
              </a:rPr>
              <a:t>. Si el espacio muestral tiene un numero finito de elementos, podemos </a:t>
            </a:r>
            <a:r>
              <a:rPr b="0" i="1" lang="es-ES" sz="1800" u="none" strike="noStrike">
                <a:solidFill>
                  <a:schemeClr val="dk1"/>
                </a:solidFill>
                <a:latin typeface="Calibri"/>
                <a:ea typeface="Calibri"/>
                <a:cs typeface="Calibri"/>
                <a:sym typeface="Calibri"/>
              </a:rPr>
              <a:t>listar </a:t>
            </a:r>
            <a:r>
              <a:rPr b="0" i="0" lang="es-ES" sz="1800" u="none" strike="noStrike">
                <a:solidFill>
                  <a:schemeClr val="dk1"/>
                </a:solidFill>
                <a:latin typeface="Calibri"/>
                <a:ea typeface="Calibri"/>
                <a:cs typeface="Calibri"/>
                <a:sym typeface="Calibri"/>
              </a:rPr>
              <a:t>los miembros separados por comas y encerrarlos entre llaves. Por consiguiente, el espacio muestral </a:t>
            </a:r>
            <a:r>
              <a:rPr b="0" i="1" lang="es-ES" sz="1800" u="none" strike="noStrike">
                <a:solidFill>
                  <a:schemeClr val="dk1"/>
                </a:solidFill>
                <a:latin typeface="Calibri"/>
                <a:ea typeface="Calibri"/>
                <a:cs typeface="Calibri"/>
                <a:sym typeface="Calibri"/>
              </a:rPr>
              <a:t>S</a:t>
            </a:r>
            <a:r>
              <a:rPr b="0" i="0" lang="es-ES" sz="1800" u="none" strike="noStrike">
                <a:solidFill>
                  <a:schemeClr val="dk1"/>
                </a:solidFill>
                <a:latin typeface="Calibri"/>
                <a:ea typeface="Calibri"/>
                <a:cs typeface="Calibri"/>
                <a:sym typeface="Calibri"/>
              </a:rPr>
              <a:t>, de los resultados posibles cuando se lanza una moneda al aire, se puede escribir como: </a:t>
            </a:r>
            <a:endParaRPr b="1" sz="1800">
              <a:solidFill>
                <a:srgbClr val="344B53"/>
              </a:solidFill>
              <a:latin typeface="Calibri"/>
              <a:ea typeface="Calibri"/>
              <a:cs typeface="Calibri"/>
              <a:sym typeface="Calibri"/>
            </a:endParaRPr>
          </a:p>
        </p:txBody>
      </p:sp>
      <p:pic>
        <p:nvPicPr>
          <p:cNvPr id="153" name="Google Shape;153;p11"/>
          <p:cNvPicPr preferRelativeResize="0"/>
          <p:nvPr/>
        </p:nvPicPr>
        <p:blipFill rotWithShape="1">
          <a:blip r:embed="rId3">
            <a:alphaModFix/>
          </a:blip>
          <a:srcRect b="0" l="0" r="0" t="0"/>
          <a:stretch/>
        </p:blipFill>
        <p:spPr>
          <a:xfrm>
            <a:off x="4875063" y="5610612"/>
            <a:ext cx="1737771" cy="506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2"/>
          <p:cNvSpPr txBox="1"/>
          <p:nvPr/>
        </p:nvSpPr>
        <p:spPr>
          <a:xfrm>
            <a:off x="695739" y="530952"/>
            <a:ext cx="10800522" cy="29854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2000" u="none" strike="noStrike">
                <a:solidFill>
                  <a:schemeClr val="dk1"/>
                </a:solidFill>
                <a:latin typeface="Calibri"/>
                <a:ea typeface="Calibri"/>
                <a:cs typeface="Calibri"/>
                <a:sym typeface="Calibri"/>
              </a:rPr>
              <a:t>Ejemplo</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b="1" i="0" lang="es-ES" sz="2000" u="none" strike="noStrike">
                <a:solidFill>
                  <a:schemeClr val="dk1"/>
                </a:solidFill>
                <a:latin typeface="Calibri"/>
                <a:ea typeface="Calibri"/>
                <a:cs typeface="Calibri"/>
                <a:sym typeface="Calibri"/>
              </a:rPr>
              <a:t>Determinar el espacio muestral de los siguientes experimentos</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b="0" i="0" lang="es-ES" sz="1800" u="none" strike="noStrike">
                <a:solidFill>
                  <a:schemeClr val="dk1"/>
                </a:solidFill>
                <a:latin typeface="Calibri"/>
                <a:ea typeface="Calibri"/>
                <a:cs typeface="Calibri"/>
                <a:sym typeface="Calibri"/>
              </a:rPr>
              <a:t>Se lanza un dado donde nos interesará el numero que aparece en la cara superior</a:t>
            </a:r>
            <a:endParaRPr/>
          </a:p>
          <a:p>
            <a:pPr indent="-285750" lvl="0" marL="285750" marR="0" rtl="0" algn="l">
              <a:spcBef>
                <a:spcPts val="0"/>
              </a:spcBef>
              <a:spcAft>
                <a:spcPts val="0"/>
              </a:spcAft>
              <a:buClr>
                <a:schemeClr val="dk1"/>
              </a:buClr>
              <a:buSzPts val="1800"/>
              <a:buFont typeface="Arial"/>
              <a:buChar char="•"/>
            </a:pPr>
            <a:r>
              <a:rPr b="0" i="0" lang="es-ES" sz="1800" u="none" strike="noStrike">
                <a:solidFill>
                  <a:schemeClr val="dk1"/>
                </a:solidFill>
                <a:latin typeface="Calibri"/>
                <a:ea typeface="Calibri"/>
                <a:cs typeface="Calibri"/>
                <a:sym typeface="Calibri"/>
              </a:rPr>
              <a:t>Si solo estuviéramos interesados en si el numero es par o impar.</a:t>
            </a:r>
            <a:endParaRPr/>
          </a:p>
          <a:p>
            <a:pPr indent="-285750" lvl="0" marL="285750" marR="0" rtl="0" algn="l">
              <a:spcBef>
                <a:spcPts val="0"/>
              </a:spcBef>
              <a:spcAft>
                <a:spcPts val="0"/>
              </a:spcAft>
              <a:buClr>
                <a:schemeClr val="dk1"/>
              </a:buClr>
              <a:buSzPts val="1800"/>
              <a:buFont typeface="Arial"/>
              <a:buChar char="•"/>
            </a:pPr>
            <a:r>
              <a:rPr lang="es-ES" sz="1800">
                <a:solidFill>
                  <a:schemeClr val="dk1"/>
                </a:solidFill>
                <a:latin typeface="Calibri"/>
                <a:ea typeface="Calibri"/>
                <a:cs typeface="Calibri"/>
                <a:sym typeface="Calibri"/>
              </a:rPr>
              <a:t>Se</a:t>
            </a:r>
            <a:r>
              <a:rPr b="0" i="0" lang="es-ES" sz="1800" u="none" strike="noStrike">
                <a:solidFill>
                  <a:schemeClr val="dk1"/>
                </a:solidFill>
                <a:latin typeface="Calibri"/>
                <a:ea typeface="Calibri"/>
                <a:cs typeface="Calibri"/>
                <a:sym typeface="Calibri"/>
              </a:rPr>
              <a:t> lanzar una moneda y después lanzarla una segunda vez si sale cara. Si en el primer lanzamiento sale cruz, entonces se lanza un dado una vez.</a:t>
            </a:r>
            <a:endParaRPr/>
          </a:p>
          <a:p>
            <a:pPr indent="-285750" lvl="0" marL="285750" marR="0" rtl="0" algn="l">
              <a:spcBef>
                <a:spcPts val="0"/>
              </a:spcBef>
              <a:spcAft>
                <a:spcPts val="0"/>
              </a:spcAft>
              <a:buClr>
                <a:schemeClr val="dk1"/>
              </a:buClr>
              <a:buSzPts val="1800"/>
              <a:buFont typeface="Arial"/>
              <a:buChar char="•"/>
            </a:pPr>
            <a:r>
              <a:rPr b="0" i="0" lang="es-ES" sz="1800" u="none" strike="noStrike">
                <a:solidFill>
                  <a:schemeClr val="dk1"/>
                </a:solidFill>
                <a:latin typeface="Calibri"/>
                <a:ea typeface="Calibri"/>
                <a:cs typeface="Calibri"/>
                <a:sym typeface="Calibri"/>
              </a:rPr>
              <a:t>Se seleccionan, de forma aleatoria, tres artículos de un proceso de fabricación. Cada articulo se inspecciona y se clasifica como defectuoso, </a:t>
            </a:r>
            <a:r>
              <a:rPr b="0" i="1" lang="es-ES" sz="1800" u="none" strike="noStrike">
                <a:solidFill>
                  <a:schemeClr val="dk1"/>
                </a:solidFill>
                <a:latin typeface="Calibri"/>
                <a:ea typeface="Calibri"/>
                <a:cs typeface="Calibri"/>
                <a:sym typeface="Calibri"/>
              </a:rPr>
              <a:t>D, </a:t>
            </a:r>
            <a:r>
              <a:rPr b="0" i="0" lang="es-ES" sz="1800" u="none" strike="noStrike">
                <a:solidFill>
                  <a:schemeClr val="dk1"/>
                </a:solidFill>
                <a:latin typeface="Calibri"/>
                <a:ea typeface="Calibri"/>
                <a:cs typeface="Calibri"/>
                <a:sym typeface="Calibri"/>
              </a:rPr>
              <a:t>o no defectuoso, </a:t>
            </a:r>
            <a:r>
              <a:rPr b="0" i="1" lang="es-ES" sz="1800" u="none" strike="noStrike">
                <a:solidFill>
                  <a:schemeClr val="dk1"/>
                </a:solidFill>
                <a:latin typeface="Calibri"/>
                <a:ea typeface="Calibri"/>
                <a:cs typeface="Calibri"/>
                <a:sym typeface="Calibri"/>
              </a:rPr>
              <a:t>N</a:t>
            </a:r>
            <a:r>
              <a:rPr b="0" i="0" lang="es-ES" sz="1800" u="none" strike="noStrike">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3"/>
          <p:cNvSpPr txBox="1"/>
          <p:nvPr/>
        </p:nvSpPr>
        <p:spPr>
          <a:xfrm>
            <a:off x="755373" y="451439"/>
            <a:ext cx="10760765" cy="12618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2000" u="none" strike="noStrike">
                <a:solidFill>
                  <a:schemeClr val="dk1"/>
                </a:solidFill>
                <a:latin typeface="Calibri"/>
                <a:ea typeface="Calibri"/>
                <a:cs typeface="Calibri"/>
                <a:sym typeface="Calibri"/>
              </a:rPr>
              <a:t>Eventos</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Subconjunto del espacio muestral. Por ejemplo, estamos interesados en el evento A, el cual es el resultado de lanzar un dado sea divisible entre 3 </a:t>
            </a:r>
            <a:endParaRPr/>
          </a:p>
        </p:txBody>
      </p:sp>
      <p:pic>
        <p:nvPicPr>
          <p:cNvPr id="164" name="Google Shape;164;p13"/>
          <p:cNvPicPr preferRelativeResize="0"/>
          <p:nvPr/>
        </p:nvPicPr>
        <p:blipFill rotWithShape="1">
          <a:blip r:embed="rId3">
            <a:alphaModFix/>
          </a:blip>
          <a:srcRect b="0" l="0" r="0" t="0"/>
          <a:stretch/>
        </p:blipFill>
        <p:spPr>
          <a:xfrm>
            <a:off x="4832462" y="1849069"/>
            <a:ext cx="1263538" cy="390548"/>
          </a:xfrm>
          <a:prstGeom prst="rect">
            <a:avLst/>
          </a:prstGeom>
          <a:noFill/>
          <a:ln>
            <a:noFill/>
          </a:ln>
        </p:spPr>
      </p:pic>
      <p:sp>
        <p:nvSpPr>
          <p:cNvPr id="165" name="Google Shape;165;p13"/>
          <p:cNvSpPr txBox="1"/>
          <p:nvPr/>
        </p:nvSpPr>
        <p:spPr>
          <a:xfrm>
            <a:off x="755372" y="2505669"/>
            <a:ext cx="1115833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Podríamos</a:t>
            </a:r>
            <a:r>
              <a:rPr b="0" i="0" lang="es-ES" sz="1800" u="none" strike="noStrike">
                <a:solidFill>
                  <a:schemeClr val="dk1"/>
                </a:solidFill>
                <a:latin typeface="Calibri"/>
                <a:ea typeface="Calibri"/>
                <a:cs typeface="Calibri"/>
                <a:sym typeface="Calibri"/>
              </a:rPr>
              <a:t> estar interesados en el evento </a:t>
            </a: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de que el numero de artículos defectuosos sea mayor que 1, en el ejemplo de los artículos de fabricación</a:t>
            </a:r>
            <a:endParaRPr sz="1800">
              <a:solidFill>
                <a:schemeClr val="dk1"/>
              </a:solidFill>
              <a:latin typeface="Calibri"/>
              <a:ea typeface="Calibri"/>
              <a:cs typeface="Calibri"/>
              <a:sym typeface="Calibri"/>
            </a:endParaRPr>
          </a:p>
        </p:txBody>
      </p:sp>
      <p:pic>
        <p:nvPicPr>
          <p:cNvPr id="166" name="Google Shape;166;p13"/>
          <p:cNvPicPr preferRelativeResize="0"/>
          <p:nvPr/>
        </p:nvPicPr>
        <p:blipFill rotWithShape="1">
          <a:blip r:embed="rId4">
            <a:alphaModFix/>
          </a:blip>
          <a:srcRect b="0" l="0" r="0" t="0"/>
          <a:stretch/>
        </p:blipFill>
        <p:spPr>
          <a:xfrm>
            <a:off x="4379229" y="3360722"/>
            <a:ext cx="2876951" cy="371527"/>
          </a:xfrm>
          <a:prstGeom prst="rect">
            <a:avLst/>
          </a:prstGeom>
          <a:noFill/>
          <a:ln>
            <a:noFill/>
          </a:ln>
        </p:spPr>
      </p:pic>
      <p:sp>
        <p:nvSpPr>
          <p:cNvPr id="167" name="Google Shape;167;p13"/>
          <p:cNvSpPr txBox="1"/>
          <p:nvPr/>
        </p:nvSpPr>
        <p:spPr>
          <a:xfrm>
            <a:off x="755372" y="4138136"/>
            <a:ext cx="1076076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1800" u="none" strike="noStrike">
                <a:solidFill>
                  <a:schemeClr val="dk1"/>
                </a:solidFill>
                <a:latin typeface="Calibri"/>
                <a:ea typeface="Calibri"/>
                <a:cs typeface="Calibri"/>
                <a:sym typeface="Calibri"/>
              </a:rPr>
              <a:t>Para cada evento asignamos un conjunto de puntos muestrales, que constituye un subconjunto del espacio muestral.  Este subconjunto representa la totalidad de los elementos para los que el evento es cierto.</a:t>
            </a:r>
            <a:endParaRPr sz="1800">
              <a:solidFill>
                <a:schemeClr val="dk1"/>
              </a:solidFill>
              <a:latin typeface="Calibri"/>
              <a:ea typeface="Calibri"/>
              <a:cs typeface="Calibri"/>
              <a:sym typeface="Calibri"/>
            </a:endParaRPr>
          </a:p>
        </p:txBody>
      </p:sp>
      <p:sp>
        <p:nvSpPr>
          <p:cNvPr id="168" name="Google Shape;168;p13"/>
          <p:cNvSpPr txBox="1"/>
          <p:nvPr/>
        </p:nvSpPr>
        <p:spPr>
          <a:xfrm>
            <a:off x="755371" y="5170438"/>
            <a:ext cx="1058848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1800" u="none" strike="noStrike">
                <a:solidFill>
                  <a:schemeClr val="dk1"/>
                </a:solidFill>
                <a:latin typeface="Calibri"/>
                <a:ea typeface="Calibri"/>
                <a:cs typeface="Calibri"/>
                <a:sym typeface="Calibri"/>
              </a:rPr>
              <a:t>El </a:t>
            </a:r>
            <a:r>
              <a:rPr b="1" i="0" lang="es-ES" sz="1800" u="none" strike="noStrike">
                <a:solidFill>
                  <a:schemeClr val="dk1"/>
                </a:solidFill>
                <a:latin typeface="Calibri"/>
                <a:ea typeface="Calibri"/>
                <a:cs typeface="Calibri"/>
                <a:sym typeface="Calibri"/>
              </a:rPr>
              <a:t>complemento </a:t>
            </a:r>
            <a:r>
              <a:rPr b="0" i="0" lang="es-ES" sz="1800" u="none" strike="noStrike">
                <a:solidFill>
                  <a:schemeClr val="dk1"/>
                </a:solidFill>
                <a:latin typeface="Calibri"/>
                <a:ea typeface="Calibri"/>
                <a:cs typeface="Calibri"/>
                <a:sym typeface="Calibri"/>
              </a:rPr>
              <a:t>de un evento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respecto de </a:t>
            </a:r>
            <a:r>
              <a:rPr b="0" i="1" lang="es-ES" sz="1800" u="none" strike="noStrike">
                <a:solidFill>
                  <a:schemeClr val="dk1"/>
                </a:solidFill>
                <a:latin typeface="Calibri"/>
                <a:ea typeface="Calibri"/>
                <a:cs typeface="Calibri"/>
                <a:sym typeface="Calibri"/>
              </a:rPr>
              <a:t>S </a:t>
            </a:r>
            <a:r>
              <a:rPr b="0" i="0" lang="es-ES" sz="1800" u="none" strike="noStrike">
                <a:solidFill>
                  <a:schemeClr val="dk1"/>
                </a:solidFill>
                <a:latin typeface="Calibri"/>
                <a:ea typeface="Calibri"/>
                <a:cs typeface="Calibri"/>
                <a:sym typeface="Calibri"/>
              </a:rPr>
              <a:t>es el subconjunto de todos los elementos de </a:t>
            </a:r>
            <a:r>
              <a:rPr b="0" i="1" lang="es-ES" sz="1800" u="none" strike="noStrike">
                <a:solidFill>
                  <a:schemeClr val="dk1"/>
                </a:solidFill>
                <a:latin typeface="Calibri"/>
                <a:ea typeface="Calibri"/>
                <a:cs typeface="Calibri"/>
                <a:sym typeface="Calibri"/>
              </a:rPr>
              <a:t>S </a:t>
            </a:r>
            <a:r>
              <a:rPr b="0" i="0" lang="es-ES" sz="1800" u="none" strike="noStrike">
                <a:solidFill>
                  <a:schemeClr val="dk1"/>
                </a:solidFill>
                <a:latin typeface="Calibri"/>
                <a:ea typeface="Calibri"/>
                <a:cs typeface="Calibri"/>
                <a:sym typeface="Calibri"/>
              </a:rPr>
              <a:t>que no están en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Denotamos el complemento de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mediante el símbolo N</a:t>
            </a:r>
            <a:r>
              <a:rPr b="0" i="1" lang="es-ES" sz="1800" u="none" strike="noStrike">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4"/>
          <p:cNvSpPr txBox="1"/>
          <p:nvPr/>
        </p:nvSpPr>
        <p:spPr>
          <a:xfrm>
            <a:off x="742121" y="491194"/>
            <a:ext cx="10774017"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1800" u="none" strike="noStrike">
                <a:solidFill>
                  <a:schemeClr val="dk1"/>
                </a:solidFill>
                <a:latin typeface="Calibri"/>
                <a:ea typeface="Calibri"/>
                <a:cs typeface="Calibri"/>
                <a:sym typeface="Calibri"/>
              </a:rPr>
              <a:t>Operaciones con eventos</a:t>
            </a:r>
            <a:endParaRPr/>
          </a:p>
          <a:p>
            <a:pPr indent="0" lvl="0" marL="0" marR="0" rtl="0" algn="just">
              <a:spcBef>
                <a:spcPts val="0"/>
              </a:spcBef>
              <a:spcAft>
                <a:spcPts val="0"/>
              </a:spcAft>
              <a:buNone/>
            </a:pPr>
            <a:r>
              <a:t/>
            </a:r>
            <a:endParaRPr b="1" i="0" sz="1800" u="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Consideremos operaciones con eventos que darán como resultado la formación de nuevos eventos. Suponga que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y </a:t>
            </a: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son dos eventos que se asocian con un experimento. En otras palabras,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y </a:t>
            </a: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son subconjuntos del mismo espacio muestral </a:t>
            </a:r>
            <a:r>
              <a:rPr b="0" i="1" lang="es-ES" sz="1800" u="none" strike="noStrike">
                <a:solidFill>
                  <a:schemeClr val="dk1"/>
                </a:solidFill>
                <a:latin typeface="Calibri"/>
                <a:ea typeface="Calibri"/>
                <a:cs typeface="Calibri"/>
                <a:sym typeface="Calibri"/>
              </a:rPr>
              <a:t>S</a:t>
            </a:r>
            <a:r>
              <a:rPr b="0" i="0" lang="es-ES" sz="1800" u="none" strike="noStrike">
                <a:solidFill>
                  <a:schemeClr val="dk1"/>
                </a:solidFill>
                <a:latin typeface="Calibri"/>
                <a:ea typeface="Calibri"/>
                <a:cs typeface="Calibri"/>
                <a:sym typeface="Calibri"/>
              </a:rPr>
              <a:t>.</a:t>
            </a:r>
            <a:endParaRPr b="1" i="0" sz="1800" u="none" strike="noStrike">
              <a:solidFill>
                <a:schemeClr val="dk1"/>
              </a:solidFill>
              <a:latin typeface="Calibri"/>
              <a:ea typeface="Calibri"/>
              <a:cs typeface="Calibri"/>
              <a:sym typeface="Calibri"/>
            </a:endParaRPr>
          </a:p>
        </p:txBody>
      </p:sp>
      <p:sp>
        <p:nvSpPr>
          <p:cNvPr id="174" name="Google Shape;174;p14"/>
          <p:cNvSpPr txBox="1"/>
          <p:nvPr/>
        </p:nvSpPr>
        <p:spPr>
          <a:xfrm>
            <a:off x="742121" y="2188770"/>
            <a:ext cx="10774017" cy="34163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La </a:t>
            </a:r>
            <a:r>
              <a:rPr b="1" i="0" lang="es-ES" sz="1800" u="none" strike="noStrike">
                <a:solidFill>
                  <a:schemeClr val="dk1"/>
                </a:solidFill>
                <a:latin typeface="Calibri"/>
                <a:ea typeface="Calibri"/>
                <a:cs typeface="Calibri"/>
                <a:sym typeface="Calibri"/>
              </a:rPr>
              <a:t>intersección </a:t>
            </a:r>
            <a:r>
              <a:rPr b="0" i="0" lang="es-ES" sz="1800" u="none" strike="noStrike">
                <a:solidFill>
                  <a:schemeClr val="dk1"/>
                </a:solidFill>
                <a:latin typeface="Calibri"/>
                <a:ea typeface="Calibri"/>
                <a:cs typeface="Calibri"/>
                <a:sym typeface="Calibri"/>
              </a:rPr>
              <a:t>de dos eventos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y </a:t>
            </a: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que se denota con el símbolo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 </a:t>
            </a:r>
            <a:r>
              <a:rPr b="0" i="1" lang="es-ES" sz="1800" u="none" strike="noStrike">
                <a:solidFill>
                  <a:schemeClr val="dk1"/>
                </a:solidFill>
                <a:latin typeface="Calibri"/>
                <a:ea typeface="Calibri"/>
                <a:cs typeface="Calibri"/>
                <a:sym typeface="Calibri"/>
              </a:rPr>
              <a:t>B</a:t>
            </a:r>
            <a:r>
              <a:rPr b="0" i="0" lang="es-ES" sz="1800" u="none" strike="noStrike">
                <a:solidFill>
                  <a:schemeClr val="dk1"/>
                </a:solidFill>
                <a:latin typeface="Calibri"/>
                <a:ea typeface="Calibri"/>
                <a:cs typeface="Calibri"/>
                <a:sym typeface="Calibri"/>
              </a:rPr>
              <a:t>, es el evento que contiene todos los elementos que son comunes a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y a </a:t>
            </a:r>
            <a:r>
              <a:rPr b="0" i="1" lang="es-ES" sz="1800" u="none" strike="noStrike">
                <a:solidFill>
                  <a:schemeClr val="dk1"/>
                </a:solidFill>
                <a:latin typeface="Calibri"/>
                <a:ea typeface="Calibri"/>
                <a:cs typeface="Calibri"/>
                <a:sym typeface="Calibri"/>
              </a:rPr>
              <a:t>B.</a:t>
            </a:r>
            <a:endParaRPr/>
          </a:p>
          <a:p>
            <a:pPr indent="0" lvl="0" marL="0" marR="0" rtl="0" algn="just">
              <a:spcBef>
                <a:spcPts val="0"/>
              </a:spcBef>
              <a:spcAft>
                <a:spcPts val="0"/>
              </a:spcAft>
              <a:buNone/>
            </a:pPr>
            <a:r>
              <a:t/>
            </a:r>
            <a:endParaRPr i="1" sz="1800">
              <a:solidFill>
                <a:schemeClr val="dk1"/>
              </a:solidFill>
              <a:latin typeface="Calibri"/>
              <a:ea typeface="Calibri"/>
              <a:cs typeface="Calibri"/>
              <a:sym typeface="Calibri"/>
            </a:endParaRPr>
          </a:p>
          <a:p>
            <a:pPr indent="0" lvl="0" marL="0" marR="0" rtl="0" algn="l">
              <a:spcBef>
                <a:spcPts val="0"/>
              </a:spcBef>
              <a:spcAft>
                <a:spcPts val="0"/>
              </a:spcAft>
              <a:buNone/>
            </a:pPr>
            <a:r>
              <a:rPr b="0" i="0" lang="es-ES" sz="1800" u="none" strike="noStrike">
                <a:solidFill>
                  <a:schemeClr val="dk1"/>
                </a:solidFill>
                <a:latin typeface="Calibri"/>
                <a:ea typeface="Calibri"/>
                <a:cs typeface="Calibri"/>
                <a:sym typeface="Calibri"/>
              </a:rPr>
              <a:t>Dos eventos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y </a:t>
            </a: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son </a:t>
            </a:r>
            <a:r>
              <a:rPr b="1" i="0" lang="es-ES" sz="1800" u="none" strike="noStrike">
                <a:solidFill>
                  <a:schemeClr val="dk1"/>
                </a:solidFill>
                <a:latin typeface="Calibri"/>
                <a:ea typeface="Calibri"/>
                <a:cs typeface="Calibri"/>
                <a:sym typeface="Calibri"/>
              </a:rPr>
              <a:t>mutuamente excluyentes </a:t>
            </a:r>
            <a:r>
              <a:rPr b="0" i="0" lang="es-ES" sz="1800" u="none" strike="noStrike">
                <a:solidFill>
                  <a:schemeClr val="dk1"/>
                </a:solidFill>
                <a:latin typeface="Calibri"/>
                <a:ea typeface="Calibri"/>
                <a:cs typeface="Calibri"/>
                <a:sym typeface="Calibri"/>
              </a:rPr>
              <a:t>o </a:t>
            </a:r>
            <a:r>
              <a:rPr b="1" i="0" lang="es-ES" sz="1800" u="none" strike="noStrike">
                <a:solidFill>
                  <a:schemeClr val="dk1"/>
                </a:solidFill>
                <a:latin typeface="Calibri"/>
                <a:ea typeface="Calibri"/>
                <a:cs typeface="Calibri"/>
                <a:sym typeface="Calibri"/>
              </a:rPr>
              <a:t>disjuntos </a:t>
            </a:r>
            <a:r>
              <a:rPr b="0" i="0" lang="es-ES" sz="1800" u="none" strike="noStrike">
                <a:solidFill>
                  <a:schemeClr val="dk1"/>
                </a:solidFill>
                <a:latin typeface="Calibri"/>
                <a:ea typeface="Calibri"/>
                <a:cs typeface="Calibri"/>
                <a:sym typeface="Calibri"/>
              </a:rPr>
              <a:t>si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 </a:t>
            </a: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 </a:t>
            </a:r>
            <a:r>
              <a:rPr b="0" i="1" lang="es-ES" sz="1800" u="none" strike="noStrike">
                <a:solidFill>
                  <a:schemeClr val="dk1"/>
                </a:solidFill>
                <a:latin typeface="Calibri"/>
                <a:ea typeface="Calibri"/>
                <a:cs typeface="Calibri"/>
                <a:sym typeface="Calibri"/>
              </a:rPr>
              <a:t>ϕ</a:t>
            </a:r>
            <a:r>
              <a:rPr b="0" i="0" lang="es-ES" sz="1800" u="none" strike="noStrike">
                <a:solidFill>
                  <a:schemeClr val="dk1"/>
                </a:solidFill>
                <a:latin typeface="Calibri"/>
                <a:ea typeface="Calibri"/>
                <a:cs typeface="Calibri"/>
                <a:sym typeface="Calibri"/>
              </a:rPr>
              <a:t>; es decir, si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y </a:t>
            </a: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no tienen elementos en común.</a:t>
            </a:r>
            <a:endParaRPr b="0" i="1" sz="1800" u="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t/>
            </a:r>
            <a:endParaRPr i="1" sz="1800">
              <a:solidFill>
                <a:schemeClr val="dk1"/>
              </a:solidFill>
              <a:latin typeface="Calibri"/>
              <a:ea typeface="Calibri"/>
              <a:cs typeface="Calibri"/>
              <a:sym typeface="Calibri"/>
            </a:endParaRPr>
          </a:p>
          <a:p>
            <a:pPr indent="0" lvl="0" marL="0" marR="0" rtl="0" algn="l">
              <a:spcBef>
                <a:spcPts val="0"/>
              </a:spcBef>
              <a:spcAft>
                <a:spcPts val="0"/>
              </a:spcAft>
              <a:buNone/>
            </a:pPr>
            <a:r>
              <a:rPr b="0" i="0" lang="es-ES" sz="1800" u="none" strike="noStrike">
                <a:solidFill>
                  <a:schemeClr val="dk1"/>
                </a:solidFill>
                <a:latin typeface="Calibri"/>
                <a:ea typeface="Calibri"/>
                <a:cs typeface="Calibri"/>
                <a:sym typeface="Calibri"/>
              </a:rPr>
              <a:t>A menudo nos interesamos en la ocurrencia de al menos uno de dos eventos asociados con un experimento. Por consiguiente, en el experimento del lanzamiento de un dado, si</a:t>
            </a:r>
            <a:endParaRPr i="1"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i="1"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i="1" sz="1800">
              <a:solidFill>
                <a:schemeClr val="dk1"/>
              </a:solidFill>
              <a:latin typeface="Calibri"/>
              <a:ea typeface="Calibri"/>
              <a:cs typeface="Calibri"/>
              <a:sym typeface="Calibri"/>
            </a:endParaRPr>
          </a:p>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podriamos estar interesados en que ocurran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o </a:t>
            </a: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o en que ocurran tanto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como </a:t>
            </a: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Tal evento, que se llama </a:t>
            </a:r>
            <a:r>
              <a:rPr b="1" i="0" lang="es-ES" sz="1800" u="none" strike="noStrike">
                <a:solidFill>
                  <a:schemeClr val="dk1"/>
                </a:solidFill>
                <a:latin typeface="Calibri"/>
                <a:ea typeface="Calibri"/>
                <a:cs typeface="Calibri"/>
                <a:sym typeface="Calibri"/>
              </a:rPr>
              <a:t>unión </a:t>
            </a:r>
            <a:r>
              <a:rPr b="0" i="0" lang="es-ES" sz="1800" u="none" strike="noStrike">
                <a:solidFill>
                  <a:schemeClr val="dk1"/>
                </a:solidFill>
                <a:latin typeface="Calibri"/>
                <a:ea typeface="Calibri"/>
                <a:cs typeface="Calibri"/>
                <a:sym typeface="Calibri"/>
              </a:rPr>
              <a:t>de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y </a:t>
            </a: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ocurrira si el resultado es un elemento del subconjunto {2, 4, 5, 6}.</a:t>
            </a:r>
            <a:endParaRPr sz="1800">
              <a:solidFill>
                <a:schemeClr val="dk1"/>
              </a:solidFill>
              <a:latin typeface="Calibri"/>
              <a:ea typeface="Calibri"/>
              <a:cs typeface="Calibri"/>
              <a:sym typeface="Calibri"/>
            </a:endParaRPr>
          </a:p>
        </p:txBody>
      </p:sp>
      <p:pic>
        <p:nvPicPr>
          <p:cNvPr id="175" name="Google Shape;175;p14"/>
          <p:cNvPicPr preferRelativeResize="0"/>
          <p:nvPr/>
        </p:nvPicPr>
        <p:blipFill rotWithShape="1">
          <a:blip r:embed="rId3">
            <a:alphaModFix/>
          </a:blip>
          <a:srcRect b="0" l="0" r="0" t="0"/>
          <a:stretch/>
        </p:blipFill>
        <p:spPr>
          <a:xfrm>
            <a:off x="4620265" y="4547750"/>
            <a:ext cx="2686425" cy="333422"/>
          </a:xfrm>
          <a:prstGeom prst="rect">
            <a:avLst/>
          </a:prstGeom>
          <a:noFill/>
          <a:ln>
            <a:noFill/>
          </a:ln>
        </p:spPr>
      </p:pic>
      <p:sp>
        <p:nvSpPr>
          <p:cNvPr id="176" name="Google Shape;176;p14"/>
          <p:cNvSpPr txBox="1"/>
          <p:nvPr/>
        </p:nvSpPr>
        <p:spPr>
          <a:xfrm>
            <a:off x="708992" y="5693391"/>
            <a:ext cx="10774016"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La </a:t>
            </a:r>
            <a:r>
              <a:rPr b="1" i="0" lang="es-ES" sz="1800" u="none" strike="noStrike">
                <a:solidFill>
                  <a:schemeClr val="dk1"/>
                </a:solidFill>
                <a:latin typeface="Calibri"/>
                <a:ea typeface="Calibri"/>
                <a:cs typeface="Calibri"/>
                <a:sym typeface="Calibri"/>
              </a:rPr>
              <a:t>unión </a:t>
            </a:r>
            <a:r>
              <a:rPr b="0" i="0" lang="es-ES" sz="1800" u="none" strike="noStrike">
                <a:solidFill>
                  <a:schemeClr val="dk1"/>
                </a:solidFill>
                <a:latin typeface="Calibri"/>
                <a:ea typeface="Calibri"/>
                <a:cs typeface="Calibri"/>
                <a:sym typeface="Calibri"/>
              </a:rPr>
              <a:t>de dos eventos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y </a:t>
            </a:r>
            <a:r>
              <a:rPr b="0" i="1" lang="es-ES" sz="1800" u="none" strike="noStrike">
                <a:solidFill>
                  <a:schemeClr val="dk1"/>
                </a:solidFill>
                <a:latin typeface="Calibri"/>
                <a:ea typeface="Calibri"/>
                <a:cs typeface="Calibri"/>
                <a:sym typeface="Calibri"/>
              </a:rPr>
              <a:t>B</a:t>
            </a:r>
            <a:r>
              <a:rPr b="0" i="0" lang="es-ES" sz="1800" u="none" strike="noStrike">
                <a:solidFill>
                  <a:schemeClr val="dk1"/>
                </a:solidFill>
                <a:latin typeface="Calibri"/>
                <a:ea typeface="Calibri"/>
                <a:cs typeface="Calibri"/>
                <a:sym typeface="Calibri"/>
              </a:rPr>
              <a:t>, que se denota con el símbolo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 </a:t>
            </a:r>
            <a:r>
              <a:rPr b="0" i="1" lang="es-ES" sz="1800" u="none" strike="noStrike">
                <a:solidFill>
                  <a:schemeClr val="dk1"/>
                </a:solidFill>
                <a:latin typeface="Calibri"/>
                <a:ea typeface="Calibri"/>
                <a:cs typeface="Calibri"/>
                <a:sym typeface="Calibri"/>
              </a:rPr>
              <a:t>B</a:t>
            </a:r>
            <a:r>
              <a:rPr b="0" i="0" lang="es-ES" sz="1800" u="none" strike="noStrike">
                <a:solidFill>
                  <a:schemeClr val="dk1"/>
                </a:solidFill>
                <a:latin typeface="Calibri"/>
                <a:ea typeface="Calibri"/>
                <a:cs typeface="Calibri"/>
                <a:sym typeface="Calibri"/>
              </a:rPr>
              <a:t>, es el evento que contiene todos los elementos que pertenecen a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o a </a:t>
            </a: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o a ambos.</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5"/>
          <p:cNvSpPr txBox="1"/>
          <p:nvPr/>
        </p:nvSpPr>
        <p:spPr>
          <a:xfrm>
            <a:off x="795130" y="770787"/>
            <a:ext cx="1099930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1800" u="none" strike="noStrike">
                <a:solidFill>
                  <a:schemeClr val="dk1"/>
                </a:solidFill>
                <a:latin typeface="Calibri"/>
                <a:ea typeface="Calibri"/>
                <a:cs typeface="Calibri"/>
                <a:sym typeface="Calibri"/>
              </a:rPr>
              <a:t>La relación entre eventos y el correspondiente espacio muestral se puede ilustrar de forma grafica utilizando </a:t>
            </a:r>
            <a:r>
              <a:rPr b="1" i="0" lang="es-ES" sz="1800" u="none" strike="noStrike">
                <a:solidFill>
                  <a:schemeClr val="dk1"/>
                </a:solidFill>
                <a:latin typeface="Calibri"/>
                <a:ea typeface="Calibri"/>
                <a:cs typeface="Calibri"/>
                <a:sym typeface="Calibri"/>
              </a:rPr>
              <a:t>diagramas de Venn</a:t>
            </a:r>
            <a:r>
              <a:rPr b="0" i="0" lang="es-ES" sz="1800" u="none" strike="noStrike">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En la siguiente figura se observa </a:t>
            </a:r>
            <a:endParaRPr/>
          </a:p>
        </p:txBody>
      </p:sp>
      <p:pic>
        <p:nvPicPr>
          <p:cNvPr id="182" name="Google Shape;182;p15"/>
          <p:cNvPicPr preferRelativeResize="0"/>
          <p:nvPr/>
        </p:nvPicPr>
        <p:blipFill rotWithShape="1">
          <a:blip r:embed="rId3">
            <a:alphaModFix/>
          </a:blip>
          <a:srcRect b="0" l="0" r="0" t="0"/>
          <a:stretch/>
        </p:blipFill>
        <p:spPr>
          <a:xfrm>
            <a:off x="4393561" y="1878452"/>
            <a:ext cx="2238687" cy="609685"/>
          </a:xfrm>
          <a:prstGeom prst="rect">
            <a:avLst/>
          </a:prstGeom>
          <a:noFill/>
          <a:ln>
            <a:noFill/>
          </a:ln>
        </p:spPr>
      </p:pic>
      <p:pic>
        <p:nvPicPr>
          <p:cNvPr id="183" name="Google Shape;183;p15"/>
          <p:cNvPicPr preferRelativeResize="0"/>
          <p:nvPr/>
        </p:nvPicPr>
        <p:blipFill rotWithShape="1">
          <a:blip r:embed="rId4">
            <a:alphaModFix/>
          </a:blip>
          <a:srcRect b="0" l="0" r="0" t="0"/>
          <a:stretch/>
        </p:blipFill>
        <p:spPr>
          <a:xfrm>
            <a:off x="998143" y="2672472"/>
            <a:ext cx="5296639" cy="3772426"/>
          </a:xfrm>
          <a:prstGeom prst="rect">
            <a:avLst/>
          </a:prstGeom>
          <a:noFill/>
          <a:ln>
            <a:noFill/>
          </a:ln>
        </p:spPr>
      </p:pic>
      <p:pic>
        <p:nvPicPr>
          <p:cNvPr id="184" name="Google Shape;184;p15"/>
          <p:cNvPicPr preferRelativeResize="0"/>
          <p:nvPr/>
        </p:nvPicPr>
        <p:blipFill rotWithShape="1">
          <a:blip r:embed="rId5">
            <a:alphaModFix/>
          </a:blip>
          <a:srcRect b="0" l="0" r="0" t="0"/>
          <a:stretch/>
        </p:blipFill>
        <p:spPr>
          <a:xfrm>
            <a:off x="6632248" y="3386946"/>
            <a:ext cx="3677163" cy="117173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16"/>
          <p:cNvPicPr preferRelativeResize="0"/>
          <p:nvPr/>
        </p:nvPicPr>
        <p:blipFill rotWithShape="1">
          <a:blip r:embed="rId3">
            <a:alphaModFix/>
          </a:blip>
          <a:srcRect b="0" l="0" r="0" t="0"/>
          <a:stretch/>
        </p:blipFill>
        <p:spPr>
          <a:xfrm>
            <a:off x="809970" y="808404"/>
            <a:ext cx="4610170" cy="4002114"/>
          </a:xfrm>
          <a:prstGeom prst="rect">
            <a:avLst/>
          </a:prstGeom>
          <a:noFill/>
          <a:ln>
            <a:noFill/>
          </a:ln>
        </p:spPr>
      </p:pic>
      <p:sp>
        <p:nvSpPr>
          <p:cNvPr id="190" name="Google Shape;190;p16"/>
          <p:cNvSpPr txBox="1"/>
          <p:nvPr/>
        </p:nvSpPr>
        <p:spPr>
          <a:xfrm>
            <a:off x="5645426" y="808425"/>
            <a:ext cx="6096000" cy="397031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L</a:t>
            </a:r>
            <a:r>
              <a:rPr b="0" i="0" lang="es-ES" sz="1800" u="none" strike="noStrike">
                <a:solidFill>
                  <a:schemeClr val="dk1"/>
                </a:solidFill>
                <a:latin typeface="Calibri"/>
                <a:ea typeface="Calibri"/>
                <a:cs typeface="Calibri"/>
                <a:sym typeface="Calibri"/>
              </a:rPr>
              <a:t>os eventos </a:t>
            </a:r>
            <a:r>
              <a:rPr b="0" i="1" lang="es-ES" sz="1800" u="none" strike="noStrike">
                <a:solidFill>
                  <a:schemeClr val="dk1"/>
                </a:solidFill>
                <a:latin typeface="Calibri"/>
                <a:ea typeface="Calibri"/>
                <a:cs typeface="Calibri"/>
                <a:sym typeface="Calibri"/>
              </a:rPr>
              <a:t>A, B </a:t>
            </a:r>
            <a:r>
              <a:rPr b="0" i="0" lang="es-ES" sz="1800" u="none" strike="noStrike">
                <a:solidFill>
                  <a:schemeClr val="dk1"/>
                </a:solidFill>
                <a:latin typeface="Calibri"/>
                <a:ea typeface="Calibri"/>
                <a:cs typeface="Calibri"/>
                <a:sym typeface="Calibri"/>
              </a:rPr>
              <a:t>y </a:t>
            </a:r>
            <a:r>
              <a:rPr b="0" i="1" lang="es-ES" sz="1800" u="none" strike="noStrike">
                <a:solidFill>
                  <a:schemeClr val="dk1"/>
                </a:solidFill>
                <a:latin typeface="Calibri"/>
                <a:ea typeface="Calibri"/>
                <a:cs typeface="Calibri"/>
                <a:sym typeface="Calibri"/>
              </a:rPr>
              <a:t>C </a:t>
            </a:r>
            <a:r>
              <a:rPr b="0" i="0" lang="es-ES" sz="1800" u="none" strike="noStrike">
                <a:solidFill>
                  <a:schemeClr val="dk1"/>
                </a:solidFill>
                <a:latin typeface="Calibri"/>
                <a:ea typeface="Calibri"/>
                <a:cs typeface="Calibri"/>
                <a:sym typeface="Calibri"/>
              </a:rPr>
              <a:t>son subconjuntos del espacio muestral </a:t>
            </a:r>
            <a:r>
              <a:rPr b="0" i="1" lang="es-ES" sz="1800" u="none" strike="noStrike">
                <a:solidFill>
                  <a:schemeClr val="dk1"/>
                </a:solidFill>
                <a:latin typeface="Calibri"/>
                <a:ea typeface="Calibri"/>
                <a:cs typeface="Calibri"/>
                <a:sym typeface="Calibri"/>
              </a:rPr>
              <a:t>S</a:t>
            </a:r>
            <a:r>
              <a:rPr b="0" i="0" lang="es-ES" sz="1800" u="none" strike="noStrike">
                <a:solidFill>
                  <a:schemeClr val="dk1"/>
                </a:solidFill>
                <a:latin typeface="Calibri"/>
                <a:ea typeface="Calibri"/>
                <a:cs typeface="Calibri"/>
                <a:sym typeface="Calibri"/>
              </a:rPr>
              <a:t>. También es claro que el evento </a:t>
            </a: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es un subconjunto del evento </a:t>
            </a:r>
            <a:r>
              <a:rPr b="0" i="1" lang="es-ES" sz="1800" u="none" strike="noStrike">
                <a:solidFill>
                  <a:schemeClr val="dk1"/>
                </a:solidFill>
                <a:latin typeface="Calibri"/>
                <a:ea typeface="Calibri"/>
                <a:cs typeface="Calibri"/>
                <a:sym typeface="Calibri"/>
              </a:rPr>
              <a:t>A</a:t>
            </a:r>
            <a:r>
              <a:rPr b="0" i="0" lang="es-ES" sz="1800" u="none" strike="noStrike">
                <a:solidFill>
                  <a:schemeClr val="dk1"/>
                </a:solidFill>
                <a:latin typeface="Calibri"/>
                <a:ea typeface="Calibri"/>
                <a:cs typeface="Calibri"/>
                <a:sym typeface="Calibri"/>
              </a:rPr>
              <a:t>; el evento </a:t>
            </a: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 </a:t>
            </a:r>
            <a:r>
              <a:rPr b="0" i="1" lang="es-ES" sz="1800" u="none" strike="noStrike">
                <a:solidFill>
                  <a:schemeClr val="dk1"/>
                </a:solidFill>
                <a:latin typeface="Calibri"/>
                <a:ea typeface="Calibri"/>
                <a:cs typeface="Calibri"/>
                <a:sym typeface="Calibri"/>
              </a:rPr>
              <a:t>C </a:t>
            </a:r>
            <a:r>
              <a:rPr b="0" i="0" lang="es-ES" sz="1800" u="none" strike="noStrike">
                <a:solidFill>
                  <a:schemeClr val="dk1"/>
                </a:solidFill>
                <a:latin typeface="Calibri"/>
                <a:ea typeface="Calibri"/>
                <a:cs typeface="Calibri"/>
                <a:sym typeface="Calibri"/>
              </a:rPr>
              <a:t>no tiene elementos, por lo tanto, </a:t>
            </a: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y </a:t>
            </a:r>
            <a:r>
              <a:rPr b="0" i="1" lang="es-ES" sz="1800" u="none" strike="noStrike">
                <a:solidFill>
                  <a:schemeClr val="dk1"/>
                </a:solidFill>
                <a:latin typeface="Calibri"/>
                <a:ea typeface="Calibri"/>
                <a:cs typeface="Calibri"/>
                <a:sym typeface="Calibri"/>
              </a:rPr>
              <a:t>C </a:t>
            </a:r>
            <a:r>
              <a:rPr b="0" i="0" lang="es-ES" sz="1800" u="none" strike="noStrike">
                <a:solidFill>
                  <a:schemeClr val="dk1"/>
                </a:solidFill>
                <a:latin typeface="Calibri"/>
                <a:ea typeface="Calibri"/>
                <a:cs typeface="Calibri"/>
                <a:sym typeface="Calibri"/>
              </a:rPr>
              <a:t>son mutuamente excluyentes; el evento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 </a:t>
            </a:r>
            <a:r>
              <a:rPr b="0" i="1" lang="es-ES" sz="1800" u="none" strike="noStrike">
                <a:solidFill>
                  <a:schemeClr val="dk1"/>
                </a:solidFill>
                <a:latin typeface="Calibri"/>
                <a:ea typeface="Calibri"/>
                <a:cs typeface="Calibri"/>
                <a:sym typeface="Calibri"/>
              </a:rPr>
              <a:t>C </a:t>
            </a:r>
            <a:r>
              <a:rPr b="0" i="0" lang="es-ES" sz="1800" u="none" strike="noStrike">
                <a:solidFill>
                  <a:schemeClr val="dk1"/>
                </a:solidFill>
                <a:latin typeface="Calibri"/>
                <a:ea typeface="Calibri"/>
                <a:cs typeface="Calibri"/>
                <a:sym typeface="Calibri"/>
              </a:rPr>
              <a:t>tiene al menos un elemento; y el evento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 </a:t>
            </a: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 </a:t>
            </a:r>
            <a:r>
              <a:rPr b="0" i="1" lang="es-ES" sz="1800" u="none" strike="noStrike">
                <a:solidFill>
                  <a:schemeClr val="dk1"/>
                </a:solidFill>
                <a:latin typeface="Calibri"/>
                <a:ea typeface="Calibri"/>
                <a:cs typeface="Calibri"/>
                <a:sym typeface="Calibri"/>
              </a:rPr>
              <a:t>A. </a:t>
            </a:r>
            <a:endParaRPr/>
          </a:p>
          <a:p>
            <a:pPr indent="0" lvl="0" marL="0" marR="0" rtl="0" algn="just">
              <a:spcBef>
                <a:spcPts val="0"/>
              </a:spcBef>
              <a:spcAft>
                <a:spcPts val="0"/>
              </a:spcAft>
              <a:buNone/>
            </a:pPr>
            <a:r>
              <a:rPr lang="es-ES" sz="1800">
                <a:solidFill>
                  <a:schemeClr val="dk1"/>
                </a:solidFill>
                <a:latin typeface="Calibri"/>
                <a:ea typeface="Calibri"/>
                <a:cs typeface="Calibri"/>
                <a:sym typeface="Calibri"/>
              </a:rPr>
              <a:t>L</a:t>
            </a:r>
            <a:r>
              <a:rPr b="0" i="0" lang="es-ES" sz="1800" u="none" strike="noStrike">
                <a:solidFill>
                  <a:schemeClr val="dk1"/>
                </a:solidFill>
                <a:latin typeface="Calibri"/>
                <a:ea typeface="Calibri"/>
                <a:cs typeface="Calibri"/>
                <a:sym typeface="Calibri"/>
              </a:rPr>
              <a:t>a fi gura podría representar una situación en la que se selecciona una carta al azar de una baraja ordinaria de 52 cartas y se observa si ocurren los siguientes eventos:</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just">
              <a:spcBef>
                <a:spcPts val="0"/>
              </a:spcBef>
              <a:spcAft>
                <a:spcPts val="0"/>
              </a:spcAft>
              <a:buClr>
                <a:schemeClr val="dk1"/>
              </a:buClr>
              <a:buSzPts val="1800"/>
              <a:buFont typeface="Arial"/>
              <a:buChar char="•"/>
            </a:pP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la carta es roja,</a:t>
            </a:r>
            <a:endParaRPr/>
          </a:p>
          <a:p>
            <a:pPr indent="-285750" lvl="0" marL="285750" marR="0" rtl="0" algn="just">
              <a:spcBef>
                <a:spcPts val="0"/>
              </a:spcBef>
              <a:spcAft>
                <a:spcPts val="0"/>
              </a:spcAft>
              <a:buClr>
                <a:schemeClr val="dk1"/>
              </a:buClr>
              <a:buSzPts val="1800"/>
              <a:buFont typeface="Arial"/>
              <a:buChar char="•"/>
            </a:pP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la carta es la jota, la reina o el rey de diamantes,</a:t>
            </a:r>
            <a:endParaRPr sz="1800">
              <a:solidFill>
                <a:schemeClr val="dk1"/>
              </a:solidFill>
              <a:latin typeface="Calibri"/>
              <a:ea typeface="Calibri"/>
              <a:cs typeface="Calibri"/>
              <a:sym typeface="Calibri"/>
            </a:endParaRPr>
          </a:p>
          <a:p>
            <a:pPr indent="-285750" lvl="0" marL="285750" marR="0" rtl="0" algn="just">
              <a:spcBef>
                <a:spcPts val="0"/>
              </a:spcBef>
              <a:spcAft>
                <a:spcPts val="0"/>
              </a:spcAft>
              <a:buClr>
                <a:schemeClr val="dk1"/>
              </a:buClr>
              <a:buSzPts val="1800"/>
              <a:buFont typeface="Arial"/>
              <a:buChar char="•"/>
            </a:pPr>
            <a:r>
              <a:rPr b="0" i="1" lang="es-ES" sz="1800" u="none" strike="noStrike">
                <a:solidFill>
                  <a:schemeClr val="dk1"/>
                </a:solidFill>
                <a:latin typeface="Calibri"/>
                <a:ea typeface="Calibri"/>
                <a:cs typeface="Calibri"/>
                <a:sym typeface="Calibri"/>
              </a:rPr>
              <a:t>C: </a:t>
            </a:r>
            <a:r>
              <a:rPr b="0" i="0" lang="es-ES" sz="1800" u="none" strike="noStrike">
                <a:solidFill>
                  <a:schemeClr val="dk1"/>
                </a:solidFill>
                <a:latin typeface="Calibri"/>
                <a:ea typeface="Calibri"/>
                <a:cs typeface="Calibri"/>
                <a:sym typeface="Calibri"/>
              </a:rPr>
              <a:t>la carta es un as.</a:t>
            </a:r>
            <a:endParaRPr/>
          </a:p>
          <a:p>
            <a:pPr indent="-171450" lvl="0" marL="285750" marR="0" rtl="0" algn="just">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Claramente, el evento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 </a:t>
            </a:r>
            <a:r>
              <a:rPr b="0" i="1" lang="es-ES" sz="1800" u="none" strike="noStrike">
                <a:solidFill>
                  <a:schemeClr val="dk1"/>
                </a:solidFill>
                <a:latin typeface="Calibri"/>
                <a:ea typeface="Calibri"/>
                <a:cs typeface="Calibri"/>
                <a:sym typeface="Calibri"/>
              </a:rPr>
              <a:t>C </a:t>
            </a:r>
            <a:r>
              <a:rPr b="0" i="0" lang="es-ES" sz="1800" u="none" strike="noStrike">
                <a:solidFill>
                  <a:schemeClr val="dk1"/>
                </a:solidFill>
                <a:latin typeface="Calibri"/>
                <a:ea typeface="Calibri"/>
                <a:cs typeface="Calibri"/>
                <a:sym typeface="Calibri"/>
              </a:rPr>
              <a:t>consta solo de los dos ases rojos.</a:t>
            </a:r>
            <a:endParaRPr sz="1800">
              <a:solidFill>
                <a:schemeClr val="dk1"/>
              </a:solidFill>
              <a:latin typeface="Calibri"/>
              <a:ea typeface="Calibri"/>
              <a:cs typeface="Calibri"/>
              <a:sym typeface="Calibri"/>
            </a:endParaRPr>
          </a:p>
        </p:txBody>
      </p:sp>
      <p:pic>
        <p:nvPicPr>
          <p:cNvPr id="191" name="Google Shape;191;p16"/>
          <p:cNvPicPr preferRelativeResize="0"/>
          <p:nvPr/>
        </p:nvPicPr>
        <p:blipFill rotWithShape="1">
          <a:blip r:embed="rId4">
            <a:alphaModFix/>
          </a:blip>
          <a:srcRect b="0" l="0" r="0" t="0"/>
          <a:stretch/>
        </p:blipFill>
        <p:spPr>
          <a:xfrm>
            <a:off x="2554132" y="5073359"/>
            <a:ext cx="6182588" cy="158137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7"/>
          <p:cNvSpPr txBox="1"/>
          <p:nvPr/>
        </p:nvSpPr>
        <p:spPr>
          <a:xfrm>
            <a:off x="371060" y="650219"/>
            <a:ext cx="11171583" cy="618630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1800" u="none" strike="noStrike">
                <a:solidFill>
                  <a:schemeClr val="dk1"/>
                </a:solidFill>
                <a:latin typeface="Calibri"/>
                <a:ea typeface="Calibri"/>
                <a:cs typeface="Calibri"/>
                <a:sym typeface="Calibri"/>
              </a:rPr>
              <a:t>Conteo de puntos muestrales</a:t>
            </a:r>
            <a:endParaRPr/>
          </a:p>
          <a:p>
            <a:pPr indent="0" lvl="0" marL="0" marR="0" rtl="0" algn="just">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En muchos casos debemos ser capaces de resolver un problema de probabilidad mediante el conteo del numero de puntos en el espacio muestral, sin listar realmente cada elemento. El principio fundamental del conteo, a menudo denominado </a:t>
            </a:r>
            <a:r>
              <a:rPr b="1" i="0" lang="es-ES" sz="1800" u="none" strike="noStrike">
                <a:solidFill>
                  <a:schemeClr val="dk1"/>
                </a:solidFill>
                <a:latin typeface="Calibri"/>
                <a:ea typeface="Calibri"/>
                <a:cs typeface="Calibri"/>
                <a:sym typeface="Calibri"/>
              </a:rPr>
              <a:t>regla de multiplicación</a:t>
            </a:r>
            <a:endParaRPr/>
          </a:p>
          <a:p>
            <a:pPr indent="0" lvl="0" marL="0" marR="0" rtl="0" algn="just">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Si una operación se puede llevar a cabo en </a:t>
            </a:r>
            <a:r>
              <a:rPr b="0" i="1" lang="es-ES" sz="1800" u="none" strike="noStrike">
                <a:solidFill>
                  <a:schemeClr val="dk1"/>
                </a:solidFill>
                <a:latin typeface="Calibri"/>
                <a:ea typeface="Calibri"/>
                <a:cs typeface="Calibri"/>
                <a:sym typeface="Calibri"/>
              </a:rPr>
              <a:t>n</a:t>
            </a:r>
            <a:r>
              <a:rPr b="0" i="0" lang="es-ES" sz="1800" u="none" strike="noStrike">
                <a:solidFill>
                  <a:schemeClr val="dk1"/>
                </a:solidFill>
                <a:latin typeface="Calibri"/>
                <a:ea typeface="Calibri"/>
                <a:cs typeface="Calibri"/>
                <a:sym typeface="Calibri"/>
              </a:rPr>
              <a:t>1 formas, y si para cada una de estas se puede realizar una segunda operación en </a:t>
            </a:r>
            <a:r>
              <a:rPr b="0" i="1" lang="es-ES" sz="1800" u="none" strike="noStrike">
                <a:solidFill>
                  <a:schemeClr val="dk1"/>
                </a:solidFill>
                <a:latin typeface="Calibri"/>
                <a:ea typeface="Calibri"/>
                <a:cs typeface="Calibri"/>
                <a:sym typeface="Calibri"/>
              </a:rPr>
              <a:t>n</a:t>
            </a:r>
            <a:r>
              <a:rPr b="0" i="0" lang="es-ES" sz="1800" u="none" strike="noStrike">
                <a:solidFill>
                  <a:schemeClr val="dk1"/>
                </a:solidFill>
                <a:latin typeface="Calibri"/>
                <a:ea typeface="Calibri"/>
                <a:cs typeface="Calibri"/>
                <a:sym typeface="Calibri"/>
              </a:rPr>
              <a:t>2 formas, entonces las dos operaciones se pueden ejecutar juntas de </a:t>
            </a:r>
            <a:r>
              <a:rPr b="0" i="1" lang="es-ES" sz="1800" u="none" strike="noStrike">
                <a:solidFill>
                  <a:schemeClr val="dk1"/>
                </a:solidFill>
                <a:latin typeface="Calibri"/>
                <a:ea typeface="Calibri"/>
                <a:cs typeface="Calibri"/>
                <a:sym typeface="Calibri"/>
              </a:rPr>
              <a:t>n</a:t>
            </a:r>
            <a:r>
              <a:rPr b="0" i="0" lang="es-ES" sz="1800" u="none" strike="noStrike">
                <a:solidFill>
                  <a:schemeClr val="dk1"/>
                </a:solidFill>
                <a:latin typeface="Calibri"/>
                <a:ea typeface="Calibri"/>
                <a:cs typeface="Calibri"/>
                <a:sym typeface="Calibri"/>
              </a:rPr>
              <a:t>1</a:t>
            </a:r>
            <a:r>
              <a:rPr b="0" i="1" lang="es-ES" sz="1800" u="none" strike="noStrike">
                <a:solidFill>
                  <a:schemeClr val="dk1"/>
                </a:solidFill>
                <a:latin typeface="Calibri"/>
                <a:ea typeface="Calibri"/>
                <a:cs typeface="Calibri"/>
                <a:sym typeface="Calibri"/>
              </a:rPr>
              <a:t>n</a:t>
            </a:r>
            <a:r>
              <a:rPr b="0" i="0" lang="es-ES" sz="1800" u="none" strike="noStrike">
                <a:solidFill>
                  <a:schemeClr val="dk1"/>
                </a:solidFill>
                <a:latin typeface="Calibri"/>
                <a:ea typeface="Calibri"/>
                <a:cs typeface="Calibri"/>
                <a:sym typeface="Calibri"/>
              </a:rPr>
              <a:t>2 formas.</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s-ES" sz="1800">
                <a:solidFill>
                  <a:schemeClr val="dk1"/>
                </a:solidFill>
                <a:latin typeface="Calibri"/>
                <a:ea typeface="Calibri"/>
                <a:cs typeface="Calibri"/>
                <a:sym typeface="Calibri"/>
              </a:rPr>
              <a:t>¿</a:t>
            </a:r>
            <a:r>
              <a:rPr b="0" i="0" lang="es-ES" sz="1800" u="none" strike="noStrike">
                <a:solidFill>
                  <a:schemeClr val="dk1"/>
                </a:solidFill>
                <a:latin typeface="Calibri"/>
                <a:ea typeface="Calibri"/>
                <a:cs typeface="Calibri"/>
                <a:sym typeface="Calibri"/>
              </a:rPr>
              <a:t>Cuantos puntos muestrales hay en el espacio muestral cuando se lanza un par de dados una vez?</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b="0" i="0" lang="es-ES" sz="1800" u="none" strike="noStrike">
                <a:solidFill>
                  <a:schemeClr val="dk1"/>
                </a:solidFill>
                <a:latin typeface="Calibri"/>
                <a:ea typeface="Calibri"/>
                <a:cs typeface="Calibri"/>
                <a:sym typeface="Calibri"/>
              </a:rPr>
              <a:t>Un urbanista de una nueva subdivisión ofrece a los posibles compradores de una casa elegir entre Tudor, rustica, colonial y tradicional el estilo de la fachada, y entre una planta, dos pisos y desniveles el plano de construcción. ¿En cuantas formas diferentes puede un comprador ordenar una de estas casas?</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b="0" i="0" lang="es-ES" sz="1800" u="none" strike="noStrike">
                <a:solidFill>
                  <a:schemeClr val="dk1"/>
                </a:solidFill>
                <a:latin typeface="Calibri"/>
                <a:ea typeface="Calibri"/>
                <a:cs typeface="Calibri"/>
                <a:sym typeface="Calibri"/>
              </a:rPr>
              <a:t>Si un miembro de un club que tiene 22 integrantes necesitara elegir un presidente y un tesorero, ¿de cuantas maneras diferentes se podría elegir a ambos?</a:t>
            </a:r>
            <a:endParaRPr b="0" i="0" sz="1800" u="none" strike="noStrike">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0" i="0" lang="es-ES" sz="1800" u="none" strike="noStrike">
                <a:solidFill>
                  <a:schemeClr val="dk1"/>
                </a:solidFill>
                <a:latin typeface="Calibri"/>
                <a:ea typeface="Calibri"/>
                <a:cs typeface="Calibri"/>
                <a:sym typeface="Calibri"/>
              </a:rPr>
              <a:t>La regla de la multiplicacion (regla 2.1) se puede extender para abarcar cualquier numero de operaciones. Por ejemplo, suponga que un cliente desea comprar un nuevo telefono celular y que puede elegir entre </a:t>
            </a:r>
            <a:r>
              <a:rPr b="0" i="1" lang="es-ES" sz="1800" u="none" strike="noStrike">
                <a:solidFill>
                  <a:schemeClr val="dk1"/>
                </a:solidFill>
                <a:latin typeface="Calibri"/>
                <a:ea typeface="Calibri"/>
                <a:cs typeface="Calibri"/>
                <a:sym typeface="Calibri"/>
              </a:rPr>
              <a:t>n</a:t>
            </a:r>
            <a:r>
              <a:rPr b="0" i="0" lang="es-ES" sz="1800" u="none" strike="noStrike">
                <a:solidFill>
                  <a:schemeClr val="dk1"/>
                </a:solidFill>
                <a:latin typeface="Calibri"/>
                <a:ea typeface="Calibri"/>
                <a:cs typeface="Calibri"/>
                <a:sym typeface="Calibri"/>
              </a:rPr>
              <a:t>1 = 5 marcas, </a:t>
            </a:r>
            <a:r>
              <a:rPr b="0" i="1" lang="es-ES" sz="1800" u="none" strike="noStrike">
                <a:solidFill>
                  <a:schemeClr val="dk1"/>
                </a:solidFill>
                <a:latin typeface="Calibri"/>
                <a:ea typeface="Calibri"/>
                <a:cs typeface="Calibri"/>
                <a:sym typeface="Calibri"/>
              </a:rPr>
              <a:t>n</a:t>
            </a:r>
            <a:r>
              <a:rPr b="0" i="0" lang="es-ES" sz="1800" u="none" strike="noStrike">
                <a:solidFill>
                  <a:schemeClr val="dk1"/>
                </a:solidFill>
                <a:latin typeface="Calibri"/>
                <a:ea typeface="Calibri"/>
                <a:cs typeface="Calibri"/>
                <a:sym typeface="Calibri"/>
              </a:rPr>
              <a:t>2 = 5 tipos de capacidad y </a:t>
            </a:r>
            <a:r>
              <a:rPr b="0" i="1" lang="es-ES" sz="1800" u="none" strike="noStrike">
                <a:solidFill>
                  <a:schemeClr val="dk1"/>
                </a:solidFill>
                <a:latin typeface="Calibri"/>
                <a:ea typeface="Calibri"/>
                <a:cs typeface="Calibri"/>
                <a:sym typeface="Calibri"/>
              </a:rPr>
              <a:t>n</a:t>
            </a:r>
            <a:r>
              <a:rPr b="0" i="0" lang="es-ES" sz="1800" u="none" strike="noStrike">
                <a:solidFill>
                  <a:schemeClr val="dk1"/>
                </a:solidFill>
                <a:latin typeface="Calibri"/>
                <a:ea typeface="Calibri"/>
                <a:cs typeface="Calibri"/>
                <a:sym typeface="Calibri"/>
              </a:rPr>
              <a:t>3 = 4 colores.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8"/>
          <p:cNvSpPr txBox="1"/>
          <p:nvPr/>
        </p:nvSpPr>
        <p:spPr>
          <a:xfrm>
            <a:off x="649356" y="820413"/>
            <a:ext cx="10893287" cy="2031325"/>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1800"/>
              <a:buFont typeface="Arial"/>
              <a:buChar char="•"/>
            </a:pPr>
            <a:r>
              <a:rPr b="0" i="0" lang="es-ES" sz="1800" u="none" strike="noStrike">
                <a:solidFill>
                  <a:schemeClr val="dk1"/>
                </a:solidFill>
                <a:latin typeface="Calibri"/>
                <a:ea typeface="Calibri"/>
                <a:cs typeface="Calibri"/>
                <a:sym typeface="Calibri"/>
              </a:rPr>
              <a:t>Sam va a armar una computadora y para comprar las partes tiene que elegir entre las siguientes opciones: dos marcas de circuitos integrados, cuatro marcas de discos duros, tres marcas de memorias y cinco tiendas locales en las que puede adquirir un conjunto de accesorios. ¿De cuantas formas diferentes puede Sam comprar las partes?</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Times"/>
              <a:ea typeface="Times"/>
              <a:cs typeface="Times"/>
              <a:sym typeface="Times"/>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9"/>
          <p:cNvSpPr txBox="1"/>
          <p:nvPr/>
        </p:nvSpPr>
        <p:spPr>
          <a:xfrm>
            <a:off x="682487" y="544204"/>
            <a:ext cx="10827026"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1800" u="none" strike="noStrike">
                <a:solidFill>
                  <a:schemeClr val="dk1"/>
                </a:solidFill>
                <a:latin typeface="Calibri"/>
                <a:ea typeface="Calibri"/>
                <a:cs typeface="Calibri"/>
                <a:sym typeface="Calibri"/>
              </a:rPr>
              <a:t>Probabilidad de un evento</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a:t>
            </a:r>
            <a:r>
              <a:rPr b="0" i="0" lang="es-ES" sz="1800" u="none" strike="noStrike">
                <a:solidFill>
                  <a:schemeClr val="dk1"/>
                </a:solidFill>
                <a:latin typeface="Calibri"/>
                <a:ea typeface="Calibri"/>
                <a:cs typeface="Calibri"/>
                <a:sym typeface="Calibri"/>
              </a:rPr>
              <a:t>A que nos referimos cuando hacemos afirmaciones como “Juan probablemente ganara el torneo de tenis”, o “tengo 50% de probabilidades de obtener un numero par cuando lanzo un dado”, o “la universidad no tiene posibilidades de ganar el juego de futbol esta noche”, o “la mayoria de nuestros graduados probablemente estaran casados dentro de tres anos”?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0" i="0" lang="es-ES" sz="1800" u="none" strike="noStrike">
                <a:solidFill>
                  <a:schemeClr val="dk1"/>
                </a:solidFill>
                <a:latin typeface="Calibri"/>
                <a:ea typeface="Calibri"/>
                <a:cs typeface="Calibri"/>
                <a:sym typeface="Calibri"/>
              </a:rPr>
              <a:t>La probabilidad de la ocurrencia de un evento que resulta de tal experimento estadístico se evalúa utilizando un conjunto de números reales denominados </a:t>
            </a:r>
            <a:r>
              <a:rPr b="1" i="0" lang="es-ES" sz="1800" u="none" strike="noStrike">
                <a:solidFill>
                  <a:schemeClr val="dk1"/>
                </a:solidFill>
                <a:latin typeface="Calibri"/>
                <a:ea typeface="Calibri"/>
                <a:cs typeface="Calibri"/>
                <a:sym typeface="Calibri"/>
              </a:rPr>
              <a:t>pesos </a:t>
            </a:r>
            <a:r>
              <a:rPr b="0" i="0" lang="es-ES" sz="1800" u="none" strike="noStrike">
                <a:solidFill>
                  <a:schemeClr val="dk1"/>
                </a:solidFill>
                <a:latin typeface="Calibri"/>
                <a:ea typeface="Calibri"/>
                <a:cs typeface="Calibri"/>
                <a:sym typeface="Calibri"/>
              </a:rPr>
              <a:t>o </a:t>
            </a:r>
            <a:r>
              <a:rPr b="1" i="0" lang="es-ES" sz="1800" u="none" strike="noStrike">
                <a:solidFill>
                  <a:schemeClr val="dk1"/>
                </a:solidFill>
                <a:latin typeface="Calibri"/>
                <a:ea typeface="Calibri"/>
                <a:cs typeface="Calibri"/>
                <a:sym typeface="Calibri"/>
              </a:rPr>
              <a:t>probabilidades</a:t>
            </a:r>
            <a:r>
              <a:rPr b="0" i="0" lang="es-ES" sz="1800" u="none" strike="noStrike">
                <a:solidFill>
                  <a:schemeClr val="dk1"/>
                </a:solidFill>
                <a:latin typeface="Calibri"/>
                <a:ea typeface="Calibri"/>
                <a:cs typeface="Calibri"/>
                <a:sym typeface="Calibri"/>
              </a:rPr>
              <a:t>, que van de 0 a 1. Para todo punto en el espacio muestral asignamos una probabilidad tal que la suma de todas las probabilidades es 1.</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0" i="0" lang="es-ES" sz="1800" u="none" strike="noStrike">
                <a:solidFill>
                  <a:schemeClr val="dk1"/>
                </a:solidFill>
                <a:latin typeface="Calibri"/>
                <a:ea typeface="Calibri"/>
                <a:cs typeface="Calibri"/>
                <a:sym typeface="Calibri"/>
              </a:rPr>
              <a:t>Para encontrar la probabilidad de un evento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sumamos todas las probabilidades que se asignan a los puntos muestrales en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Esta suma se denomina </a:t>
            </a:r>
            <a:r>
              <a:rPr b="1" i="0" lang="es-ES" sz="1800" u="none" strike="noStrike">
                <a:solidFill>
                  <a:schemeClr val="dk1"/>
                </a:solidFill>
                <a:latin typeface="Calibri"/>
                <a:ea typeface="Calibri"/>
                <a:cs typeface="Calibri"/>
                <a:sym typeface="Calibri"/>
              </a:rPr>
              <a:t>probabilidad </a:t>
            </a:r>
            <a:r>
              <a:rPr b="0" i="0" lang="es-ES" sz="1800" u="none" strike="noStrike">
                <a:solidFill>
                  <a:schemeClr val="dk1"/>
                </a:solidFill>
                <a:latin typeface="Calibri"/>
                <a:ea typeface="Calibri"/>
                <a:cs typeface="Calibri"/>
                <a:sym typeface="Calibri"/>
              </a:rPr>
              <a:t>de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y se denota con </a:t>
            </a:r>
            <a:r>
              <a:rPr b="0" i="1" lang="es-ES" sz="1800" u="none" strike="noStrike">
                <a:solidFill>
                  <a:schemeClr val="dk1"/>
                </a:solidFill>
                <a:latin typeface="Calibri"/>
                <a:ea typeface="Calibri"/>
                <a:cs typeface="Calibri"/>
                <a:sym typeface="Calibri"/>
              </a:rPr>
              <a:t>P</a:t>
            </a:r>
            <a:r>
              <a:rPr b="0" i="0" lang="es-ES" sz="1800" u="none" strike="noStrike">
                <a:solidFill>
                  <a:schemeClr val="dk1"/>
                </a:solidFill>
                <a:latin typeface="Calibri"/>
                <a:ea typeface="Calibri"/>
                <a:cs typeface="Calibri"/>
                <a:sym typeface="Calibri"/>
              </a:rPr>
              <a:t>(</a:t>
            </a:r>
            <a:r>
              <a:rPr b="0" i="1" lang="es-ES" sz="1800" u="none" strike="noStrike">
                <a:solidFill>
                  <a:schemeClr val="dk1"/>
                </a:solidFill>
                <a:latin typeface="Calibri"/>
                <a:ea typeface="Calibri"/>
                <a:cs typeface="Calibri"/>
                <a:sym typeface="Calibri"/>
              </a:rPr>
              <a:t>A</a:t>
            </a:r>
            <a:r>
              <a:rPr b="0" i="0" lang="es-ES" sz="1800" u="none" strike="noStrike">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pic>
        <p:nvPicPr>
          <p:cNvPr id="207" name="Google Shape;207;p19"/>
          <p:cNvPicPr preferRelativeResize="0"/>
          <p:nvPr/>
        </p:nvPicPr>
        <p:blipFill rotWithShape="1">
          <a:blip r:embed="rId3">
            <a:alphaModFix/>
          </a:blip>
          <a:srcRect b="0" l="0" r="0" t="0"/>
          <a:stretch/>
        </p:blipFill>
        <p:spPr>
          <a:xfrm>
            <a:off x="2012549" y="4408763"/>
            <a:ext cx="7716327" cy="1733792"/>
          </a:xfrm>
          <a:prstGeom prst="rect">
            <a:avLst/>
          </a:prstGeom>
          <a:noFill/>
          <a:ln>
            <a:noFill/>
          </a:ln>
        </p:spPr>
      </p:pic>
      <p:sp>
        <p:nvSpPr>
          <p:cNvPr id="208" name="Google Shape;208;p19"/>
          <p:cNvSpPr txBox="1"/>
          <p:nvPr/>
        </p:nvSpPr>
        <p:spPr>
          <a:xfrm>
            <a:off x="682487" y="6313796"/>
            <a:ext cx="10827026"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Una moneda se lanza dos veces. .Cual es la probabilidad de que ocurra al menos una cara (H)?</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0"/>
          <p:cNvSpPr txBox="1"/>
          <p:nvPr/>
        </p:nvSpPr>
        <p:spPr>
          <a:xfrm>
            <a:off x="649354" y="660085"/>
            <a:ext cx="10721009" cy="2031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t/>
            </a:r>
            <a:endParaRPr sz="1800">
              <a:solidFill>
                <a:schemeClr val="dk1"/>
              </a:solidFill>
              <a:latin typeface="Times"/>
              <a:ea typeface="Times"/>
              <a:cs typeface="Times"/>
              <a:sym typeface="Times"/>
            </a:endParaRPr>
          </a:p>
          <a:p>
            <a:pPr indent="0" lvl="0" marL="0" marR="0" rtl="0" algn="just">
              <a:spcBef>
                <a:spcPts val="0"/>
              </a:spcBef>
              <a:spcAft>
                <a:spcPts val="0"/>
              </a:spcAft>
              <a:buNone/>
            </a:pPr>
            <a:r>
              <a:rPr b="1" i="0" lang="es-ES" sz="1800" u="none" strike="noStrike">
                <a:solidFill>
                  <a:schemeClr val="dk1"/>
                </a:solidFill>
                <a:latin typeface="Calibri"/>
                <a:ea typeface="Calibri"/>
                <a:cs typeface="Calibri"/>
                <a:sym typeface="Calibri"/>
              </a:rPr>
              <a:t>Probabilidad Clásica</a:t>
            </a:r>
            <a:endParaRPr/>
          </a:p>
          <a:p>
            <a:pPr indent="0" lvl="0" marL="0" marR="0" rtl="0" algn="just">
              <a:spcBef>
                <a:spcPts val="0"/>
              </a:spcBef>
              <a:spcAft>
                <a:spcPts val="0"/>
              </a:spcAft>
              <a:buNone/>
            </a:pPr>
            <a:r>
              <a:t/>
            </a:r>
            <a:endParaRPr sz="1800">
              <a:solidFill>
                <a:schemeClr val="dk1"/>
              </a:solidFill>
              <a:latin typeface="Times"/>
              <a:ea typeface="Times"/>
              <a:cs typeface="Times"/>
              <a:sym typeface="Times"/>
            </a:endParaRPr>
          </a:p>
          <a:p>
            <a:pPr indent="0" lvl="0" marL="0" marR="0" rtl="0" algn="just">
              <a:spcBef>
                <a:spcPts val="0"/>
              </a:spcBef>
              <a:spcAft>
                <a:spcPts val="0"/>
              </a:spcAft>
              <a:buNone/>
            </a:pPr>
            <a:r>
              <a:rPr b="0" i="0" lang="es-ES" sz="1800" u="none" strike="noStrike">
                <a:solidFill>
                  <a:schemeClr val="dk1"/>
                </a:solidFill>
                <a:latin typeface="Times"/>
                <a:ea typeface="Times"/>
                <a:cs typeface="Times"/>
                <a:sym typeface="Times"/>
              </a:rPr>
              <a:t>Si el espacio muestral para un experimento contiene </a:t>
            </a:r>
            <a:r>
              <a:rPr b="0" i="1" lang="es-ES" sz="1800" u="none" strike="noStrike">
                <a:solidFill>
                  <a:schemeClr val="dk1"/>
                </a:solidFill>
                <a:latin typeface="Times"/>
                <a:ea typeface="Times"/>
                <a:cs typeface="Times"/>
                <a:sym typeface="Times"/>
              </a:rPr>
              <a:t>N </a:t>
            </a:r>
            <a:r>
              <a:rPr b="0" i="0" lang="es-ES" sz="1800" u="none" strike="noStrike">
                <a:solidFill>
                  <a:schemeClr val="dk1"/>
                </a:solidFill>
                <a:latin typeface="Times"/>
                <a:ea typeface="Times"/>
                <a:cs typeface="Times"/>
                <a:sym typeface="Times"/>
              </a:rPr>
              <a:t>elementos, todos los cuales tienen las mismas probabilidades de ocurrir, asignamos una probabilidad igual a 1/</a:t>
            </a:r>
            <a:r>
              <a:rPr b="0" i="1" lang="es-ES" sz="1800" u="none" strike="noStrike">
                <a:solidFill>
                  <a:schemeClr val="dk1"/>
                </a:solidFill>
                <a:latin typeface="Times"/>
                <a:ea typeface="Times"/>
                <a:cs typeface="Times"/>
                <a:sym typeface="Times"/>
              </a:rPr>
              <a:t>N </a:t>
            </a:r>
            <a:r>
              <a:rPr b="0" i="0" lang="es-ES" sz="1800" u="none" strike="noStrike">
                <a:solidFill>
                  <a:schemeClr val="dk1"/>
                </a:solidFill>
                <a:latin typeface="Times"/>
                <a:ea typeface="Times"/>
                <a:cs typeface="Times"/>
                <a:sym typeface="Times"/>
              </a:rPr>
              <a:t>a cada uno de los </a:t>
            </a:r>
            <a:r>
              <a:rPr b="0" i="1" lang="es-ES" sz="1800" u="none" strike="noStrike">
                <a:solidFill>
                  <a:schemeClr val="dk1"/>
                </a:solidFill>
                <a:latin typeface="Times"/>
                <a:ea typeface="Times"/>
                <a:cs typeface="Times"/>
                <a:sym typeface="Times"/>
              </a:rPr>
              <a:t>N </a:t>
            </a:r>
            <a:r>
              <a:rPr b="0" i="0" lang="es-ES" sz="1800" u="none" strike="noStrike">
                <a:solidFill>
                  <a:schemeClr val="dk1"/>
                </a:solidFill>
                <a:latin typeface="Times"/>
                <a:ea typeface="Times"/>
                <a:cs typeface="Times"/>
                <a:sym typeface="Times"/>
              </a:rPr>
              <a:t>puntos. La probabilidad de que cualquier evento </a:t>
            </a:r>
            <a:r>
              <a:rPr b="0" i="1" lang="es-ES" sz="1800" u="none" strike="noStrike">
                <a:solidFill>
                  <a:schemeClr val="dk1"/>
                </a:solidFill>
                <a:latin typeface="Times"/>
                <a:ea typeface="Times"/>
                <a:cs typeface="Times"/>
                <a:sym typeface="Times"/>
              </a:rPr>
              <a:t>A </a:t>
            </a:r>
            <a:r>
              <a:rPr b="0" i="0" lang="es-ES" sz="1800" u="none" strike="noStrike">
                <a:solidFill>
                  <a:schemeClr val="dk1"/>
                </a:solidFill>
                <a:latin typeface="Times"/>
                <a:ea typeface="Times"/>
                <a:cs typeface="Times"/>
                <a:sym typeface="Times"/>
              </a:rPr>
              <a:t>contenga </a:t>
            </a:r>
            <a:r>
              <a:rPr b="0" i="1" lang="es-ES" sz="1800" u="none" strike="noStrike">
                <a:solidFill>
                  <a:schemeClr val="dk1"/>
                </a:solidFill>
                <a:latin typeface="Times"/>
                <a:ea typeface="Times"/>
                <a:cs typeface="Times"/>
                <a:sym typeface="Times"/>
              </a:rPr>
              <a:t>n </a:t>
            </a:r>
            <a:r>
              <a:rPr b="0" i="0" lang="es-ES" sz="1800" u="none" strike="noStrike">
                <a:solidFill>
                  <a:schemeClr val="dk1"/>
                </a:solidFill>
                <a:latin typeface="Times"/>
                <a:ea typeface="Times"/>
                <a:cs typeface="Times"/>
                <a:sym typeface="Times"/>
              </a:rPr>
              <a:t>de estos </a:t>
            </a:r>
            <a:r>
              <a:rPr b="0" i="1" lang="es-ES" sz="1800" u="none" strike="noStrike">
                <a:solidFill>
                  <a:schemeClr val="dk1"/>
                </a:solidFill>
                <a:latin typeface="Times"/>
                <a:ea typeface="Times"/>
                <a:cs typeface="Times"/>
                <a:sym typeface="Times"/>
              </a:rPr>
              <a:t>N </a:t>
            </a:r>
            <a:r>
              <a:rPr b="0" i="0" lang="es-ES" sz="1800" u="none" strike="noStrike">
                <a:solidFill>
                  <a:schemeClr val="dk1"/>
                </a:solidFill>
                <a:latin typeface="Times"/>
                <a:ea typeface="Times"/>
                <a:cs typeface="Times"/>
                <a:sym typeface="Times"/>
              </a:rPr>
              <a:t>puntos muestrales es entonces el cociente del numero de elementos en </a:t>
            </a:r>
            <a:r>
              <a:rPr b="0" i="1" lang="es-ES" sz="1800" u="none" strike="noStrike">
                <a:solidFill>
                  <a:schemeClr val="dk1"/>
                </a:solidFill>
                <a:latin typeface="Times"/>
                <a:ea typeface="Times"/>
                <a:cs typeface="Times"/>
                <a:sym typeface="Times"/>
              </a:rPr>
              <a:t>A </a:t>
            </a:r>
            <a:r>
              <a:rPr b="0" i="0" lang="es-ES" sz="1800" u="none" strike="noStrike">
                <a:solidFill>
                  <a:schemeClr val="dk1"/>
                </a:solidFill>
                <a:latin typeface="Times"/>
                <a:ea typeface="Times"/>
                <a:cs typeface="Times"/>
                <a:sym typeface="Times"/>
              </a:rPr>
              <a:t>y el numero de elementos en </a:t>
            </a:r>
            <a:r>
              <a:rPr b="0" i="1" lang="es-ES" sz="1800" u="none" strike="noStrike">
                <a:solidFill>
                  <a:schemeClr val="dk1"/>
                </a:solidFill>
                <a:latin typeface="Times"/>
                <a:ea typeface="Times"/>
                <a:cs typeface="Times"/>
                <a:sym typeface="Times"/>
              </a:rPr>
              <a:t>S</a:t>
            </a:r>
            <a:r>
              <a:rPr b="0" i="0" lang="es-ES" sz="1800" u="none" strike="noStrike">
                <a:solidFill>
                  <a:schemeClr val="dk1"/>
                </a:solidFill>
                <a:latin typeface="Times"/>
                <a:ea typeface="Times"/>
                <a:cs typeface="Times"/>
                <a:sym typeface="Times"/>
              </a:rPr>
              <a:t>.</a:t>
            </a:r>
            <a:endParaRPr sz="1800">
              <a:solidFill>
                <a:schemeClr val="dk1"/>
              </a:solidFill>
              <a:latin typeface="Times"/>
              <a:ea typeface="Times"/>
              <a:cs typeface="Times"/>
              <a:sym typeface="Times"/>
            </a:endParaRPr>
          </a:p>
        </p:txBody>
      </p:sp>
      <p:pic>
        <p:nvPicPr>
          <p:cNvPr id="214" name="Google Shape;214;p20"/>
          <p:cNvPicPr preferRelativeResize="0"/>
          <p:nvPr/>
        </p:nvPicPr>
        <p:blipFill rotWithShape="1">
          <a:blip r:embed="rId3">
            <a:alphaModFix/>
          </a:blip>
          <a:srcRect b="0" l="0" r="0" t="0"/>
          <a:stretch/>
        </p:blipFill>
        <p:spPr>
          <a:xfrm>
            <a:off x="2261652" y="3106905"/>
            <a:ext cx="7668695" cy="1571844"/>
          </a:xfrm>
          <a:prstGeom prst="rect">
            <a:avLst/>
          </a:prstGeom>
          <a:noFill/>
          <a:ln>
            <a:noFill/>
          </a:ln>
        </p:spPr>
      </p:pic>
      <p:sp>
        <p:nvSpPr>
          <p:cNvPr id="215" name="Google Shape;215;p20"/>
          <p:cNvSpPr txBox="1"/>
          <p:nvPr/>
        </p:nvSpPr>
        <p:spPr>
          <a:xfrm>
            <a:off x="649355" y="4955742"/>
            <a:ext cx="10721008"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A una clase de estadística para ingenieros asisten 25 estudiantes de ingeniería industrial, 10 de ingeniería mecánica, 10 de ingeniería eléctrica y 8 de ingeniería civil. Si el profesor elige al azar a un estudiante para que conteste una pregunta, .que probabilidades hay de que el elegido sea </a:t>
            </a:r>
            <a:r>
              <a:rPr b="0" i="1" lang="es-ES" sz="1800" u="none" strike="noStrike">
                <a:solidFill>
                  <a:schemeClr val="dk1"/>
                </a:solidFill>
                <a:latin typeface="Calibri"/>
                <a:ea typeface="Calibri"/>
                <a:cs typeface="Calibri"/>
                <a:sym typeface="Calibri"/>
              </a:rPr>
              <a:t>a</a:t>
            </a:r>
            <a:r>
              <a:rPr b="0" i="0" lang="es-ES" sz="1800" u="none" strike="noStrike">
                <a:solidFill>
                  <a:schemeClr val="dk1"/>
                </a:solidFill>
                <a:latin typeface="Calibri"/>
                <a:ea typeface="Calibri"/>
                <a:cs typeface="Calibri"/>
                <a:sym typeface="Calibri"/>
              </a:rPr>
              <a:t>) estudiante de ingeniería industrial, </a:t>
            </a:r>
            <a:r>
              <a:rPr b="0" i="1" lang="es-ES" sz="1800" u="none" strike="noStrike">
                <a:solidFill>
                  <a:schemeClr val="dk1"/>
                </a:solidFill>
                <a:latin typeface="Calibri"/>
                <a:ea typeface="Calibri"/>
                <a:cs typeface="Calibri"/>
                <a:sym typeface="Calibri"/>
              </a:rPr>
              <a:t>b</a:t>
            </a:r>
            <a:r>
              <a:rPr b="0" i="0" lang="es-ES" sz="1800" u="none" strike="noStrike">
                <a:solidFill>
                  <a:schemeClr val="dk1"/>
                </a:solidFill>
                <a:latin typeface="Calibri"/>
                <a:ea typeface="Calibri"/>
                <a:cs typeface="Calibri"/>
                <a:sym typeface="Calibri"/>
              </a:rPr>
              <a:t>) estudiante de ingeniería civil o estudiante de ingeniería eléctrica?.</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1"/>
          <p:cNvSpPr txBox="1"/>
          <p:nvPr/>
        </p:nvSpPr>
        <p:spPr>
          <a:xfrm>
            <a:off x="457200" y="656848"/>
            <a:ext cx="11277600" cy="175432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1800" u="none" strike="noStrike">
                <a:solidFill>
                  <a:schemeClr val="dk1"/>
                </a:solidFill>
                <a:latin typeface="Calibri"/>
                <a:ea typeface="Calibri"/>
                <a:cs typeface="Calibri"/>
                <a:sym typeface="Calibri"/>
              </a:rPr>
              <a:t>Probabilidad Frecuencial</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Si los resultados de un experimento no tienen las mismas probabilidades de ocurrir, las probabilidades se deben asignar con base en el conocimiento previo o en la evidencia experimental. Por ejemplo, si una moneda no esta balanceada, podemos estimar las probabilidades de caras y cruces lanzándola muchas veces y registrando los resultados.</a:t>
            </a:r>
            <a:endParaRPr sz="1800">
              <a:solidFill>
                <a:schemeClr val="dk1"/>
              </a:solidFill>
              <a:latin typeface="Calibri"/>
              <a:ea typeface="Calibri"/>
              <a:cs typeface="Calibri"/>
              <a:sym typeface="Calibri"/>
            </a:endParaRPr>
          </a:p>
        </p:txBody>
      </p:sp>
      <p:sp>
        <p:nvSpPr>
          <p:cNvPr id="221" name="Google Shape;221;p21"/>
          <p:cNvSpPr txBox="1"/>
          <p:nvPr/>
        </p:nvSpPr>
        <p:spPr>
          <a:xfrm>
            <a:off x="457200" y="4566239"/>
            <a:ext cx="11277600"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1800" u="none" strike="noStrike">
                <a:solidFill>
                  <a:schemeClr val="dk1"/>
                </a:solidFill>
                <a:latin typeface="Calibri"/>
                <a:ea typeface="Calibri"/>
                <a:cs typeface="Calibri"/>
                <a:sym typeface="Calibri"/>
              </a:rPr>
              <a:t>Probabilidad Subjetiva</a:t>
            </a:r>
            <a:endParaRPr/>
          </a:p>
          <a:p>
            <a:pPr indent="0" lvl="0" marL="0" marR="0" rtl="0" algn="just">
              <a:spcBef>
                <a:spcPts val="0"/>
              </a:spcBef>
              <a:spcAft>
                <a:spcPts val="0"/>
              </a:spcAft>
              <a:buNone/>
            </a:pPr>
            <a:r>
              <a:t/>
            </a:r>
            <a:endParaRPr b="1" i="0" sz="1800" u="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La intuición, sin duda, también participa en la determinación de determinada acción. El uso de la intuición, las creencias personales y otra información indirecta para llegar a probabilidades se conoce como la defi</a:t>
            </a:r>
            <a:r>
              <a:rPr lang="es-ES" sz="1800">
                <a:solidFill>
                  <a:schemeClr val="dk1"/>
                </a:solidFill>
                <a:latin typeface="Calibri"/>
                <a:ea typeface="Calibri"/>
                <a:cs typeface="Calibri"/>
                <a:sym typeface="Calibri"/>
              </a:rPr>
              <a:t>n</a:t>
            </a:r>
            <a:r>
              <a:rPr b="0" i="0" lang="es-ES" sz="1800" u="none" strike="noStrike">
                <a:solidFill>
                  <a:schemeClr val="dk1"/>
                </a:solidFill>
                <a:latin typeface="Calibri"/>
                <a:ea typeface="Calibri"/>
                <a:cs typeface="Calibri"/>
                <a:sym typeface="Calibri"/>
              </a:rPr>
              <a:t>ición </a:t>
            </a:r>
            <a:r>
              <a:rPr b="1" i="0" lang="es-ES" sz="1800" u="none" strike="noStrike">
                <a:solidFill>
                  <a:schemeClr val="dk1"/>
                </a:solidFill>
                <a:latin typeface="Calibri"/>
                <a:ea typeface="Calibri"/>
                <a:cs typeface="Calibri"/>
                <a:sym typeface="Calibri"/>
              </a:rPr>
              <a:t>subjetiva </a:t>
            </a:r>
            <a:r>
              <a:rPr b="0" i="0" lang="es-ES" sz="1800" u="none" strike="noStrike">
                <a:solidFill>
                  <a:schemeClr val="dk1"/>
                </a:solidFill>
                <a:latin typeface="Calibri"/>
                <a:ea typeface="Calibri"/>
                <a:cs typeface="Calibri"/>
                <a:sym typeface="Calibri"/>
              </a:rPr>
              <a:t>de la probabilidad.</a:t>
            </a:r>
            <a:endParaRPr sz="1800">
              <a:solidFill>
                <a:schemeClr val="dk1"/>
              </a:solidFill>
              <a:latin typeface="Calibri"/>
              <a:ea typeface="Calibri"/>
              <a:cs typeface="Calibri"/>
              <a:sym typeface="Calibri"/>
            </a:endParaRPr>
          </a:p>
        </p:txBody>
      </p:sp>
      <p:pic>
        <p:nvPicPr>
          <p:cNvPr id="222" name="Google Shape;222;p21"/>
          <p:cNvPicPr preferRelativeResize="0"/>
          <p:nvPr/>
        </p:nvPicPr>
        <p:blipFill rotWithShape="1">
          <a:blip r:embed="rId3">
            <a:alphaModFix/>
          </a:blip>
          <a:srcRect b="0" l="0" r="0" t="0"/>
          <a:stretch/>
        </p:blipFill>
        <p:spPr>
          <a:xfrm>
            <a:off x="3788740" y="2143969"/>
            <a:ext cx="3654449" cy="20823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2"/>
          <p:cNvSpPr txBox="1"/>
          <p:nvPr/>
        </p:nvSpPr>
        <p:spPr>
          <a:xfrm>
            <a:off x="609601" y="544205"/>
            <a:ext cx="11171582" cy="286232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1800" u="none" strike="noStrike">
                <a:solidFill>
                  <a:schemeClr val="dk1"/>
                </a:solidFill>
                <a:latin typeface="Calibri"/>
                <a:ea typeface="Calibri"/>
                <a:cs typeface="Calibri"/>
                <a:sym typeface="Calibri"/>
              </a:rPr>
              <a:t>Reglas aditivas</a:t>
            </a:r>
            <a:endParaRPr/>
          </a:p>
          <a:p>
            <a:pPr indent="0" lvl="0" marL="0" marR="0" rtl="0" algn="just">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A menudo resulta mas sencillo calcular la probabilidad de algún evento a partir de las probabilidades conocidas de otros eventos. Esto puede ser cierto si el evento en cuestión se puede representar como la unión de otros dos eventos o como el complemento de algún evento. A continuación se presentan varias leyes importantes que con frecuencia simplifican el calculo de las probabilidades.</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1800">
                <a:solidFill>
                  <a:schemeClr val="dk1"/>
                </a:solidFill>
                <a:latin typeface="Calibri"/>
                <a:ea typeface="Calibri"/>
                <a:cs typeface="Calibri"/>
                <a:sym typeface="Calibri"/>
              </a:rPr>
              <a:t>Regla Aditiva</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p:txBody>
      </p:sp>
      <p:pic>
        <p:nvPicPr>
          <p:cNvPr id="228" name="Google Shape;228;p22"/>
          <p:cNvPicPr preferRelativeResize="0"/>
          <p:nvPr/>
        </p:nvPicPr>
        <p:blipFill rotWithShape="1">
          <a:blip r:embed="rId3">
            <a:alphaModFix/>
          </a:blip>
          <a:srcRect b="0" l="0" r="0" t="0"/>
          <a:stretch/>
        </p:blipFill>
        <p:spPr>
          <a:xfrm>
            <a:off x="2769517" y="2974947"/>
            <a:ext cx="6944325" cy="348507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id="233" name="Google Shape;233;p23"/>
          <p:cNvPicPr preferRelativeResize="0"/>
          <p:nvPr/>
        </p:nvPicPr>
        <p:blipFill rotWithShape="1">
          <a:blip r:embed="rId3">
            <a:alphaModFix/>
          </a:blip>
          <a:srcRect b="0" l="0" r="0" t="0"/>
          <a:stretch/>
        </p:blipFill>
        <p:spPr>
          <a:xfrm>
            <a:off x="2242599" y="871055"/>
            <a:ext cx="7706801" cy="981212"/>
          </a:xfrm>
          <a:prstGeom prst="rect">
            <a:avLst/>
          </a:prstGeom>
          <a:noFill/>
          <a:ln>
            <a:noFill/>
          </a:ln>
        </p:spPr>
      </p:pic>
      <p:pic>
        <p:nvPicPr>
          <p:cNvPr id="234" name="Google Shape;234;p23"/>
          <p:cNvPicPr preferRelativeResize="0"/>
          <p:nvPr/>
        </p:nvPicPr>
        <p:blipFill rotWithShape="1">
          <a:blip r:embed="rId4">
            <a:alphaModFix/>
          </a:blip>
          <a:srcRect b="0" l="0" r="0" t="0"/>
          <a:stretch/>
        </p:blipFill>
        <p:spPr>
          <a:xfrm>
            <a:off x="2242598" y="2021174"/>
            <a:ext cx="7706801" cy="971686"/>
          </a:xfrm>
          <a:prstGeom prst="rect">
            <a:avLst/>
          </a:prstGeom>
          <a:noFill/>
          <a:ln>
            <a:noFill/>
          </a:ln>
        </p:spPr>
      </p:pic>
      <p:sp>
        <p:nvSpPr>
          <p:cNvPr id="235" name="Google Shape;235;p23"/>
          <p:cNvSpPr txBox="1"/>
          <p:nvPr/>
        </p:nvSpPr>
        <p:spPr>
          <a:xfrm>
            <a:off x="549963" y="3161767"/>
            <a:ext cx="1109207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1800" u="none" strike="noStrike">
                <a:solidFill>
                  <a:schemeClr val="dk1"/>
                </a:solidFill>
                <a:latin typeface="Calibri"/>
                <a:ea typeface="Calibri"/>
                <a:cs typeface="Calibri"/>
                <a:sym typeface="Calibri"/>
              </a:rPr>
              <a:t>Un conjunto de eventos {</a:t>
            </a:r>
            <a:r>
              <a:rPr b="0" i="1" lang="es-ES" sz="1800" u="none" strike="noStrike">
                <a:solidFill>
                  <a:schemeClr val="dk1"/>
                </a:solidFill>
                <a:latin typeface="Calibri"/>
                <a:ea typeface="Calibri"/>
                <a:cs typeface="Calibri"/>
                <a:sym typeface="Calibri"/>
              </a:rPr>
              <a:t>A</a:t>
            </a:r>
            <a:r>
              <a:rPr b="0" i="0" lang="es-ES" sz="1800" u="none" strike="noStrike">
                <a:solidFill>
                  <a:schemeClr val="dk1"/>
                </a:solidFill>
                <a:latin typeface="Calibri"/>
                <a:ea typeface="Calibri"/>
                <a:cs typeface="Calibri"/>
                <a:sym typeface="Calibri"/>
              </a:rPr>
              <a:t>1, </a:t>
            </a:r>
            <a:r>
              <a:rPr b="0" i="1" lang="es-ES" sz="1800" u="none" strike="noStrike">
                <a:solidFill>
                  <a:schemeClr val="dk1"/>
                </a:solidFill>
                <a:latin typeface="Calibri"/>
                <a:ea typeface="Calibri"/>
                <a:cs typeface="Calibri"/>
                <a:sym typeface="Calibri"/>
              </a:rPr>
              <a:t>A</a:t>
            </a:r>
            <a:r>
              <a:rPr b="0" i="0" lang="es-ES" sz="1800" u="none" strike="noStrike">
                <a:solidFill>
                  <a:schemeClr val="dk1"/>
                </a:solidFill>
                <a:latin typeface="Calibri"/>
                <a:ea typeface="Calibri"/>
                <a:cs typeface="Calibri"/>
                <a:sym typeface="Calibri"/>
              </a:rPr>
              <a:t>2,… </a:t>
            </a:r>
            <a:r>
              <a:rPr b="0" i="1" lang="es-ES" sz="1800" u="none" strike="noStrike">
                <a:solidFill>
                  <a:schemeClr val="dk1"/>
                </a:solidFill>
                <a:latin typeface="Calibri"/>
                <a:ea typeface="Calibri"/>
                <a:cs typeface="Calibri"/>
                <a:sym typeface="Calibri"/>
              </a:rPr>
              <a:t>An</a:t>
            </a:r>
            <a:r>
              <a:rPr b="0" i="0" lang="es-ES" sz="1800" u="none" strike="noStrike">
                <a:solidFill>
                  <a:schemeClr val="dk1"/>
                </a:solidFill>
                <a:latin typeface="Calibri"/>
                <a:ea typeface="Calibri"/>
                <a:cs typeface="Calibri"/>
                <a:sym typeface="Calibri"/>
              </a:rPr>
              <a:t>} de un espacio muestral </a:t>
            </a:r>
            <a:r>
              <a:rPr b="0" i="1" lang="es-ES" sz="1800" u="none" strike="noStrike">
                <a:solidFill>
                  <a:schemeClr val="dk1"/>
                </a:solidFill>
                <a:latin typeface="Calibri"/>
                <a:ea typeface="Calibri"/>
                <a:cs typeface="Calibri"/>
                <a:sym typeface="Calibri"/>
              </a:rPr>
              <a:t>S </a:t>
            </a:r>
            <a:r>
              <a:rPr b="0" i="0" lang="es-ES" sz="1800" u="none" strike="noStrike">
                <a:solidFill>
                  <a:schemeClr val="dk1"/>
                </a:solidFill>
                <a:latin typeface="Calibri"/>
                <a:ea typeface="Calibri"/>
                <a:cs typeface="Calibri"/>
                <a:sym typeface="Calibri"/>
              </a:rPr>
              <a:t>se denomina </a:t>
            </a:r>
            <a:r>
              <a:rPr b="1" i="0" lang="es-ES" sz="1800" u="none" strike="noStrike">
                <a:solidFill>
                  <a:schemeClr val="dk1"/>
                </a:solidFill>
                <a:latin typeface="Calibri"/>
                <a:ea typeface="Calibri"/>
                <a:cs typeface="Calibri"/>
                <a:sym typeface="Calibri"/>
              </a:rPr>
              <a:t>partición </a:t>
            </a:r>
            <a:r>
              <a:rPr b="0" i="0" lang="es-ES" sz="1800" u="none" strike="noStrike">
                <a:solidFill>
                  <a:schemeClr val="dk1"/>
                </a:solidFill>
                <a:latin typeface="Calibri"/>
                <a:ea typeface="Calibri"/>
                <a:cs typeface="Calibri"/>
                <a:sym typeface="Calibri"/>
              </a:rPr>
              <a:t>de </a:t>
            </a:r>
            <a:r>
              <a:rPr b="0" i="1" lang="es-ES" sz="1800" u="none" strike="noStrike">
                <a:solidFill>
                  <a:schemeClr val="dk1"/>
                </a:solidFill>
                <a:latin typeface="Calibri"/>
                <a:ea typeface="Calibri"/>
                <a:cs typeface="Calibri"/>
                <a:sym typeface="Calibri"/>
              </a:rPr>
              <a:t>S </a:t>
            </a:r>
            <a:r>
              <a:rPr b="0" i="0" lang="es-ES" sz="1800" u="none" strike="noStrike">
                <a:solidFill>
                  <a:schemeClr val="dk1"/>
                </a:solidFill>
                <a:latin typeface="Calibri"/>
                <a:ea typeface="Calibri"/>
                <a:cs typeface="Calibri"/>
                <a:sym typeface="Calibri"/>
              </a:rPr>
              <a:t>si </a:t>
            </a:r>
            <a:r>
              <a:rPr b="0" i="1" lang="es-ES" sz="1800" u="none" strike="noStrike">
                <a:solidFill>
                  <a:schemeClr val="dk1"/>
                </a:solidFill>
                <a:latin typeface="Calibri"/>
                <a:ea typeface="Calibri"/>
                <a:cs typeface="Calibri"/>
                <a:sym typeface="Calibri"/>
              </a:rPr>
              <a:t>A</a:t>
            </a:r>
            <a:r>
              <a:rPr b="0" i="0" lang="es-ES" sz="1800" u="none" strike="noStrike">
                <a:solidFill>
                  <a:schemeClr val="dk1"/>
                </a:solidFill>
                <a:latin typeface="Calibri"/>
                <a:ea typeface="Calibri"/>
                <a:cs typeface="Calibri"/>
                <a:sym typeface="Calibri"/>
              </a:rPr>
              <a:t>1, </a:t>
            </a:r>
            <a:r>
              <a:rPr b="0" i="1" lang="es-ES" sz="1800" u="none" strike="noStrike">
                <a:solidFill>
                  <a:schemeClr val="dk1"/>
                </a:solidFill>
                <a:latin typeface="Calibri"/>
                <a:ea typeface="Calibri"/>
                <a:cs typeface="Calibri"/>
                <a:sym typeface="Calibri"/>
              </a:rPr>
              <a:t>A</a:t>
            </a:r>
            <a:r>
              <a:rPr b="0" i="0" lang="es-ES" sz="1800" u="none" strike="noStrike">
                <a:solidFill>
                  <a:schemeClr val="dk1"/>
                </a:solidFill>
                <a:latin typeface="Calibri"/>
                <a:ea typeface="Calibri"/>
                <a:cs typeface="Calibri"/>
                <a:sym typeface="Calibri"/>
              </a:rPr>
              <a:t>2,…, </a:t>
            </a:r>
            <a:r>
              <a:rPr b="0" i="1" lang="es-ES" sz="1800" u="none" strike="noStrike">
                <a:solidFill>
                  <a:schemeClr val="dk1"/>
                </a:solidFill>
                <a:latin typeface="Calibri"/>
                <a:ea typeface="Calibri"/>
                <a:cs typeface="Calibri"/>
                <a:sym typeface="Calibri"/>
              </a:rPr>
              <a:t>An </a:t>
            </a:r>
            <a:r>
              <a:rPr b="0" i="0" lang="es-ES" sz="1800" u="none" strike="noStrike">
                <a:solidFill>
                  <a:schemeClr val="dk1"/>
                </a:solidFill>
                <a:latin typeface="Calibri"/>
                <a:ea typeface="Calibri"/>
                <a:cs typeface="Calibri"/>
                <a:sym typeface="Calibri"/>
              </a:rPr>
              <a:t>son mutuamente excluyentes y </a:t>
            </a:r>
            <a:r>
              <a:rPr b="0" i="1" lang="es-ES" sz="1800" u="none" strike="noStrike">
                <a:solidFill>
                  <a:schemeClr val="dk1"/>
                </a:solidFill>
                <a:latin typeface="Calibri"/>
                <a:ea typeface="Calibri"/>
                <a:cs typeface="Calibri"/>
                <a:sym typeface="Calibri"/>
              </a:rPr>
              <a:t>A</a:t>
            </a:r>
            <a:r>
              <a:rPr b="0" i="0" lang="es-ES" sz="1800" u="none" strike="noStrike">
                <a:solidFill>
                  <a:schemeClr val="dk1"/>
                </a:solidFill>
                <a:latin typeface="Calibri"/>
                <a:ea typeface="Calibri"/>
                <a:cs typeface="Calibri"/>
                <a:sym typeface="Calibri"/>
              </a:rPr>
              <a:t>1 ∪ </a:t>
            </a:r>
            <a:r>
              <a:rPr b="0" i="1" lang="es-ES" sz="1800" u="none" strike="noStrike">
                <a:solidFill>
                  <a:schemeClr val="dk1"/>
                </a:solidFill>
                <a:latin typeface="Calibri"/>
                <a:ea typeface="Calibri"/>
                <a:cs typeface="Calibri"/>
                <a:sym typeface="Calibri"/>
              </a:rPr>
              <a:t>A</a:t>
            </a:r>
            <a:r>
              <a:rPr b="0" i="0" lang="es-ES" sz="1800" u="none" strike="noStrike">
                <a:solidFill>
                  <a:schemeClr val="dk1"/>
                </a:solidFill>
                <a:latin typeface="Calibri"/>
                <a:ea typeface="Calibri"/>
                <a:cs typeface="Calibri"/>
                <a:sym typeface="Calibri"/>
              </a:rPr>
              <a:t>2 ∪ </a:t>
            </a:r>
            <a:r>
              <a:rPr lang="es-ES" sz="1800">
                <a:solidFill>
                  <a:schemeClr val="dk1"/>
                </a:solidFill>
                <a:latin typeface="Calibri"/>
                <a:ea typeface="Calibri"/>
                <a:cs typeface="Calibri"/>
                <a:sym typeface="Calibri"/>
              </a:rPr>
              <a:t>…</a:t>
            </a:r>
            <a:r>
              <a:rPr b="0" i="0" lang="es-ES" sz="1800" u="none" strike="noStrike">
                <a:solidFill>
                  <a:schemeClr val="dk1"/>
                </a:solidFill>
                <a:latin typeface="Calibri"/>
                <a:ea typeface="Calibri"/>
                <a:cs typeface="Calibri"/>
                <a:sym typeface="Calibri"/>
              </a:rPr>
              <a:t> ∪ </a:t>
            </a:r>
            <a:r>
              <a:rPr b="0" i="1" lang="es-ES" sz="1800" u="none" strike="noStrike">
                <a:solidFill>
                  <a:schemeClr val="dk1"/>
                </a:solidFill>
                <a:latin typeface="Calibri"/>
                <a:ea typeface="Calibri"/>
                <a:cs typeface="Calibri"/>
                <a:sym typeface="Calibri"/>
              </a:rPr>
              <a:t>An </a:t>
            </a:r>
            <a:r>
              <a:rPr b="0" i="0" lang="es-ES" sz="1800" u="none" strike="noStrike">
                <a:solidFill>
                  <a:schemeClr val="dk1"/>
                </a:solidFill>
                <a:latin typeface="Calibri"/>
                <a:ea typeface="Calibri"/>
                <a:cs typeface="Calibri"/>
                <a:sym typeface="Calibri"/>
              </a:rPr>
              <a:t>= </a:t>
            </a:r>
            <a:r>
              <a:rPr b="0" i="1" lang="es-ES" sz="1800" u="none" strike="noStrike">
                <a:solidFill>
                  <a:schemeClr val="dk1"/>
                </a:solidFill>
                <a:latin typeface="Calibri"/>
                <a:ea typeface="Calibri"/>
                <a:cs typeface="Calibri"/>
                <a:sym typeface="Calibri"/>
              </a:rPr>
              <a:t>S</a:t>
            </a:r>
            <a:r>
              <a:rPr b="0" i="0" lang="es-ES" sz="1800" u="none" strike="noStrike">
                <a:solidFill>
                  <a:schemeClr val="dk1"/>
                </a:solidFill>
                <a:latin typeface="Calibri"/>
                <a:ea typeface="Calibri"/>
                <a:cs typeface="Calibri"/>
                <a:sym typeface="Calibri"/>
              </a:rPr>
              <a:t>. Por lo tanto, tenemos</a:t>
            </a:r>
            <a:endParaRPr sz="1800">
              <a:solidFill>
                <a:schemeClr val="dk1"/>
              </a:solidFill>
              <a:latin typeface="Calibri"/>
              <a:ea typeface="Calibri"/>
              <a:cs typeface="Calibri"/>
              <a:sym typeface="Calibri"/>
            </a:endParaRPr>
          </a:p>
        </p:txBody>
      </p:sp>
      <p:pic>
        <p:nvPicPr>
          <p:cNvPr id="236" name="Google Shape;236;p23"/>
          <p:cNvPicPr preferRelativeResize="0"/>
          <p:nvPr/>
        </p:nvPicPr>
        <p:blipFill rotWithShape="1">
          <a:blip r:embed="rId5">
            <a:alphaModFix/>
          </a:blip>
          <a:srcRect b="0" l="0" r="0" t="0"/>
          <a:stretch/>
        </p:blipFill>
        <p:spPr>
          <a:xfrm>
            <a:off x="2242598" y="3977005"/>
            <a:ext cx="7706801" cy="1133633"/>
          </a:xfrm>
          <a:prstGeom prst="rect">
            <a:avLst/>
          </a:prstGeom>
          <a:noFill/>
          <a:ln>
            <a:noFill/>
          </a:ln>
        </p:spPr>
      </p:pic>
      <p:pic>
        <p:nvPicPr>
          <p:cNvPr id="237" name="Google Shape;237;p23"/>
          <p:cNvPicPr preferRelativeResize="0"/>
          <p:nvPr/>
        </p:nvPicPr>
        <p:blipFill rotWithShape="1">
          <a:blip r:embed="rId6">
            <a:alphaModFix/>
          </a:blip>
          <a:srcRect b="0" l="0" r="0" t="0"/>
          <a:stretch/>
        </p:blipFill>
        <p:spPr>
          <a:xfrm>
            <a:off x="2204493" y="5382023"/>
            <a:ext cx="7744906" cy="120984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4"/>
          <p:cNvSpPr txBox="1"/>
          <p:nvPr/>
        </p:nvSpPr>
        <p:spPr>
          <a:xfrm>
            <a:off x="841513" y="914401"/>
            <a:ext cx="10508974" cy="1477328"/>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1800"/>
              <a:buFont typeface="Arial"/>
              <a:buChar char="•"/>
            </a:pPr>
            <a:r>
              <a:rPr b="0" i="0" lang="es-ES" sz="1800" u="none" strike="noStrike">
                <a:solidFill>
                  <a:schemeClr val="dk1"/>
                </a:solidFill>
                <a:latin typeface="Calibri"/>
                <a:ea typeface="Calibri"/>
                <a:cs typeface="Calibri"/>
                <a:sym typeface="Calibri"/>
              </a:rPr>
              <a:t>Al final del semestre John se va a graduar en la facultad de ingeniería industrial de una universidad. Después de tener entrevistas en dos empresas en donde quiere trabajar, determina que la probabilidad que tiene de lograr una oferta de empleo en la empresa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es 0.8, y que la probabilidad de obtenerla en la empresa </a:t>
            </a: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es 0.6. Si, por otro lado, considera que la probabilidad de recibir ofertas de ambas empresas es 0.5, .que probabilidad tiene de obtener al menos una oferta de esas dos empresas?</a:t>
            </a:r>
            <a:endParaRPr sz="1800">
              <a:solidFill>
                <a:schemeClr val="dk1"/>
              </a:solidFill>
              <a:latin typeface="Calibri"/>
              <a:ea typeface="Calibri"/>
              <a:cs typeface="Calibri"/>
              <a:sym typeface="Calibri"/>
            </a:endParaRPr>
          </a:p>
        </p:txBody>
      </p:sp>
      <p:sp>
        <p:nvSpPr>
          <p:cNvPr id="243" name="Google Shape;243;p24"/>
          <p:cNvSpPr txBox="1"/>
          <p:nvPr/>
        </p:nvSpPr>
        <p:spPr>
          <a:xfrm>
            <a:off x="841512" y="2685078"/>
            <a:ext cx="10740887" cy="36933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0" i="0" lang="es-ES" sz="1800" u="none" strike="noStrike">
                <a:solidFill>
                  <a:schemeClr val="dk1"/>
                </a:solidFill>
                <a:latin typeface="Calibri"/>
                <a:ea typeface="Calibri"/>
                <a:cs typeface="Calibri"/>
                <a:sym typeface="Calibri"/>
              </a:rPr>
              <a:t>¿Cual es la probabilidad de obtener un total de 7 u 11 cuando se lanza un par de dados?</a:t>
            </a:r>
            <a:endParaRPr sz="1800">
              <a:solidFill>
                <a:schemeClr val="dk1"/>
              </a:solidFill>
              <a:latin typeface="Calibri"/>
              <a:ea typeface="Calibri"/>
              <a:cs typeface="Calibri"/>
              <a:sym typeface="Calibri"/>
            </a:endParaRPr>
          </a:p>
        </p:txBody>
      </p:sp>
      <p:sp>
        <p:nvSpPr>
          <p:cNvPr id="244" name="Google Shape;244;p24"/>
          <p:cNvSpPr txBox="1"/>
          <p:nvPr/>
        </p:nvSpPr>
        <p:spPr>
          <a:xfrm>
            <a:off x="841511" y="3422086"/>
            <a:ext cx="10508973" cy="92333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0" i="0" lang="es-ES" sz="1800" u="none" strike="noStrike">
                <a:solidFill>
                  <a:schemeClr val="dk1"/>
                </a:solidFill>
                <a:latin typeface="Calibri"/>
                <a:ea typeface="Calibri"/>
                <a:cs typeface="Calibri"/>
                <a:sym typeface="Calibri"/>
              </a:rPr>
              <a:t>Las probabilidades de que un individuo que compra un automóvil nuevo elija uno de color verde, uno blanco, uno rojo o uno azul son 0.09, 0.15, 0.21 y 0.23, respectivamente, ¿cual es la probabilidad de que un comprador dado adquiera un automóvil nuevo que tenga uno de esos colores?</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p25"/>
          <p:cNvPicPr preferRelativeResize="0"/>
          <p:nvPr/>
        </p:nvPicPr>
        <p:blipFill rotWithShape="1">
          <a:blip r:embed="rId3">
            <a:alphaModFix/>
          </a:blip>
          <a:srcRect b="0" l="0" r="0" t="0"/>
          <a:stretch/>
        </p:blipFill>
        <p:spPr>
          <a:xfrm>
            <a:off x="2461705" y="877193"/>
            <a:ext cx="7268589" cy="2029108"/>
          </a:xfrm>
          <a:prstGeom prst="rect">
            <a:avLst/>
          </a:prstGeom>
          <a:noFill/>
          <a:ln>
            <a:noFill/>
          </a:ln>
        </p:spPr>
      </p:pic>
      <p:sp>
        <p:nvSpPr>
          <p:cNvPr id="250" name="Google Shape;250;p25"/>
          <p:cNvSpPr txBox="1"/>
          <p:nvPr/>
        </p:nvSpPr>
        <p:spPr>
          <a:xfrm>
            <a:off x="914400" y="3131589"/>
            <a:ext cx="103632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1800" u="none" strike="noStrike">
                <a:solidFill>
                  <a:schemeClr val="dk1"/>
                </a:solidFill>
                <a:latin typeface="Calibri"/>
                <a:ea typeface="Calibri"/>
                <a:cs typeface="Calibri"/>
                <a:sym typeface="Calibri"/>
              </a:rPr>
              <a:t>Si las probabilidades de que un mecánico automotriz dé servicio a 3, 4, 5, 6, 7, 8 o mas vehículos en un día de trabajo dado son 0.12, 0.19, 0.28, 0.24, 0.10 y 0.07, respectivamente, ¿cual es la probabilidad de que dé servicio al menos a 5 vehículos el siguiente día de trabajo?</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6"/>
          <p:cNvSpPr txBox="1"/>
          <p:nvPr/>
        </p:nvSpPr>
        <p:spPr>
          <a:xfrm>
            <a:off x="569842" y="517698"/>
            <a:ext cx="11131827" cy="150810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1800" u="none" strike="noStrike">
                <a:solidFill>
                  <a:schemeClr val="dk1"/>
                </a:solidFill>
                <a:latin typeface="Calibri"/>
                <a:ea typeface="Calibri"/>
                <a:cs typeface="Calibri"/>
                <a:sym typeface="Calibri"/>
              </a:rPr>
              <a:t>Probabilidad condicional</a:t>
            </a:r>
            <a:endParaRPr/>
          </a:p>
          <a:p>
            <a:pPr indent="0" lvl="0" marL="0" marR="0" rtl="0" algn="just">
              <a:spcBef>
                <a:spcPts val="0"/>
              </a:spcBef>
              <a:spcAft>
                <a:spcPts val="0"/>
              </a:spcAft>
              <a:buNone/>
            </a:pPr>
            <a:r>
              <a:t/>
            </a:r>
            <a:endParaRPr sz="1800">
              <a:solidFill>
                <a:srgbClr val="6E8789"/>
              </a:solidFill>
              <a:latin typeface="Calibri"/>
              <a:ea typeface="Calibri"/>
              <a:cs typeface="Calibri"/>
              <a:sym typeface="Calibri"/>
            </a:endParaRPr>
          </a:p>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La probabilidad de que ocurra un evento </a:t>
            </a: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cuando se sabe que ya ocurrio algun evento </a:t>
            </a:r>
            <a:r>
              <a:rPr b="0" i="1" lang="es-ES" sz="1800" u="none" strike="noStrike">
                <a:solidFill>
                  <a:schemeClr val="dk1"/>
                </a:solidFill>
                <a:latin typeface="Calibri"/>
                <a:ea typeface="Calibri"/>
                <a:cs typeface="Calibri"/>
                <a:sym typeface="Calibri"/>
              </a:rPr>
              <a:t>A </a:t>
            </a:r>
            <a:r>
              <a:rPr b="0" i="0" lang="es-ES" sz="1800" u="none" strike="noStrike">
                <a:solidFill>
                  <a:schemeClr val="dk1"/>
                </a:solidFill>
                <a:latin typeface="Calibri"/>
                <a:ea typeface="Calibri"/>
                <a:cs typeface="Calibri"/>
                <a:sym typeface="Calibri"/>
              </a:rPr>
              <a:t>se llama </a:t>
            </a:r>
            <a:r>
              <a:rPr b="1" i="0" lang="es-ES" sz="1800" u="none" strike="noStrike">
                <a:solidFill>
                  <a:schemeClr val="dk1"/>
                </a:solidFill>
                <a:latin typeface="Calibri"/>
                <a:ea typeface="Calibri"/>
                <a:cs typeface="Calibri"/>
                <a:sym typeface="Calibri"/>
              </a:rPr>
              <a:t>probabilidad condicional </a:t>
            </a:r>
            <a:r>
              <a:rPr b="0" i="0" lang="es-ES" sz="1800" u="none" strike="noStrike">
                <a:solidFill>
                  <a:schemeClr val="dk1"/>
                </a:solidFill>
                <a:latin typeface="Calibri"/>
                <a:ea typeface="Calibri"/>
                <a:cs typeface="Calibri"/>
                <a:sym typeface="Calibri"/>
              </a:rPr>
              <a:t>y se denota con </a:t>
            </a:r>
            <a:r>
              <a:rPr b="0" i="1" lang="es-ES" sz="1800" u="none" strike="noStrike">
                <a:solidFill>
                  <a:schemeClr val="dk1"/>
                </a:solidFill>
                <a:latin typeface="Calibri"/>
                <a:ea typeface="Calibri"/>
                <a:cs typeface="Calibri"/>
                <a:sym typeface="Calibri"/>
              </a:rPr>
              <a:t>P</a:t>
            </a:r>
            <a:r>
              <a:rPr b="0" i="0" lang="es-ES" sz="1800" u="none" strike="noStrike">
                <a:solidFill>
                  <a:schemeClr val="dk1"/>
                </a:solidFill>
                <a:latin typeface="Calibri"/>
                <a:ea typeface="Calibri"/>
                <a:cs typeface="Calibri"/>
                <a:sym typeface="Calibri"/>
              </a:rPr>
              <a:t>(</a:t>
            </a:r>
            <a:r>
              <a:rPr b="0" i="1" lang="es-ES" sz="1800" u="none" strike="noStrike">
                <a:solidFill>
                  <a:schemeClr val="dk1"/>
                </a:solidFill>
                <a:latin typeface="Calibri"/>
                <a:ea typeface="Calibri"/>
                <a:cs typeface="Calibri"/>
                <a:sym typeface="Calibri"/>
              </a:rPr>
              <a:t>B</a:t>
            </a:r>
            <a:r>
              <a:rPr b="0" i="0" lang="es-ES" sz="1800" u="none" strike="noStrike">
                <a:solidFill>
                  <a:schemeClr val="dk1"/>
                </a:solidFill>
                <a:latin typeface="Calibri"/>
                <a:ea typeface="Calibri"/>
                <a:cs typeface="Calibri"/>
                <a:sym typeface="Calibri"/>
              </a:rPr>
              <a:t>|</a:t>
            </a:r>
            <a:r>
              <a:rPr b="0" i="1" lang="es-ES" sz="1800" u="none" strike="noStrike">
                <a:solidFill>
                  <a:schemeClr val="dk1"/>
                </a:solidFill>
                <a:latin typeface="Calibri"/>
                <a:ea typeface="Calibri"/>
                <a:cs typeface="Calibri"/>
                <a:sym typeface="Calibri"/>
              </a:rPr>
              <a:t>A</a:t>
            </a:r>
            <a:r>
              <a:rPr b="0" i="0" lang="es-ES" sz="1800" u="none" strike="noStrike">
                <a:solidFill>
                  <a:schemeClr val="dk1"/>
                </a:solidFill>
                <a:latin typeface="Calibri"/>
                <a:ea typeface="Calibri"/>
                <a:cs typeface="Calibri"/>
                <a:sym typeface="Calibri"/>
              </a:rPr>
              <a:t>). El simbolo </a:t>
            </a:r>
            <a:r>
              <a:rPr b="0" i="1" lang="es-ES" sz="1800" u="none" strike="noStrike">
                <a:solidFill>
                  <a:schemeClr val="dk1"/>
                </a:solidFill>
                <a:latin typeface="Calibri"/>
                <a:ea typeface="Calibri"/>
                <a:cs typeface="Calibri"/>
                <a:sym typeface="Calibri"/>
              </a:rPr>
              <a:t>P</a:t>
            </a:r>
            <a:r>
              <a:rPr b="0" i="0" lang="es-ES" sz="1800" u="none" strike="noStrike">
                <a:solidFill>
                  <a:schemeClr val="dk1"/>
                </a:solidFill>
                <a:latin typeface="Calibri"/>
                <a:ea typeface="Calibri"/>
                <a:cs typeface="Calibri"/>
                <a:sym typeface="Calibri"/>
              </a:rPr>
              <a:t>(</a:t>
            </a:r>
            <a:r>
              <a:rPr b="0" i="1" lang="es-ES" sz="1800" u="none" strike="noStrike">
                <a:solidFill>
                  <a:schemeClr val="dk1"/>
                </a:solidFill>
                <a:latin typeface="Calibri"/>
                <a:ea typeface="Calibri"/>
                <a:cs typeface="Calibri"/>
                <a:sym typeface="Calibri"/>
              </a:rPr>
              <a:t>B</a:t>
            </a:r>
            <a:r>
              <a:rPr b="0" i="0" lang="es-ES" sz="1800" u="none" strike="noStrike">
                <a:solidFill>
                  <a:schemeClr val="dk1"/>
                </a:solidFill>
                <a:latin typeface="Calibri"/>
                <a:ea typeface="Calibri"/>
                <a:cs typeface="Calibri"/>
                <a:sym typeface="Calibri"/>
              </a:rPr>
              <a:t>|A) por lo general se lee como “la probabilidad de que ocurra </a:t>
            </a: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dado que ocurrio </a:t>
            </a:r>
            <a:r>
              <a:rPr b="0" i="1" lang="es-ES" sz="1800" u="none" strike="noStrike">
                <a:solidFill>
                  <a:schemeClr val="dk1"/>
                </a:solidFill>
                <a:latin typeface="Calibri"/>
                <a:ea typeface="Calibri"/>
                <a:cs typeface="Calibri"/>
                <a:sym typeface="Calibri"/>
              </a:rPr>
              <a:t>A</a:t>
            </a:r>
            <a:r>
              <a:rPr b="0" i="0" lang="es-ES" sz="1800" u="none" strike="noStrike">
                <a:solidFill>
                  <a:schemeClr val="dk1"/>
                </a:solidFill>
                <a:latin typeface="Calibri"/>
                <a:ea typeface="Calibri"/>
                <a:cs typeface="Calibri"/>
                <a:sym typeface="Calibri"/>
              </a:rPr>
              <a:t>”, o simplemente, “la probabilidad de </a:t>
            </a:r>
            <a:r>
              <a:rPr b="0" i="1" lang="es-ES" sz="1800" u="none" strike="noStrike">
                <a:solidFill>
                  <a:schemeClr val="dk1"/>
                </a:solidFill>
                <a:latin typeface="Calibri"/>
                <a:ea typeface="Calibri"/>
                <a:cs typeface="Calibri"/>
                <a:sym typeface="Calibri"/>
              </a:rPr>
              <a:t>B, </a:t>
            </a:r>
            <a:r>
              <a:rPr b="0" i="0" lang="es-ES" sz="1800" u="none" strike="noStrike">
                <a:solidFill>
                  <a:schemeClr val="dk1"/>
                </a:solidFill>
                <a:latin typeface="Calibri"/>
                <a:ea typeface="Calibri"/>
                <a:cs typeface="Calibri"/>
                <a:sym typeface="Calibri"/>
              </a:rPr>
              <a:t>dado </a:t>
            </a:r>
            <a:r>
              <a:rPr b="0" i="1" lang="es-ES" sz="1800" u="none" strike="noStrike">
                <a:solidFill>
                  <a:schemeClr val="dk1"/>
                </a:solidFill>
                <a:latin typeface="Calibri"/>
                <a:ea typeface="Calibri"/>
                <a:cs typeface="Calibri"/>
                <a:sym typeface="Calibri"/>
              </a:rPr>
              <a:t>A</a:t>
            </a:r>
            <a:r>
              <a:rPr b="0" i="0" lang="es-ES" sz="1800" u="none" strike="noStrike">
                <a:solidFill>
                  <a:schemeClr val="dk1"/>
                </a:solidFill>
                <a:latin typeface="Calibri"/>
                <a:ea typeface="Calibri"/>
                <a:cs typeface="Calibri"/>
                <a:sym typeface="Calibri"/>
              </a:rPr>
              <a:t>”</a:t>
            </a:r>
            <a:r>
              <a:rPr b="0" i="1" lang="es-ES" sz="1800" u="none" strike="noStrike">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pic>
        <p:nvPicPr>
          <p:cNvPr id="256" name="Google Shape;256;p26"/>
          <p:cNvPicPr preferRelativeResize="0"/>
          <p:nvPr/>
        </p:nvPicPr>
        <p:blipFill rotWithShape="1">
          <a:blip r:embed="rId3">
            <a:alphaModFix/>
          </a:blip>
          <a:srcRect b="0" l="0" r="0" t="0"/>
          <a:stretch/>
        </p:blipFill>
        <p:spPr>
          <a:xfrm>
            <a:off x="2507007" y="2243480"/>
            <a:ext cx="7434431" cy="1185520"/>
          </a:xfrm>
          <a:prstGeom prst="rect">
            <a:avLst/>
          </a:prstGeom>
          <a:noFill/>
          <a:ln>
            <a:noFill/>
          </a:ln>
        </p:spPr>
      </p:pic>
      <p:sp>
        <p:nvSpPr>
          <p:cNvPr id="257" name="Google Shape;257;p26"/>
          <p:cNvSpPr txBox="1"/>
          <p:nvPr/>
        </p:nvSpPr>
        <p:spPr>
          <a:xfrm>
            <a:off x="569842" y="3646677"/>
            <a:ext cx="11131827"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Un ejemplo: suponga que tenemos un espacio muestral </a:t>
            </a:r>
            <a:r>
              <a:rPr b="0" i="1" lang="es-ES" sz="1800" u="none" strike="noStrike">
                <a:solidFill>
                  <a:schemeClr val="dk1"/>
                </a:solidFill>
                <a:latin typeface="Calibri"/>
                <a:ea typeface="Calibri"/>
                <a:cs typeface="Calibri"/>
                <a:sym typeface="Calibri"/>
              </a:rPr>
              <a:t>S </a:t>
            </a:r>
            <a:r>
              <a:rPr b="0" i="0" lang="es-ES" sz="1800" u="none" strike="noStrike">
                <a:solidFill>
                  <a:schemeClr val="dk1"/>
                </a:solidFill>
                <a:latin typeface="Calibri"/>
                <a:ea typeface="Calibri"/>
                <a:cs typeface="Calibri"/>
                <a:sym typeface="Calibri"/>
              </a:rPr>
              <a:t>constituido por la población de adultos de una pequeña ciudad que cumplen con los requisitos para obtener un titulo universitario. Debemos clasificarlos de acuerdo con su genero y situación laboral. Los datos se presentan en la tabla. Halle la probabilidad de que una persona co</a:t>
            </a:r>
            <a:r>
              <a:rPr lang="es-ES" sz="1800">
                <a:solidFill>
                  <a:schemeClr val="dk1"/>
                </a:solidFill>
                <a:latin typeface="Calibri"/>
                <a:ea typeface="Calibri"/>
                <a:cs typeface="Calibri"/>
                <a:sym typeface="Calibri"/>
              </a:rPr>
              <a:t>n empleo sea mujer. </a:t>
            </a:r>
            <a:endParaRPr sz="1800">
              <a:solidFill>
                <a:schemeClr val="dk1"/>
              </a:solidFill>
              <a:latin typeface="Calibri"/>
              <a:ea typeface="Calibri"/>
              <a:cs typeface="Calibri"/>
              <a:sym typeface="Calibri"/>
            </a:endParaRPr>
          </a:p>
        </p:txBody>
      </p:sp>
      <p:pic>
        <p:nvPicPr>
          <p:cNvPr id="258" name="Google Shape;258;p26"/>
          <p:cNvPicPr preferRelativeResize="0"/>
          <p:nvPr/>
        </p:nvPicPr>
        <p:blipFill rotWithShape="1">
          <a:blip r:embed="rId4">
            <a:alphaModFix/>
          </a:blip>
          <a:srcRect b="0" l="0" r="0" t="0"/>
          <a:stretch/>
        </p:blipFill>
        <p:spPr>
          <a:xfrm>
            <a:off x="3444786" y="4787684"/>
            <a:ext cx="5558872" cy="137708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7"/>
          <p:cNvSpPr txBox="1"/>
          <p:nvPr/>
        </p:nvSpPr>
        <p:spPr>
          <a:xfrm>
            <a:off x="848139" y="644293"/>
            <a:ext cx="10813774"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1800" u="none" strike="noStrike">
                <a:solidFill>
                  <a:schemeClr val="dk1"/>
                </a:solidFill>
                <a:latin typeface="Calibri"/>
                <a:ea typeface="Calibri"/>
                <a:cs typeface="Calibri"/>
                <a:sym typeface="Calibri"/>
              </a:rPr>
              <a:t>La probabilidad de que un vuelo programado normalmente salga a tiempo es </a:t>
            </a:r>
            <a:r>
              <a:rPr b="0" i="1" lang="es-ES" sz="1800" u="none" strike="noStrike">
                <a:solidFill>
                  <a:schemeClr val="dk1"/>
                </a:solidFill>
                <a:latin typeface="Calibri"/>
                <a:ea typeface="Calibri"/>
                <a:cs typeface="Calibri"/>
                <a:sym typeface="Calibri"/>
              </a:rPr>
              <a:t>P</a:t>
            </a:r>
            <a:r>
              <a:rPr b="0" i="0" lang="es-ES" sz="1800" u="none" strike="noStrike">
                <a:solidFill>
                  <a:schemeClr val="dk1"/>
                </a:solidFill>
                <a:latin typeface="Calibri"/>
                <a:ea typeface="Calibri"/>
                <a:cs typeface="Calibri"/>
                <a:sym typeface="Calibri"/>
              </a:rPr>
              <a:t>(</a:t>
            </a:r>
            <a:r>
              <a:rPr b="0" i="1" lang="es-ES" sz="1800" u="none" strike="noStrike">
                <a:solidFill>
                  <a:schemeClr val="dk1"/>
                </a:solidFill>
                <a:latin typeface="Calibri"/>
                <a:ea typeface="Calibri"/>
                <a:cs typeface="Calibri"/>
                <a:sym typeface="Calibri"/>
              </a:rPr>
              <a:t>D</a:t>
            </a:r>
            <a:r>
              <a:rPr b="0" i="0" lang="es-ES" sz="1800" u="none" strike="noStrike">
                <a:solidFill>
                  <a:schemeClr val="dk1"/>
                </a:solidFill>
                <a:latin typeface="Calibri"/>
                <a:ea typeface="Calibri"/>
                <a:cs typeface="Calibri"/>
                <a:sym typeface="Calibri"/>
              </a:rPr>
              <a:t>) = 0.83, la probabilidad de que llegue a tiempo es </a:t>
            </a:r>
            <a:r>
              <a:rPr b="0" i="1" lang="es-ES" sz="1800" u="none" strike="noStrike">
                <a:solidFill>
                  <a:schemeClr val="dk1"/>
                </a:solidFill>
                <a:latin typeface="Calibri"/>
                <a:ea typeface="Calibri"/>
                <a:cs typeface="Calibri"/>
                <a:sym typeface="Calibri"/>
              </a:rPr>
              <a:t>P</a:t>
            </a:r>
            <a:r>
              <a:rPr b="0" i="0" lang="es-ES" sz="1800" u="none" strike="noStrike">
                <a:solidFill>
                  <a:schemeClr val="dk1"/>
                </a:solidFill>
                <a:latin typeface="Calibri"/>
                <a:ea typeface="Calibri"/>
                <a:cs typeface="Calibri"/>
                <a:sym typeface="Calibri"/>
              </a:rPr>
              <a:t>(</a:t>
            </a:r>
            <a:r>
              <a:rPr b="0" i="1" lang="es-ES" sz="1800" u="none" strike="noStrike">
                <a:solidFill>
                  <a:schemeClr val="dk1"/>
                </a:solidFill>
                <a:latin typeface="Calibri"/>
                <a:ea typeface="Calibri"/>
                <a:cs typeface="Calibri"/>
                <a:sym typeface="Calibri"/>
              </a:rPr>
              <a:t>A</a:t>
            </a:r>
            <a:r>
              <a:rPr b="0" i="0" lang="es-ES" sz="1800" u="none" strike="noStrike">
                <a:solidFill>
                  <a:schemeClr val="dk1"/>
                </a:solidFill>
                <a:latin typeface="Calibri"/>
                <a:ea typeface="Calibri"/>
                <a:cs typeface="Calibri"/>
                <a:sym typeface="Calibri"/>
              </a:rPr>
              <a:t>) = 0.82 y la probabilidad de que salga y llegue a tiempo es </a:t>
            </a:r>
            <a:r>
              <a:rPr b="0" i="1" lang="es-ES" sz="1800" u="none" strike="noStrike">
                <a:solidFill>
                  <a:schemeClr val="dk1"/>
                </a:solidFill>
                <a:latin typeface="Calibri"/>
                <a:ea typeface="Calibri"/>
                <a:cs typeface="Calibri"/>
                <a:sym typeface="Calibri"/>
              </a:rPr>
              <a:t>P</a:t>
            </a:r>
            <a:r>
              <a:rPr b="0" i="0" lang="es-ES" sz="1800" u="none" strike="noStrike">
                <a:solidFill>
                  <a:schemeClr val="dk1"/>
                </a:solidFill>
                <a:latin typeface="Calibri"/>
                <a:ea typeface="Calibri"/>
                <a:cs typeface="Calibri"/>
                <a:sym typeface="Calibri"/>
              </a:rPr>
              <a:t>(</a:t>
            </a:r>
            <a:r>
              <a:rPr b="0" i="1" lang="es-ES" sz="1800" u="none" strike="noStrike">
                <a:solidFill>
                  <a:schemeClr val="dk1"/>
                </a:solidFill>
                <a:latin typeface="Calibri"/>
                <a:ea typeface="Calibri"/>
                <a:cs typeface="Calibri"/>
                <a:sym typeface="Calibri"/>
              </a:rPr>
              <a:t>D </a:t>
            </a:r>
            <a:r>
              <a:rPr b="0" i="0" lang="es-ES" sz="1800" u="none" strike="noStrike">
                <a:solidFill>
                  <a:schemeClr val="dk1"/>
                </a:solidFill>
                <a:latin typeface="Calibri"/>
                <a:ea typeface="Calibri"/>
                <a:cs typeface="Calibri"/>
                <a:sym typeface="Calibri"/>
              </a:rPr>
              <a:t>∩ </a:t>
            </a:r>
            <a:r>
              <a:rPr b="0" i="1" lang="es-ES" sz="1800" u="none" strike="noStrike">
                <a:solidFill>
                  <a:schemeClr val="dk1"/>
                </a:solidFill>
                <a:latin typeface="Calibri"/>
                <a:ea typeface="Calibri"/>
                <a:cs typeface="Calibri"/>
                <a:sym typeface="Calibri"/>
              </a:rPr>
              <a:t>A</a:t>
            </a:r>
            <a:r>
              <a:rPr b="0" i="0" lang="es-ES" sz="1800" u="none" strike="noStrike">
                <a:solidFill>
                  <a:schemeClr val="dk1"/>
                </a:solidFill>
                <a:latin typeface="Calibri"/>
                <a:ea typeface="Calibri"/>
                <a:cs typeface="Calibri"/>
                <a:sym typeface="Calibri"/>
              </a:rPr>
              <a:t>) = 0.78. </a:t>
            </a:r>
            <a:endParaRPr/>
          </a:p>
          <a:p>
            <a:pPr indent="0" lvl="0" marL="0" marR="0" rtl="0" algn="l">
              <a:spcBef>
                <a:spcPts val="0"/>
              </a:spcBef>
              <a:spcAft>
                <a:spcPts val="0"/>
              </a:spcAft>
              <a:buNone/>
            </a:pPr>
            <a:r>
              <a:rPr b="0" i="0" lang="es-ES" sz="1800" u="none" strike="noStrike">
                <a:solidFill>
                  <a:schemeClr val="dk1"/>
                </a:solidFill>
                <a:latin typeface="Calibri"/>
                <a:ea typeface="Calibri"/>
                <a:cs typeface="Calibri"/>
                <a:sym typeface="Calibri"/>
              </a:rPr>
              <a:t>Calcule la probabilidad de que un avión </a:t>
            </a:r>
            <a:endParaRPr/>
          </a:p>
          <a:p>
            <a:pPr indent="-342900" lvl="0" marL="342900" marR="0" rtl="0" algn="l">
              <a:spcBef>
                <a:spcPts val="0"/>
              </a:spcBef>
              <a:spcAft>
                <a:spcPts val="0"/>
              </a:spcAft>
              <a:buClr>
                <a:schemeClr val="dk1"/>
              </a:buClr>
              <a:buSzPts val="1800"/>
              <a:buFont typeface="Calibri"/>
              <a:buAutoNum type="alphaLcParenR"/>
            </a:pPr>
            <a:r>
              <a:rPr b="0" i="0" lang="es-ES" sz="1800" u="none" strike="noStrike">
                <a:solidFill>
                  <a:schemeClr val="dk1"/>
                </a:solidFill>
                <a:latin typeface="Calibri"/>
                <a:ea typeface="Calibri"/>
                <a:cs typeface="Calibri"/>
                <a:sym typeface="Calibri"/>
              </a:rPr>
              <a:t>Llegue a tiempo, dado que salió a tiempo; y </a:t>
            </a:r>
            <a:endParaRPr/>
          </a:p>
          <a:p>
            <a:pPr indent="-342900" lvl="0" marL="342900" marR="0" rtl="0" algn="l">
              <a:spcBef>
                <a:spcPts val="0"/>
              </a:spcBef>
              <a:spcAft>
                <a:spcPts val="0"/>
              </a:spcAft>
              <a:buClr>
                <a:schemeClr val="dk1"/>
              </a:buClr>
              <a:buSzPts val="1800"/>
              <a:buFont typeface="Calibri"/>
              <a:buAutoNum type="alphaLcParenR"/>
            </a:pPr>
            <a:r>
              <a:rPr lang="es-ES" sz="1800">
                <a:solidFill>
                  <a:schemeClr val="dk1"/>
                </a:solidFill>
                <a:latin typeface="Calibri"/>
                <a:ea typeface="Calibri"/>
                <a:cs typeface="Calibri"/>
                <a:sym typeface="Calibri"/>
              </a:rPr>
              <a:t>Salió</a:t>
            </a:r>
            <a:r>
              <a:rPr b="0" i="0" lang="es-ES" sz="1800" u="none" strike="noStrike">
                <a:solidFill>
                  <a:schemeClr val="dk1"/>
                </a:solidFill>
                <a:latin typeface="Calibri"/>
                <a:ea typeface="Calibri"/>
                <a:cs typeface="Calibri"/>
                <a:sym typeface="Calibri"/>
              </a:rPr>
              <a:t> a tiempo, dado que llego a tiempo.</a:t>
            </a:r>
            <a:endParaRPr sz="1800">
              <a:solidFill>
                <a:schemeClr val="dk1"/>
              </a:solidFill>
              <a:latin typeface="Calibri"/>
              <a:ea typeface="Calibri"/>
              <a:cs typeface="Calibri"/>
              <a:sym typeface="Calibri"/>
            </a:endParaRPr>
          </a:p>
        </p:txBody>
      </p:sp>
      <p:sp>
        <p:nvSpPr>
          <p:cNvPr id="264" name="Google Shape;264;p27"/>
          <p:cNvSpPr txBox="1"/>
          <p:nvPr/>
        </p:nvSpPr>
        <p:spPr>
          <a:xfrm>
            <a:off x="848139" y="2705055"/>
            <a:ext cx="10813774"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1" lang="es-ES" sz="1800" u="none" strike="noStrike">
                <a:solidFill>
                  <a:schemeClr val="dk1"/>
                </a:solidFill>
                <a:latin typeface="Calibri"/>
                <a:ea typeface="Calibri"/>
                <a:cs typeface="Calibri"/>
                <a:sym typeface="Calibri"/>
              </a:rPr>
              <a:t>La noción de probabilidad condicional brinda la capacidad de reevaluar la idea de probabilidad de un evento a la luz de la información adicional; es decir, cuando se sabe que ocurrió otro evento. La probabilidad P(A|B) es una actualización de P(A) basada en el conocimiento de que ocurrió el evento B.</a:t>
            </a:r>
            <a:endParaRPr i="1" sz="1800">
              <a:solidFill>
                <a:schemeClr val="dk1"/>
              </a:solidFill>
              <a:latin typeface="Calibri"/>
              <a:ea typeface="Calibri"/>
              <a:cs typeface="Calibri"/>
              <a:sym typeface="Calibri"/>
            </a:endParaRPr>
          </a:p>
        </p:txBody>
      </p:sp>
      <p:pic>
        <p:nvPicPr>
          <p:cNvPr id="265" name="Google Shape;265;p27"/>
          <p:cNvPicPr preferRelativeResize="0"/>
          <p:nvPr/>
        </p:nvPicPr>
        <p:blipFill rotWithShape="1">
          <a:blip r:embed="rId3">
            <a:alphaModFix/>
          </a:blip>
          <a:srcRect b="0" l="0" r="0" t="0"/>
          <a:stretch/>
        </p:blipFill>
        <p:spPr>
          <a:xfrm>
            <a:off x="2043907" y="3999783"/>
            <a:ext cx="8104185" cy="176491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8"/>
          <p:cNvSpPr txBox="1"/>
          <p:nvPr/>
        </p:nvSpPr>
        <p:spPr>
          <a:xfrm>
            <a:off x="659296" y="266150"/>
            <a:ext cx="60960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000">
                <a:solidFill>
                  <a:schemeClr val="dk1"/>
                </a:solidFill>
                <a:latin typeface="Calibri"/>
                <a:ea typeface="Calibri"/>
                <a:cs typeface="Calibri"/>
                <a:sym typeface="Calibri"/>
              </a:rPr>
              <a:t>Independencia de eventos</a:t>
            </a:r>
            <a:endParaRPr/>
          </a:p>
        </p:txBody>
      </p:sp>
      <p:sp>
        <p:nvSpPr>
          <p:cNvPr id="271" name="Google Shape;271;p28"/>
          <p:cNvSpPr txBox="1"/>
          <p:nvPr/>
        </p:nvSpPr>
        <p:spPr>
          <a:xfrm>
            <a:off x="662609" y="779176"/>
            <a:ext cx="10986052"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Se dice que dos eventos cualesquiera A y B son independientes si se cumple la condición: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pic>
        <p:nvPicPr>
          <p:cNvPr id="272" name="Google Shape;272;p28"/>
          <p:cNvPicPr preferRelativeResize="0"/>
          <p:nvPr/>
        </p:nvPicPr>
        <p:blipFill rotWithShape="1">
          <a:blip r:embed="rId3">
            <a:alphaModFix/>
          </a:blip>
          <a:srcRect b="0" l="0" r="0" t="0"/>
          <a:stretch/>
        </p:blipFill>
        <p:spPr>
          <a:xfrm>
            <a:off x="4472609" y="1245084"/>
            <a:ext cx="2286000" cy="285750"/>
          </a:xfrm>
          <a:prstGeom prst="rect">
            <a:avLst/>
          </a:prstGeom>
          <a:noFill/>
          <a:ln>
            <a:noFill/>
          </a:ln>
        </p:spPr>
      </p:pic>
      <p:sp>
        <p:nvSpPr>
          <p:cNvPr id="273" name="Google Shape;273;p28"/>
          <p:cNvSpPr txBox="1"/>
          <p:nvPr/>
        </p:nvSpPr>
        <p:spPr>
          <a:xfrm>
            <a:off x="659296" y="1517840"/>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Esta igualdad es equivalente a la expresión</a:t>
            </a:r>
            <a:endParaRPr sz="1800">
              <a:solidFill>
                <a:schemeClr val="dk1"/>
              </a:solidFill>
              <a:latin typeface="Calibri"/>
              <a:ea typeface="Calibri"/>
              <a:cs typeface="Calibri"/>
              <a:sym typeface="Calibri"/>
            </a:endParaRPr>
          </a:p>
        </p:txBody>
      </p:sp>
      <p:pic>
        <p:nvPicPr>
          <p:cNvPr id="274" name="Google Shape;274;p28"/>
          <p:cNvPicPr preferRelativeResize="0"/>
          <p:nvPr/>
        </p:nvPicPr>
        <p:blipFill rotWithShape="1">
          <a:blip r:embed="rId4">
            <a:alphaModFix/>
          </a:blip>
          <a:srcRect b="0" l="0" r="0" t="0"/>
          <a:stretch/>
        </p:blipFill>
        <p:spPr>
          <a:xfrm>
            <a:off x="3939209" y="1996742"/>
            <a:ext cx="3352800" cy="257175"/>
          </a:xfrm>
          <a:prstGeom prst="rect">
            <a:avLst/>
          </a:prstGeom>
          <a:noFill/>
          <a:ln>
            <a:noFill/>
          </a:ln>
        </p:spPr>
      </p:pic>
      <p:sp>
        <p:nvSpPr>
          <p:cNvPr id="275" name="Google Shape;275;p28"/>
          <p:cNvSpPr txBox="1"/>
          <p:nvPr/>
        </p:nvSpPr>
        <p:spPr>
          <a:xfrm>
            <a:off x="659296" y="2363487"/>
            <a:ext cx="10986052" cy="4331442"/>
          </a:xfrm>
          <a:prstGeom prst="rect">
            <a:avLst/>
          </a:prstGeom>
          <a:blipFill rotWithShape="1">
            <a:blip r:embed="rId5">
              <a:alphaModFix/>
            </a:blip>
            <a:stretch>
              <a:fillRect b="-1405" l="-442" r="-498" t="-84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ES" sz="1800">
                <a:latin typeface="Calibri"/>
                <a:ea typeface="Calibri"/>
                <a:cs typeface="Calibri"/>
                <a:sym typeface="Calibri"/>
              </a:rPr>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9"/>
          <p:cNvSpPr txBox="1"/>
          <p:nvPr/>
        </p:nvSpPr>
        <p:spPr>
          <a:xfrm>
            <a:off x="702365" y="612395"/>
            <a:ext cx="10787269" cy="5633209"/>
          </a:xfrm>
          <a:prstGeom prst="rect">
            <a:avLst/>
          </a:prstGeom>
          <a:blipFill rotWithShape="1">
            <a:blip r:embed="rId3">
              <a:alphaModFix/>
            </a:blip>
            <a:stretch>
              <a:fillRect b="-755" l="-451" r="-450" t="-54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ES" sz="1800">
                <a:latin typeface="Calibri"/>
                <a:ea typeface="Calibri"/>
                <a:cs typeface="Calibri"/>
                <a:sym typeface="Calibri"/>
              </a:rPr>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0"/>
          <p:cNvSpPr txBox="1"/>
          <p:nvPr/>
        </p:nvSpPr>
        <p:spPr>
          <a:xfrm>
            <a:off x="466476" y="458956"/>
            <a:ext cx="10893287" cy="594008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600">
                <a:solidFill>
                  <a:schemeClr val="dk1"/>
                </a:solidFill>
                <a:latin typeface="Calibri"/>
                <a:ea typeface="Calibri"/>
                <a:cs typeface="Calibri"/>
                <a:sym typeface="Calibri"/>
              </a:rPr>
              <a:t>EJERICIO 4</a:t>
            </a:r>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En un grupo de estudiantes de la universidad de Guayaquil la probabilidad de que prefieran carreras técnicas es 23/100; administrativas es de 23/100; sociales 11/25; las tres 1/10; técnicas y administrativas 23/50; técnicas y sociales 11/50; administrativas y sociales 17/100 ¿Cuál es la probabilidad de que prefieran las 3? </a:t>
            </a:r>
            <a:endParaRPr/>
          </a:p>
          <a:p>
            <a:pPr indent="0" lvl="0" marL="0" marR="0" rtl="0" algn="just">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EJERCICIO 5</a:t>
            </a:r>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En una fiesta se realiza una apuesta la cual consiste en lanzar un dado y si sale un número impar o divisible para 5 gana la apuesta. Determine la probabilidad para ganar la apuesta </a:t>
            </a:r>
            <a:endParaRPr/>
          </a:p>
          <a:p>
            <a:pPr indent="0" lvl="0" marL="0" marR="0" rtl="0" algn="just">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EJERCICIO 6</a:t>
            </a:r>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En la facultad de ingeniería en sistemas. El 50% de los estudiantes saben programar en C y el 30% saben programar en Python. Un 20% de sus estudiantes saben programar en ambos. </a:t>
            </a:r>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Si se elige un estudiante al azar. Calcular la probabilidad de que ese estudiante sepa programar en algún lenguaje de programación. </a:t>
            </a:r>
            <a:endParaRPr sz="16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EJERCICIO 7</a:t>
            </a:r>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Se han dado dos eventos aleatorios cualesquiera, D y E, 𝑃(𝐷) = 1/5, 𝑃(𝐸) = 1/6 y  P(𝐷 y 𝐸) = 1/7. Determinar: 𝑃(𝐷|𝐸) </a:t>
            </a:r>
            <a:endParaRPr/>
          </a:p>
          <a:p>
            <a:pPr indent="0" lvl="0" marL="0" marR="0" rtl="0" algn="just">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600">
                <a:solidFill>
                  <a:schemeClr val="dk1"/>
                </a:solidFill>
                <a:latin typeface="Calibri"/>
                <a:ea typeface="Calibri"/>
                <a:cs typeface="Calibri"/>
                <a:sym typeface="Calibri"/>
              </a:rPr>
              <a:t>EJERCICIO 8</a:t>
            </a:r>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Para dos eventos A and B, P(A) = 0.5, P(B) = 0.60 y P(A∩B) = 0.40 </a:t>
            </a:r>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a. Encuentre P(A/B). </a:t>
            </a:r>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b. Encuentre P(B/A) </a:t>
            </a:r>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c. ¿Son A y B independientes? ¿Por qué sí o por qué no? </a:t>
            </a:r>
            <a:endParaRPr sz="16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1"/>
          <p:cNvSpPr txBox="1"/>
          <p:nvPr/>
        </p:nvSpPr>
        <p:spPr>
          <a:xfrm>
            <a:off x="437322" y="357811"/>
            <a:ext cx="11118574" cy="646330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EJERCICIO 9</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800">
                <a:solidFill>
                  <a:schemeClr val="dk1"/>
                </a:solidFill>
                <a:latin typeface="Calibri"/>
                <a:ea typeface="Calibri"/>
                <a:cs typeface="Calibri"/>
                <a:sym typeface="Calibri"/>
              </a:rPr>
              <a:t>En una conferencia hay 10 expositores, de los cuales 3 son ingenieros en Networking, 5 ingenieros en sistemas y 2 en teleinformática. Se escogen al azar 3 ingenieros para dar una charla. Calcular la probabilidad de que el primero sea ingeniero en teleinformática, y los otros dos ingenieros en sistemas. </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800">
                <a:solidFill>
                  <a:schemeClr val="dk1"/>
                </a:solidFill>
                <a:latin typeface="Calibri"/>
                <a:ea typeface="Calibri"/>
                <a:cs typeface="Calibri"/>
                <a:sym typeface="Calibri"/>
              </a:rPr>
              <a:t>EJERCICIO 10</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800">
                <a:solidFill>
                  <a:schemeClr val="dk1"/>
                </a:solidFill>
                <a:latin typeface="Calibri"/>
                <a:ea typeface="Calibri"/>
                <a:cs typeface="Calibri"/>
                <a:sym typeface="Calibri"/>
              </a:rPr>
              <a:t>Se realiza una encuesta a 200 estudiantes de las carreras de ingeniería en teleinformática y licenciatura en sistemas de información para saber que lenguaje de programación preferían estudiar. De los cuales 90 escogieron Python y 150 saben programar en C. ¿Cuál es la probabilidad de sacar un estudiante que haya escogido Python en la encuesta y sepa programar en C?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800">
                <a:solidFill>
                  <a:schemeClr val="dk1"/>
                </a:solidFill>
                <a:latin typeface="Calibri"/>
                <a:ea typeface="Calibri"/>
                <a:cs typeface="Calibri"/>
                <a:sym typeface="Calibri"/>
              </a:rPr>
              <a:t>EJERCICIO 11</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s-ES" sz="1800">
                <a:solidFill>
                  <a:schemeClr val="dk1"/>
                </a:solidFill>
                <a:latin typeface="Calibri"/>
                <a:ea typeface="Calibri"/>
                <a:cs typeface="Calibri"/>
                <a:sym typeface="Calibri"/>
              </a:rPr>
              <a:t>En un viaje organizado por Europa para 120 personas, 48 de los que van saben hablar Inglés, 36 saben hablar Francés y 12 de ellos hablan los dos idiomas.  Escogemos uno de los viajeros al azar. </a:t>
            </a:r>
            <a:endParaRPr/>
          </a:p>
          <a:p>
            <a:pPr indent="-285750" lvl="0" marL="285750" marR="0" rtl="0" algn="l">
              <a:spcBef>
                <a:spcPts val="0"/>
              </a:spcBef>
              <a:spcAft>
                <a:spcPts val="0"/>
              </a:spcAft>
              <a:buClr>
                <a:schemeClr val="dk1"/>
              </a:buClr>
              <a:buSzPts val="1800"/>
              <a:buFont typeface="Arial"/>
              <a:buChar char="•"/>
            </a:pPr>
            <a:r>
              <a:rPr lang="es-ES" sz="1800">
                <a:solidFill>
                  <a:schemeClr val="dk1"/>
                </a:solidFill>
                <a:latin typeface="Calibri"/>
                <a:ea typeface="Calibri"/>
                <a:cs typeface="Calibri"/>
                <a:sym typeface="Calibri"/>
              </a:rPr>
              <a:t>¿Cuál es la probabilidad de que hable alguno de los dos idiomas? </a:t>
            </a:r>
            <a:endParaRPr/>
          </a:p>
          <a:p>
            <a:pPr indent="-285750" lvl="0" marL="285750" marR="0" rtl="0" algn="l">
              <a:spcBef>
                <a:spcPts val="0"/>
              </a:spcBef>
              <a:spcAft>
                <a:spcPts val="0"/>
              </a:spcAft>
              <a:buClr>
                <a:schemeClr val="dk1"/>
              </a:buClr>
              <a:buSzPts val="1800"/>
              <a:buFont typeface="Arial"/>
              <a:buChar char="•"/>
            </a:pPr>
            <a:r>
              <a:rPr lang="es-ES" sz="1800">
                <a:solidFill>
                  <a:schemeClr val="dk1"/>
                </a:solidFill>
                <a:latin typeface="Calibri"/>
                <a:ea typeface="Calibri"/>
                <a:cs typeface="Calibri"/>
                <a:sym typeface="Calibri"/>
              </a:rPr>
              <a:t>¿Cuál es la probabilidad de que hable Francés, sabiendo que habla Inglés? </a:t>
            </a:r>
            <a:endParaRPr/>
          </a:p>
          <a:p>
            <a:pPr indent="-285750" lvl="0" marL="285750" marR="0" rtl="0" algn="l">
              <a:spcBef>
                <a:spcPts val="0"/>
              </a:spcBef>
              <a:spcAft>
                <a:spcPts val="0"/>
              </a:spcAft>
              <a:buClr>
                <a:schemeClr val="dk1"/>
              </a:buClr>
              <a:buSzPts val="1800"/>
              <a:buFont typeface="Arial"/>
              <a:buChar char="•"/>
            </a:pPr>
            <a:r>
              <a:rPr lang="es-ES" sz="1800">
                <a:solidFill>
                  <a:schemeClr val="dk1"/>
                </a:solidFill>
                <a:latin typeface="Calibri"/>
                <a:ea typeface="Calibri"/>
                <a:cs typeface="Calibri"/>
                <a:sym typeface="Calibri"/>
              </a:rPr>
              <a:t>¿Cuál es la probabilidad de que solo hable Francés? </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rgbClr val="000000"/>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2"/>
          <p:cNvSpPr txBox="1"/>
          <p:nvPr/>
        </p:nvSpPr>
        <p:spPr>
          <a:xfrm>
            <a:off x="569842" y="503631"/>
            <a:ext cx="10893287"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EJERCICIO 12</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Los ciudadanos de una localidad votaron Sí o No a una determinada propuesta que realizó su Ayuntamiento. Los resultados por porcentajes vienen reflejados en la tabla que mostramos a continuación. ¿Son los sucesos A = “ser varón” y B = “votar Sí” independientes?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96" name="Google Shape;296;p32"/>
          <p:cNvPicPr preferRelativeResize="0"/>
          <p:nvPr/>
        </p:nvPicPr>
        <p:blipFill rotWithShape="1">
          <a:blip r:embed="rId3">
            <a:alphaModFix/>
          </a:blip>
          <a:srcRect b="0" l="0" r="0" t="0"/>
          <a:stretch/>
        </p:blipFill>
        <p:spPr>
          <a:xfrm>
            <a:off x="569842" y="1876425"/>
            <a:ext cx="3409950" cy="1552575"/>
          </a:xfrm>
          <a:prstGeom prst="rect">
            <a:avLst/>
          </a:prstGeom>
          <a:noFill/>
          <a:ln>
            <a:noFill/>
          </a:ln>
        </p:spPr>
      </p:pic>
      <p:sp>
        <p:nvSpPr>
          <p:cNvPr id="297" name="Google Shape;297;p32"/>
          <p:cNvSpPr txBox="1"/>
          <p:nvPr/>
        </p:nvSpPr>
        <p:spPr>
          <a:xfrm>
            <a:off x="569842" y="3615158"/>
            <a:ext cx="1089328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EJERCICIO 13</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Sean A y B dos sucesos tales que P(A) = 1/3 y P(B) = 2/5. Calcula, razonadamente, para qué valor de P(A U B) los sucesos A y B son independientes.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3"/>
          <p:cNvSpPr txBox="1"/>
          <p:nvPr/>
        </p:nvSpPr>
        <p:spPr>
          <a:xfrm>
            <a:off x="410816" y="318052"/>
            <a:ext cx="1540037"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000">
                <a:solidFill>
                  <a:schemeClr val="dk1"/>
                </a:solidFill>
                <a:latin typeface="Calibri"/>
                <a:ea typeface="Calibri"/>
                <a:cs typeface="Calibri"/>
                <a:sym typeface="Calibri"/>
              </a:rPr>
              <a:t>SOLUCIONES</a:t>
            </a:r>
            <a:endParaRPr b="1" sz="1800">
              <a:solidFill>
                <a:schemeClr val="dk1"/>
              </a:solidFill>
              <a:latin typeface="Calibri"/>
              <a:ea typeface="Calibri"/>
              <a:cs typeface="Calibri"/>
              <a:sym typeface="Calibri"/>
            </a:endParaRPr>
          </a:p>
        </p:txBody>
      </p:sp>
      <p:sp>
        <p:nvSpPr>
          <p:cNvPr id="303" name="Google Shape;303;p33"/>
          <p:cNvSpPr txBox="1"/>
          <p:nvPr/>
        </p:nvSpPr>
        <p:spPr>
          <a:xfrm>
            <a:off x="410816" y="718162"/>
            <a:ext cx="11039061" cy="5361532"/>
          </a:xfrm>
          <a:prstGeom prst="rect">
            <a:avLst/>
          </a:prstGeom>
          <a:blipFill rotWithShape="1">
            <a:blip r:embed="rId3">
              <a:alphaModFix/>
            </a:blip>
            <a:stretch>
              <a:fillRect b="-682" l="-441" r="0" t="-68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ES" sz="1800">
                <a:latin typeface="Calibri"/>
                <a:ea typeface="Calibri"/>
                <a:cs typeface="Calibri"/>
                <a:sym typeface="Calibri"/>
              </a:rPr>
              <a: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4"/>
          <p:cNvSpPr txBox="1"/>
          <p:nvPr/>
        </p:nvSpPr>
        <p:spPr>
          <a:xfrm>
            <a:off x="331305" y="278296"/>
            <a:ext cx="11648660" cy="6186309"/>
          </a:xfrm>
          <a:prstGeom prst="rect">
            <a:avLst/>
          </a:prstGeom>
          <a:blipFill rotWithShape="1">
            <a:blip r:embed="rId3">
              <a:alphaModFix/>
            </a:blip>
            <a:stretch>
              <a:fillRect b="0" l="-418" r="0" t="-59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ES" sz="1800">
                <a:latin typeface="Calibri"/>
                <a:ea typeface="Calibri"/>
                <a:cs typeface="Calibri"/>
                <a:sym typeface="Calibri"/>
              </a:rPr>
              <a:t> </a:t>
            </a:r>
            <a:endParaRPr/>
          </a:p>
        </p:txBody>
      </p:sp>
      <p:pic>
        <p:nvPicPr>
          <p:cNvPr id="309" name="Google Shape;309;p34"/>
          <p:cNvPicPr preferRelativeResize="0"/>
          <p:nvPr/>
        </p:nvPicPr>
        <p:blipFill rotWithShape="1">
          <a:blip r:embed="rId4">
            <a:alphaModFix/>
          </a:blip>
          <a:srcRect b="0" l="0" r="0" t="0"/>
          <a:stretch/>
        </p:blipFill>
        <p:spPr>
          <a:xfrm>
            <a:off x="5433392" y="5480602"/>
            <a:ext cx="3067050" cy="7810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5"/>
          <p:cNvSpPr txBox="1"/>
          <p:nvPr/>
        </p:nvSpPr>
        <p:spPr>
          <a:xfrm>
            <a:off x="397566" y="437322"/>
            <a:ext cx="11317356" cy="6373733"/>
          </a:xfrm>
          <a:prstGeom prst="rect">
            <a:avLst/>
          </a:prstGeom>
          <a:blipFill rotWithShape="1">
            <a:blip r:embed="rId3">
              <a:alphaModFix/>
            </a:blip>
            <a:stretch>
              <a:fillRect b="0" l="-430" r="0" t="-5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ES" sz="1800">
                <a:latin typeface="Calibri"/>
                <a:ea typeface="Calibri"/>
                <a:cs typeface="Calibri"/>
                <a:sym typeface="Calibri"/>
              </a:rPr>
              <a: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6"/>
          <p:cNvSpPr txBox="1"/>
          <p:nvPr/>
        </p:nvSpPr>
        <p:spPr>
          <a:xfrm>
            <a:off x="662609" y="547880"/>
            <a:ext cx="10495722" cy="61863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1800">
                <a:solidFill>
                  <a:schemeClr val="dk1"/>
                </a:solidFill>
                <a:latin typeface="Calibri"/>
                <a:ea typeface="Calibri"/>
                <a:cs typeface="Calibri"/>
                <a:sym typeface="Calibri"/>
              </a:rPr>
              <a:t>Ejercicio 10</a:t>
            </a:r>
            <a:endParaRPr/>
          </a:p>
          <a:p>
            <a:pPr indent="0" lvl="0" marL="0" marR="0" rtl="0" algn="l">
              <a:spcBef>
                <a:spcPts val="0"/>
              </a:spcBef>
              <a:spcAft>
                <a:spcPts val="0"/>
              </a:spcAft>
              <a:buNone/>
            </a:pPr>
            <a:r>
              <a:rPr b="0" i="0" lang="es-ES" sz="1800" u="none" strike="noStrike">
                <a:solidFill>
                  <a:srgbClr val="000000"/>
                </a:solidFill>
                <a:latin typeface="Cambria Math"/>
                <a:ea typeface="Cambria Math"/>
                <a:cs typeface="Cambria Math"/>
                <a:sym typeface="Cambria Math"/>
              </a:rPr>
              <a:t>𝑃(𝐸1∩𝐸2)=𝑃( 𝐸1)𝑃(𝐸2) 𝑃(𝐸1∩𝐸2)=0,45∗0,75=0,34=34%</a:t>
            </a:r>
            <a:endParaRPr b="0" i="0" sz="1800" u="none" strike="noStrike">
              <a:solidFill>
                <a:srgbClr val="000000"/>
              </a:solidFill>
              <a:latin typeface="Cambria Math"/>
              <a:ea typeface="Cambria Math"/>
              <a:cs typeface="Cambria Math"/>
              <a:sym typeface="Cambria Math"/>
            </a:endParaRPr>
          </a:p>
          <a:p>
            <a:pPr indent="0" lvl="0" marL="0" marR="0" rtl="0" algn="l">
              <a:spcBef>
                <a:spcPts val="0"/>
              </a:spcBef>
              <a:spcAft>
                <a:spcPts val="0"/>
              </a:spcAft>
              <a:buNone/>
            </a:pPr>
            <a:r>
              <a:t/>
            </a:r>
            <a:endParaRPr sz="1800">
              <a:solidFill>
                <a:srgbClr val="000000"/>
              </a:solidFill>
              <a:latin typeface="Cambria Math"/>
              <a:ea typeface="Cambria Math"/>
              <a:cs typeface="Cambria Math"/>
              <a:sym typeface="Cambria Math"/>
            </a:endParaRPr>
          </a:p>
          <a:p>
            <a:pPr indent="0" lvl="0" marL="0" marR="0" rtl="0" algn="l">
              <a:spcBef>
                <a:spcPts val="0"/>
              </a:spcBef>
              <a:spcAft>
                <a:spcPts val="0"/>
              </a:spcAft>
              <a:buNone/>
            </a:pPr>
            <a:r>
              <a:rPr lang="es-ES" sz="1800">
                <a:solidFill>
                  <a:srgbClr val="000000"/>
                </a:solidFill>
                <a:latin typeface="Cambria Math"/>
                <a:ea typeface="Cambria Math"/>
                <a:cs typeface="Cambria Math"/>
                <a:sym typeface="Cambria Math"/>
              </a:rPr>
              <a:t>Ejercicio 11</a:t>
            </a:r>
            <a:endParaRPr/>
          </a:p>
          <a:p>
            <a:pPr indent="0" lvl="0" marL="0" marR="0" rtl="0" algn="l">
              <a:spcBef>
                <a:spcPts val="0"/>
              </a:spcBef>
              <a:spcAft>
                <a:spcPts val="0"/>
              </a:spcAft>
              <a:buNone/>
            </a:pPr>
            <a:r>
              <a:rPr lang="es-ES" sz="1800">
                <a:solidFill>
                  <a:srgbClr val="000000"/>
                </a:solidFill>
                <a:latin typeface="Cambria Math"/>
                <a:ea typeface="Cambria Math"/>
                <a:cs typeface="Cambria Math"/>
                <a:sym typeface="Cambria Math"/>
              </a:rPr>
              <a:t>P(Ingles o Frances) = P(Ingles)+P(Frances)-P(Ingles y Frances)=0,6</a:t>
            </a:r>
            <a:endParaRPr/>
          </a:p>
          <a:p>
            <a:pPr indent="0" lvl="0" marL="0" marR="0" rtl="0" algn="l">
              <a:spcBef>
                <a:spcPts val="0"/>
              </a:spcBef>
              <a:spcAft>
                <a:spcPts val="0"/>
              </a:spcAft>
              <a:buNone/>
            </a:pPr>
            <a:r>
              <a:rPr lang="es-ES" sz="1800">
                <a:solidFill>
                  <a:srgbClr val="000000"/>
                </a:solidFill>
                <a:latin typeface="Cambria Math"/>
                <a:ea typeface="Cambria Math"/>
                <a:cs typeface="Cambria Math"/>
                <a:sym typeface="Cambria Math"/>
              </a:rPr>
              <a:t>P(Frances|Ingles)=P(Ingles y Frances)/P(Ingles)=0,25</a:t>
            </a:r>
            <a:endParaRPr/>
          </a:p>
          <a:p>
            <a:pPr indent="0" lvl="0" marL="0" marR="0" rtl="0" algn="l">
              <a:spcBef>
                <a:spcPts val="0"/>
              </a:spcBef>
              <a:spcAft>
                <a:spcPts val="0"/>
              </a:spcAft>
              <a:buNone/>
            </a:pPr>
            <a:r>
              <a:rPr lang="es-ES" sz="1800">
                <a:solidFill>
                  <a:srgbClr val="000000"/>
                </a:solidFill>
                <a:latin typeface="Cambria Math"/>
                <a:ea typeface="Cambria Math"/>
                <a:cs typeface="Cambria Math"/>
                <a:sym typeface="Cambria Math"/>
              </a:rPr>
              <a:t>P(Frances)=0,3 </a:t>
            </a:r>
            <a:endParaRPr/>
          </a:p>
          <a:p>
            <a:pPr indent="0" lvl="0" marL="0" marR="0" rtl="0" algn="l">
              <a:spcBef>
                <a:spcPts val="0"/>
              </a:spcBef>
              <a:spcAft>
                <a:spcPts val="0"/>
              </a:spcAft>
              <a:buNone/>
            </a:pPr>
            <a:r>
              <a:rPr lang="es-ES" sz="1800">
                <a:solidFill>
                  <a:srgbClr val="000000"/>
                </a:solidFill>
                <a:latin typeface="Cambria Math"/>
                <a:ea typeface="Cambria Math"/>
                <a:cs typeface="Cambria Math"/>
                <a:sym typeface="Cambria Math"/>
              </a:rPr>
              <a:t>  </a:t>
            </a:r>
            <a:endParaRPr/>
          </a:p>
          <a:p>
            <a:pPr indent="0" lvl="0" marL="0" marR="0" rtl="0" algn="l">
              <a:spcBef>
                <a:spcPts val="0"/>
              </a:spcBef>
              <a:spcAft>
                <a:spcPts val="0"/>
              </a:spcAft>
              <a:buNone/>
            </a:pPr>
            <a:r>
              <a:rPr lang="es-ES" sz="1800">
                <a:solidFill>
                  <a:srgbClr val="000000"/>
                </a:solidFill>
                <a:latin typeface="Cambria Math"/>
                <a:ea typeface="Cambria Math"/>
                <a:cs typeface="Cambria Math"/>
                <a:sym typeface="Cambria Math"/>
              </a:rPr>
              <a:t> Ejercicio 12</a:t>
            </a:r>
            <a:endParaRPr/>
          </a:p>
          <a:p>
            <a:pPr indent="0" lvl="0" marL="0" marR="0" rtl="0" algn="l">
              <a:spcBef>
                <a:spcPts val="0"/>
              </a:spcBef>
              <a:spcAft>
                <a:spcPts val="0"/>
              </a:spcAft>
              <a:buNone/>
            </a:pPr>
            <a:r>
              <a:rPr lang="es-ES" sz="1800">
                <a:solidFill>
                  <a:srgbClr val="000000"/>
                </a:solidFill>
                <a:latin typeface="Cambria Math"/>
                <a:ea typeface="Cambria Math"/>
                <a:cs typeface="Cambria Math"/>
                <a:sym typeface="Cambria Math"/>
              </a:rPr>
              <a:t>P(B|A) = P(B) en independencia </a:t>
            </a:r>
            <a:endParaRPr/>
          </a:p>
          <a:p>
            <a:pPr indent="0" lvl="0" marL="0" marR="0" rtl="0" algn="l">
              <a:spcBef>
                <a:spcPts val="0"/>
              </a:spcBef>
              <a:spcAft>
                <a:spcPts val="0"/>
              </a:spcAft>
              <a:buNone/>
            </a:pPr>
            <a:r>
              <a:rPr lang="es-ES" sz="1800">
                <a:solidFill>
                  <a:srgbClr val="000000"/>
                </a:solidFill>
                <a:latin typeface="Cambria Math"/>
                <a:ea typeface="Cambria Math"/>
                <a:cs typeface="Cambria Math"/>
                <a:sym typeface="Cambria Math"/>
              </a:rPr>
              <a:t>P(ByA)/P(A) = P(B)</a:t>
            </a:r>
            <a:endParaRPr/>
          </a:p>
          <a:p>
            <a:pPr indent="0" lvl="0" marL="0" marR="0" rtl="0" algn="l">
              <a:spcBef>
                <a:spcPts val="0"/>
              </a:spcBef>
              <a:spcAft>
                <a:spcPts val="0"/>
              </a:spcAft>
              <a:buNone/>
            </a:pPr>
            <a:r>
              <a:rPr lang="es-ES" sz="1800">
                <a:solidFill>
                  <a:srgbClr val="000000"/>
                </a:solidFill>
                <a:latin typeface="Cambria Math"/>
                <a:ea typeface="Cambria Math"/>
                <a:cs typeface="Cambria Math"/>
                <a:sym typeface="Cambria Math"/>
              </a:rPr>
              <a:t>0,25/0,55 = 0,65</a:t>
            </a:r>
            <a:endParaRPr/>
          </a:p>
          <a:p>
            <a:pPr indent="0" lvl="0" marL="0" marR="0" rtl="0" algn="l">
              <a:spcBef>
                <a:spcPts val="0"/>
              </a:spcBef>
              <a:spcAft>
                <a:spcPts val="0"/>
              </a:spcAft>
              <a:buNone/>
            </a:pPr>
            <a:r>
              <a:rPr lang="es-ES" sz="1800">
                <a:solidFill>
                  <a:srgbClr val="000000"/>
                </a:solidFill>
                <a:latin typeface="Cambria Math"/>
                <a:ea typeface="Cambria Math"/>
                <a:cs typeface="Cambria Math"/>
                <a:sym typeface="Cambria Math"/>
              </a:rPr>
              <a:t>0,45 diferente de 0,65, por lo tanto, son sucesos dependientes. </a:t>
            </a:r>
            <a:endParaRPr/>
          </a:p>
          <a:p>
            <a:pPr indent="0" lvl="0" marL="0" marR="0" rtl="0" algn="l">
              <a:spcBef>
                <a:spcPts val="0"/>
              </a:spcBef>
              <a:spcAft>
                <a:spcPts val="0"/>
              </a:spcAft>
              <a:buNone/>
            </a:pPr>
            <a:r>
              <a:t/>
            </a:r>
            <a:endParaRPr sz="1800">
              <a:solidFill>
                <a:srgbClr val="000000"/>
              </a:solidFill>
              <a:latin typeface="Cambria Math"/>
              <a:ea typeface="Cambria Math"/>
              <a:cs typeface="Cambria Math"/>
              <a:sym typeface="Cambria Math"/>
            </a:endParaRPr>
          </a:p>
          <a:p>
            <a:pPr indent="0" lvl="0" marL="0" marR="0" rtl="0" algn="l">
              <a:spcBef>
                <a:spcPts val="0"/>
              </a:spcBef>
              <a:spcAft>
                <a:spcPts val="0"/>
              </a:spcAft>
              <a:buNone/>
            </a:pPr>
            <a:r>
              <a:rPr lang="es-ES" sz="1800">
                <a:solidFill>
                  <a:srgbClr val="000000"/>
                </a:solidFill>
                <a:latin typeface="Cambria Math"/>
                <a:ea typeface="Cambria Math"/>
                <a:cs typeface="Cambria Math"/>
                <a:sym typeface="Cambria Math"/>
              </a:rPr>
              <a:t>Ejercicio 13</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Sabiendo que en independencia P(AyB)=P(A)*P(B) = 2/15</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Entonces, por formula P(A U B) = 0,6</a:t>
            </a:r>
            <a:endParaRPr/>
          </a:p>
          <a:p>
            <a:pPr indent="0" lvl="0" marL="0" marR="0" rtl="0" algn="l">
              <a:spcBef>
                <a:spcPts val="0"/>
              </a:spcBef>
              <a:spcAft>
                <a:spcPts val="0"/>
              </a:spcAft>
              <a:buNone/>
            </a:pPr>
            <a:r>
              <a:t/>
            </a:r>
            <a:endParaRPr sz="1800">
              <a:solidFill>
                <a:srgbClr val="000000"/>
              </a:solidFill>
              <a:latin typeface="Cambria Math"/>
              <a:ea typeface="Cambria Math"/>
              <a:cs typeface="Cambria Math"/>
              <a:sym typeface="Cambria Math"/>
            </a:endParaRPr>
          </a:p>
          <a:p>
            <a:pPr indent="0" lvl="0" marL="0" marR="0" rtl="0" algn="l">
              <a:spcBef>
                <a:spcPts val="0"/>
              </a:spcBef>
              <a:spcAft>
                <a:spcPts val="0"/>
              </a:spcAft>
              <a:buNone/>
            </a:pPr>
            <a:r>
              <a:rPr lang="es-ES" sz="1800">
                <a:solidFill>
                  <a:srgbClr val="000000"/>
                </a:solidFill>
                <a:latin typeface="Cambria Math"/>
                <a:ea typeface="Cambria Math"/>
                <a:cs typeface="Cambria Math"/>
                <a:sym typeface="Cambria Math"/>
              </a:rPr>
              <a:t>Se dispone de un conjunto de 80 elementos que tienen dos posibles características A y B dependientes entre si. Se sabe que P(A)=1/4 y que la probabilidad de la ocurrencia conjunta es 1/10 ¿Cuántos elementos del conjunto tienen la característica B?</a:t>
            </a:r>
            <a:endParaRPr/>
          </a:p>
          <a:p>
            <a:pPr indent="0" lvl="0" marL="0" marR="0" rtl="0" algn="l">
              <a:spcBef>
                <a:spcPts val="0"/>
              </a:spcBef>
              <a:spcAft>
                <a:spcPts val="0"/>
              </a:spcAft>
              <a:buNone/>
            </a:pPr>
            <a:r>
              <a:t/>
            </a:r>
            <a:endParaRPr sz="1800">
              <a:solidFill>
                <a:srgbClr val="000000"/>
              </a:solidFill>
              <a:latin typeface="Cambria Math"/>
              <a:ea typeface="Cambria Math"/>
              <a:cs typeface="Cambria Math"/>
              <a:sym typeface="Cambria Math"/>
            </a:endParaRPr>
          </a:p>
        </p:txBody>
      </p:sp>
      <p:pic>
        <p:nvPicPr>
          <p:cNvPr id="320" name="Google Shape;320;p36"/>
          <p:cNvPicPr preferRelativeResize="0"/>
          <p:nvPr/>
        </p:nvPicPr>
        <p:blipFill rotWithShape="1">
          <a:blip r:embed="rId3">
            <a:alphaModFix/>
          </a:blip>
          <a:srcRect b="0" l="0" r="0" t="0"/>
          <a:stretch/>
        </p:blipFill>
        <p:spPr>
          <a:xfrm>
            <a:off x="7733472" y="1554232"/>
            <a:ext cx="3067050" cy="7810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7"/>
          <p:cNvSpPr txBox="1"/>
          <p:nvPr/>
        </p:nvSpPr>
        <p:spPr>
          <a:xfrm>
            <a:off x="636104" y="398430"/>
            <a:ext cx="60960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000">
                <a:solidFill>
                  <a:schemeClr val="dk1"/>
                </a:solidFill>
                <a:latin typeface="Calibri"/>
                <a:ea typeface="Calibri"/>
                <a:cs typeface="Calibri"/>
                <a:sym typeface="Calibri"/>
              </a:rPr>
              <a:t>Teorema de probabilidad total</a:t>
            </a:r>
            <a:endParaRPr/>
          </a:p>
        </p:txBody>
      </p:sp>
      <p:sp>
        <p:nvSpPr>
          <p:cNvPr id="326" name="Google Shape;326;p37"/>
          <p:cNvSpPr txBox="1"/>
          <p:nvPr/>
        </p:nvSpPr>
        <p:spPr>
          <a:xfrm>
            <a:off x="636104" y="988801"/>
            <a:ext cx="10972800" cy="2053639"/>
          </a:xfrm>
          <a:prstGeom prst="rect">
            <a:avLst/>
          </a:prstGeom>
          <a:blipFill rotWithShape="1">
            <a:blip r:embed="rId3">
              <a:alphaModFix/>
            </a:blip>
            <a:stretch>
              <a:fillRect b="0" l="-443" r="-609" t="-14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ES" sz="1800">
                <a:latin typeface="Calibri"/>
                <a:ea typeface="Calibri"/>
                <a:cs typeface="Calibri"/>
                <a:sym typeface="Calibri"/>
              </a:rPr>
              <a:t> </a:t>
            </a:r>
            <a:endParaRPr/>
          </a:p>
        </p:txBody>
      </p:sp>
      <p:pic>
        <p:nvPicPr>
          <p:cNvPr id="327" name="Google Shape;327;p37"/>
          <p:cNvPicPr preferRelativeResize="0"/>
          <p:nvPr/>
        </p:nvPicPr>
        <p:blipFill rotWithShape="1">
          <a:blip r:embed="rId4">
            <a:alphaModFix/>
          </a:blip>
          <a:srcRect b="0" l="0" r="0" t="0"/>
          <a:stretch/>
        </p:blipFill>
        <p:spPr>
          <a:xfrm>
            <a:off x="636104" y="2682145"/>
            <a:ext cx="4924425" cy="2266950"/>
          </a:xfrm>
          <a:prstGeom prst="rect">
            <a:avLst/>
          </a:prstGeom>
          <a:noFill/>
          <a:ln>
            <a:noFill/>
          </a:ln>
        </p:spPr>
      </p:pic>
      <p:pic>
        <p:nvPicPr>
          <p:cNvPr id="328" name="Google Shape;328;p37"/>
          <p:cNvPicPr preferRelativeResize="0"/>
          <p:nvPr/>
        </p:nvPicPr>
        <p:blipFill rotWithShape="1">
          <a:blip r:embed="rId5">
            <a:alphaModFix/>
          </a:blip>
          <a:srcRect b="0" l="0" r="0" t="0"/>
          <a:stretch/>
        </p:blipFill>
        <p:spPr>
          <a:xfrm>
            <a:off x="636104" y="5101696"/>
            <a:ext cx="7419975" cy="1533525"/>
          </a:xfrm>
          <a:prstGeom prst="rect">
            <a:avLst/>
          </a:prstGeom>
          <a:noFill/>
          <a:ln>
            <a:noFill/>
          </a:ln>
        </p:spPr>
      </p:pic>
      <p:pic>
        <p:nvPicPr>
          <p:cNvPr id="329" name="Google Shape;329;p37"/>
          <p:cNvPicPr preferRelativeResize="0"/>
          <p:nvPr/>
        </p:nvPicPr>
        <p:blipFill rotWithShape="1">
          <a:blip r:embed="rId6">
            <a:alphaModFix/>
          </a:blip>
          <a:srcRect b="0" l="0" r="0" t="0"/>
          <a:stretch/>
        </p:blipFill>
        <p:spPr>
          <a:xfrm>
            <a:off x="7527314" y="2525723"/>
            <a:ext cx="4028582" cy="2404560"/>
          </a:xfrm>
          <a:prstGeom prst="rect">
            <a:avLst/>
          </a:prstGeom>
          <a:noFill/>
          <a:ln>
            <a:noFill/>
          </a:ln>
        </p:spPr>
      </p:pic>
      <p:sp>
        <p:nvSpPr>
          <p:cNvPr id="330" name="Google Shape;330;p37"/>
          <p:cNvSpPr txBox="1"/>
          <p:nvPr/>
        </p:nvSpPr>
        <p:spPr>
          <a:xfrm>
            <a:off x="8295860" y="5141927"/>
            <a:ext cx="3472070"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Esta fórmula puede comprobarse simplemente inspeccionando la siguiente figura, donde el espacio muestral se divide en ocho partes.</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38"/>
          <p:cNvPicPr preferRelativeResize="0"/>
          <p:nvPr/>
        </p:nvPicPr>
        <p:blipFill rotWithShape="1">
          <a:blip r:embed="rId3">
            <a:alphaModFix/>
          </a:blip>
          <a:srcRect b="0" l="0" r="0" t="0"/>
          <a:stretch/>
        </p:blipFill>
        <p:spPr>
          <a:xfrm>
            <a:off x="2511288" y="1857380"/>
            <a:ext cx="7169424" cy="3566744"/>
          </a:xfrm>
          <a:prstGeom prst="rect">
            <a:avLst/>
          </a:prstGeom>
          <a:noFill/>
          <a:ln>
            <a:noFill/>
          </a:ln>
        </p:spPr>
      </p:pic>
      <p:pic>
        <p:nvPicPr>
          <p:cNvPr id="336" name="Google Shape;336;p38"/>
          <p:cNvPicPr preferRelativeResize="0"/>
          <p:nvPr/>
        </p:nvPicPr>
        <p:blipFill rotWithShape="1">
          <a:blip r:embed="rId4">
            <a:alphaModFix/>
          </a:blip>
          <a:srcRect b="0" l="0" r="0" t="0"/>
          <a:stretch/>
        </p:blipFill>
        <p:spPr>
          <a:xfrm>
            <a:off x="1762540" y="5424124"/>
            <a:ext cx="8666920" cy="1166289"/>
          </a:xfrm>
          <a:prstGeom prst="rect">
            <a:avLst/>
          </a:prstGeom>
          <a:noFill/>
          <a:ln>
            <a:noFill/>
          </a:ln>
        </p:spPr>
      </p:pic>
      <p:sp>
        <p:nvSpPr>
          <p:cNvPr id="337" name="Google Shape;337;p38"/>
          <p:cNvSpPr txBox="1"/>
          <p:nvPr/>
        </p:nvSpPr>
        <p:spPr>
          <a:xfrm>
            <a:off x="742122" y="418213"/>
            <a:ext cx="11012556"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Utilizando el esquema de probabilidades condicionales, si no se conoce directamente la probabilidad de ocurrencia de un evento A, la misma puede obtenerse utilizando la ley de la probabilidad total, la cual determina la probabilidad de un evento por medio de las probabilidades conjuntas del mismo con otros eventos mutuamente excluyentes y colectivamente exhaustivos.</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id="342" name="Google Shape;342;p39"/>
          <p:cNvPicPr preferRelativeResize="0"/>
          <p:nvPr/>
        </p:nvPicPr>
        <p:blipFill rotWithShape="1">
          <a:blip r:embed="rId3">
            <a:alphaModFix/>
          </a:blip>
          <a:srcRect b="0" l="0" r="0" t="0"/>
          <a:stretch/>
        </p:blipFill>
        <p:spPr>
          <a:xfrm>
            <a:off x="2034208" y="369236"/>
            <a:ext cx="8123583" cy="6119527"/>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0"/>
          <p:cNvSpPr txBox="1"/>
          <p:nvPr/>
        </p:nvSpPr>
        <p:spPr>
          <a:xfrm>
            <a:off x="728864" y="318307"/>
            <a:ext cx="11118573"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S" sz="1800">
                <a:solidFill>
                  <a:schemeClr val="dk1"/>
                </a:solidFill>
                <a:latin typeface="Calibri"/>
                <a:ea typeface="Calibri"/>
                <a:cs typeface="Calibri"/>
                <a:sym typeface="Calibri"/>
              </a:rPr>
              <a:t>Ejemplo 1. </a:t>
            </a:r>
            <a:r>
              <a:rPr lang="es-ES" sz="1800">
                <a:solidFill>
                  <a:schemeClr val="dk1"/>
                </a:solidFill>
                <a:latin typeface="Calibri"/>
                <a:ea typeface="Calibri"/>
                <a:cs typeface="Calibri"/>
                <a:sym typeface="Calibri"/>
              </a:rPr>
              <a:t>Supongamos que tenemos dos cajas: una con 3 bolas de color rojo y 7 de color negro, la otra con 6 rojas y 6 negras. Si se elije una caja al azar y después se saca una bola, ¿cuál es la probabilidad de que sea de color rojo? </a:t>
            </a:r>
            <a:endParaRPr sz="1800">
              <a:solidFill>
                <a:schemeClr val="dk1"/>
              </a:solidFill>
              <a:latin typeface="Calibri"/>
              <a:ea typeface="Calibri"/>
              <a:cs typeface="Calibri"/>
              <a:sym typeface="Calibri"/>
            </a:endParaRPr>
          </a:p>
        </p:txBody>
      </p:sp>
      <p:sp>
        <p:nvSpPr>
          <p:cNvPr id="348" name="Google Shape;348;p40"/>
          <p:cNvSpPr txBox="1"/>
          <p:nvPr/>
        </p:nvSpPr>
        <p:spPr>
          <a:xfrm>
            <a:off x="728864" y="963253"/>
            <a:ext cx="11118572"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S" sz="1800">
                <a:solidFill>
                  <a:schemeClr val="dk1"/>
                </a:solidFill>
                <a:latin typeface="Calibri"/>
                <a:ea typeface="Calibri"/>
                <a:cs typeface="Calibri"/>
                <a:sym typeface="Calibri"/>
              </a:rPr>
              <a:t>Ejemplo 2</a:t>
            </a:r>
            <a:r>
              <a:rPr lang="es-ES" sz="1800">
                <a:solidFill>
                  <a:schemeClr val="dk1"/>
                </a:solidFill>
                <a:latin typeface="Calibri"/>
                <a:ea typeface="Calibri"/>
                <a:cs typeface="Calibri"/>
                <a:sym typeface="Calibri"/>
              </a:rPr>
              <a:t>. Suponga que en una población humana de igual número de hombres y mujeres, el 4 % de hombres son daltónicos y el 1 % de las mujeres son daltónicas. Una persona es elegida al azar, ¿cuál es la probabilidad de que sea daltónica?</a:t>
            </a:r>
            <a:endParaRPr sz="1800">
              <a:solidFill>
                <a:schemeClr val="dk1"/>
              </a:solidFill>
              <a:latin typeface="Calibri"/>
              <a:ea typeface="Calibri"/>
              <a:cs typeface="Calibri"/>
              <a:sym typeface="Calibri"/>
            </a:endParaRPr>
          </a:p>
        </p:txBody>
      </p:sp>
      <p:sp>
        <p:nvSpPr>
          <p:cNvPr id="349" name="Google Shape;349;p40"/>
          <p:cNvSpPr txBox="1"/>
          <p:nvPr/>
        </p:nvSpPr>
        <p:spPr>
          <a:xfrm>
            <a:off x="728864" y="1886583"/>
            <a:ext cx="11118572"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S" sz="1800">
                <a:solidFill>
                  <a:schemeClr val="dk1"/>
                </a:solidFill>
                <a:latin typeface="Calibri"/>
                <a:ea typeface="Calibri"/>
                <a:cs typeface="Calibri"/>
                <a:sym typeface="Calibri"/>
              </a:rPr>
              <a:t>Ejemplo 3</a:t>
            </a:r>
            <a:r>
              <a:rPr lang="es-ES" sz="1800">
                <a:solidFill>
                  <a:schemeClr val="dk1"/>
                </a:solidFill>
                <a:latin typeface="Calibri"/>
                <a:ea typeface="Calibri"/>
                <a:cs typeface="Calibri"/>
                <a:sym typeface="Calibri"/>
              </a:rPr>
              <a:t>. Una compañía dedicada al transporte público explota tres líneas de una ciudad, de forma que el 60% de los autobuses cubre el servicio de la primer línea, el 30% cubre la segunda y el 10% cubre el servicio de la tercera línea. Se sabe que la probabilidad de que, diariamente, un autobús se averíe es del 2%, 4% y 1%, respectivamente, para cada línea. Determina la probabilidad de que, en un día, un autobús sufra una avería.</a:t>
            </a:r>
            <a:endParaRPr sz="1800">
              <a:solidFill>
                <a:schemeClr val="dk1"/>
              </a:solidFill>
              <a:latin typeface="Calibri"/>
              <a:ea typeface="Calibri"/>
              <a:cs typeface="Calibri"/>
              <a:sym typeface="Calibri"/>
            </a:endParaRPr>
          </a:p>
        </p:txBody>
      </p:sp>
      <p:sp>
        <p:nvSpPr>
          <p:cNvPr id="350" name="Google Shape;350;p40"/>
          <p:cNvSpPr txBox="1"/>
          <p:nvPr/>
        </p:nvSpPr>
        <p:spPr>
          <a:xfrm>
            <a:off x="728865" y="3110103"/>
            <a:ext cx="11118571"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S" sz="1800">
                <a:solidFill>
                  <a:schemeClr val="dk1"/>
                </a:solidFill>
                <a:latin typeface="Calibri"/>
                <a:ea typeface="Calibri"/>
                <a:cs typeface="Calibri"/>
                <a:sym typeface="Calibri"/>
              </a:rPr>
              <a:t>Ejemplo 4. </a:t>
            </a:r>
            <a:r>
              <a:rPr lang="es-ES" sz="1800">
                <a:solidFill>
                  <a:schemeClr val="dk1"/>
                </a:solidFill>
                <a:latin typeface="Calibri"/>
                <a:ea typeface="Calibri"/>
                <a:cs typeface="Calibri"/>
                <a:sym typeface="Calibri"/>
              </a:rPr>
              <a:t>Una empresa del ramo de la alimentación elabora sus productos en cuatro factorías: F1, F2, F3 y F4. El porcentaje de producción total que se fabrica en cada factoría es del 40%, 30%, 20% y 10%, respectivamente, y además el porcentaje de envasado incorrecto en cada factoría es del 1%, 2%, 7% y 4%. Tomamos un producto de la empresa al azar. ¿Cuál es la probabilidad de que se encuentre defectuosamente envasado?</a:t>
            </a:r>
            <a:endParaRPr sz="1800">
              <a:solidFill>
                <a:schemeClr val="dk1"/>
              </a:solidFill>
              <a:latin typeface="Calibri"/>
              <a:ea typeface="Calibri"/>
              <a:cs typeface="Calibri"/>
              <a:sym typeface="Calibri"/>
            </a:endParaRPr>
          </a:p>
        </p:txBody>
      </p:sp>
      <p:sp>
        <p:nvSpPr>
          <p:cNvPr id="351" name="Google Shape;351;p40"/>
          <p:cNvSpPr txBox="1"/>
          <p:nvPr/>
        </p:nvSpPr>
        <p:spPr>
          <a:xfrm>
            <a:off x="728866" y="4352330"/>
            <a:ext cx="11118570"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S" sz="1800">
                <a:solidFill>
                  <a:schemeClr val="dk1"/>
                </a:solidFill>
                <a:latin typeface="Calibri"/>
                <a:ea typeface="Calibri"/>
                <a:cs typeface="Calibri"/>
                <a:sym typeface="Calibri"/>
              </a:rPr>
              <a:t>Ejemplo 5</a:t>
            </a:r>
            <a:r>
              <a:rPr lang="es-ES" sz="1800">
                <a:solidFill>
                  <a:schemeClr val="dk1"/>
                </a:solidFill>
                <a:latin typeface="Calibri"/>
                <a:ea typeface="Calibri"/>
                <a:cs typeface="Calibri"/>
                <a:sym typeface="Calibri"/>
              </a:rPr>
              <a:t>. Se tiene una urna vacía y se lanza una moneda al aire. Si sale cara, se introduce en la urna una bola blanca y si sale cruz, se introduce una bola negra. El experimento se repite tres veces y, a continuación, se introduce la mano en la urna, retirando una bola. ¿Cuál es la probabilidad de que en la urna queden una bola blanca y otra negra?</a:t>
            </a:r>
            <a:endParaRPr sz="1800">
              <a:solidFill>
                <a:schemeClr val="dk1"/>
              </a:solidFill>
              <a:latin typeface="Calibri"/>
              <a:ea typeface="Calibri"/>
              <a:cs typeface="Calibri"/>
              <a:sym typeface="Calibri"/>
            </a:endParaRPr>
          </a:p>
        </p:txBody>
      </p:sp>
      <p:sp>
        <p:nvSpPr>
          <p:cNvPr id="352" name="Google Shape;352;p40"/>
          <p:cNvSpPr txBox="1"/>
          <p:nvPr/>
        </p:nvSpPr>
        <p:spPr>
          <a:xfrm>
            <a:off x="728864" y="5339364"/>
            <a:ext cx="11118569"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S" sz="1800">
                <a:solidFill>
                  <a:schemeClr val="dk1"/>
                </a:solidFill>
                <a:latin typeface="Calibri"/>
                <a:ea typeface="Calibri"/>
                <a:cs typeface="Calibri"/>
                <a:sym typeface="Calibri"/>
              </a:rPr>
              <a:t>Ejemplo 6</a:t>
            </a:r>
            <a:r>
              <a:rPr lang="es-ES" sz="1800">
                <a:solidFill>
                  <a:schemeClr val="dk1"/>
                </a:solidFill>
                <a:latin typeface="Calibri"/>
                <a:ea typeface="Calibri"/>
                <a:cs typeface="Calibri"/>
                <a:sym typeface="Calibri"/>
              </a:rPr>
              <a:t>. Se lanzan dos monedas al aire. Si salen dos caras, se extrae una bola de una urna I, que contiene 2 bolas blancas y 3 negras. Si sale cara y cruz, se extrae una bola de una urna II, que contiene 4 bolas blancas y 1 negra. Si salen dos cruces, se extrae una bola de una urna III, que contiene 3 bolas blancas y 2 negras. ¿Cuál es la probabilidad de extraer bola blanca después de lanzar las monedas y sacar la bola?</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1"/>
          <p:cNvSpPr txBox="1"/>
          <p:nvPr/>
        </p:nvSpPr>
        <p:spPr>
          <a:xfrm>
            <a:off x="490330" y="358673"/>
            <a:ext cx="60960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000">
                <a:solidFill>
                  <a:schemeClr val="dk1"/>
                </a:solidFill>
                <a:latin typeface="Calibri"/>
                <a:ea typeface="Calibri"/>
                <a:cs typeface="Calibri"/>
                <a:sym typeface="Calibri"/>
              </a:rPr>
              <a:t>Teorema de Bayes</a:t>
            </a:r>
            <a:endParaRPr/>
          </a:p>
        </p:txBody>
      </p:sp>
      <p:sp>
        <p:nvSpPr>
          <p:cNvPr id="358" name="Google Shape;358;p41"/>
          <p:cNvSpPr txBox="1"/>
          <p:nvPr/>
        </p:nvSpPr>
        <p:spPr>
          <a:xfrm>
            <a:off x="490330" y="758783"/>
            <a:ext cx="11131827"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1800">
                <a:solidFill>
                  <a:schemeClr val="dk1"/>
                </a:solidFill>
                <a:latin typeface="Calibri"/>
                <a:ea typeface="Calibri"/>
                <a:cs typeface="Calibri"/>
                <a:sym typeface="Calibri"/>
              </a:rPr>
              <a:t>Otro resultado interesante que involucra probabilidades condicionales es el famoso teorema de Bayes. Este resultado fue publicado por primera vez en 1763, dos años después de la muerte de su creador, el matemático y teólogo inglés Thomas Bayes.</a:t>
            </a:r>
            <a:endParaRPr sz="1800">
              <a:solidFill>
                <a:schemeClr val="dk1"/>
              </a:solidFill>
              <a:latin typeface="Calibri"/>
              <a:ea typeface="Calibri"/>
              <a:cs typeface="Calibri"/>
              <a:sym typeface="Calibri"/>
            </a:endParaRPr>
          </a:p>
        </p:txBody>
      </p:sp>
      <p:pic>
        <p:nvPicPr>
          <p:cNvPr id="359" name="Google Shape;359;p41"/>
          <p:cNvPicPr preferRelativeResize="0"/>
          <p:nvPr/>
        </p:nvPicPr>
        <p:blipFill rotWithShape="1">
          <a:blip r:embed="rId3">
            <a:alphaModFix/>
          </a:blip>
          <a:srcRect b="0" l="0" r="0" t="0"/>
          <a:stretch/>
        </p:blipFill>
        <p:spPr>
          <a:xfrm>
            <a:off x="2341490" y="1548773"/>
            <a:ext cx="7429500" cy="2076450"/>
          </a:xfrm>
          <a:prstGeom prst="rect">
            <a:avLst/>
          </a:prstGeom>
          <a:noFill/>
          <a:ln>
            <a:noFill/>
          </a:ln>
        </p:spPr>
      </p:pic>
      <p:pic>
        <p:nvPicPr>
          <p:cNvPr id="360" name="Google Shape;360;p41"/>
          <p:cNvPicPr preferRelativeResize="0"/>
          <p:nvPr/>
        </p:nvPicPr>
        <p:blipFill rotWithShape="1">
          <a:blip r:embed="rId4">
            <a:alphaModFix/>
          </a:blip>
          <a:srcRect b="0" l="0" r="0" t="0"/>
          <a:stretch/>
        </p:blipFill>
        <p:spPr>
          <a:xfrm>
            <a:off x="2184327" y="3619350"/>
            <a:ext cx="7743825" cy="30289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pic>
        <p:nvPicPr>
          <p:cNvPr id="365" name="Google Shape;365;p42"/>
          <p:cNvPicPr preferRelativeResize="0"/>
          <p:nvPr/>
        </p:nvPicPr>
        <p:blipFill rotWithShape="1">
          <a:blip r:embed="rId3">
            <a:alphaModFix/>
          </a:blip>
          <a:srcRect b="0" l="0" r="0" t="0"/>
          <a:stretch/>
        </p:blipFill>
        <p:spPr>
          <a:xfrm>
            <a:off x="2224087" y="551414"/>
            <a:ext cx="7743825" cy="1514475"/>
          </a:xfrm>
          <a:prstGeom prst="rect">
            <a:avLst/>
          </a:prstGeom>
          <a:noFill/>
          <a:ln>
            <a:noFill/>
          </a:ln>
        </p:spPr>
      </p:pic>
      <p:sp>
        <p:nvSpPr>
          <p:cNvPr id="366" name="Google Shape;366;p42"/>
          <p:cNvSpPr txBox="1"/>
          <p:nvPr/>
        </p:nvSpPr>
        <p:spPr>
          <a:xfrm>
            <a:off x="675861" y="2228671"/>
            <a:ext cx="10946296" cy="452431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S" sz="1800">
                <a:solidFill>
                  <a:schemeClr val="dk1"/>
                </a:solidFill>
                <a:latin typeface="Calibri"/>
                <a:ea typeface="Calibri"/>
                <a:cs typeface="Calibri"/>
                <a:sym typeface="Calibri"/>
              </a:rPr>
              <a:t>Ejemplo 1</a:t>
            </a:r>
            <a:r>
              <a:rPr lang="es-ES" sz="1800">
                <a:solidFill>
                  <a:schemeClr val="dk1"/>
                </a:solidFill>
                <a:latin typeface="Calibri"/>
                <a:ea typeface="Calibri"/>
                <a:cs typeface="Calibri"/>
                <a:sym typeface="Calibri"/>
              </a:rPr>
              <a:t>. En una fábrica hay dos máquinas, que denotaremos por A y B. La máquina A realiza el 60 % de la producción total y la máquina B el 40 %. De su producción, la máquina A produce 3 % de material defectuoso, la B el 5 %. Se ha encontrado un material defectuoso, ¿cuál es la probabilidad de que este material defectuoso provenga de la máquina B?</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1800">
                <a:solidFill>
                  <a:schemeClr val="dk1"/>
                </a:solidFill>
                <a:latin typeface="Calibri"/>
                <a:ea typeface="Calibri"/>
                <a:cs typeface="Calibri"/>
                <a:sym typeface="Calibri"/>
              </a:rPr>
              <a:t>Ejemplo 2. </a:t>
            </a:r>
            <a:r>
              <a:rPr lang="es-ES" sz="1800">
                <a:solidFill>
                  <a:schemeClr val="dk1"/>
                </a:solidFill>
                <a:latin typeface="Calibri"/>
                <a:ea typeface="Calibri"/>
                <a:cs typeface="Calibri"/>
                <a:sym typeface="Calibri"/>
              </a:rPr>
              <a:t>En un centro médico especializado en problemas respiratorios, el 80% de los fumadores que se fueron a atender resultó tener cáncer, mientras que de los no fumadores atendidos sólo el 10% tenía cáncer. Se sabe, además, que el 60% de los pacientes no son fumadores. ¿Cuál es la probabilidad de que un paciente con cáncer sea fumador?</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1800">
                <a:solidFill>
                  <a:schemeClr val="dk1"/>
                </a:solidFill>
                <a:latin typeface="Calibri"/>
                <a:ea typeface="Calibri"/>
                <a:cs typeface="Calibri"/>
                <a:sym typeface="Calibri"/>
              </a:rPr>
              <a:t>Ejemplo 3</a:t>
            </a:r>
            <a:r>
              <a:rPr b="0" i="0" lang="es-ES" sz="1800" u="none" strike="noStrike">
                <a:solidFill>
                  <a:schemeClr val="dk1"/>
                </a:solidFill>
                <a:latin typeface="Times"/>
                <a:ea typeface="Times"/>
                <a:cs typeface="Times"/>
                <a:sym typeface="Times"/>
              </a:rPr>
              <a:t>.</a:t>
            </a:r>
            <a:r>
              <a:rPr lang="es-ES" sz="1800">
                <a:solidFill>
                  <a:schemeClr val="dk1"/>
                </a:solidFill>
                <a:latin typeface="Calibri"/>
                <a:ea typeface="Calibri"/>
                <a:cs typeface="Calibri"/>
                <a:sym typeface="Calibri"/>
              </a:rPr>
              <a:t>La policia planea hacer respetar los limites de velocidad usando un sistema de radar en 4 diferentes puntos a las orillas de la ciudad. Las trampas de radar en cada uno de los sitios L1, L2, L3 y L4 operaran 40%, 30 %, 20% y 30% del tiempo. Si una persona que excede el limite de velocidad cuando va a su trabajo tiene probabilidades de 0.2, 0.1, 0.5 y 0.2, respectivamente, de pasar por esos lugares, .cual es la probabilidad de que reciba una multa por conducir con exceso de velocidad?</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3"/>
          <p:cNvSpPr txBox="1"/>
          <p:nvPr/>
        </p:nvSpPr>
        <p:spPr>
          <a:xfrm>
            <a:off x="887894" y="825092"/>
            <a:ext cx="10707757" cy="175432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1800" u="none" strike="noStrike">
                <a:solidFill>
                  <a:schemeClr val="dk1"/>
                </a:solidFill>
                <a:latin typeface="Calibri"/>
                <a:ea typeface="Calibri"/>
                <a:cs typeface="Calibri"/>
                <a:sym typeface="Calibri"/>
              </a:rPr>
              <a:t>Ejemplo 4</a:t>
            </a:r>
            <a:r>
              <a:rPr b="0" i="0" lang="es-ES" sz="1800" u="none" strike="noStrike">
                <a:solidFill>
                  <a:schemeClr val="dk1"/>
                </a:solidFill>
                <a:latin typeface="Calibri"/>
                <a:ea typeface="Calibri"/>
                <a:cs typeface="Calibri"/>
                <a:sym typeface="Calibri"/>
              </a:rPr>
              <a:t>. Una empresa telefónica regional opera tres estaciones de retransmisión idénticas en diferentes sitios.</a:t>
            </a:r>
            <a:endParaRPr/>
          </a:p>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A continuación se muestra el numero de desperfectos en cada estación reportados durante un ano y las causas</a:t>
            </a:r>
            <a:endParaRPr/>
          </a:p>
          <a:p>
            <a:pPr indent="0" lvl="0" marL="0" marR="0" rtl="0" algn="just">
              <a:spcBef>
                <a:spcPts val="0"/>
              </a:spcBef>
              <a:spcAft>
                <a:spcPts val="0"/>
              </a:spcAft>
              <a:buNone/>
            </a:pPr>
            <a:r>
              <a:rPr b="0" i="0" lang="es-ES" sz="1800" u="none" strike="noStrike">
                <a:solidFill>
                  <a:schemeClr val="dk1"/>
                </a:solidFill>
                <a:latin typeface="Calibri"/>
                <a:ea typeface="Calibri"/>
                <a:cs typeface="Calibri"/>
                <a:sym typeface="Calibri"/>
              </a:rPr>
              <a:t>de estos. </a:t>
            </a:r>
            <a:r>
              <a:rPr lang="es-ES" sz="1800">
                <a:solidFill>
                  <a:schemeClr val="dk1"/>
                </a:solidFill>
                <a:latin typeface="Calibri"/>
                <a:ea typeface="Calibri"/>
                <a:cs typeface="Calibri"/>
                <a:sym typeface="Calibri"/>
              </a:rPr>
              <a:t>Suponga que se reporta una falla y que se descubre que fue ocasionada por otros errores humanos. ¿Cual es la probabilidad de que provenga de la estación C?</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72" name="Google Shape;372;p43"/>
          <p:cNvPicPr preferRelativeResize="0"/>
          <p:nvPr/>
        </p:nvPicPr>
        <p:blipFill rotWithShape="1">
          <a:blip r:embed="rId3">
            <a:alphaModFix/>
          </a:blip>
          <a:srcRect b="0" l="0" r="0" t="0"/>
          <a:stretch/>
        </p:blipFill>
        <p:spPr>
          <a:xfrm>
            <a:off x="3261146" y="2115108"/>
            <a:ext cx="6040614" cy="140997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2023-08-08T19:44:15Z</dcterms:created>
  <dc:creator>Walter Ramirez</dc:creator>
</cp:coreProperties>
</file>