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8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7" r:id="rId10"/>
    <p:sldId id="265" r:id="rId11"/>
    <p:sldId id="268" r:id="rId12"/>
    <p:sldId id="269" r:id="rId13"/>
    <p:sldId id="266" r:id="rId14"/>
    <p:sldId id="270" r:id="rId15"/>
    <p:sldId id="272" r:id="rId16"/>
    <p:sldId id="271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10/26/2025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10/26/2025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10/26/2025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2"/>
          <a:srcRect l="6054" t="18328" r="3600" b="50589"/>
          <a:stretch/>
        </p:blipFill>
        <p:spPr>
          <a:xfrm>
            <a:off x="696685" y="4680856"/>
            <a:ext cx="8020595" cy="2185852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903" y="1582783"/>
            <a:ext cx="7614631" cy="3089365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2183166" y="574765"/>
            <a:ext cx="52861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36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PRESENTE PROGRESIVO</a:t>
            </a:r>
            <a:endParaRPr lang="es-AR" sz="36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6067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750228" y="744975"/>
            <a:ext cx="78309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b="1" i="1" dirty="0"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/>
                <a:ea typeface="Monotype Koufi" pitchFamily="2" charset="-78"/>
                <a:cs typeface="Monotype Koufi" pitchFamily="2" charset="-78"/>
              </a:rPr>
              <a:t>Formación y uso del presente continuo</a:t>
            </a:r>
          </a:p>
        </p:txBody>
      </p:sp>
      <p:sp>
        <p:nvSpPr>
          <p:cNvPr id="4" name="Rectángulo 3"/>
          <p:cNvSpPr/>
          <p:nvPr/>
        </p:nvSpPr>
        <p:spPr>
          <a:xfrm>
            <a:off x="670560" y="1746129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ES" dirty="0">
                <a:solidFill>
                  <a:srgbClr val="67606D"/>
                </a:solidFill>
                <a:latin typeface="Montserrat"/>
              </a:rPr>
              <a:t>Este tiempo se usa para</a:t>
            </a:r>
            <a:r>
              <a:rPr lang="es-ES" dirty="0" smtClean="0">
                <a:solidFill>
                  <a:srgbClr val="67606D"/>
                </a:solidFill>
                <a:latin typeface="Montserrat"/>
              </a:rPr>
              <a:t>:</a:t>
            </a:r>
          </a:p>
          <a:p>
            <a:endParaRPr lang="es-ES" dirty="0">
              <a:solidFill>
                <a:srgbClr val="67606D"/>
              </a:solidFill>
              <a:latin typeface="Montserra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rgbClr val="67606D"/>
                </a:solidFill>
                <a:latin typeface="Montserrat"/>
              </a:rPr>
              <a:t>Describir lo que está ocurriendo aquí y ahora.</a:t>
            </a:r>
            <a:r>
              <a:rPr lang="es-ES" dirty="0">
                <a:solidFill>
                  <a:srgbClr val="67606D"/>
                </a:solidFill>
                <a:latin typeface="Montserrat"/>
              </a:rPr>
              <a:t/>
            </a:r>
            <a:br>
              <a:rPr lang="es-ES" dirty="0">
                <a:solidFill>
                  <a:srgbClr val="67606D"/>
                </a:solidFill>
                <a:latin typeface="Montserrat"/>
              </a:rPr>
            </a:br>
            <a:r>
              <a:rPr lang="es-ES" i="1" dirty="0">
                <a:solidFill>
                  <a:srgbClr val="67606D"/>
                </a:solidFill>
                <a:latin typeface="Montserrat"/>
              </a:rPr>
              <a:t>I am </a:t>
            </a:r>
            <a:r>
              <a:rPr lang="es-ES" i="1" dirty="0" err="1">
                <a:solidFill>
                  <a:srgbClr val="67606D"/>
                </a:solidFill>
                <a:latin typeface="Montserrat"/>
              </a:rPr>
              <a:t>eating</a:t>
            </a:r>
            <a:r>
              <a:rPr lang="es-ES" i="1" dirty="0">
                <a:solidFill>
                  <a:srgbClr val="67606D"/>
                </a:solidFill>
                <a:latin typeface="Montserrat"/>
              </a:rPr>
              <a:t> </a:t>
            </a:r>
            <a:r>
              <a:rPr lang="es-ES" i="1" dirty="0" err="1">
                <a:solidFill>
                  <a:srgbClr val="67606D"/>
                </a:solidFill>
                <a:latin typeface="Montserrat"/>
              </a:rPr>
              <a:t>breakfast</a:t>
            </a:r>
            <a:r>
              <a:rPr lang="es-ES" i="1" dirty="0">
                <a:solidFill>
                  <a:srgbClr val="67606D"/>
                </a:solidFill>
                <a:latin typeface="Montserrat"/>
              </a:rPr>
              <a:t>.</a:t>
            </a:r>
            <a:br>
              <a:rPr lang="es-ES" i="1" dirty="0">
                <a:solidFill>
                  <a:srgbClr val="67606D"/>
                </a:solidFill>
                <a:latin typeface="Montserrat"/>
              </a:rPr>
            </a:br>
            <a:r>
              <a:rPr lang="es-ES" b="1" i="1" dirty="0">
                <a:solidFill>
                  <a:srgbClr val="00B0F0"/>
                </a:solidFill>
                <a:latin typeface="Montserrat"/>
              </a:rPr>
              <a:t>Estoy desayunando</a:t>
            </a:r>
            <a:r>
              <a:rPr lang="es-ES" i="1" dirty="0" smtClean="0">
                <a:solidFill>
                  <a:srgbClr val="67606D"/>
                </a:solidFill>
                <a:latin typeface="Montserrat"/>
              </a:rPr>
              <a:t>.</a:t>
            </a:r>
          </a:p>
          <a:p>
            <a:endParaRPr lang="es-ES" dirty="0">
              <a:solidFill>
                <a:srgbClr val="67606D"/>
              </a:solidFill>
              <a:latin typeface="Montserra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rgbClr val="67606D"/>
                </a:solidFill>
                <a:latin typeface="Montserrat"/>
              </a:rPr>
              <a:t>Hablar de algo que está sucediendo ahora, pero no necesariamente cuando hablamos o lo presenciamos.</a:t>
            </a:r>
            <a:br>
              <a:rPr lang="es-ES" b="1" dirty="0">
                <a:solidFill>
                  <a:srgbClr val="67606D"/>
                </a:solidFill>
                <a:latin typeface="Montserrat"/>
              </a:rPr>
            </a:br>
            <a:r>
              <a:rPr lang="es-ES" i="1" dirty="0">
                <a:solidFill>
                  <a:srgbClr val="67606D"/>
                </a:solidFill>
                <a:latin typeface="Montserrat"/>
              </a:rPr>
              <a:t>He </a:t>
            </a:r>
            <a:r>
              <a:rPr lang="es-ES" i="1" dirty="0" err="1">
                <a:solidFill>
                  <a:srgbClr val="67606D"/>
                </a:solidFill>
                <a:latin typeface="Montserrat"/>
              </a:rPr>
              <a:t>is</a:t>
            </a:r>
            <a:r>
              <a:rPr lang="es-ES" i="1" dirty="0">
                <a:solidFill>
                  <a:srgbClr val="67606D"/>
                </a:solidFill>
                <a:latin typeface="Montserrat"/>
              </a:rPr>
              <a:t> </a:t>
            </a:r>
            <a:r>
              <a:rPr lang="es-ES" i="1" dirty="0" err="1">
                <a:solidFill>
                  <a:srgbClr val="67606D"/>
                </a:solidFill>
                <a:latin typeface="Montserrat"/>
              </a:rPr>
              <a:t>currently</a:t>
            </a:r>
            <a:r>
              <a:rPr lang="es-ES" i="1" dirty="0">
                <a:solidFill>
                  <a:srgbClr val="67606D"/>
                </a:solidFill>
                <a:latin typeface="Montserrat"/>
              </a:rPr>
              <a:t> </a:t>
            </a:r>
            <a:r>
              <a:rPr lang="es-ES" i="1" dirty="0" err="1">
                <a:solidFill>
                  <a:srgbClr val="67606D"/>
                </a:solidFill>
                <a:latin typeface="Montserrat"/>
              </a:rPr>
              <a:t>working</a:t>
            </a:r>
            <a:r>
              <a:rPr lang="es-ES" i="1" dirty="0">
                <a:solidFill>
                  <a:srgbClr val="67606D"/>
                </a:solidFill>
                <a:latin typeface="Montserrat"/>
              </a:rPr>
              <a:t> at a restaurant.</a:t>
            </a:r>
            <a:br>
              <a:rPr lang="es-ES" i="1" dirty="0">
                <a:solidFill>
                  <a:srgbClr val="67606D"/>
                </a:solidFill>
                <a:latin typeface="Montserrat"/>
              </a:rPr>
            </a:br>
            <a:r>
              <a:rPr lang="es-ES" b="1" i="1" dirty="0">
                <a:solidFill>
                  <a:srgbClr val="00B0F0"/>
                </a:solidFill>
                <a:latin typeface="Montserrat"/>
              </a:rPr>
              <a:t>Actualmente está trabajando en un restaurante</a:t>
            </a:r>
            <a:r>
              <a:rPr lang="es-ES" i="1" dirty="0" smtClean="0">
                <a:solidFill>
                  <a:srgbClr val="67606D"/>
                </a:solidFill>
                <a:latin typeface="Montserrat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s-ES" dirty="0">
              <a:solidFill>
                <a:srgbClr val="67606D"/>
              </a:solidFill>
              <a:latin typeface="Montserra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rgbClr val="67606D"/>
                </a:solidFill>
                <a:latin typeface="Montserrat"/>
              </a:rPr>
              <a:t>Hablar de situaciones pasajeras o planes inminentes.</a:t>
            </a:r>
            <a:r>
              <a:rPr lang="es-ES" dirty="0">
                <a:solidFill>
                  <a:srgbClr val="67606D"/>
                </a:solidFill>
                <a:latin typeface="Montserrat"/>
              </a:rPr>
              <a:t/>
            </a:r>
            <a:br>
              <a:rPr lang="es-ES" dirty="0">
                <a:solidFill>
                  <a:srgbClr val="67606D"/>
                </a:solidFill>
                <a:latin typeface="Montserrat"/>
              </a:rPr>
            </a:br>
            <a:r>
              <a:rPr lang="es-ES" i="1" dirty="0">
                <a:solidFill>
                  <a:srgbClr val="67606D"/>
                </a:solidFill>
                <a:latin typeface="Montserrat"/>
              </a:rPr>
              <a:t>I am </a:t>
            </a:r>
            <a:r>
              <a:rPr lang="es-ES" i="1" dirty="0" err="1">
                <a:solidFill>
                  <a:srgbClr val="67606D"/>
                </a:solidFill>
                <a:latin typeface="Montserrat"/>
              </a:rPr>
              <a:t>flying</a:t>
            </a:r>
            <a:r>
              <a:rPr lang="es-ES" i="1" dirty="0">
                <a:solidFill>
                  <a:srgbClr val="67606D"/>
                </a:solidFill>
                <a:latin typeface="Montserrat"/>
              </a:rPr>
              <a:t> to Paris </a:t>
            </a:r>
            <a:r>
              <a:rPr lang="es-ES" i="1" dirty="0" err="1">
                <a:solidFill>
                  <a:srgbClr val="67606D"/>
                </a:solidFill>
                <a:latin typeface="Montserrat"/>
              </a:rPr>
              <a:t>on</a:t>
            </a:r>
            <a:r>
              <a:rPr lang="es-ES" i="1" dirty="0">
                <a:solidFill>
                  <a:srgbClr val="67606D"/>
                </a:solidFill>
                <a:latin typeface="Montserrat"/>
              </a:rPr>
              <a:t> Friday.</a:t>
            </a:r>
            <a:br>
              <a:rPr lang="es-ES" i="1" dirty="0">
                <a:solidFill>
                  <a:srgbClr val="67606D"/>
                </a:solidFill>
                <a:latin typeface="Montserrat"/>
              </a:rPr>
            </a:br>
            <a:r>
              <a:rPr lang="es-ES" b="1" i="1" dirty="0">
                <a:solidFill>
                  <a:srgbClr val="00B0F0"/>
                </a:solidFill>
                <a:latin typeface="Montserrat"/>
              </a:rPr>
              <a:t>Vuelo a París el viernes.</a:t>
            </a:r>
            <a:endParaRPr lang="es-ES" b="1" i="0" dirty="0">
              <a:solidFill>
                <a:srgbClr val="00B0F0"/>
              </a:solidFill>
              <a:effectLst/>
              <a:latin typeface="Montserrat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587295" y="1471749"/>
            <a:ext cx="2388929" cy="168851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4094227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958199" y="651855"/>
            <a:ext cx="8255470" cy="57630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AR" altLang="es-AR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Reglas de conjugación para el gerundio (-</a:t>
            </a:r>
            <a:r>
              <a:rPr lang="es-AR" altLang="es-AR" sz="28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ing</a:t>
            </a:r>
            <a:r>
              <a:rPr lang="es-AR" altLang="es-AR" sz="28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AR" altLang="es-AR" sz="28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AR" altLang="es-AR" dirty="0"/>
              <a:t>La regla general es añadir "-</a:t>
            </a:r>
            <a:r>
              <a:rPr lang="es-AR" altLang="es-AR" dirty="0" err="1"/>
              <a:t>ing</a:t>
            </a:r>
            <a:r>
              <a:rPr lang="es-AR" altLang="es-AR" dirty="0"/>
              <a:t>" al verbo</a:t>
            </a:r>
            <a:r>
              <a:rPr lang="es-AR" altLang="es-AR" dirty="0" smtClean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s-AR" altLang="es-AR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AR" altLang="es-AR" dirty="0"/>
              <a:t>Verbos terminados en -e muda: Se elimina la "-e" y se añade "-</a:t>
            </a:r>
            <a:r>
              <a:rPr lang="es-AR" altLang="es-AR" dirty="0" err="1"/>
              <a:t>ing</a:t>
            </a:r>
            <a:r>
              <a:rPr lang="es-AR" altLang="es-AR" dirty="0"/>
              <a:t>".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AR" altLang="es-AR" dirty="0"/>
              <a:t>Ejemplo: </a:t>
            </a:r>
            <a:r>
              <a:rPr lang="es-AR" altLang="es-AR" dirty="0" err="1"/>
              <a:t>make</a:t>
            </a:r>
            <a:r>
              <a:rPr lang="es-AR" altLang="es-AR" dirty="0"/>
              <a:t> -&gt; </a:t>
            </a:r>
            <a:r>
              <a:rPr lang="es-AR" altLang="es-AR" dirty="0" err="1"/>
              <a:t>making</a:t>
            </a:r>
            <a:r>
              <a:rPr lang="es-AR" altLang="es-AR" dirty="0" smtClean="0"/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s-AR" altLang="es-AR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AR" altLang="es-AR" dirty="0"/>
              <a:t>Verbos terminados en una consonante, vocal, consonante (CVC) con acento en la última sílaba: </a:t>
            </a:r>
            <a:endParaRPr lang="es-AR" altLang="es-AR" dirty="0" smtClean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s-AR" altLang="es-AR" dirty="0" smtClean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AR" altLang="es-AR" dirty="0" smtClean="0"/>
              <a:t>Se </a:t>
            </a:r>
            <a:r>
              <a:rPr lang="es-AR" altLang="es-AR" dirty="0"/>
              <a:t>duplica la última consonante antes de añadir "-</a:t>
            </a:r>
            <a:r>
              <a:rPr lang="es-AR" altLang="es-AR" dirty="0" err="1"/>
              <a:t>ing</a:t>
            </a:r>
            <a:r>
              <a:rPr lang="es-AR" altLang="es-AR" dirty="0"/>
              <a:t>".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AR" altLang="es-AR" dirty="0"/>
              <a:t>Ejemplo: run -&gt; </a:t>
            </a:r>
            <a:r>
              <a:rPr lang="es-AR" altLang="es-AR" dirty="0" err="1"/>
              <a:t>running</a:t>
            </a:r>
            <a:r>
              <a:rPr lang="es-AR" altLang="es-AR" dirty="0"/>
              <a:t>, </a:t>
            </a:r>
            <a:r>
              <a:rPr lang="es-AR" altLang="es-AR" dirty="0" err="1"/>
              <a:t>sit</a:t>
            </a:r>
            <a:r>
              <a:rPr lang="es-AR" altLang="es-AR" dirty="0"/>
              <a:t> -&gt; </a:t>
            </a:r>
            <a:r>
              <a:rPr lang="es-AR" altLang="es-AR" dirty="0" err="1"/>
              <a:t>sitting</a:t>
            </a:r>
            <a:r>
              <a:rPr lang="es-AR" altLang="es-AR" dirty="0" smtClean="0"/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s-AR" altLang="es-AR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AR" altLang="es-AR" dirty="0"/>
              <a:t>Verbos terminados en -</a:t>
            </a:r>
            <a:r>
              <a:rPr lang="es-AR" altLang="es-AR" dirty="0" err="1"/>
              <a:t>ie</a:t>
            </a:r>
            <a:r>
              <a:rPr lang="es-AR" altLang="es-AR" dirty="0"/>
              <a:t>: Se cambia la "-</a:t>
            </a:r>
            <a:r>
              <a:rPr lang="es-AR" altLang="es-AR" dirty="0" err="1"/>
              <a:t>ie</a:t>
            </a:r>
            <a:r>
              <a:rPr lang="es-AR" altLang="es-AR" dirty="0"/>
              <a:t>" por "-y" y se añade "-</a:t>
            </a:r>
            <a:r>
              <a:rPr lang="es-AR" altLang="es-AR" dirty="0" err="1"/>
              <a:t>ing</a:t>
            </a:r>
            <a:r>
              <a:rPr lang="es-AR" altLang="es-AR" dirty="0"/>
              <a:t>".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AR" altLang="es-AR" dirty="0"/>
              <a:t>Ejemplo: lie -&gt; </a:t>
            </a:r>
            <a:r>
              <a:rPr lang="es-AR" altLang="es-AR" dirty="0" err="1"/>
              <a:t>lying</a:t>
            </a:r>
            <a:r>
              <a:rPr lang="es-AR" altLang="es-AR" dirty="0" smtClean="0"/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s-AR" altLang="es-AR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AR" altLang="es-AR" dirty="0"/>
              <a:t>Verbos terminados en -</a:t>
            </a:r>
            <a:r>
              <a:rPr lang="es-AR" altLang="es-AR" dirty="0" err="1"/>
              <a:t>ee</a:t>
            </a:r>
            <a:r>
              <a:rPr lang="es-AR" altLang="es-AR" dirty="0"/>
              <a:t>: Simplemente se añade "-</a:t>
            </a:r>
            <a:r>
              <a:rPr lang="es-AR" altLang="es-AR" dirty="0" err="1"/>
              <a:t>ing</a:t>
            </a:r>
            <a:r>
              <a:rPr lang="es-AR" altLang="es-AR" dirty="0"/>
              <a:t>".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AR" altLang="es-AR" dirty="0"/>
              <a:t>Ejemplo: </a:t>
            </a:r>
            <a:r>
              <a:rPr lang="es-AR" altLang="es-AR" dirty="0" err="1"/>
              <a:t>see</a:t>
            </a:r>
            <a:r>
              <a:rPr lang="es-AR" altLang="es-AR" dirty="0"/>
              <a:t> -&gt; </a:t>
            </a:r>
            <a:r>
              <a:rPr lang="es-AR" altLang="es-AR" dirty="0" err="1"/>
              <a:t>seeing</a:t>
            </a:r>
            <a:r>
              <a:rPr lang="es-AR" altLang="es-AR" dirty="0"/>
              <a:t>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AR" altLang="es-AR" dirty="0"/>
          </a:p>
        </p:txBody>
      </p:sp>
    </p:spTree>
    <p:extLst>
      <p:ext uri="{BB962C8B-B14F-4D97-AF65-F5344CB8AC3E}">
        <p14:creationId xmlns:p14="http://schemas.microsoft.com/office/powerpoint/2010/main" val="38562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714104" y="347016"/>
            <a:ext cx="7959634" cy="456272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AR" altLang="es-AR" sz="32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   Afirmativas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AR" altLang="es-AR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AR" altLang="es-AR" dirty="0" err="1"/>
              <a:t>I'm</a:t>
            </a:r>
            <a:r>
              <a:rPr lang="es-AR" altLang="es-AR" dirty="0"/>
              <a:t> </a:t>
            </a:r>
            <a:r>
              <a:rPr lang="es-AR" altLang="es-AR" dirty="0" err="1"/>
              <a:t>downloading</a:t>
            </a:r>
            <a:r>
              <a:rPr lang="es-AR" altLang="es-AR" dirty="0"/>
              <a:t> </a:t>
            </a:r>
            <a:r>
              <a:rPr lang="es-AR" altLang="es-AR" dirty="0" err="1"/>
              <a:t>the</a:t>
            </a:r>
            <a:r>
              <a:rPr lang="es-AR" altLang="es-AR" dirty="0"/>
              <a:t> file. </a:t>
            </a:r>
            <a:endParaRPr lang="es-AR" altLang="es-AR" dirty="0" smtClean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s-AR" altLang="es-AR" b="1" dirty="0">
              <a:solidFill>
                <a:srgbClr val="00B0F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AR" altLang="es-AR" b="1" dirty="0" smtClean="0">
                <a:solidFill>
                  <a:srgbClr val="00B0F0"/>
                </a:solidFill>
              </a:rPr>
              <a:t>(</a:t>
            </a:r>
            <a:r>
              <a:rPr lang="es-AR" altLang="es-AR" b="1" dirty="0">
                <a:solidFill>
                  <a:srgbClr val="00B0F0"/>
                </a:solidFill>
              </a:rPr>
              <a:t>Estoy descargando el archivo</a:t>
            </a:r>
            <a:r>
              <a:rPr lang="es-AR" altLang="es-AR" b="1" dirty="0" smtClean="0">
                <a:solidFill>
                  <a:srgbClr val="00B0F0"/>
                </a:solidFill>
              </a:rPr>
              <a:t>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s-AR" altLang="es-AR" b="1" dirty="0">
              <a:solidFill>
                <a:srgbClr val="00B0F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AR" altLang="es-AR" dirty="0"/>
              <a:t>He </a:t>
            </a:r>
            <a:r>
              <a:rPr lang="es-AR" altLang="es-AR" dirty="0" err="1"/>
              <a:t>is</a:t>
            </a:r>
            <a:r>
              <a:rPr lang="es-AR" altLang="es-AR" dirty="0"/>
              <a:t> </a:t>
            </a:r>
            <a:r>
              <a:rPr lang="es-AR" altLang="es-AR" dirty="0" err="1"/>
              <a:t>troubleshooting</a:t>
            </a:r>
            <a:r>
              <a:rPr lang="es-AR" altLang="es-AR" dirty="0"/>
              <a:t> </a:t>
            </a:r>
            <a:r>
              <a:rPr lang="es-AR" altLang="es-AR" dirty="0" err="1"/>
              <a:t>the</a:t>
            </a:r>
            <a:r>
              <a:rPr lang="es-AR" altLang="es-AR" dirty="0"/>
              <a:t> server. </a:t>
            </a:r>
            <a:endParaRPr lang="es-AR" altLang="es-AR" dirty="0" smtClean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AR" altLang="es-AR" b="1" dirty="0" smtClean="0">
                <a:solidFill>
                  <a:srgbClr val="00B0F0"/>
                </a:solidFill>
              </a:rPr>
              <a:t>(</a:t>
            </a:r>
            <a:r>
              <a:rPr lang="es-AR" altLang="es-AR" b="1" dirty="0">
                <a:solidFill>
                  <a:srgbClr val="00B0F0"/>
                </a:solidFill>
              </a:rPr>
              <a:t>Él está solucionando problemas en el servidor</a:t>
            </a:r>
            <a:r>
              <a:rPr lang="es-AR" altLang="es-AR" b="1" dirty="0" smtClean="0">
                <a:solidFill>
                  <a:srgbClr val="00B0F0"/>
                </a:solidFill>
              </a:rPr>
              <a:t>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AR" altLang="es-AR" b="1" dirty="0">
              <a:solidFill>
                <a:srgbClr val="00B0F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AR" altLang="es-AR" dirty="0" err="1"/>
              <a:t>She</a:t>
            </a:r>
            <a:r>
              <a:rPr lang="es-AR" altLang="es-AR" dirty="0"/>
              <a:t> </a:t>
            </a:r>
            <a:r>
              <a:rPr lang="es-AR" altLang="es-AR" dirty="0" err="1"/>
              <a:t>is</a:t>
            </a:r>
            <a:r>
              <a:rPr lang="es-AR" altLang="es-AR" dirty="0"/>
              <a:t> </a:t>
            </a:r>
            <a:r>
              <a:rPr lang="es-AR" altLang="es-AR" dirty="0" err="1"/>
              <a:t>upgrading</a:t>
            </a:r>
            <a:r>
              <a:rPr lang="es-AR" altLang="es-AR" dirty="0"/>
              <a:t> </a:t>
            </a:r>
            <a:r>
              <a:rPr lang="es-AR" altLang="es-AR" dirty="0" err="1"/>
              <a:t>her</a:t>
            </a:r>
            <a:r>
              <a:rPr lang="es-AR" altLang="es-AR" dirty="0"/>
              <a:t> </a:t>
            </a:r>
            <a:r>
              <a:rPr lang="es-AR" altLang="es-AR" dirty="0" err="1"/>
              <a:t>operating</a:t>
            </a:r>
            <a:r>
              <a:rPr lang="es-AR" altLang="es-AR" dirty="0"/>
              <a:t> </a:t>
            </a:r>
            <a:r>
              <a:rPr lang="es-AR" altLang="es-AR" dirty="0" err="1"/>
              <a:t>system</a:t>
            </a:r>
            <a:r>
              <a:rPr lang="es-AR" altLang="es-AR" dirty="0"/>
              <a:t>. </a:t>
            </a:r>
            <a:endParaRPr lang="es-AR" altLang="es-AR" dirty="0" smtClean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AR" altLang="es-AR" b="1" i="1" dirty="0" smtClean="0">
                <a:solidFill>
                  <a:srgbClr val="00B0F0"/>
                </a:solidFill>
              </a:rPr>
              <a:t>(</a:t>
            </a:r>
            <a:r>
              <a:rPr lang="es-AR" altLang="es-AR" b="1" i="1" dirty="0">
                <a:solidFill>
                  <a:srgbClr val="00B0F0"/>
                </a:solidFill>
              </a:rPr>
              <a:t>Ella está actualizando su sistema operativo</a:t>
            </a:r>
            <a:r>
              <a:rPr lang="es-AR" altLang="es-AR" b="1" i="1" dirty="0" smtClean="0">
                <a:solidFill>
                  <a:srgbClr val="00B0F0"/>
                </a:solidFill>
              </a:rPr>
              <a:t>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s-AR" altLang="es-AR" b="1" i="1" dirty="0">
              <a:solidFill>
                <a:srgbClr val="00B0F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AR" altLang="es-AR" dirty="0" err="1"/>
              <a:t>We</a:t>
            </a:r>
            <a:r>
              <a:rPr lang="es-AR" altLang="es-AR" dirty="0"/>
              <a:t> are </a:t>
            </a:r>
            <a:r>
              <a:rPr lang="es-AR" altLang="es-AR" dirty="0" err="1"/>
              <a:t>debugging</a:t>
            </a:r>
            <a:r>
              <a:rPr lang="es-AR" altLang="es-AR" dirty="0"/>
              <a:t> </a:t>
            </a:r>
            <a:r>
              <a:rPr lang="es-AR" altLang="es-AR" dirty="0" err="1"/>
              <a:t>the</a:t>
            </a:r>
            <a:r>
              <a:rPr lang="es-AR" altLang="es-AR" dirty="0"/>
              <a:t> </a:t>
            </a:r>
            <a:r>
              <a:rPr lang="es-AR" altLang="es-AR" dirty="0" err="1"/>
              <a:t>code</a:t>
            </a:r>
            <a:r>
              <a:rPr lang="es-AR" altLang="es-AR" dirty="0"/>
              <a:t>. </a:t>
            </a:r>
            <a:endParaRPr lang="es-AR" altLang="es-AR" dirty="0" smtClean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AR" altLang="es-AR" b="1" dirty="0" smtClean="0">
                <a:solidFill>
                  <a:srgbClr val="00B0F0"/>
                </a:solidFill>
              </a:rPr>
              <a:t>(</a:t>
            </a:r>
            <a:r>
              <a:rPr lang="es-AR" altLang="es-AR" b="1" dirty="0">
                <a:solidFill>
                  <a:srgbClr val="00B0F0"/>
                </a:solidFill>
              </a:rPr>
              <a:t>Estamos depurando el código</a:t>
            </a:r>
            <a:r>
              <a:rPr lang="es-AR" altLang="es-AR" b="1" dirty="0" smtClean="0">
                <a:solidFill>
                  <a:srgbClr val="00B0F0"/>
                </a:solidFill>
              </a:rPr>
              <a:t>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AR" altLang="es-AR" b="1" dirty="0">
              <a:solidFill>
                <a:srgbClr val="00B0F0"/>
              </a:solidFill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2"/>
          <a:srcRect l="6054" t="18328" r="3600" b="50589"/>
          <a:stretch/>
        </p:blipFill>
        <p:spPr>
          <a:xfrm>
            <a:off x="896985" y="4555721"/>
            <a:ext cx="7776753" cy="2119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979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672046" y="204642"/>
            <a:ext cx="5152051" cy="462428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AR" altLang="es-AR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Negativas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AR" altLang="es-AR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AR" altLang="es-AR" dirty="0" err="1"/>
              <a:t>I'm</a:t>
            </a:r>
            <a:r>
              <a:rPr lang="es-AR" altLang="es-AR" dirty="0"/>
              <a:t> </a:t>
            </a:r>
            <a:r>
              <a:rPr lang="es-AR" altLang="es-AR" dirty="0" err="1"/>
              <a:t>not</a:t>
            </a:r>
            <a:r>
              <a:rPr lang="es-AR" altLang="es-AR" dirty="0"/>
              <a:t> </a:t>
            </a:r>
            <a:r>
              <a:rPr lang="es-AR" altLang="es-AR" dirty="0" err="1"/>
              <a:t>using</a:t>
            </a:r>
            <a:r>
              <a:rPr lang="es-AR" altLang="es-AR" dirty="0"/>
              <a:t> </a:t>
            </a:r>
            <a:r>
              <a:rPr lang="es-AR" altLang="es-AR" dirty="0" err="1"/>
              <a:t>the</a:t>
            </a:r>
            <a:r>
              <a:rPr lang="es-AR" altLang="es-AR" dirty="0"/>
              <a:t> internet </a:t>
            </a:r>
            <a:r>
              <a:rPr lang="es-AR" altLang="es-AR" dirty="0" err="1"/>
              <a:t>right</a:t>
            </a:r>
            <a:r>
              <a:rPr lang="es-AR" altLang="es-AR" dirty="0"/>
              <a:t> </a:t>
            </a:r>
            <a:r>
              <a:rPr lang="es-AR" altLang="es-AR" dirty="0" err="1"/>
              <a:t>now</a:t>
            </a:r>
            <a:r>
              <a:rPr lang="es-AR" altLang="es-AR" dirty="0"/>
              <a:t>. </a:t>
            </a:r>
            <a:endParaRPr lang="es-AR" altLang="es-AR" dirty="0" smtClean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AR" altLang="es-AR" dirty="0" smtClean="0"/>
              <a:t>(</a:t>
            </a:r>
            <a:r>
              <a:rPr lang="es-AR" altLang="es-AR" b="1" dirty="0">
                <a:solidFill>
                  <a:srgbClr val="00B0F0"/>
                </a:solidFill>
              </a:rPr>
              <a:t>No estoy usando internet ahora mismo</a:t>
            </a:r>
            <a:r>
              <a:rPr lang="es-AR" altLang="es-AR" b="1" dirty="0" smtClean="0">
                <a:solidFill>
                  <a:srgbClr val="00B0F0"/>
                </a:solidFill>
              </a:rPr>
              <a:t>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AR" altLang="es-AR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AR" altLang="es-AR" dirty="0" err="1"/>
              <a:t>She</a:t>
            </a:r>
            <a:r>
              <a:rPr lang="es-AR" altLang="es-AR" dirty="0"/>
              <a:t> </a:t>
            </a:r>
            <a:r>
              <a:rPr lang="es-AR" altLang="es-AR" dirty="0" err="1"/>
              <a:t>isn't</a:t>
            </a:r>
            <a:r>
              <a:rPr lang="es-AR" altLang="es-AR" dirty="0"/>
              <a:t> </a:t>
            </a:r>
            <a:r>
              <a:rPr lang="es-AR" altLang="es-AR" dirty="0" err="1"/>
              <a:t>installing</a:t>
            </a:r>
            <a:r>
              <a:rPr lang="es-AR" altLang="es-AR" dirty="0"/>
              <a:t> </a:t>
            </a:r>
            <a:r>
              <a:rPr lang="es-AR" altLang="es-AR" dirty="0" err="1"/>
              <a:t>the</a:t>
            </a:r>
            <a:r>
              <a:rPr lang="es-AR" altLang="es-AR" dirty="0"/>
              <a:t> new </a:t>
            </a:r>
            <a:r>
              <a:rPr lang="es-AR" altLang="es-AR" dirty="0" err="1"/>
              <a:t>update</a:t>
            </a:r>
            <a:r>
              <a:rPr lang="es-AR" altLang="es-AR" dirty="0"/>
              <a:t>. </a:t>
            </a:r>
            <a:endParaRPr lang="es-AR" altLang="es-AR" dirty="0" smtClean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AR" altLang="es-AR" dirty="0" smtClean="0"/>
              <a:t>(</a:t>
            </a:r>
            <a:r>
              <a:rPr lang="es-AR" altLang="es-AR" b="1" dirty="0">
                <a:solidFill>
                  <a:srgbClr val="00B0F0"/>
                </a:solidFill>
              </a:rPr>
              <a:t>Ella no está instalando la nueva actualización</a:t>
            </a:r>
            <a:r>
              <a:rPr lang="es-AR" altLang="es-AR" b="1" dirty="0" smtClean="0">
                <a:solidFill>
                  <a:srgbClr val="00B0F0"/>
                </a:solidFill>
              </a:rPr>
              <a:t>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AR" altLang="es-AR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AR" altLang="es-AR" dirty="0" err="1"/>
              <a:t>They</a:t>
            </a:r>
            <a:r>
              <a:rPr lang="es-AR" altLang="es-AR" dirty="0"/>
              <a:t> </a:t>
            </a:r>
            <a:r>
              <a:rPr lang="es-AR" altLang="es-AR" dirty="0" err="1"/>
              <a:t>aren't</a:t>
            </a:r>
            <a:r>
              <a:rPr lang="es-AR" altLang="es-AR" dirty="0"/>
              <a:t> </a:t>
            </a:r>
            <a:r>
              <a:rPr lang="es-AR" altLang="es-AR" dirty="0" err="1"/>
              <a:t>working</a:t>
            </a:r>
            <a:r>
              <a:rPr lang="es-AR" altLang="es-AR" dirty="0"/>
              <a:t> </a:t>
            </a:r>
            <a:r>
              <a:rPr lang="es-AR" altLang="es-AR" dirty="0" err="1"/>
              <a:t>on</a:t>
            </a:r>
            <a:r>
              <a:rPr lang="es-AR" altLang="es-AR" dirty="0"/>
              <a:t> </a:t>
            </a:r>
            <a:r>
              <a:rPr lang="es-AR" altLang="es-AR" dirty="0" err="1"/>
              <a:t>the</a:t>
            </a:r>
            <a:r>
              <a:rPr lang="es-AR" altLang="es-AR" dirty="0"/>
              <a:t> </a:t>
            </a:r>
            <a:r>
              <a:rPr lang="es-AR" altLang="es-AR" dirty="0" err="1"/>
              <a:t>project</a:t>
            </a:r>
            <a:r>
              <a:rPr lang="es-AR" altLang="es-AR" dirty="0"/>
              <a:t> </a:t>
            </a:r>
            <a:r>
              <a:rPr lang="es-AR" altLang="es-AR" dirty="0" err="1"/>
              <a:t>today</a:t>
            </a:r>
            <a:r>
              <a:rPr lang="es-AR" altLang="es-AR" dirty="0"/>
              <a:t>. </a:t>
            </a:r>
            <a:endParaRPr lang="es-AR" altLang="es-AR" dirty="0" smtClean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AR" altLang="es-AR" b="1" dirty="0" smtClean="0">
                <a:solidFill>
                  <a:srgbClr val="00B0F0"/>
                </a:solidFill>
              </a:rPr>
              <a:t>(</a:t>
            </a:r>
            <a:r>
              <a:rPr lang="es-AR" altLang="es-AR" b="1" dirty="0">
                <a:solidFill>
                  <a:srgbClr val="00B0F0"/>
                </a:solidFill>
              </a:rPr>
              <a:t>Ellos no están trabajando en el proyecto hoy</a:t>
            </a:r>
            <a:r>
              <a:rPr lang="es-AR" altLang="es-AR" b="1" dirty="0" smtClean="0">
                <a:solidFill>
                  <a:srgbClr val="00B0F0"/>
                </a:solidFill>
              </a:rPr>
              <a:t>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AR" altLang="es-AR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AR" altLang="es-AR" dirty="0"/>
              <a:t>He </a:t>
            </a:r>
            <a:r>
              <a:rPr lang="es-AR" altLang="es-AR" dirty="0" err="1"/>
              <a:t>is</a:t>
            </a:r>
            <a:r>
              <a:rPr lang="es-AR" altLang="es-AR" dirty="0"/>
              <a:t> </a:t>
            </a:r>
            <a:r>
              <a:rPr lang="es-AR" altLang="es-AR" dirty="0" err="1"/>
              <a:t>not</a:t>
            </a:r>
            <a:r>
              <a:rPr lang="es-AR" altLang="es-AR" dirty="0"/>
              <a:t> </a:t>
            </a:r>
            <a:r>
              <a:rPr lang="es-AR" altLang="es-AR" dirty="0" err="1"/>
              <a:t>reading</a:t>
            </a:r>
            <a:r>
              <a:rPr lang="es-AR" altLang="es-AR" dirty="0"/>
              <a:t> </a:t>
            </a:r>
            <a:r>
              <a:rPr lang="es-AR" altLang="es-AR" dirty="0" err="1"/>
              <a:t>the</a:t>
            </a:r>
            <a:r>
              <a:rPr lang="es-AR" altLang="es-AR" dirty="0"/>
              <a:t> manual. </a:t>
            </a:r>
            <a:endParaRPr lang="es-AR" altLang="es-AR" dirty="0" smtClean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AR" altLang="es-AR" dirty="0" smtClean="0"/>
              <a:t>(</a:t>
            </a:r>
            <a:r>
              <a:rPr lang="es-AR" altLang="es-AR" b="1" dirty="0">
                <a:solidFill>
                  <a:srgbClr val="00B0F0"/>
                </a:solidFill>
              </a:rPr>
              <a:t>Él no está leyendo el manual.)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AR" altLang="es-AR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2"/>
          <a:srcRect l="6054" t="18328" r="3600" b="50589"/>
          <a:stretch/>
        </p:blipFill>
        <p:spPr>
          <a:xfrm>
            <a:off x="896985" y="4555721"/>
            <a:ext cx="7776753" cy="2119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067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254034" y="626928"/>
            <a:ext cx="7288855" cy="283917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AR" altLang="es-AR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Interrogativas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AR" altLang="es-A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AR" altLang="es-AR" dirty="0"/>
              <a:t>Are </a:t>
            </a:r>
            <a:r>
              <a:rPr lang="es-AR" altLang="es-AR" dirty="0" err="1"/>
              <a:t>you</a:t>
            </a:r>
            <a:r>
              <a:rPr lang="es-AR" altLang="es-AR" dirty="0"/>
              <a:t> </a:t>
            </a:r>
            <a:r>
              <a:rPr lang="es-AR" altLang="es-AR" dirty="0" err="1"/>
              <a:t>using</a:t>
            </a:r>
            <a:r>
              <a:rPr lang="es-AR" altLang="es-AR" dirty="0"/>
              <a:t> </a:t>
            </a:r>
            <a:r>
              <a:rPr lang="es-AR" altLang="es-AR" dirty="0" err="1"/>
              <a:t>the</a:t>
            </a:r>
            <a:r>
              <a:rPr lang="es-AR" altLang="es-AR" dirty="0"/>
              <a:t> new software? </a:t>
            </a:r>
            <a:r>
              <a:rPr lang="es-AR" altLang="es-AR" b="1" dirty="0">
                <a:solidFill>
                  <a:srgbClr val="00B0F0"/>
                </a:solidFill>
              </a:rPr>
              <a:t>(¿Estás usando el nuevo software</a:t>
            </a:r>
            <a:r>
              <a:rPr lang="es-AR" altLang="es-AR" b="1" dirty="0" smtClean="0">
                <a:solidFill>
                  <a:srgbClr val="00B0F0"/>
                </a:solidFill>
              </a:rPr>
              <a:t>?)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s-AR" altLang="es-AR" b="1" dirty="0">
              <a:solidFill>
                <a:srgbClr val="00B0F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AR" altLang="es-AR" dirty="0" err="1"/>
              <a:t>Is</a:t>
            </a:r>
            <a:r>
              <a:rPr lang="es-AR" altLang="es-AR" dirty="0"/>
              <a:t> </a:t>
            </a:r>
            <a:r>
              <a:rPr lang="es-AR" altLang="es-AR" dirty="0" err="1"/>
              <a:t>she</a:t>
            </a:r>
            <a:r>
              <a:rPr lang="es-AR" altLang="es-AR" dirty="0"/>
              <a:t> </a:t>
            </a:r>
            <a:r>
              <a:rPr lang="es-AR" altLang="es-AR" dirty="0" err="1"/>
              <a:t>still</a:t>
            </a:r>
            <a:r>
              <a:rPr lang="es-AR" altLang="es-AR" dirty="0"/>
              <a:t> </a:t>
            </a:r>
            <a:r>
              <a:rPr lang="es-AR" altLang="es-AR" dirty="0" err="1"/>
              <a:t>coding</a:t>
            </a:r>
            <a:r>
              <a:rPr lang="es-AR" altLang="es-AR" dirty="0"/>
              <a:t>? </a:t>
            </a:r>
            <a:r>
              <a:rPr lang="es-AR" altLang="es-AR" b="1" dirty="0">
                <a:solidFill>
                  <a:srgbClr val="00B0F0"/>
                </a:solidFill>
              </a:rPr>
              <a:t>(¿Ella todavía está programando</a:t>
            </a:r>
            <a:r>
              <a:rPr lang="es-AR" altLang="es-AR" b="1" dirty="0" smtClean="0">
                <a:solidFill>
                  <a:srgbClr val="00B0F0"/>
                </a:solidFill>
              </a:rPr>
              <a:t>?)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s-AR" altLang="es-AR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AR" altLang="es-AR" dirty="0"/>
              <a:t>Are </a:t>
            </a:r>
            <a:r>
              <a:rPr lang="es-AR" altLang="es-AR" dirty="0" err="1"/>
              <a:t>they</a:t>
            </a:r>
            <a:r>
              <a:rPr lang="es-AR" altLang="es-AR" dirty="0"/>
              <a:t> </a:t>
            </a:r>
            <a:r>
              <a:rPr lang="es-AR" altLang="es-AR" dirty="0" err="1"/>
              <a:t>testing</a:t>
            </a:r>
            <a:r>
              <a:rPr lang="es-AR" altLang="es-AR" dirty="0"/>
              <a:t> </a:t>
            </a:r>
            <a:r>
              <a:rPr lang="es-AR" altLang="es-AR" dirty="0" err="1"/>
              <a:t>the</a:t>
            </a:r>
            <a:r>
              <a:rPr lang="es-AR" altLang="es-AR" dirty="0"/>
              <a:t> </a:t>
            </a:r>
            <a:r>
              <a:rPr lang="es-AR" altLang="es-AR" dirty="0" err="1"/>
              <a:t>system</a:t>
            </a:r>
            <a:r>
              <a:rPr lang="es-AR" altLang="es-AR" dirty="0"/>
              <a:t>? </a:t>
            </a:r>
            <a:r>
              <a:rPr lang="es-AR" altLang="es-AR" b="1" dirty="0">
                <a:solidFill>
                  <a:srgbClr val="00B0F0"/>
                </a:solidFill>
              </a:rPr>
              <a:t>(¿Ellos están probando el sistema?)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AR" altLang="es-AR" dirty="0" smtClean="0"/>
              <a:t>       </a:t>
            </a:r>
            <a:endParaRPr lang="es-AR" altLang="es-AR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2"/>
          <a:srcRect l="6054" t="18328" r="3600" b="50589"/>
          <a:stretch/>
        </p:blipFill>
        <p:spPr>
          <a:xfrm>
            <a:off x="766136" y="3728407"/>
            <a:ext cx="7776753" cy="2119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654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452845" y="400819"/>
            <a:ext cx="886532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3600" b="1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PASADO SIMPLE</a:t>
            </a:r>
          </a:p>
          <a:p>
            <a:pPr algn="just"/>
            <a:endParaRPr lang="es-ES" dirty="0"/>
          </a:p>
          <a:p>
            <a:pPr algn="just"/>
            <a:r>
              <a:rPr lang="es-ES" dirty="0" smtClean="0"/>
              <a:t>El </a:t>
            </a:r>
            <a:r>
              <a:rPr lang="es-ES" dirty="0"/>
              <a:t>pasado simple en inglés se usa para hablar de acciones que comenzaron y terminaron en el pasado</a:t>
            </a:r>
            <a:r>
              <a:rPr lang="es-ES" dirty="0">
                <a:solidFill>
                  <a:srgbClr val="0A0A0A"/>
                </a:solidFill>
                <a:latin typeface="Google Sans"/>
              </a:rPr>
              <a:t>. Se forma añadiendo "-</a:t>
            </a:r>
            <a:r>
              <a:rPr lang="es-ES" dirty="0" err="1">
                <a:solidFill>
                  <a:srgbClr val="0A0A0A"/>
                </a:solidFill>
                <a:latin typeface="Google Sans"/>
              </a:rPr>
              <a:t>ed</a:t>
            </a:r>
            <a:r>
              <a:rPr lang="es-ES" dirty="0">
                <a:solidFill>
                  <a:srgbClr val="0A0A0A"/>
                </a:solidFill>
                <a:latin typeface="Google Sans"/>
              </a:rPr>
              <a:t>" a los verbos regulares (como "</a:t>
            </a:r>
            <a:r>
              <a:rPr lang="es-ES" dirty="0" err="1">
                <a:solidFill>
                  <a:srgbClr val="0A0A0A"/>
                </a:solidFill>
                <a:latin typeface="Google Sans"/>
              </a:rPr>
              <a:t>walk</a:t>
            </a:r>
            <a:r>
              <a:rPr lang="es-ES" dirty="0">
                <a:solidFill>
                  <a:srgbClr val="0A0A0A"/>
                </a:solidFill>
                <a:latin typeface="Google Sans"/>
              </a:rPr>
              <a:t>" -&gt; "</a:t>
            </a:r>
            <a:r>
              <a:rPr lang="es-ES" dirty="0" err="1">
                <a:solidFill>
                  <a:srgbClr val="0A0A0A"/>
                </a:solidFill>
                <a:latin typeface="Google Sans"/>
              </a:rPr>
              <a:t>walked</a:t>
            </a:r>
            <a:r>
              <a:rPr lang="es-ES" dirty="0">
                <a:solidFill>
                  <a:srgbClr val="0A0A0A"/>
                </a:solidFill>
                <a:latin typeface="Google Sans"/>
              </a:rPr>
              <a:t>"), con algunas variaciones ortográficas. Para los verbos irregulares (como "</a:t>
            </a:r>
            <a:r>
              <a:rPr lang="es-ES" dirty="0" err="1">
                <a:solidFill>
                  <a:srgbClr val="0A0A0A"/>
                </a:solidFill>
                <a:latin typeface="Google Sans"/>
              </a:rPr>
              <a:t>go</a:t>
            </a:r>
            <a:r>
              <a:rPr lang="es-ES" dirty="0">
                <a:solidFill>
                  <a:srgbClr val="0A0A0A"/>
                </a:solidFill>
                <a:latin typeface="Google Sans"/>
              </a:rPr>
              <a:t>" -&gt; "</a:t>
            </a:r>
            <a:r>
              <a:rPr lang="es-ES" dirty="0" err="1">
                <a:solidFill>
                  <a:srgbClr val="0A0A0A"/>
                </a:solidFill>
                <a:latin typeface="Google Sans"/>
              </a:rPr>
              <a:t>went</a:t>
            </a:r>
            <a:r>
              <a:rPr lang="es-ES" dirty="0">
                <a:solidFill>
                  <a:srgbClr val="0A0A0A"/>
                </a:solidFill>
                <a:latin typeface="Google Sans"/>
              </a:rPr>
              <a:t>"), se debe usar su forma pasada específica, la cual debe memorizarse. </a:t>
            </a:r>
            <a:endParaRPr lang="es-AR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966" y="2583587"/>
            <a:ext cx="6115761" cy="406976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276932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914144" y="298435"/>
            <a:ext cx="7835152" cy="493205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AR" altLang="es-AR" sz="2800" b="1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Estructura </a:t>
            </a:r>
            <a:r>
              <a:rPr lang="es-AR" altLang="es-AR" sz="28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 </a:t>
            </a:r>
            <a:r>
              <a:rPr lang="es-AR" altLang="es-AR" sz="2800" b="1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AR" altLang="es-AR" sz="2800" b="1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AR" altLang="es-AR" b="1" dirty="0"/>
              <a:t>Forma afirmativa:</a:t>
            </a:r>
            <a:r>
              <a:rPr lang="es-AR" altLang="es-AR" dirty="0"/>
              <a:t> Sujeto + verbo en pasado + complemento. Se utiliza la forma pasada del verbo, ya sea añadiendo "-</a:t>
            </a:r>
            <a:r>
              <a:rPr lang="es-AR" altLang="es-AR" dirty="0" err="1"/>
              <a:t>ed</a:t>
            </a:r>
            <a:r>
              <a:rPr lang="es-AR" altLang="es-AR" dirty="0"/>
              <a:t>" o usando la forma irregular.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AR" altLang="es-AR" dirty="0"/>
              <a:t>Ejemplo: "I </a:t>
            </a:r>
            <a:r>
              <a:rPr lang="es-AR" altLang="es-AR" dirty="0" err="1"/>
              <a:t>watched</a:t>
            </a:r>
            <a:r>
              <a:rPr lang="es-AR" altLang="es-AR" dirty="0"/>
              <a:t> a </a:t>
            </a:r>
            <a:r>
              <a:rPr lang="es-AR" altLang="es-AR" dirty="0" err="1"/>
              <a:t>movie</a:t>
            </a:r>
            <a:r>
              <a:rPr lang="es-AR" altLang="es-AR" dirty="0"/>
              <a:t> </a:t>
            </a:r>
            <a:r>
              <a:rPr lang="es-AR" altLang="es-AR" dirty="0" err="1"/>
              <a:t>yesterday</a:t>
            </a:r>
            <a:r>
              <a:rPr lang="es-AR" altLang="es-AR" dirty="0"/>
              <a:t>." (Vi una película ayer</a:t>
            </a:r>
            <a:r>
              <a:rPr lang="es-AR" altLang="es-AR" dirty="0" smtClean="0"/>
              <a:t>.)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s-AR" altLang="es-AR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AR" altLang="es-AR" b="1" dirty="0"/>
              <a:t>Forma negativa</a:t>
            </a:r>
            <a:r>
              <a:rPr lang="es-AR" altLang="es-AR" dirty="0"/>
              <a:t>: Sujeto + </a:t>
            </a:r>
            <a:r>
              <a:rPr lang="es-AR" altLang="es-AR" dirty="0" err="1"/>
              <a:t>didn't</a:t>
            </a:r>
            <a:r>
              <a:rPr lang="es-AR" altLang="es-AR" dirty="0"/>
              <a:t> + verbo en infinitivo + complemento. El auxiliar "</a:t>
            </a:r>
            <a:r>
              <a:rPr lang="es-AR" altLang="es-AR" dirty="0" err="1"/>
              <a:t>didn't</a:t>
            </a:r>
            <a:r>
              <a:rPr lang="es-AR" altLang="es-AR" dirty="0"/>
              <a:t>" se usa con todos los pronombres y el verbo principal vuelve a su forma base.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AR" altLang="es-AR" dirty="0"/>
              <a:t>Ejemplo: "I </a:t>
            </a:r>
            <a:r>
              <a:rPr lang="es-AR" altLang="es-AR" dirty="0" err="1"/>
              <a:t>didn't</a:t>
            </a:r>
            <a:r>
              <a:rPr lang="es-AR" altLang="es-AR" dirty="0"/>
              <a:t> </a:t>
            </a:r>
            <a:r>
              <a:rPr lang="es-AR" altLang="es-AR" dirty="0" err="1"/>
              <a:t>watch</a:t>
            </a:r>
            <a:r>
              <a:rPr lang="es-AR" altLang="es-AR" dirty="0"/>
              <a:t> a </a:t>
            </a:r>
            <a:r>
              <a:rPr lang="es-AR" altLang="es-AR" dirty="0" err="1"/>
              <a:t>movie</a:t>
            </a:r>
            <a:r>
              <a:rPr lang="es-AR" altLang="es-AR" dirty="0"/>
              <a:t> </a:t>
            </a:r>
            <a:r>
              <a:rPr lang="es-AR" altLang="es-AR" dirty="0" err="1"/>
              <a:t>yesterday</a:t>
            </a:r>
            <a:r>
              <a:rPr lang="es-AR" altLang="es-AR" dirty="0"/>
              <a:t>." (No vi una película ayer</a:t>
            </a:r>
            <a:r>
              <a:rPr lang="es-AR" altLang="es-AR" dirty="0" smtClean="0"/>
              <a:t>.)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s-AR" altLang="es-AR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AR" altLang="es-AR" b="1" dirty="0"/>
              <a:t>Forma interrogativa</a:t>
            </a:r>
            <a:r>
              <a:rPr lang="es-AR" altLang="es-AR" dirty="0"/>
              <a:t>: </a:t>
            </a:r>
            <a:r>
              <a:rPr lang="es-AR" altLang="es-AR" dirty="0" err="1"/>
              <a:t>Did</a:t>
            </a:r>
            <a:r>
              <a:rPr lang="es-AR" altLang="es-AR" dirty="0"/>
              <a:t> + sujeto + verbo en infinitivo + complemento. La inversión del orden se usa para hacer preguntas.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AR" altLang="es-AR" dirty="0"/>
              <a:t>Ejemplo: "</a:t>
            </a:r>
            <a:r>
              <a:rPr lang="es-AR" altLang="es-AR" dirty="0" err="1"/>
              <a:t>Did</a:t>
            </a:r>
            <a:r>
              <a:rPr lang="es-AR" altLang="es-AR" dirty="0"/>
              <a:t> </a:t>
            </a:r>
            <a:r>
              <a:rPr lang="es-AR" altLang="es-AR" dirty="0" err="1"/>
              <a:t>you</a:t>
            </a:r>
            <a:r>
              <a:rPr lang="es-AR" altLang="es-AR" dirty="0"/>
              <a:t> </a:t>
            </a:r>
            <a:r>
              <a:rPr lang="es-AR" altLang="es-AR" dirty="0" err="1"/>
              <a:t>watch</a:t>
            </a:r>
            <a:r>
              <a:rPr lang="es-AR" altLang="es-AR" dirty="0"/>
              <a:t> a </a:t>
            </a:r>
            <a:r>
              <a:rPr lang="es-AR" altLang="es-AR" dirty="0" err="1"/>
              <a:t>movie</a:t>
            </a:r>
            <a:r>
              <a:rPr lang="es-AR" altLang="es-AR" dirty="0"/>
              <a:t> </a:t>
            </a:r>
            <a:r>
              <a:rPr lang="es-AR" altLang="es-AR" dirty="0" err="1"/>
              <a:t>yesterday</a:t>
            </a:r>
            <a:r>
              <a:rPr lang="es-AR" altLang="es-AR" dirty="0"/>
              <a:t>?" (¿Viste una película ayer?)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AR" altLang="es-AR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2"/>
          <a:srcRect l="6054" t="18328" r="3600" b="50589"/>
          <a:stretch/>
        </p:blipFill>
        <p:spPr>
          <a:xfrm>
            <a:off x="1907177" y="4860335"/>
            <a:ext cx="6531209" cy="177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485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048872" y="543861"/>
            <a:ext cx="7476564" cy="4101062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AR" altLang="es-AR" sz="28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Reglas </a:t>
            </a:r>
            <a:r>
              <a:rPr lang="es-AR" altLang="es-AR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 verbos </a:t>
            </a:r>
            <a:r>
              <a:rPr lang="es-AR" altLang="es-AR" sz="28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regulares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AR" altLang="es-AR" sz="28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AR" altLang="es-AR" dirty="0"/>
              <a:t>Verbos que terminan en "-e": Solo se añade una "-d".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AR" altLang="es-AR" dirty="0"/>
              <a:t>Ejemplo: </a:t>
            </a:r>
            <a:r>
              <a:rPr lang="es-AR" altLang="es-AR" dirty="0" err="1"/>
              <a:t>like</a:t>
            </a:r>
            <a:r>
              <a:rPr lang="es-AR" altLang="es-AR" dirty="0"/>
              <a:t> -&gt; </a:t>
            </a:r>
            <a:r>
              <a:rPr lang="es-AR" altLang="es-AR" dirty="0" err="1"/>
              <a:t>liked</a:t>
            </a:r>
            <a:r>
              <a:rPr lang="es-AR" altLang="es-AR" dirty="0"/>
              <a:t>, </a:t>
            </a:r>
            <a:r>
              <a:rPr lang="es-AR" altLang="es-AR" dirty="0" err="1"/>
              <a:t>live</a:t>
            </a:r>
            <a:r>
              <a:rPr lang="es-AR" altLang="es-AR" dirty="0"/>
              <a:t> -&gt; </a:t>
            </a:r>
            <a:r>
              <a:rPr lang="es-AR" altLang="es-AR" dirty="0" err="1"/>
              <a:t>lived</a:t>
            </a:r>
            <a:r>
              <a:rPr lang="es-AR" altLang="es-AR" dirty="0" smtClean="0"/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AR" altLang="es-AR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AR" altLang="es-AR" dirty="0"/>
              <a:t>Verbos que terminan en consonante + "y": La "y" se cambia por "-i" y se añade "-</a:t>
            </a:r>
            <a:r>
              <a:rPr lang="es-AR" altLang="es-AR" dirty="0" err="1"/>
              <a:t>ed</a:t>
            </a:r>
            <a:r>
              <a:rPr lang="es-AR" altLang="es-AR" dirty="0"/>
              <a:t>".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AR" altLang="es-AR" dirty="0"/>
              <a:t>Ejemplo: </a:t>
            </a:r>
            <a:r>
              <a:rPr lang="es-AR" altLang="es-AR" dirty="0" err="1"/>
              <a:t>study</a:t>
            </a:r>
            <a:r>
              <a:rPr lang="es-AR" altLang="es-AR" dirty="0"/>
              <a:t> -&gt; </a:t>
            </a:r>
            <a:r>
              <a:rPr lang="es-AR" altLang="es-AR" dirty="0" err="1"/>
              <a:t>studied</a:t>
            </a:r>
            <a:r>
              <a:rPr lang="es-AR" altLang="es-AR" dirty="0"/>
              <a:t>, try -&gt; </a:t>
            </a:r>
            <a:r>
              <a:rPr lang="es-AR" altLang="es-AR" dirty="0" err="1"/>
              <a:t>tried</a:t>
            </a:r>
            <a:r>
              <a:rPr lang="es-AR" altLang="es-AR" dirty="0" smtClean="0"/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AR" altLang="es-AR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AR" altLang="es-AR" dirty="0"/>
              <a:t>Verbos monosílabos (o con acento en la última sílaba) que terminan en vocal + consonante: Se duplica la última consonante y se añade "-</a:t>
            </a:r>
            <a:r>
              <a:rPr lang="es-AR" altLang="es-AR" dirty="0" err="1"/>
              <a:t>ed</a:t>
            </a:r>
            <a:r>
              <a:rPr lang="es-AR" altLang="es-AR" dirty="0"/>
              <a:t>".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AR" altLang="es-AR" dirty="0"/>
              <a:t>Ejemplo: stop -&gt; </a:t>
            </a:r>
            <a:r>
              <a:rPr lang="es-AR" altLang="es-AR" dirty="0" err="1"/>
              <a:t>stopped</a:t>
            </a:r>
            <a:r>
              <a:rPr lang="es-AR" altLang="es-AR" dirty="0"/>
              <a:t>, plan -&gt; </a:t>
            </a:r>
            <a:r>
              <a:rPr lang="es-AR" altLang="es-AR" dirty="0" err="1"/>
              <a:t>planned</a:t>
            </a:r>
            <a:endParaRPr lang="es-AR" altLang="es-AR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AR" altLang="es-AR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l="6054" t="18328" r="3600" b="50589"/>
          <a:stretch/>
        </p:blipFill>
        <p:spPr>
          <a:xfrm>
            <a:off x="1227908" y="4947420"/>
            <a:ext cx="6531209" cy="177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935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374469" y="214763"/>
            <a:ext cx="9004662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History of Personal </a:t>
            </a:r>
            <a:r>
              <a:rPr lang="en-US" sz="28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Computers</a:t>
            </a:r>
          </a:p>
          <a:p>
            <a:pPr algn="ctr"/>
            <a:endParaRPr lang="en-US" sz="28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/>
            <a:r>
              <a:rPr lang="en-US" dirty="0"/>
              <a:t>In the early 1970s, computers were very large and expensive machines. They </a:t>
            </a:r>
            <a:r>
              <a:rPr lang="en-US" b="1" dirty="0"/>
              <a:t>were</a:t>
            </a:r>
            <a:r>
              <a:rPr lang="en-US" dirty="0"/>
              <a:t> used mostly by scientists and big companies. In 1975, the first personal computer, the Altair 8800, </a:t>
            </a:r>
            <a:r>
              <a:rPr lang="en-US" b="1" dirty="0"/>
              <a:t>appeared</a:t>
            </a:r>
            <a:r>
              <a:rPr lang="en-US" dirty="0"/>
              <a:t> on the market. It </a:t>
            </a:r>
            <a:r>
              <a:rPr lang="en-US" b="1" dirty="0"/>
              <a:t>changed</a:t>
            </a:r>
            <a:r>
              <a:rPr lang="en-US" dirty="0"/>
              <a:t> the idea of what a computer could be. A few years later, Steve Jobs and Steve Wozniak </a:t>
            </a:r>
            <a:r>
              <a:rPr lang="en-US" b="1" dirty="0"/>
              <a:t>founded</a:t>
            </a:r>
            <a:r>
              <a:rPr lang="en-US" dirty="0"/>
              <a:t> Apple and </a:t>
            </a:r>
            <a:r>
              <a:rPr lang="en-US" b="1" dirty="0"/>
              <a:t>created</a:t>
            </a:r>
            <a:r>
              <a:rPr lang="en-US" dirty="0"/>
              <a:t> the Apple II, which </a:t>
            </a:r>
            <a:r>
              <a:rPr lang="en-US" b="1" dirty="0"/>
              <a:t>became</a:t>
            </a:r>
            <a:r>
              <a:rPr lang="en-US" dirty="0"/>
              <a:t> very popular among home users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During the 1980s, IBM </a:t>
            </a:r>
            <a:r>
              <a:rPr lang="en-US" b="1" dirty="0"/>
              <a:t>introduced</a:t>
            </a:r>
            <a:r>
              <a:rPr lang="en-US" dirty="0"/>
              <a:t> its first personal computer, and Microsoft </a:t>
            </a:r>
            <a:r>
              <a:rPr lang="en-US" b="1" dirty="0"/>
              <a:t>developed</a:t>
            </a:r>
            <a:r>
              <a:rPr lang="en-US" dirty="0"/>
              <a:t> the MS-DOS operating system. These inventions </a:t>
            </a:r>
            <a:r>
              <a:rPr lang="en-US" b="1" dirty="0"/>
              <a:t>helped</a:t>
            </a:r>
            <a:r>
              <a:rPr lang="en-US" dirty="0"/>
              <a:t> computers become more common in offices and schools. People </a:t>
            </a:r>
            <a:r>
              <a:rPr lang="en-US" b="1" dirty="0"/>
              <a:t>used</a:t>
            </a:r>
            <a:r>
              <a:rPr lang="en-US" dirty="0"/>
              <a:t> them to write documents, play simple games, and learn basic programming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In the 1990s, the invention of the World Wide Web </a:t>
            </a:r>
            <a:r>
              <a:rPr lang="en-US" b="1" dirty="0"/>
              <a:t>transformed</a:t>
            </a:r>
            <a:r>
              <a:rPr lang="en-US" dirty="0"/>
              <a:t> the way people </a:t>
            </a:r>
            <a:r>
              <a:rPr lang="en-US" b="1" dirty="0"/>
              <a:t>communicated</a:t>
            </a:r>
            <a:r>
              <a:rPr lang="en-US" dirty="0"/>
              <a:t> and </a:t>
            </a:r>
            <a:r>
              <a:rPr lang="en-US" b="1" dirty="0"/>
              <a:t>shared</a:t>
            </a:r>
            <a:r>
              <a:rPr lang="en-US" dirty="0"/>
              <a:t> information. Many companies </a:t>
            </a:r>
            <a:r>
              <a:rPr lang="en-US" b="1" dirty="0"/>
              <a:t>built</a:t>
            </a:r>
            <a:r>
              <a:rPr lang="en-US" dirty="0"/>
              <a:t> websites, and users </a:t>
            </a:r>
            <a:r>
              <a:rPr lang="en-US" b="1" dirty="0"/>
              <a:t>discovered</a:t>
            </a:r>
            <a:r>
              <a:rPr lang="en-US" dirty="0"/>
              <a:t> new ways to connect online. Technology </a:t>
            </a:r>
            <a:r>
              <a:rPr lang="en-US" b="1" dirty="0"/>
              <a:t>advanced</a:t>
            </a:r>
            <a:r>
              <a:rPr lang="en-US" dirty="0"/>
              <a:t> quickly, and computers </a:t>
            </a:r>
            <a:r>
              <a:rPr lang="en-US" b="1" dirty="0"/>
              <a:t>became</a:t>
            </a:r>
            <a:r>
              <a:rPr lang="en-US" dirty="0"/>
              <a:t> faster, smaller, and cheaper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By the early 2000s, computers </a:t>
            </a:r>
            <a:r>
              <a:rPr lang="en-US" b="1" dirty="0"/>
              <a:t>entered</a:t>
            </a:r>
            <a:r>
              <a:rPr lang="en-US" dirty="0"/>
              <a:t> almost every home, and the internet </a:t>
            </a:r>
            <a:r>
              <a:rPr lang="en-US" b="1" dirty="0"/>
              <a:t>started</a:t>
            </a:r>
            <a:r>
              <a:rPr lang="en-US" dirty="0"/>
              <a:t> to shape modern life.</a:t>
            </a:r>
          </a:p>
        </p:txBody>
      </p:sp>
    </p:spTree>
    <p:extLst>
      <p:ext uri="{BB962C8B-B14F-4D97-AF65-F5344CB8AC3E}">
        <p14:creationId xmlns:p14="http://schemas.microsoft.com/office/powerpoint/2010/main" val="38997303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276" y="853440"/>
            <a:ext cx="7739498" cy="5146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673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923731" y="1302083"/>
            <a:ext cx="7578998" cy="46550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AR" altLang="es-AR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Usos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AR" altLang="es-A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AR" altLang="es-AR" dirty="0"/>
              <a:t>Se utiliza para expresar predicciones o hechos futuros.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AR" altLang="es-AR" dirty="0"/>
              <a:t>Se usa para tomar decisiones espontáneas en el momento de hablar.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AR" altLang="es-AR" dirty="0"/>
              <a:t>También sirve para hacer ofrecimientos o solicitudes. </a:t>
            </a:r>
            <a:endParaRPr lang="es-AR" altLang="es-AR" dirty="0" smtClean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AR" altLang="es-AR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s-AR" altLang="es-AR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AR" altLang="es-AR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Puntos clave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AR" altLang="es-A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AR" altLang="es-AR" dirty="0"/>
              <a:t>El verbo principal siempre va en su forma de infinitivo sin la partícula "to".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AR" altLang="es-AR" dirty="0"/>
              <a:t>No cambia según la persona (I, </a:t>
            </a:r>
            <a:r>
              <a:rPr lang="es-AR" altLang="es-AR" dirty="0" err="1"/>
              <a:t>you</a:t>
            </a:r>
            <a:r>
              <a:rPr lang="es-AR" altLang="es-AR" dirty="0"/>
              <a:t>, he, </a:t>
            </a:r>
            <a:r>
              <a:rPr lang="es-AR" altLang="es-AR" dirty="0" err="1"/>
              <a:t>she</a:t>
            </a:r>
            <a:r>
              <a:rPr lang="es-AR" altLang="es-AR" dirty="0"/>
              <a:t>, </a:t>
            </a:r>
            <a:r>
              <a:rPr lang="es-AR" altLang="es-AR" dirty="0" err="1"/>
              <a:t>it</a:t>
            </a:r>
            <a:r>
              <a:rPr lang="es-AR" altLang="es-AR" dirty="0"/>
              <a:t>, </a:t>
            </a:r>
            <a:r>
              <a:rPr lang="es-AR" altLang="es-AR" dirty="0" err="1"/>
              <a:t>we</a:t>
            </a:r>
            <a:r>
              <a:rPr lang="es-AR" altLang="es-AR" dirty="0"/>
              <a:t>, </a:t>
            </a:r>
            <a:r>
              <a:rPr lang="es-AR" altLang="es-AR" dirty="0" err="1"/>
              <a:t>they</a:t>
            </a:r>
            <a:r>
              <a:rPr lang="es-AR" altLang="es-AR" dirty="0"/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AR" altLang="es-AR" dirty="0"/>
              <a:t>La forma contraída de </a:t>
            </a:r>
            <a:r>
              <a:rPr lang="es-AR" altLang="es-AR" dirty="0" err="1"/>
              <a:t>will</a:t>
            </a:r>
            <a:r>
              <a:rPr lang="es-AR" altLang="es-AR" dirty="0"/>
              <a:t> </a:t>
            </a:r>
            <a:r>
              <a:rPr lang="es-AR" altLang="es-AR" dirty="0" err="1"/>
              <a:t>not</a:t>
            </a:r>
            <a:r>
              <a:rPr lang="es-AR" altLang="es-AR" dirty="0"/>
              <a:t> es </a:t>
            </a:r>
            <a:r>
              <a:rPr lang="es-AR" altLang="es-AR" dirty="0" err="1"/>
              <a:t>won't</a:t>
            </a:r>
            <a:r>
              <a:rPr lang="es-AR" altLang="es-AR" dirty="0"/>
              <a:t>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AR" altLang="es-AR" dirty="0"/>
          </a:p>
        </p:txBody>
      </p:sp>
    </p:spTree>
    <p:extLst>
      <p:ext uri="{BB962C8B-B14F-4D97-AF65-F5344CB8AC3E}">
        <p14:creationId xmlns:p14="http://schemas.microsoft.com/office/powerpoint/2010/main" val="1766031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549" y="609600"/>
            <a:ext cx="5664925" cy="566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5860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/>
          <a:srcRect l="952" t="-16714" r="-952" b="12605"/>
          <a:stretch/>
        </p:blipFill>
        <p:spPr>
          <a:xfrm>
            <a:off x="1388706" y="-839754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9924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696687" y="72241"/>
            <a:ext cx="757023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b="1" i="1" dirty="0">
                <a:solidFill>
                  <a:srgbClr val="4040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/>
              </a:rPr>
              <a:t>Futuro simple con «</a:t>
            </a:r>
            <a:r>
              <a:rPr lang="es-ES" sz="2400" b="1" i="1" dirty="0" err="1">
                <a:solidFill>
                  <a:srgbClr val="4040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/>
              </a:rPr>
              <a:t>going</a:t>
            </a:r>
            <a:r>
              <a:rPr lang="es-ES" sz="2400" b="1" i="1" dirty="0">
                <a:solidFill>
                  <a:srgbClr val="4040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/>
              </a:rPr>
              <a:t> to</a:t>
            </a:r>
            <a:r>
              <a:rPr lang="es-ES" sz="2400" b="1" i="1" dirty="0" smtClean="0">
                <a:solidFill>
                  <a:srgbClr val="4040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/>
              </a:rPr>
              <a:t>»</a:t>
            </a:r>
          </a:p>
          <a:p>
            <a:endParaRPr lang="es-ES" sz="2400" b="1" i="1" dirty="0">
              <a:solidFill>
                <a:srgbClr val="40404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nter"/>
            </a:endParaRPr>
          </a:p>
          <a:p>
            <a:r>
              <a:rPr lang="es-ES" dirty="0">
                <a:solidFill>
                  <a:srgbClr val="404040"/>
                </a:solidFill>
                <a:latin typeface="Inter"/>
              </a:rPr>
              <a:t>Se forma con la estructura «to be» conjugada en el presente (am/</a:t>
            </a:r>
            <a:r>
              <a:rPr lang="es-ES" dirty="0" err="1">
                <a:solidFill>
                  <a:srgbClr val="404040"/>
                </a:solidFill>
                <a:latin typeface="Inter"/>
              </a:rPr>
              <a:t>is</a:t>
            </a:r>
            <a:r>
              <a:rPr lang="es-ES" dirty="0">
                <a:solidFill>
                  <a:srgbClr val="404040"/>
                </a:solidFill>
                <a:latin typeface="Inter"/>
              </a:rPr>
              <a:t>/are) seguido de «</a:t>
            </a:r>
            <a:r>
              <a:rPr lang="es-ES" dirty="0" err="1">
                <a:solidFill>
                  <a:srgbClr val="404040"/>
                </a:solidFill>
                <a:latin typeface="Inter"/>
              </a:rPr>
              <a:t>going</a:t>
            </a:r>
            <a:r>
              <a:rPr lang="es-ES" dirty="0">
                <a:solidFill>
                  <a:srgbClr val="404040"/>
                </a:solidFill>
                <a:latin typeface="Inter"/>
              </a:rPr>
              <a:t> to» y el infinitivo del verbo principal</a:t>
            </a:r>
            <a:r>
              <a:rPr lang="es-ES" dirty="0" smtClean="0">
                <a:solidFill>
                  <a:srgbClr val="404040"/>
                </a:solidFill>
                <a:latin typeface="Inter"/>
              </a:rPr>
              <a:t>.</a:t>
            </a:r>
          </a:p>
          <a:p>
            <a:endParaRPr lang="es-ES" dirty="0">
              <a:solidFill>
                <a:srgbClr val="404040"/>
              </a:solidFill>
              <a:latin typeface="Inter"/>
            </a:endParaRPr>
          </a:p>
          <a:p>
            <a:r>
              <a:rPr lang="es-ES" b="1" dirty="0">
                <a:solidFill>
                  <a:srgbClr val="404040"/>
                </a:solidFill>
                <a:latin typeface="Inter"/>
              </a:rPr>
              <a:t>Sujeto + to be + </a:t>
            </a:r>
            <a:r>
              <a:rPr lang="es-ES" b="1" dirty="0" err="1">
                <a:solidFill>
                  <a:srgbClr val="404040"/>
                </a:solidFill>
                <a:latin typeface="Inter"/>
              </a:rPr>
              <a:t>going</a:t>
            </a:r>
            <a:r>
              <a:rPr lang="es-ES" b="1" dirty="0">
                <a:solidFill>
                  <a:srgbClr val="404040"/>
                </a:solidFill>
                <a:latin typeface="Inter"/>
              </a:rPr>
              <a:t> to + verbo en </a:t>
            </a:r>
            <a:r>
              <a:rPr lang="es-ES" b="1" dirty="0" smtClean="0">
                <a:solidFill>
                  <a:srgbClr val="404040"/>
                </a:solidFill>
                <a:latin typeface="Inter"/>
              </a:rPr>
              <a:t>infinitivo</a:t>
            </a:r>
          </a:p>
          <a:p>
            <a:endParaRPr lang="es-ES" dirty="0">
              <a:solidFill>
                <a:srgbClr val="404040"/>
              </a:solidFill>
              <a:latin typeface="Inter"/>
            </a:endParaRPr>
          </a:p>
          <a:p>
            <a:r>
              <a:rPr lang="es-ES" dirty="0">
                <a:solidFill>
                  <a:srgbClr val="404040"/>
                </a:solidFill>
                <a:latin typeface="Inter"/>
              </a:rPr>
              <a:t>¿Cuándo se usa</a:t>
            </a:r>
            <a:r>
              <a:rPr lang="es-ES" dirty="0" smtClean="0">
                <a:solidFill>
                  <a:srgbClr val="404040"/>
                </a:solidFill>
                <a:latin typeface="Inter"/>
              </a:rPr>
              <a:t>?</a:t>
            </a:r>
          </a:p>
          <a:p>
            <a:endParaRPr lang="es-ES" dirty="0">
              <a:solidFill>
                <a:srgbClr val="404040"/>
              </a:solidFill>
              <a:latin typeface="Inter"/>
            </a:endParaRPr>
          </a:p>
          <a:p>
            <a:r>
              <a:rPr lang="es-ES" dirty="0">
                <a:solidFill>
                  <a:srgbClr val="404040"/>
                </a:solidFill>
                <a:latin typeface="Inter"/>
              </a:rPr>
              <a:t>Se emplea para expresar planes futuros, intenciones o acciones que ya han sido planeadas. Por ejemplo:</a:t>
            </a:r>
          </a:p>
          <a:p>
            <a:r>
              <a:rPr lang="es-ES" dirty="0" smtClean="0">
                <a:solidFill>
                  <a:srgbClr val="404040"/>
                </a:solidFill>
                <a:latin typeface="Inter"/>
              </a:rPr>
              <a:t>Ejemplos</a:t>
            </a:r>
          </a:p>
          <a:p>
            <a:endParaRPr lang="es-ES" dirty="0">
              <a:solidFill>
                <a:srgbClr val="404040"/>
              </a:solidFill>
              <a:latin typeface="Inter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i="1" dirty="0" err="1">
                <a:solidFill>
                  <a:srgbClr val="404040"/>
                </a:solidFill>
                <a:latin typeface="Inter"/>
              </a:rPr>
              <a:t>They</a:t>
            </a:r>
            <a:r>
              <a:rPr lang="es-ES" i="1" dirty="0">
                <a:solidFill>
                  <a:srgbClr val="404040"/>
                </a:solidFill>
                <a:latin typeface="Inter"/>
              </a:rPr>
              <a:t> are </a:t>
            </a:r>
            <a:r>
              <a:rPr lang="es-ES" i="1" dirty="0" err="1">
                <a:solidFill>
                  <a:srgbClr val="404040"/>
                </a:solidFill>
                <a:latin typeface="Inter"/>
              </a:rPr>
              <a:t>going</a:t>
            </a:r>
            <a:r>
              <a:rPr lang="es-ES" i="1" dirty="0">
                <a:solidFill>
                  <a:srgbClr val="404040"/>
                </a:solidFill>
                <a:latin typeface="Inter"/>
              </a:rPr>
              <a:t> to </a:t>
            </a:r>
            <a:r>
              <a:rPr lang="es-ES" i="1" dirty="0" err="1">
                <a:solidFill>
                  <a:srgbClr val="404040"/>
                </a:solidFill>
                <a:latin typeface="Inter"/>
              </a:rPr>
              <a:t>visit</a:t>
            </a:r>
            <a:r>
              <a:rPr lang="es-ES" i="1" dirty="0">
                <a:solidFill>
                  <a:srgbClr val="404040"/>
                </a:solidFill>
                <a:latin typeface="Inter"/>
              </a:rPr>
              <a:t> Paris </a:t>
            </a:r>
            <a:r>
              <a:rPr lang="es-ES" i="1" dirty="0" err="1">
                <a:solidFill>
                  <a:srgbClr val="404040"/>
                </a:solidFill>
                <a:latin typeface="Inter"/>
              </a:rPr>
              <a:t>next</a:t>
            </a:r>
            <a:r>
              <a:rPr lang="es-ES" i="1" dirty="0">
                <a:solidFill>
                  <a:srgbClr val="404040"/>
                </a:solidFill>
                <a:latin typeface="Inter"/>
              </a:rPr>
              <a:t> </a:t>
            </a:r>
            <a:r>
              <a:rPr lang="es-ES" i="1" dirty="0" err="1">
                <a:solidFill>
                  <a:srgbClr val="404040"/>
                </a:solidFill>
                <a:latin typeface="Inter"/>
              </a:rPr>
              <a:t>month</a:t>
            </a:r>
            <a:r>
              <a:rPr lang="es-ES" i="1" dirty="0">
                <a:solidFill>
                  <a:srgbClr val="404040"/>
                </a:solidFill>
                <a:latin typeface="Inter"/>
              </a:rPr>
              <a:t>. (Van a visitar París el próximo mes).</a:t>
            </a:r>
            <a:endParaRPr lang="es-ES" dirty="0">
              <a:solidFill>
                <a:srgbClr val="404040"/>
              </a:solidFill>
              <a:latin typeface="Inter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i="1" dirty="0">
                <a:solidFill>
                  <a:srgbClr val="404040"/>
                </a:solidFill>
                <a:latin typeface="Inter"/>
              </a:rPr>
              <a:t>I am </a:t>
            </a:r>
            <a:r>
              <a:rPr lang="es-ES" i="1" dirty="0" err="1">
                <a:solidFill>
                  <a:srgbClr val="404040"/>
                </a:solidFill>
                <a:latin typeface="Inter"/>
              </a:rPr>
              <a:t>going</a:t>
            </a:r>
            <a:r>
              <a:rPr lang="es-ES" i="1" dirty="0">
                <a:solidFill>
                  <a:srgbClr val="404040"/>
                </a:solidFill>
                <a:latin typeface="Inter"/>
              </a:rPr>
              <a:t> to </a:t>
            </a:r>
            <a:r>
              <a:rPr lang="es-ES" i="1" dirty="0" err="1">
                <a:solidFill>
                  <a:srgbClr val="404040"/>
                </a:solidFill>
                <a:latin typeface="Inter"/>
              </a:rPr>
              <a:t>study</a:t>
            </a:r>
            <a:r>
              <a:rPr lang="es-ES" i="1" dirty="0">
                <a:solidFill>
                  <a:srgbClr val="404040"/>
                </a:solidFill>
                <a:latin typeface="Inter"/>
              </a:rPr>
              <a:t> </a:t>
            </a:r>
            <a:r>
              <a:rPr lang="es-ES" i="1" dirty="0" err="1">
                <a:solidFill>
                  <a:srgbClr val="404040"/>
                </a:solidFill>
                <a:latin typeface="Inter"/>
              </a:rPr>
              <a:t>all</a:t>
            </a:r>
            <a:r>
              <a:rPr lang="es-ES" i="1" dirty="0">
                <a:solidFill>
                  <a:srgbClr val="404040"/>
                </a:solidFill>
                <a:latin typeface="Inter"/>
              </a:rPr>
              <a:t> </a:t>
            </a:r>
            <a:r>
              <a:rPr lang="es-ES" i="1" dirty="0" err="1">
                <a:solidFill>
                  <a:srgbClr val="404040"/>
                </a:solidFill>
                <a:latin typeface="Inter"/>
              </a:rPr>
              <a:t>night</a:t>
            </a:r>
            <a:r>
              <a:rPr lang="es-ES" i="1" dirty="0">
                <a:solidFill>
                  <a:srgbClr val="404040"/>
                </a:solidFill>
                <a:latin typeface="Inter"/>
              </a:rPr>
              <a:t> </a:t>
            </a:r>
            <a:r>
              <a:rPr lang="es-ES" i="1" dirty="0" err="1">
                <a:solidFill>
                  <a:srgbClr val="404040"/>
                </a:solidFill>
                <a:latin typeface="Inter"/>
              </a:rPr>
              <a:t>for</a:t>
            </a:r>
            <a:r>
              <a:rPr lang="es-ES" i="1" dirty="0">
                <a:solidFill>
                  <a:srgbClr val="404040"/>
                </a:solidFill>
                <a:latin typeface="Inter"/>
              </a:rPr>
              <a:t> </a:t>
            </a:r>
            <a:r>
              <a:rPr lang="es-ES" i="1" dirty="0" err="1">
                <a:solidFill>
                  <a:srgbClr val="404040"/>
                </a:solidFill>
                <a:latin typeface="Inter"/>
              </a:rPr>
              <a:t>the</a:t>
            </a:r>
            <a:r>
              <a:rPr lang="es-ES" i="1" dirty="0">
                <a:solidFill>
                  <a:srgbClr val="404040"/>
                </a:solidFill>
                <a:latin typeface="Inter"/>
              </a:rPr>
              <a:t> </a:t>
            </a:r>
            <a:r>
              <a:rPr lang="es-ES" i="1" dirty="0" err="1">
                <a:solidFill>
                  <a:srgbClr val="404040"/>
                </a:solidFill>
                <a:latin typeface="Inter"/>
              </a:rPr>
              <a:t>exam</a:t>
            </a:r>
            <a:r>
              <a:rPr lang="es-ES" i="1" dirty="0">
                <a:solidFill>
                  <a:srgbClr val="404040"/>
                </a:solidFill>
                <a:latin typeface="Inter"/>
              </a:rPr>
              <a:t>. (Voy a estudiar toda la noche para el examen).</a:t>
            </a:r>
            <a:endParaRPr lang="es-ES" dirty="0">
              <a:solidFill>
                <a:srgbClr val="404040"/>
              </a:solidFill>
              <a:latin typeface="Inter"/>
            </a:endParaRPr>
          </a:p>
          <a:p>
            <a:r>
              <a:rPr lang="es-ES" dirty="0">
                <a:solidFill>
                  <a:srgbClr val="404040"/>
                </a:solidFill>
                <a:latin typeface="Inter"/>
              </a:rPr>
              <a:t> </a:t>
            </a:r>
            <a:endParaRPr lang="es-ES" b="0" i="0" dirty="0">
              <a:solidFill>
                <a:srgbClr val="404040"/>
              </a:solidFill>
              <a:effectLst/>
              <a:latin typeface="Inter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2"/>
          <a:srcRect l="6054" t="18328" r="3600" b="50589"/>
          <a:stretch/>
        </p:blipFill>
        <p:spPr>
          <a:xfrm>
            <a:off x="2099388" y="5073852"/>
            <a:ext cx="5613076" cy="1529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6547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860981" y="321333"/>
            <a:ext cx="7736264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Diferencias entre «</a:t>
            </a:r>
            <a:r>
              <a:rPr lang="es-AR" sz="28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will</a:t>
            </a:r>
            <a:r>
              <a:rPr lang="es-AR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» y «</a:t>
            </a:r>
            <a:r>
              <a:rPr lang="es-AR" sz="28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going</a:t>
            </a:r>
            <a:r>
              <a:rPr lang="es-AR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to</a:t>
            </a:r>
            <a:r>
              <a:rPr lang="es-AR" sz="28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»</a:t>
            </a:r>
          </a:p>
          <a:p>
            <a:endParaRPr lang="es-AR" sz="28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b="1" dirty="0" smtClean="0">
                <a:solidFill>
                  <a:srgbClr val="404040"/>
                </a:solidFill>
                <a:latin typeface="Inter"/>
              </a:rPr>
              <a:t>Decisiones </a:t>
            </a:r>
            <a:r>
              <a:rPr lang="es-ES" b="1" dirty="0">
                <a:solidFill>
                  <a:srgbClr val="404040"/>
                </a:solidFill>
                <a:latin typeface="Inter"/>
              </a:rPr>
              <a:t>espontáneas vs. planes </a:t>
            </a:r>
            <a:r>
              <a:rPr lang="es-ES" b="1" dirty="0" smtClean="0">
                <a:solidFill>
                  <a:srgbClr val="404040"/>
                </a:solidFill>
                <a:latin typeface="Inter"/>
              </a:rPr>
              <a:t>futuros</a:t>
            </a:r>
          </a:p>
          <a:p>
            <a:endParaRPr lang="es-ES" dirty="0">
              <a:solidFill>
                <a:srgbClr val="404040"/>
              </a:solidFill>
              <a:latin typeface="Inter"/>
            </a:endParaRPr>
          </a:p>
          <a:p>
            <a:r>
              <a:rPr lang="es-ES" dirty="0">
                <a:solidFill>
                  <a:srgbClr val="404040"/>
                </a:solidFill>
                <a:latin typeface="Inter"/>
              </a:rPr>
              <a:t>Como vimos anteriormente, </a:t>
            </a:r>
            <a:r>
              <a:rPr lang="es-ES" b="1" dirty="0">
                <a:solidFill>
                  <a:srgbClr val="404040"/>
                </a:solidFill>
                <a:latin typeface="Inter"/>
              </a:rPr>
              <a:t>«</a:t>
            </a:r>
            <a:r>
              <a:rPr lang="es-ES" b="1" dirty="0" err="1">
                <a:solidFill>
                  <a:srgbClr val="404040"/>
                </a:solidFill>
                <a:latin typeface="Inter"/>
              </a:rPr>
              <a:t>will</a:t>
            </a:r>
            <a:r>
              <a:rPr lang="es-ES" b="1" dirty="0">
                <a:solidFill>
                  <a:srgbClr val="404040"/>
                </a:solidFill>
                <a:latin typeface="Inter"/>
              </a:rPr>
              <a:t>» </a:t>
            </a:r>
            <a:r>
              <a:rPr lang="es-ES" i="1" dirty="0">
                <a:solidFill>
                  <a:srgbClr val="404040"/>
                </a:solidFill>
                <a:latin typeface="Inter"/>
              </a:rPr>
              <a:t>se usa para decisiones tomadas en el momento</a:t>
            </a:r>
            <a:r>
              <a:rPr lang="es-ES" dirty="0">
                <a:solidFill>
                  <a:srgbClr val="404040"/>
                </a:solidFill>
                <a:latin typeface="Inter"/>
              </a:rPr>
              <a:t>, mientras que </a:t>
            </a:r>
            <a:r>
              <a:rPr lang="es-ES" b="1" dirty="0">
                <a:solidFill>
                  <a:srgbClr val="404040"/>
                </a:solidFill>
                <a:latin typeface="Inter"/>
              </a:rPr>
              <a:t>«</a:t>
            </a:r>
            <a:r>
              <a:rPr lang="es-ES" b="1" dirty="0" err="1">
                <a:solidFill>
                  <a:srgbClr val="404040"/>
                </a:solidFill>
                <a:latin typeface="Inter"/>
              </a:rPr>
              <a:t>going</a:t>
            </a:r>
            <a:r>
              <a:rPr lang="es-ES" b="1" dirty="0">
                <a:solidFill>
                  <a:srgbClr val="404040"/>
                </a:solidFill>
                <a:latin typeface="Inter"/>
              </a:rPr>
              <a:t> to» </a:t>
            </a:r>
            <a:r>
              <a:rPr lang="es-ES" i="1" dirty="0">
                <a:solidFill>
                  <a:srgbClr val="404040"/>
                </a:solidFill>
                <a:latin typeface="Inter"/>
              </a:rPr>
              <a:t>se utiliza para planes previamente establecidos</a:t>
            </a:r>
            <a:r>
              <a:rPr lang="es-ES" dirty="0">
                <a:solidFill>
                  <a:srgbClr val="404040"/>
                </a:solidFill>
                <a:latin typeface="Inter"/>
              </a:rPr>
              <a:t>.</a:t>
            </a:r>
          </a:p>
          <a:p>
            <a:r>
              <a:rPr lang="es-ES" dirty="0">
                <a:solidFill>
                  <a:srgbClr val="404040"/>
                </a:solidFill>
                <a:latin typeface="Inter"/>
              </a:rPr>
              <a:t>Ejemplos: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i="1" dirty="0">
                <a:solidFill>
                  <a:srgbClr val="404040"/>
                </a:solidFill>
                <a:latin typeface="Inter"/>
              </a:rPr>
              <a:t>I </a:t>
            </a:r>
            <a:r>
              <a:rPr lang="es-ES" i="1" dirty="0" err="1">
                <a:solidFill>
                  <a:srgbClr val="404040"/>
                </a:solidFill>
                <a:latin typeface="Inter"/>
              </a:rPr>
              <a:t>will</a:t>
            </a:r>
            <a:r>
              <a:rPr lang="es-ES" i="1" dirty="0">
                <a:solidFill>
                  <a:srgbClr val="404040"/>
                </a:solidFill>
                <a:latin typeface="Inter"/>
              </a:rPr>
              <a:t> </a:t>
            </a:r>
            <a:r>
              <a:rPr lang="es-ES" i="1" dirty="0" err="1">
                <a:solidFill>
                  <a:srgbClr val="404040"/>
                </a:solidFill>
                <a:latin typeface="Inter"/>
              </a:rPr>
              <a:t>help</a:t>
            </a:r>
            <a:r>
              <a:rPr lang="es-ES" i="1" dirty="0">
                <a:solidFill>
                  <a:srgbClr val="404040"/>
                </a:solidFill>
                <a:latin typeface="Inter"/>
              </a:rPr>
              <a:t> </a:t>
            </a:r>
            <a:r>
              <a:rPr lang="es-ES" i="1" dirty="0" err="1">
                <a:solidFill>
                  <a:srgbClr val="404040"/>
                </a:solidFill>
                <a:latin typeface="Inter"/>
              </a:rPr>
              <a:t>you</a:t>
            </a:r>
            <a:r>
              <a:rPr lang="es-ES" i="1" dirty="0">
                <a:solidFill>
                  <a:srgbClr val="404040"/>
                </a:solidFill>
                <a:latin typeface="Inter"/>
              </a:rPr>
              <a:t> </a:t>
            </a:r>
            <a:r>
              <a:rPr lang="es-ES" i="1" dirty="0" err="1">
                <a:solidFill>
                  <a:srgbClr val="404040"/>
                </a:solidFill>
                <a:latin typeface="Inter"/>
              </a:rPr>
              <a:t>with</a:t>
            </a:r>
            <a:r>
              <a:rPr lang="es-ES" i="1" dirty="0">
                <a:solidFill>
                  <a:srgbClr val="404040"/>
                </a:solidFill>
                <a:latin typeface="Inter"/>
              </a:rPr>
              <a:t> </a:t>
            </a:r>
            <a:r>
              <a:rPr lang="es-ES" i="1" dirty="0" err="1">
                <a:solidFill>
                  <a:srgbClr val="404040"/>
                </a:solidFill>
                <a:latin typeface="Inter"/>
              </a:rPr>
              <a:t>your</a:t>
            </a:r>
            <a:r>
              <a:rPr lang="es-ES" i="1" dirty="0">
                <a:solidFill>
                  <a:srgbClr val="404040"/>
                </a:solidFill>
                <a:latin typeface="Inter"/>
              </a:rPr>
              <a:t> </a:t>
            </a:r>
            <a:r>
              <a:rPr lang="es-ES" i="1" dirty="0" err="1">
                <a:solidFill>
                  <a:srgbClr val="404040"/>
                </a:solidFill>
                <a:latin typeface="Inter"/>
              </a:rPr>
              <a:t>homework</a:t>
            </a:r>
            <a:r>
              <a:rPr lang="es-ES" i="1" dirty="0">
                <a:solidFill>
                  <a:srgbClr val="404040"/>
                </a:solidFill>
                <a:latin typeface="Inter"/>
              </a:rPr>
              <a:t>. (Decisión espontánea)</a:t>
            </a:r>
            <a:endParaRPr lang="es-ES" dirty="0">
              <a:solidFill>
                <a:srgbClr val="404040"/>
              </a:solidFill>
              <a:latin typeface="Inter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i="1" dirty="0" err="1">
                <a:solidFill>
                  <a:srgbClr val="404040"/>
                </a:solidFill>
                <a:latin typeface="Inter"/>
              </a:rPr>
              <a:t>She</a:t>
            </a:r>
            <a:r>
              <a:rPr lang="es-ES" i="1" dirty="0">
                <a:solidFill>
                  <a:srgbClr val="404040"/>
                </a:solidFill>
                <a:latin typeface="Inter"/>
              </a:rPr>
              <a:t> </a:t>
            </a:r>
            <a:r>
              <a:rPr lang="es-ES" i="1" dirty="0" err="1">
                <a:solidFill>
                  <a:srgbClr val="404040"/>
                </a:solidFill>
                <a:latin typeface="Inter"/>
              </a:rPr>
              <a:t>is</a:t>
            </a:r>
            <a:r>
              <a:rPr lang="es-ES" i="1" dirty="0">
                <a:solidFill>
                  <a:srgbClr val="404040"/>
                </a:solidFill>
                <a:latin typeface="Inter"/>
              </a:rPr>
              <a:t> </a:t>
            </a:r>
            <a:r>
              <a:rPr lang="es-ES" i="1" dirty="0" err="1">
                <a:solidFill>
                  <a:srgbClr val="404040"/>
                </a:solidFill>
                <a:latin typeface="Inter"/>
              </a:rPr>
              <a:t>going</a:t>
            </a:r>
            <a:r>
              <a:rPr lang="es-ES" i="1" dirty="0">
                <a:solidFill>
                  <a:srgbClr val="404040"/>
                </a:solidFill>
                <a:latin typeface="Inter"/>
              </a:rPr>
              <a:t> to </a:t>
            </a:r>
            <a:r>
              <a:rPr lang="es-ES" i="1" dirty="0" err="1">
                <a:solidFill>
                  <a:srgbClr val="404040"/>
                </a:solidFill>
                <a:latin typeface="Inter"/>
              </a:rPr>
              <a:t>travel</a:t>
            </a:r>
            <a:r>
              <a:rPr lang="es-ES" i="1" dirty="0">
                <a:solidFill>
                  <a:srgbClr val="404040"/>
                </a:solidFill>
                <a:latin typeface="Inter"/>
              </a:rPr>
              <a:t> to </a:t>
            </a:r>
            <a:r>
              <a:rPr lang="es-ES" i="1" dirty="0" err="1">
                <a:solidFill>
                  <a:srgbClr val="404040"/>
                </a:solidFill>
                <a:latin typeface="Inter"/>
              </a:rPr>
              <a:t>Europe</a:t>
            </a:r>
            <a:r>
              <a:rPr lang="es-ES" i="1" dirty="0">
                <a:solidFill>
                  <a:srgbClr val="404040"/>
                </a:solidFill>
                <a:latin typeface="Inter"/>
              </a:rPr>
              <a:t> </a:t>
            </a:r>
            <a:r>
              <a:rPr lang="es-ES" i="1" dirty="0" err="1">
                <a:solidFill>
                  <a:srgbClr val="404040"/>
                </a:solidFill>
                <a:latin typeface="Inter"/>
              </a:rPr>
              <a:t>next</a:t>
            </a:r>
            <a:r>
              <a:rPr lang="es-ES" i="1" dirty="0">
                <a:solidFill>
                  <a:srgbClr val="404040"/>
                </a:solidFill>
                <a:latin typeface="Inter"/>
              </a:rPr>
              <a:t> </a:t>
            </a:r>
            <a:r>
              <a:rPr lang="es-ES" i="1" dirty="0" err="1">
                <a:solidFill>
                  <a:srgbClr val="404040"/>
                </a:solidFill>
                <a:latin typeface="Inter"/>
              </a:rPr>
              <a:t>summer</a:t>
            </a:r>
            <a:r>
              <a:rPr lang="es-ES" i="1" dirty="0">
                <a:solidFill>
                  <a:srgbClr val="404040"/>
                </a:solidFill>
                <a:latin typeface="Inter"/>
              </a:rPr>
              <a:t>. (Plan futuro)</a:t>
            </a:r>
            <a:endParaRPr lang="es-ES" dirty="0">
              <a:solidFill>
                <a:srgbClr val="404040"/>
              </a:solidFill>
              <a:latin typeface="Inter"/>
            </a:endParaRPr>
          </a:p>
          <a:p>
            <a:r>
              <a:rPr lang="es-ES" dirty="0">
                <a:solidFill>
                  <a:srgbClr val="404040"/>
                </a:solidFill>
                <a:latin typeface="Inter"/>
              </a:rPr>
              <a:t> 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b="1" dirty="0">
                <a:solidFill>
                  <a:srgbClr val="404040"/>
                </a:solidFill>
                <a:latin typeface="Inter"/>
              </a:rPr>
              <a:t>Predicciones vs. </a:t>
            </a:r>
            <a:r>
              <a:rPr lang="es-ES" b="1" dirty="0" smtClean="0">
                <a:solidFill>
                  <a:srgbClr val="404040"/>
                </a:solidFill>
                <a:latin typeface="Inter"/>
              </a:rPr>
              <a:t>Intenciones</a:t>
            </a:r>
          </a:p>
          <a:p>
            <a:endParaRPr lang="es-ES" dirty="0">
              <a:solidFill>
                <a:srgbClr val="404040"/>
              </a:solidFill>
              <a:latin typeface="Inter"/>
            </a:endParaRPr>
          </a:p>
          <a:p>
            <a:r>
              <a:rPr lang="es-ES" b="1" dirty="0">
                <a:solidFill>
                  <a:srgbClr val="404040"/>
                </a:solidFill>
                <a:latin typeface="Inter"/>
              </a:rPr>
              <a:t>«</a:t>
            </a:r>
            <a:r>
              <a:rPr lang="es-ES" b="1" dirty="0" err="1">
                <a:solidFill>
                  <a:srgbClr val="404040"/>
                </a:solidFill>
                <a:latin typeface="Inter"/>
              </a:rPr>
              <a:t>Will</a:t>
            </a:r>
            <a:r>
              <a:rPr lang="es-ES" b="1" dirty="0">
                <a:solidFill>
                  <a:srgbClr val="404040"/>
                </a:solidFill>
                <a:latin typeface="Inter"/>
              </a:rPr>
              <a:t>» </a:t>
            </a:r>
            <a:r>
              <a:rPr lang="es-ES" i="1" dirty="0">
                <a:solidFill>
                  <a:srgbClr val="404040"/>
                </a:solidFill>
                <a:latin typeface="Inter"/>
              </a:rPr>
              <a:t>se utiliza para hacer predicciones subjetivas</a:t>
            </a:r>
            <a:r>
              <a:rPr lang="es-ES" dirty="0">
                <a:solidFill>
                  <a:srgbClr val="404040"/>
                </a:solidFill>
                <a:latin typeface="Inter"/>
              </a:rPr>
              <a:t> sobre el futuro, mientras que</a:t>
            </a:r>
            <a:r>
              <a:rPr lang="es-ES" b="1" dirty="0">
                <a:solidFill>
                  <a:srgbClr val="404040"/>
                </a:solidFill>
                <a:latin typeface="Inter"/>
              </a:rPr>
              <a:t> «</a:t>
            </a:r>
            <a:r>
              <a:rPr lang="es-ES" b="1" dirty="0" err="1">
                <a:solidFill>
                  <a:srgbClr val="404040"/>
                </a:solidFill>
                <a:latin typeface="Inter"/>
              </a:rPr>
              <a:t>going</a:t>
            </a:r>
            <a:r>
              <a:rPr lang="es-ES" b="1" dirty="0">
                <a:solidFill>
                  <a:srgbClr val="404040"/>
                </a:solidFill>
                <a:latin typeface="Inter"/>
              </a:rPr>
              <a:t> to» </a:t>
            </a:r>
            <a:r>
              <a:rPr lang="es-ES" i="1" dirty="0">
                <a:solidFill>
                  <a:srgbClr val="404040"/>
                </a:solidFill>
                <a:latin typeface="Inter"/>
              </a:rPr>
              <a:t>se emplea para expresar intenciones/decisiones o planes concretos futuros</a:t>
            </a:r>
            <a:r>
              <a:rPr lang="es-ES" b="1" dirty="0">
                <a:solidFill>
                  <a:srgbClr val="404040"/>
                </a:solidFill>
                <a:latin typeface="Inter"/>
              </a:rPr>
              <a:t>.</a:t>
            </a:r>
            <a:endParaRPr lang="es-ES" dirty="0">
              <a:solidFill>
                <a:srgbClr val="404040"/>
              </a:solidFill>
              <a:latin typeface="Inter"/>
            </a:endParaRPr>
          </a:p>
          <a:p>
            <a:r>
              <a:rPr lang="es-ES" dirty="0">
                <a:solidFill>
                  <a:srgbClr val="404040"/>
                </a:solidFill>
                <a:latin typeface="Inter"/>
              </a:rPr>
              <a:t>Ejemplos: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i="1" dirty="0">
                <a:solidFill>
                  <a:srgbClr val="404040"/>
                </a:solidFill>
                <a:latin typeface="Inter"/>
              </a:rPr>
              <a:t>I </a:t>
            </a:r>
            <a:r>
              <a:rPr lang="es-ES" i="1" dirty="0" err="1">
                <a:solidFill>
                  <a:srgbClr val="404040"/>
                </a:solidFill>
                <a:latin typeface="Inter"/>
              </a:rPr>
              <a:t>think</a:t>
            </a:r>
            <a:r>
              <a:rPr lang="es-ES" i="1" dirty="0">
                <a:solidFill>
                  <a:srgbClr val="404040"/>
                </a:solidFill>
                <a:latin typeface="Inter"/>
              </a:rPr>
              <a:t> </a:t>
            </a:r>
            <a:r>
              <a:rPr lang="es-ES" i="1" dirty="0" err="1">
                <a:solidFill>
                  <a:srgbClr val="404040"/>
                </a:solidFill>
                <a:latin typeface="Inter"/>
              </a:rPr>
              <a:t>it</a:t>
            </a:r>
            <a:r>
              <a:rPr lang="es-ES" i="1" dirty="0">
                <a:solidFill>
                  <a:srgbClr val="404040"/>
                </a:solidFill>
                <a:latin typeface="Inter"/>
              </a:rPr>
              <a:t> </a:t>
            </a:r>
            <a:r>
              <a:rPr lang="es-ES" i="1" dirty="0" err="1">
                <a:solidFill>
                  <a:srgbClr val="404040"/>
                </a:solidFill>
                <a:latin typeface="Inter"/>
              </a:rPr>
              <a:t>will</a:t>
            </a:r>
            <a:r>
              <a:rPr lang="es-ES" i="1" dirty="0">
                <a:solidFill>
                  <a:srgbClr val="404040"/>
                </a:solidFill>
                <a:latin typeface="Inter"/>
              </a:rPr>
              <a:t> rain </a:t>
            </a:r>
            <a:r>
              <a:rPr lang="es-ES" i="1" dirty="0" err="1">
                <a:solidFill>
                  <a:srgbClr val="404040"/>
                </a:solidFill>
                <a:latin typeface="Inter"/>
              </a:rPr>
              <a:t>later</a:t>
            </a:r>
            <a:r>
              <a:rPr lang="es-ES" i="1" dirty="0">
                <a:solidFill>
                  <a:srgbClr val="404040"/>
                </a:solidFill>
                <a:latin typeface="Inter"/>
              </a:rPr>
              <a:t>. (Predicción</a:t>
            </a:r>
            <a:r>
              <a:rPr lang="es-ES" i="1" dirty="0" smtClean="0">
                <a:solidFill>
                  <a:srgbClr val="404040"/>
                </a:solidFill>
                <a:latin typeface="Inter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i="1" dirty="0"/>
              <a:t>They are going to buy a new house next year. (</a:t>
            </a:r>
            <a:r>
              <a:rPr lang="en-US" i="1" dirty="0" err="1"/>
              <a:t>Intención</a:t>
            </a:r>
            <a:r>
              <a:rPr lang="en-US" i="1" dirty="0"/>
              <a:t>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s-ES" b="0" i="0" dirty="0">
              <a:solidFill>
                <a:srgbClr val="404040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5219892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1049518" y="760025"/>
            <a:ext cx="771741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800" b="1" i="1" dirty="0">
                <a:solidFill>
                  <a:srgbClr val="4040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/>
              </a:rPr>
              <a:t>Preguntas en Futuro Simple con «</a:t>
            </a:r>
            <a:r>
              <a:rPr lang="es-ES" sz="2800" b="1" i="1" dirty="0" err="1">
                <a:solidFill>
                  <a:srgbClr val="4040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/>
              </a:rPr>
              <a:t>will</a:t>
            </a:r>
            <a:r>
              <a:rPr lang="es-ES" sz="2800" b="1" i="1" dirty="0" smtClean="0">
                <a:solidFill>
                  <a:srgbClr val="4040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"/>
              </a:rPr>
              <a:t>»</a:t>
            </a:r>
          </a:p>
          <a:p>
            <a:endParaRPr lang="es-ES" sz="2800" b="1" i="1" dirty="0">
              <a:solidFill>
                <a:srgbClr val="40404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nter"/>
            </a:endParaRPr>
          </a:p>
          <a:p>
            <a:r>
              <a:rPr lang="es-ES" dirty="0">
                <a:solidFill>
                  <a:srgbClr val="404040"/>
                </a:solidFill>
                <a:latin typeface="Inter"/>
              </a:rPr>
              <a:t>Para formar preguntas con </a:t>
            </a:r>
            <a:r>
              <a:rPr lang="es-ES" b="1" dirty="0">
                <a:solidFill>
                  <a:srgbClr val="404040"/>
                </a:solidFill>
                <a:latin typeface="Inter"/>
              </a:rPr>
              <a:t>«</a:t>
            </a:r>
            <a:r>
              <a:rPr lang="es-ES" b="1" dirty="0" err="1">
                <a:solidFill>
                  <a:srgbClr val="404040"/>
                </a:solidFill>
                <a:latin typeface="Inter"/>
              </a:rPr>
              <a:t>will</a:t>
            </a:r>
            <a:r>
              <a:rPr lang="es-ES" b="1" dirty="0">
                <a:solidFill>
                  <a:srgbClr val="404040"/>
                </a:solidFill>
                <a:latin typeface="Inter"/>
              </a:rPr>
              <a:t>»</a:t>
            </a:r>
            <a:r>
              <a:rPr lang="es-ES" dirty="0">
                <a:solidFill>
                  <a:srgbClr val="404040"/>
                </a:solidFill>
                <a:latin typeface="Inter"/>
              </a:rPr>
              <a:t>, se coloca el verbo auxiliar</a:t>
            </a:r>
            <a:r>
              <a:rPr lang="es-ES" b="1" dirty="0">
                <a:solidFill>
                  <a:srgbClr val="404040"/>
                </a:solidFill>
                <a:latin typeface="Inter"/>
              </a:rPr>
              <a:t> «</a:t>
            </a:r>
            <a:r>
              <a:rPr lang="es-ES" b="1" dirty="0" err="1">
                <a:solidFill>
                  <a:srgbClr val="404040"/>
                </a:solidFill>
                <a:latin typeface="Inter"/>
              </a:rPr>
              <a:t>will</a:t>
            </a:r>
            <a:r>
              <a:rPr lang="es-ES" b="1" dirty="0">
                <a:solidFill>
                  <a:srgbClr val="404040"/>
                </a:solidFill>
                <a:latin typeface="Inter"/>
              </a:rPr>
              <a:t>»</a:t>
            </a:r>
            <a:r>
              <a:rPr lang="es-ES" dirty="0">
                <a:solidFill>
                  <a:srgbClr val="404040"/>
                </a:solidFill>
                <a:latin typeface="Inter"/>
              </a:rPr>
              <a:t> al inicio de la oración, seguido del sujeto y el verbo principal en infinitivo</a:t>
            </a:r>
            <a:r>
              <a:rPr lang="es-ES" dirty="0" smtClean="0">
                <a:solidFill>
                  <a:srgbClr val="404040"/>
                </a:solidFill>
                <a:latin typeface="Inter"/>
              </a:rPr>
              <a:t>.</a:t>
            </a:r>
          </a:p>
          <a:p>
            <a:endParaRPr lang="es-ES" dirty="0">
              <a:solidFill>
                <a:srgbClr val="404040"/>
              </a:solidFill>
              <a:latin typeface="Inter"/>
            </a:endParaRPr>
          </a:p>
          <a:p>
            <a:r>
              <a:rPr lang="es-ES" b="1" dirty="0" err="1">
                <a:solidFill>
                  <a:srgbClr val="404040"/>
                </a:solidFill>
                <a:latin typeface="Inter"/>
              </a:rPr>
              <a:t>Will</a:t>
            </a:r>
            <a:r>
              <a:rPr lang="es-ES" b="1" dirty="0">
                <a:solidFill>
                  <a:srgbClr val="404040"/>
                </a:solidFill>
                <a:latin typeface="Inter"/>
              </a:rPr>
              <a:t> + sujeto + verbo en </a:t>
            </a:r>
            <a:r>
              <a:rPr lang="es-ES" b="1" dirty="0" smtClean="0">
                <a:solidFill>
                  <a:srgbClr val="404040"/>
                </a:solidFill>
                <a:latin typeface="Inter"/>
              </a:rPr>
              <a:t>infinitivo</a:t>
            </a:r>
          </a:p>
          <a:p>
            <a:endParaRPr lang="es-ES" dirty="0">
              <a:solidFill>
                <a:srgbClr val="404040"/>
              </a:solidFill>
              <a:latin typeface="Inter"/>
            </a:endParaRPr>
          </a:p>
          <a:p>
            <a:r>
              <a:rPr lang="es-ES" dirty="0">
                <a:solidFill>
                  <a:srgbClr val="404040"/>
                </a:solidFill>
                <a:latin typeface="Inter"/>
              </a:rPr>
              <a:t>Ejemplos: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i="1" dirty="0" err="1">
                <a:solidFill>
                  <a:srgbClr val="404040"/>
                </a:solidFill>
                <a:latin typeface="Inter"/>
              </a:rPr>
              <a:t>Will</a:t>
            </a:r>
            <a:r>
              <a:rPr lang="es-ES" i="1" dirty="0">
                <a:solidFill>
                  <a:srgbClr val="404040"/>
                </a:solidFill>
                <a:latin typeface="Inter"/>
              </a:rPr>
              <a:t> </a:t>
            </a:r>
            <a:r>
              <a:rPr lang="es-ES" i="1" dirty="0" err="1">
                <a:solidFill>
                  <a:srgbClr val="404040"/>
                </a:solidFill>
                <a:latin typeface="Inter"/>
              </a:rPr>
              <a:t>you</a:t>
            </a:r>
            <a:r>
              <a:rPr lang="es-ES" i="1" dirty="0">
                <a:solidFill>
                  <a:srgbClr val="404040"/>
                </a:solidFill>
                <a:latin typeface="Inter"/>
              </a:rPr>
              <a:t> come to </a:t>
            </a:r>
            <a:r>
              <a:rPr lang="es-ES" i="1" dirty="0" err="1">
                <a:solidFill>
                  <a:srgbClr val="404040"/>
                </a:solidFill>
                <a:latin typeface="Inter"/>
              </a:rPr>
              <a:t>the</a:t>
            </a:r>
            <a:r>
              <a:rPr lang="es-ES" i="1" dirty="0">
                <a:solidFill>
                  <a:srgbClr val="404040"/>
                </a:solidFill>
                <a:latin typeface="Inter"/>
              </a:rPr>
              <a:t> </a:t>
            </a:r>
            <a:r>
              <a:rPr lang="es-ES" i="1" dirty="0" err="1">
                <a:solidFill>
                  <a:srgbClr val="404040"/>
                </a:solidFill>
                <a:latin typeface="Inter"/>
              </a:rPr>
              <a:t>party</a:t>
            </a:r>
            <a:r>
              <a:rPr lang="es-ES" i="1" dirty="0">
                <a:solidFill>
                  <a:srgbClr val="404040"/>
                </a:solidFill>
                <a:latin typeface="Inter"/>
              </a:rPr>
              <a:t>? (¿Vendrás a la fiesta?)</a:t>
            </a:r>
            <a:endParaRPr lang="es-ES" dirty="0">
              <a:solidFill>
                <a:srgbClr val="404040"/>
              </a:solidFill>
              <a:latin typeface="Inter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i="1" dirty="0" err="1">
                <a:solidFill>
                  <a:srgbClr val="404040"/>
                </a:solidFill>
                <a:latin typeface="Inter"/>
              </a:rPr>
              <a:t>Will</a:t>
            </a:r>
            <a:r>
              <a:rPr lang="es-ES" i="1" dirty="0">
                <a:solidFill>
                  <a:srgbClr val="404040"/>
                </a:solidFill>
                <a:latin typeface="Inter"/>
              </a:rPr>
              <a:t> </a:t>
            </a:r>
            <a:r>
              <a:rPr lang="es-ES" i="1" dirty="0" err="1">
                <a:solidFill>
                  <a:srgbClr val="404040"/>
                </a:solidFill>
                <a:latin typeface="Inter"/>
              </a:rPr>
              <a:t>they</a:t>
            </a:r>
            <a:r>
              <a:rPr lang="es-ES" i="1" dirty="0">
                <a:solidFill>
                  <a:srgbClr val="404040"/>
                </a:solidFill>
                <a:latin typeface="Inter"/>
              </a:rPr>
              <a:t> </a:t>
            </a:r>
            <a:r>
              <a:rPr lang="es-ES" i="1" dirty="0" err="1">
                <a:solidFill>
                  <a:srgbClr val="404040"/>
                </a:solidFill>
                <a:latin typeface="Inter"/>
              </a:rPr>
              <a:t>finish</a:t>
            </a:r>
            <a:r>
              <a:rPr lang="es-ES" i="1" dirty="0">
                <a:solidFill>
                  <a:srgbClr val="404040"/>
                </a:solidFill>
                <a:latin typeface="Inter"/>
              </a:rPr>
              <a:t> </a:t>
            </a:r>
            <a:r>
              <a:rPr lang="es-ES" i="1" dirty="0" err="1">
                <a:solidFill>
                  <a:srgbClr val="404040"/>
                </a:solidFill>
                <a:latin typeface="Inter"/>
              </a:rPr>
              <a:t>the</a:t>
            </a:r>
            <a:r>
              <a:rPr lang="es-ES" i="1" dirty="0">
                <a:solidFill>
                  <a:srgbClr val="404040"/>
                </a:solidFill>
                <a:latin typeface="Inter"/>
              </a:rPr>
              <a:t> </a:t>
            </a:r>
            <a:r>
              <a:rPr lang="es-ES" i="1" dirty="0" err="1">
                <a:solidFill>
                  <a:srgbClr val="404040"/>
                </a:solidFill>
                <a:latin typeface="Inter"/>
              </a:rPr>
              <a:t>project</a:t>
            </a:r>
            <a:r>
              <a:rPr lang="es-ES" i="1" dirty="0">
                <a:solidFill>
                  <a:srgbClr val="404040"/>
                </a:solidFill>
                <a:latin typeface="Inter"/>
              </a:rPr>
              <a:t> </a:t>
            </a:r>
            <a:r>
              <a:rPr lang="es-ES" i="1" dirty="0" err="1">
                <a:solidFill>
                  <a:srgbClr val="404040"/>
                </a:solidFill>
                <a:latin typeface="Inter"/>
              </a:rPr>
              <a:t>on</a:t>
            </a:r>
            <a:r>
              <a:rPr lang="es-ES" i="1" dirty="0">
                <a:solidFill>
                  <a:srgbClr val="404040"/>
                </a:solidFill>
                <a:latin typeface="Inter"/>
              </a:rPr>
              <a:t> time? (¿Terminarán el proyecto a tiempo?)</a:t>
            </a:r>
            <a:endParaRPr lang="es-ES" b="0" i="0" dirty="0">
              <a:solidFill>
                <a:srgbClr val="404040"/>
              </a:solidFill>
              <a:effectLst/>
              <a:latin typeface="Inter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2"/>
          <a:srcRect l="6054" t="18328" r="3600" b="50589"/>
          <a:stretch/>
        </p:blipFill>
        <p:spPr>
          <a:xfrm>
            <a:off x="495098" y="4396155"/>
            <a:ext cx="8271830" cy="225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7791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199291" y="284598"/>
            <a:ext cx="10128739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The </a:t>
            </a:r>
            <a:r>
              <a:rPr lang="en-US" sz="2400" b="1" dirty="0"/>
              <a:t>Future of Computer Science</a:t>
            </a:r>
          </a:p>
          <a:p>
            <a:r>
              <a:rPr lang="en-US" sz="2400" dirty="0"/>
              <a:t>In the next few years, computer science </a:t>
            </a:r>
            <a:r>
              <a:rPr lang="en-US" sz="2400" b="1" dirty="0"/>
              <a:t>will continue</a:t>
            </a:r>
            <a:r>
              <a:rPr lang="en-US" sz="2400" dirty="0"/>
              <a:t> to grow rapidly. New technologies </a:t>
            </a:r>
            <a:r>
              <a:rPr lang="en-US" sz="2400" b="1" dirty="0"/>
              <a:t>will change</a:t>
            </a:r>
            <a:r>
              <a:rPr lang="en-US" sz="2400" dirty="0"/>
              <a:t> the way we live, work, and learn. Artificial intelligence and machine learning </a:t>
            </a:r>
            <a:r>
              <a:rPr lang="en-US" sz="2400" b="1" dirty="0"/>
              <a:t>will become</a:t>
            </a:r>
            <a:r>
              <a:rPr lang="en-US" sz="2400" dirty="0"/>
              <a:t> more advanced, and computers </a:t>
            </a:r>
            <a:r>
              <a:rPr lang="en-US" sz="2400" b="1" dirty="0"/>
              <a:t>will be able to</a:t>
            </a:r>
            <a:r>
              <a:rPr lang="en-US" sz="2400" dirty="0"/>
              <a:t> solve problems that humans cannot imagine today.</a:t>
            </a:r>
          </a:p>
          <a:p>
            <a:r>
              <a:rPr lang="en-US" sz="2400" dirty="0"/>
              <a:t>People </a:t>
            </a:r>
            <a:r>
              <a:rPr lang="en-US" sz="2400" b="1" dirty="0"/>
              <a:t>are going to use</a:t>
            </a:r>
            <a:r>
              <a:rPr lang="en-US" sz="2400" dirty="0"/>
              <a:t> computers in almost every part of daily life. Smart devices </a:t>
            </a:r>
            <a:r>
              <a:rPr lang="en-US" sz="2400" b="1" dirty="0"/>
              <a:t>are going to connect</a:t>
            </a:r>
            <a:r>
              <a:rPr lang="en-US" sz="2400" dirty="0"/>
              <a:t> homes, cars, and cities through the Internet of Things. Data </a:t>
            </a:r>
            <a:r>
              <a:rPr lang="en-US" sz="2400" b="1" dirty="0"/>
              <a:t>will play</a:t>
            </a:r>
            <a:r>
              <a:rPr lang="en-US" sz="2400" dirty="0"/>
              <a:t> a key role in making decisions in business, medicine, and education.</a:t>
            </a:r>
          </a:p>
          <a:p>
            <a:r>
              <a:rPr lang="en-US" sz="2400" dirty="0"/>
              <a:t>Programmers and engineers </a:t>
            </a:r>
            <a:r>
              <a:rPr lang="en-US" sz="2400" b="1" dirty="0"/>
              <a:t>will develop</a:t>
            </a:r>
            <a:r>
              <a:rPr lang="en-US" sz="2400" dirty="0"/>
              <a:t> new software that </a:t>
            </a:r>
            <a:r>
              <a:rPr lang="en-US" sz="2400" b="1" dirty="0"/>
              <a:t>will help</a:t>
            </a:r>
            <a:r>
              <a:rPr lang="en-US" sz="2400" dirty="0"/>
              <a:t> companies save energy and time. Cybersecurity experts </a:t>
            </a:r>
            <a:r>
              <a:rPr lang="en-US" sz="2400" b="1" dirty="0"/>
              <a:t>will work</a:t>
            </a:r>
            <a:r>
              <a:rPr lang="en-US" sz="2400" dirty="0"/>
              <a:t> hard to protect personal information from digital threats.</a:t>
            </a:r>
          </a:p>
          <a:p>
            <a:r>
              <a:rPr lang="en-US" sz="2400" dirty="0"/>
              <a:t>In the future, students </a:t>
            </a:r>
            <a:r>
              <a:rPr lang="en-US" sz="2400" b="1" dirty="0"/>
              <a:t>will study</a:t>
            </a:r>
            <a:r>
              <a:rPr lang="en-US" sz="2400" dirty="0"/>
              <a:t> computer science from an early age, and many jobs </a:t>
            </a:r>
            <a:r>
              <a:rPr lang="en-US" sz="2400" b="1" dirty="0"/>
              <a:t>will require</a:t>
            </a:r>
            <a:r>
              <a:rPr lang="en-US" sz="2400" dirty="0"/>
              <a:t> knowledge of programming. Technology </a:t>
            </a:r>
            <a:r>
              <a:rPr lang="en-US" sz="2400" b="1" dirty="0"/>
              <a:t>will not stop</a:t>
            </a:r>
            <a:r>
              <a:rPr lang="en-US" sz="2400" dirty="0"/>
              <a:t> evolving — it </a:t>
            </a:r>
            <a:r>
              <a:rPr lang="en-US" sz="2400" b="1" dirty="0"/>
              <a:t>will keep</a:t>
            </a:r>
            <a:r>
              <a:rPr lang="en-US" sz="2400" dirty="0"/>
              <a:t> transforming the world.</a:t>
            </a:r>
          </a:p>
        </p:txBody>
      </p:sp>
    </p:spTree>
    <p:extLst>
      <p:ext uri="{BB962C8B-B14F-4D97-AF65-F5344CB8AC3E}">
        <p14:creationId xmlns:p14="http://schemas.microsoft.com/office/powerpoint/2010/main" val="10526865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527538" y="323617"/>
            <a:ext cx="876886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b="1" dirty="0"/>
              <a:t>🕒 </a:t>
            </a:r>
            <a:r>
              <a:rPr lang="es-AR" sz="2400" b="1" dirty="0" err="1"/>
              <a:t>Present</a:t>
            </a:r>
            <a:r>
              <a:rPr lang="es-AR" sz="2400" b="1" dirty="0"/>
              <a:t> Simple (Presente simple</a:t>
            </a:r>
            <a:r>
              <a:rPr lang="es-AR" sz="2400" b="1" dirty="0" smtClean="0"/>
              <a:t>)</a:t>
            </a:r>
          </a:p>
          <a:p>
            <a:endParaRPr lang="es-AR" sz="2400" b="1" dirty="0"/>
          </a:p>
          <a:p>
            <a:pPr>
              <a:buFont typeface="+mj-lt"/>
              <a:buAutoNum type="arabicPeriod"/>
            </a:pPr>
            <a:r>
              <a:rPr lang="es-AR" sz="2400" dirty="0" err="1"/>
              <a:t>Computers</a:t>
            </a:r>
            <a:r>
              <a:rPr lang="es-AR" sz="2400" dirty="0"/>
              <a:t> </a:t>
            </a:r>
            <a:r>
              <a:rPr lang="es-AR" sz="2400" b="1" dirty="0"/>
              <a:t>store</a:t>
            </a:r>
            <a:r>
              <a:rPr lang="es-AR" sz="2400" dirty="0"/>
              <a:t> a </a:t>
            </a:r>
            <a:r>
              <a:rPr lang="es-AR" sz="2400" dirty="0" err="1"/>
              <a:t>lot</a:t>
            </a:r>
            <a:r>
              <a:rPr lang="es-AR" sz="2400" dirty="0"/>
              <a:t> of </a:t>
            </a:r>
            <a:r>
              <a:rPr lang="es-AR" sz="2400" dirty="0" err="1"/>
              <a:t>information</a:t>
            </a:r>
            <a:r>
              <a:rPr lang="es-AR" sz="2400" dirty="0"/>
              <a:t>. → </a:t>
            </a:r>
            <a:r>
              <a:rPr lang="es-AR" sz="2400" dirty="0">
                <a:solidFill>
                  <a:srgbClr val="00B0F0"/>
                </a:solidFill>
              </a:rPr>
              <a:t>Las computadoras </a:t>
            </a:r>
            <a:r>
              <a:rPr lang="es-AR" sz="2400" b="1" dirty="0">
                <a:solidFill>
                  <a:srgbClr val="00B0F0"/>
                </a:solidFill>
              </a:rPr>
              <a:t>almacenan</a:t>
            </a:r>
            <a:r>
              <a:rPr lang="es-AR" sz="2400" dirty="0">
                <a:solidFill>
                  <a:srgbClr val="00B0F0"/>
                </a:solidFill>
              </a:rPr>
              <a:t> mucha información.</a:t>
            </a:r>
          </a:p>
          <a:p>
            <a:pPr>
              <a:buFont typeface="+mj-lt"/>
              <a:buAutoNum type="arabicPeriod"/>
            </a:pPr>
            <a:r>
              <a:rPr lang="es-AR" sz="2400" dirty="0" err="1"/>
              <a:t>Programmers</a:t>
            </a:r>
            <a:r>
              <a:rPr lang="es-AR" sz="2400" dirty="0"/>
              <a:t> </a:t>
            </a:r>
            <a:r>
              <a:rPr lang="es-AR" sz="2400" b="1" dirty="0" err="1"/>
              <a:t>write</a:t>
            </a:r>
            <a:r>
              <a:rPr lang="es-AR" sz="2400" dirty="0"/>
              <a:t> </a:t>
            </a:r>
            <a:r>
              <a:rPr lang="es-AR" sz="2400" dirty="0" err="1"/>
              <a:t>code</a:t>
            </a:r>
            <a:r>
              <a:rPr lang="es-AR" sz="2400" dirty="0"/>
              <a:t> </a:t>
            </a:r>
            <a:r>
              <a:rPr lang="es-AR" sz="2400" dirty="0" err="1"/>
              <a:t>every</a:t>
            </a:r>
            <a:r>
              <a:rPr lang="es-AR" sz="2400" dirty="0"/>
              <a:t> </a:t>
            </a:r>
            <a:r>
              <a:rPr lang="es-AR" sz="2400" dirty="0" err="1"/>
              <a:t>day</a:t>
            </a:r>
            <a:r>
              <a:rPr lang="es-AR" sz="2400" dirty="0"/>
              <a:t>. </a:t>
            </a:r>
            <a:r>
              <a:rPr lang="es-AR" sz="2400" dirty="0">
                <a:solidFill>
                  <a:srgbClr val="00B0F0"/>
                </a:solidFill>
              </a:rPr>
              <a:t>→ Los programadores </a:t>
            </a:r>
            <a:r>
              <a:rPr lang="es-AR" sz="2400" b="1" dirty="0">
                <a:solidFill>
                  <a:srgbClr val="00B0F0"/>
                </a:solidFill>
              </a:rPr>
              <a:t>escriben</a:t>
            </a:r>
            <a:r>
              <a:rPr lang="es-AR" sz="2400" dirty="0">
                <a:solidFill>
                  <a:srgbClr val="00B0F0"/>
                </a:solidFill>
              </a:rPr>
              <a:t> código todos los días.</a:t>
            </a:r>
          </a:p>
          <a:p>
            <a:pPr>
              <a:buFont typeface="+mj-lt"/>
              <a:buAutoNum type="arabicPeriod"/>
            </a:pPr>
            <a:r>
              <a:rPr lang="es-AR" sz="2400" dirty="0" err="1"/>
              <a:t>The</a:t>
            </a:r>
            <a:r>
              <a:rPr lang="es-AR" sz="2400" dirty="0"/>
              <a:t> </a:t>
            </a:r>
            <a:r>
              <a:rPr lang="es-AR" sz="2400" dirty="0" err="1"/>
              <a:t>system</a:t>
            </a:r>
            <a:r>
              <a:rPr lang="es-AR" sz="2400" dirty="0"/>
              <a:t> </a:t>
            </a:r>
            <a:r>
              <a:rPr lang="es-AR" sz="2400" b="1" dirty="0" err="1"/>
              <a:t>works</a:t>
            </a:r>
            <a:r>
              <a:rPr lang="es-AR" sz="2400" dirty="0"/>
              <a:t> </a:t>
            </a:r>
            <a:r>
              <a:rPr lang="es-AR" sz="2400" dirty="0" err="1"/>
              <a:t>very</a:t>
            </a:r>
            <a:r>
              <a:rPr lang="es-AR" sz="2400" dirty="0"/>
              <a:t> </a:t>
            </a:r>
            <a:r>
              <a:rPr lang="es-AR" sz="2400" dirty="0" err="1"/>
              <a:t>well</a:t>
            </a:r>
            <a:r>
              <a:rPr lang="es-AR" sz="2400" dirty="0"/>
              <a:t>. </a:t>
            </a:r>
            <a:r>
              <a:rPr lang="es-AR" sz="2400" dirty="0">
                <a:solidFill>
                  <a:srgbClr val="00B0F0"/>
                </a:solidFill>
              </a:rPr>
              <a:t>→ El sistema </a:t>
            </a:r>
            <a:r>
              <a:rPr lang="es-AR" sz="2400" b="1" dirty="0">
                <a:solidFill>
                  <a:srgbClr val="00B0F0"/>
                </a:solidFill>
              </a:rPr>
              <a:t>funciona</a:t>
            </a:r>
            <a:r>
              <a:rPr lang="es-AR" sz="2400" dirty="0">
                <a:solidFill>
                  <a:srgbClr val="00B0F0"/>
                </a:solidFill>
              </a:rPr>
              <a:t> muy bien.</a:t>
            </a:r>
          </a:p>
          <a:p>
            <a:pPr>
              <a:buFont typeface="+mj-lt"/>
              <a:buAutoNum type="arabicPeriod"/>
            </a:pPr>
            <a:r>
              <a:rPr lang="es-AR" sz="2400" dirty="0" err="1"/>
              <a:t>Users</a:t>
            </a:r>
            <a:r>
              <a:rPr lang="es-AR" sz="2400" dirty="0"/>
              <a:t> </a:t>
            </a:r>
            <a:r>
              <a:rPr lang="es-AR" sz="2400" b="1" dirty="0" err="1"/>
              <a:t>need</a:t>
            </a:r>
            <a:r>
              <a:rPr lang="es-AR" sz="2400" dirty="0"/>
              <a:t> </a:t>
            </a:r>
            <a:r>
              <a:rPr lang="es-AR" sz="2400" dirty="0" err="1"/>
              <a:t>passwords</a:t>
            </a:r>
            <a:r>
              <a:rPr lang="es-AR" sz="2400" dirty="0"/>
              <a:t> to log in. → </a:t>
            </a:r>
            <a:r>
              <a:rPr lang="es-AR" sz="2400" dirty="0">
                <a:solidFill>
                  <a:srgbClr val="00B0F0"/>
                </a:solidFill>
              </a:rPr>
              <a:t>Los usuarios </a:t>
            </a:r>
            <a:r>
              <a:rPr lang="es-AR" sz="2400" b="1" dirty="0">
                <a:solidFill>
                  <a:srgbClr val="00B0F0"/>
                </a:solidFill>
              </a:rPr>
              <a:t>necesitan</a:t>
            </a:r>
            <a:r>
              <a:rPr lang="es-AR" sz="2400" dirty="0">
                <a:solidFill>
                  <a:srgbClr val="00B0F0"/>
                </a:solidFill>
              </a:rPr>
              <a:t> contraseñas para iniciar sesión.</a:t>
            </a:r>
          </a:p>
          <a:p>
            <a:pPr>
              <a:buFont typeface="+mj-lt"/>
              <a:buAutoNum type="arabicPeriod"/>
            </a:pPr>
            <a:r>
              <a:rPr lang="es-AR" sz="2400" dirty="0" err="1"/>
              <a:t>Technology</a:t>
            </a:r>
            <a:r>
              <a:rPr lang="es-AR" sz="2400" dirty="0"/>
              <a:t> </a:t>
            </a:r>
            <a:r>
              <a:rPr lang="es-AR" sz="2400" b="1" dirty="0" err="1"/>
              <a:t>changes</a:t>
            </a:r>
            <a:r>
              <a:rPr lang="es-AR" sz="2400" dirty="0"/>
              <a:t> </a:t>
            </a:r>
            <a:r>
              <a:rPr lang="es-AR" sz="2400" dirty="0" err="1"/>
              <a:t>our</a:t>
            </a:r>
            <a:r>
              <a:rPr lang="es-AR" sz="2400" dirty="0"/>
              <a:t> </a:t>
            </a:r>
            <a:r>
              <a:rPr lang="es-AR" sz="2400" dirty="0" err="1"/>
              <a:t>lives</a:t>
            </a:r>
            <a:r>
              <a:rPr lang="es-AR" sz="2400" dirty="0"/>
              <a:t>. </a:t>
            </a:r>
            <a:r>
              <a:rPr lang="es-AR" sz="2400" dirty="0">
                <a:solidFill>
                  <a:srgbClr val="00B0F0"/>
                </a:solidFill>
              </a:rPr>
              <a:t>→ La tecnología </a:t>
            </a:r>
            <a:r>
              <a:rPr lang="es-AR" sz="2400" b="1" dirty="0">
                <a:solidFill>
                  <a:srgbClr val="00B0F0"/>
                </a:solidFill>
              </a:rPr>
              <a:t>cambia</a:t>
            </a:r>
            <a:r>
              <a:rPr lang="es-AR" sz="2400" dirty="0">
                <a:solidFill>
                  <a:srgbClr val="00B0F0"/>
                </a:solidFill>
              </a:rPr>
              <a:t> nuestras vidas.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2"/>
          <a:srcRect l="6054" t="18328" r="3600" b="50589"/>
          <a:stretch/>
        </p:blipFill>
        <p:spPr>
          <a:xfrm>
            <a:off x="1512276" y="4847932"/>
            <a:ext cx="7149143" cy="1948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9843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433753" y="358786"/>
            <a:ext cx="9226061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b="1" dirty="0"/>
              <a:t>⏳ </a:t>
            </a:r>
            <a:r>
              <a:rPr lang="es-AR" sz="2400" b="1" dirty="0" err="1"/>
              <a:t>Past</a:t>
            </a:r>
            <a:r>
              <a:rPr lang="es-AR" sz="2400" b="1" dirty="0"/>
              <a:t> Simple (Pasado simple</a:t>
            </a:r>
            <a:r>
              <a:rPr lang="es-AR" sz="2400" b="1" dirty="0" smtClean="0"/>
              <a:t>)</a:t>
            </a:r>
          </a:p>
          <a:p>
            <a:endParaRPr lang="es-AR" sz="2400" b="1" dirty="0"/>
          </a:p>
          <a:p>
            <a:pPr>
              <a:buFont typeface="+mj-lt"/>
              <a:buAutoNum type="arabicPeriod"/>
            </a:pPr>
            <a:r>
              <a:rPr lang="es-AR" sz="2400" dirty="0"/>
              <a:t>Alan Turing </a:t>
            </a:r>
            <a:r>
              <a:rPr lang="es-AR" sz="2400" b="1" dirty="0" err="1"/>
              <a:t>created</a:t>
            </a:r>
            <a:r>
              <a:rPr lang="es-AR" sz="2400" dirty="0"/>
              <a:t> </a:t>
            </a:r>
            <a:r>
              <a:rPr lang="es-AR" sz="2400" dirty="0" err="1"/>
              <a:t>an</a:t>
            </a:r>
            <a:r>
              <a:rPr lang="es-AR" sz="2400" dirty="0"/>
              <a:t> </a:t>
            </a:r>
            <a:r>
              <a:rPr lang="es-AR" sz="2400" dirty="0" err="1"/>
              <a:t>early</a:t>
            </a:r>
            <a:r>
              <a:rPr lang="es-AR" sz="2400" dirty="0"/>
              <a:t> </a:t>
            </a:r>
            <a:r>
              <a:rPr lang="es-AR" sz="2400" dirty="0" err="1"/>
              <a:t>computer</a:t>
            </a:r>
            <a:r>
              <a:rPr lang="es-AR" sz="2400" dirty="0"/>
              <a:t> </a:t>
            </a:r>
            <a:r>
              <a:rPr lang="es-AR" sz="2400" dirty="0" err="1"/>
              <a:t>model</a:t>
            </a:r>
            <a:r>
              <a:rPr lang="es-AR" sz="2400" dirty="0"/>
              <a:t>. → </a:t>
            </a:r>
            <a:r>
              <a:rPr lang="es-AR" sz="2400" dirty="0">
                <a:solidFill>
                  <a:srgbClr val="00B0F0"/>
                </a:solidFill>
              </a:rPr>
              <a:t>Alan Turing </a:t>
            </a:r>
            <a:r>
              <a:rPr lang="es-AR" sz="2400" b="1" dirty="0">
                <a:solidFill>
                  <a:srgbClr val="00B0F0"/>
                </a:solidFill>
              </a:rPr>
              <a:t>creó</a:t>
            </a:r>
            <a:r>
              <a:rPr lang="es-AR" sz="2400" dirty="0">
                <a:solidFill>
                  <a:srgbClr val="00B0F0"/>
                </a:solidFill>
              </a:rPr>
              <a:t> un modelo temprano de computadora</a:t>
            </a:r>
            <a:r>
              <a:rPr lang="es-AR" sz="2400" dirty="0" smtClean="0">
                <a:solidFill>
                  <a:srgbClr val="00B0F0"/>
                </a:solidFill>
              </a:rPr>
              <a:t>.</a:t>
            </a:r>
          </a:p>
          <a:p>
            <a:endParaRPr lang="es-AR" sz="2400" dirty="0"/>
          </a:p>
          <a:p>
            <a:pPr>
              <a:buFont typeface="+mj-lt"/>
              <a:buAutoNum type="arabicPeriod"/>
            </a:pPr>
            <a:r>
              <a:rPr lang="es-AR" sz="2400" dirty="0" err="1"/>
              <a:t>The</a:t>
            </a:r>
            <a:r>
              <a:rPr lang="es-AR" sz="2400" dirty="0"/>
              <a:t> </a:t>
            </a:r>
            <a:r>
              <a:rPr lang="es-AR" sz="2400" dirty="0" err="1"/>
              <a:t>company</a:t>
            </a:r>
            <a:r>
              <a:rPr lang="es-AR" sz="2400" dirty="0"/>
              <a:t> </a:t>
            </a:r>
            <a:r>
              <a:rPr lang="es-AR" sz="2400" b="1" dirty="0" err="1"/>
              <a:t>developed</a:t>
            </a:r>
            <a:r>
              <a:rPr lang="es-AR" sz="2400" dirty="0"/>
              <a:t> new software </a:t>
            </a:r>
            <a:r>
              <a:rPr lang="es-AR" sz="2400" dirty="0" err="1"/>
              <a:t>last</a:t>
            </a:r>
            <a:r>
              <a:rPr lang="es-AR" sz="2400" dirty="0"/>
              <a:t> </a:t>
            </a:r>
            <a:r>
              <a:rPr lang="es-AR" sz="2400" dirty="0" err="1"/>
              <a:t>year</a:t>
            </a:r>
            <a:r>
              <a:rPr lang="es-AR" sz="2400" dirty="0"/>
              <a:t>. </a:t>
            </a:r>
            <a:r>
              <a:rPr lang="es-AR" sz="2400" dirty="0">
                <a:solidFill>
                  <a:srgbClr val="00B0F0"/>
                </a:solidFill>
              </a:rPr>
              <a:t>→ La empresa </a:t>
            </a:r>
            <a:r>
              <a:rPr lang="es-AR" sz="2400" b="1" dirty="0">
                <a:solidFill>
                  <a:srgbClr val="00B0F0"/>
                </a:solidFill>
              </a:rPr>
              <a:t>desarrolló</a:t>
            </a:r>
            <a:r>
              <a:rPr lang="es-AR" sz="2400" dirty="0">
                <a:solidFill>
                  <a:srgbClr val="00B0F0"/>
                </a:solidFill>
              </a:rPr>
              <a:t> nuevo software el año pasado</a:t>
            </a:r>
            <a:r>
              <a:rPr lang="es-AR" sz="2400" dirty="0" smtClean="0">
                <a:solidFill>
                  <a:srgbClr val="00B0F0"/>
                </a:solidFill>
              </a:rPr>
              <a:t>.</a:t>
            </a:r>
          </a:p>
          <a:p>
            <a:endParaRPr lang="es-AR" sz="2400" dirty="0"/>
          </a:p>
          <a:p>
            <a:pPr>
              <a:buFont typeface="+mj-lt"/>
              <a:buAutoNum type="arabicPeriod"/>
            </a:pPr>
            <a:r>
              <a:rPr lang="es-AR" sz="2400" dirty="0" err="1"/>
              <a:t>The</a:t>
            </a:r>
            <a:r>
              <a:rPr lang="es-AR" sz="2400" dirty="0"/>
              <a:t> </a:t>
            </a:r>
            <a:r>
              <a:rPr lang="es-AR" sz="2400" dirty="0" err="1"/>
              <a:t>students</a:t>
            </a:r>
            <a:r>
              <a:rPr lang="es-AR" sz="2400" dirty="0"/>
              <a:t> </a:t>
            </a:r>
            <a:r>
              <a:rPr lang="es-AR" sz="2400" b="1" dirty="0" err="1"/>
              <a:t>learned</a:t>
            </a:r>
            <a:r>
              <a:rPr lang="es-AR" sz="2400" dirty="0"/>
              <a:t> </a:t>
            </a:r>
            <a:r>
              <a:rPr lang="es-AR" sz="2400" dirty="0" err="1"/>
              <a:t>programming</a:t>
            </a:r>
            <a:r>
              <a:rPr lang="es-AR" sz="2400" dirty="0"/>
              <a:t> in </a:t>
            </a:r>
            <a:r>
              <a:rPr lang="es-AR" sz="2400" dirty="0" err="1"/>
              <a:t>class</a:t>
            </a:r>
            <a:r>
              <a:rPr lang="es-AR" sz="2400" dirty="0"/>
              <a:t>. </a:t>
            </a:r>
            <a:r>
              <a:rPr lang="es-AR" sz="2400" dirty="0">
                <a:solidFill>
                  <a:srgbClr val="00B0F0"/>
                </a:solidFill>
              </a:rPr>
              <a:t>→ Los estudiantes </a:t>
            </a:r>
            <a:r>
              <a:rPr lang="es-AR" sz="2400" b="1" dirty="0">
                <a:solidFill>
                  <a:srgbClr val="00B0F0"/>
                </a:solidFill>
              </a:rPr>
              <a:t>aprendieron</a:t>
            </a:r>
            <a:r>
              <a:rPr lang="es-AR" sz="2400" dirty="0">
                <a:solidFill>
                  <a:srgbClr val="00B0F0"/>
                </a:solidFill>
              </a:rPr>
              <a:t> programación en clase</a:t>
            </a:r>
            <a:r>
              <a:rPr lang="es-AR" sz="2400" dirty="0" smtClean="0">
                <a:solidFill>
                  <a:srgbClr val="00B0F0"/>
                </a:solidFill>
              </a:rPr>
              <a:t>.</a:t>
            </a:r>
          </a:p>
          <a:p>
            <a:endParaRPr lang="es-AR" sz="2400" dirty="0"/>
          </a:p>
          <a:p>
            <a:pPr>
              <a:buFont typeface="+mj-lt"/>
              <a:buAutoNum type="arabicPeriod"/>
            </a:pPr>
            <a:r>
              <a:rPr lang="es-AR" sz="2400" dirty="0" err="1"/>
              <a:t>My</a:t>
            </a:r>
            <a:r>
              <a:rPr lang="es-AR" sz="2400" dirty="0"/>
              <a:t> </a:t>
            </a:r>
            <a:r>
              <a:rPr lang="es-AR" sz="2400" dirty="0" err="1"/>
              <a:t>computer</a:t>
            </a:r>
            <a:r>
              <a:rPr lang="es-AR" sz="2400" dirty="0"/>
              <a:t> </a:t>
            </a:r>
            <a:r>
              <a:rPr lang="es-AR" sz="2400" b="1" dirty="0" err="1"/>
              <a:t>crashed</a:t>
            </a:r>
            <a:r>
              <a:rPr lang="es-AR" sz="2400" dirty="0"/>
              <a:t> </a:t>
            </a:r>
            <a:r>
              <a:rPr lang="es-AR" sz="2400" dirty="0" err="1"/>
              <a:t>yesterday</a:t>
            </a:r>
            <a:r>
              <a:rPr lang="es-AR" sz="2400" dirty="0"/>
              <a:t>. → </a:t>
            </a:r>
            <a:r>
              <a:rPr lang="es-AR" sz="2400" dirty="0">
                <a:solidFill>
                  <a:srgbClr val="00B0F0"/>
                </a:solidFill>
              </a:rPr>
              <a:t>Mi computadora </a:t>
            </a:r>
            <a:r>
              <a:rPr lang="es-AR" sz="2400" b="1" dirty="0">
                <a:solidFill>
                  <a:srgbClr val="00B0F0"/>
                </a:solidFill>
              </a:rPr>
              <a:t>falló</a:t>
            </a:r>
            <a:r>
              <a:rPr lang="es-AR" sz="2400" dirty="0">
                <a:solidFill>
                  <a:srgbClr val="00B0F0"/>
                </a:solidFill>
              </a:rPr>
              <a:t> ayer</a:t>
            </a:r>
            <a:r>
              <a:rPr lang="es-AR" sz="2400" dirty="0" smtClean="0">
                <a:solidFill>
                  <a:srgbClr val="00B0F0"/>
                </a:solidFill>
              </a:rPr>
              <a:t>.</a:t>
            </a:r>
          </a:p>
          <a:p>
            <a:endParaRPr lang="es-AR" sz="2400" dirty="0"/>
          </a:p>
          <a:p>
            <a:pPr>
              <a:buFont typeface="+mj-lt"/>
              <a:buAutoNum type="arabicPeriod"/>
            </a:pPr>
            <a:r>
              <a:rPr lang="es-AR" sz="2400" dirty="0" err="1"/>
              <a:t>Engineers</a:t>
            </a:r>
            <a:r>
              <a:rPr lang="es-AR" sz="2400" dirty="0"/>
              <a:t> </a:t>
            </a:r>
            <a:r>
              <a:rPr lang="es-AR" sz="2400" b="1" dirty="0" err="1"/>
              <a:t>designed</a:t>
            </a:r>
            <a:r>
              <a:rPr lang="es-AR" sz="2400" dirty="0"/>
              <a:t> a </a:t>
            </a:r>
            <a:r>
              <a:rPr lang="es-AR" sz="2400" dirty="0" err="1"/>
              <a:t>faster</a:t>
            </a:r>
            <a:r>
              <a:rPr lang="es-AR" sz="2400" dirty="0"/>
              <a:t> </a:t>
            </a:r>
            <a:r>
              <a:rPr lang="es-AR" sz="2400" dirty="0" err="1"/>
              <a:t>processor</a:t>
            </a:r>
            <a:r>
              <a:rPr lang="es-AR" sz="2400" dirty="0"/>
              <a:t>. → </a:t>
            </a:r>
            <a:r>
              <a:rPr lang="es-AR" sz="2400" dirty="0">
                <a:solidFill>
                  <a:srgbClr val="00B0F0"/>
                </a:solidFill>
              </a:rPr>
              <a:t>Los ingenieros </a:t>
            </a:r>
            <a:r>
              <a:rPr lang="es-AR" sz="2400" b="1" dirty="0">
                <a:solidFill>
                  <a:srgbClr val="00B0F0"/>
                </a:solidFill>
              </a:rPr>
              <a:t>diseñaron</a:t>
            </a:r>
            <a:r>
              <a:rPr lang="es-AR" sz="2400" dirty="0">
                <a:solidFill>
                  <a:srgbClr val="00B0F0"/>
                </a:solidFill>
              </a:rPr>
              <a:t> un procesador más rápido.</a:t>
            </a:r>
          </a:p>
        </p:txBody>
      </p:sp>
    </p:spTree>
    <p:extLst>
      <p:ext uri="{BB962C8B-B14F-4D97-AF65-F5344CB8AC3E}">
        <p14:creationId xmlns:p14="http://schemas.microsoft.com/office/powerpoint/2010/main" val="40443567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562707" y="583701"/>
            <a:ext cx="8675077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400" b="1" dirty="0" err="1"/>
              <a:t>Future</a:t>
            </a:r>
            <a:r>
              <a:rPr lang="es-AR" sz="2400" b="1" dirty="0"/>
              <a:t> Simple (Futuro simple</a:t>
            </a:r>
            <a:r>
              <a:rPr lang="es-AR" sz="2400" b="1" dirty="0" smtClean="0"/>
              <a:t>)</a:t>
            </a:r>
          </a:p>
          <a:p>
            <a:endParaRPr lang="es-AR" sz="2400" b="1" dirty="0"/>
          </a:p>
          <a:p>
            <a:pPr>
              <a:buFont typeface="+mj-lt"/>
              <a:buAutoNum type="arabicPeriod"/>
            </a:pPr>
            <a:r>
              <a:rPr lang="es-AR" sz="2400" dirty="0" err="1"/>
              <a:t>Computers</a:t>
            </a:r>
            <a:r>
              <a:rPr lang="es-AR" sz="2400" dirty="0"/>
              <a:t> </a:t>
            </a:r>
            <a:r>
              <a:rPr lang="es-AR" sz="2400" b="1" dirty="0" err="1"/>
              <a:t>will</a:t>
            </a:r>
            <a:r>
              <a:rPr lang="es-AR" sz="2400" b="1" dirty="0"/>
              <a:t> </a:t>
            </a:r>
            <a:r>
              <a:rPr lang="es-AR" sz="2400" b="1" dirty="0" err="1"/>
              <a:t>become</a:t>
            </a:r>
            <a:r>
              <a:rPr lang="es-AR" sz="2400" dirty="0"/>
              <a:t> </a:t>
            </a:r>
            <a:r>
              <a:rPr lang="es-AR" sz="2400" dirty="0" err="1"/>
              <a:t>even</a:t>
            </a:r>
            <a:r>
              <a:rPr lang="es-AR" sz="2400" dirty="0"/>
              <a:t> </a:t>
            </a:r>
            <a:r>
              <a:rPr lang="es-AR" sz="2400" dirty="0" err="1"/>
              <a:t>smaller</a:t>
            </a:r>
            <a:r>
              <a:rPr lang="es-AR" sz="2400" dirty="0"/>
              <a:t>. → Las computadoras </a:t>
            </a:r>
            <a:r>
              <a:rPr lang="es-AR" sz="2400" b="1" dirty="0"/>
              <a:t>serán</a:t>
            </a:r>
            <a:r>
              <a:rPr lang="es-AR" sz="2400" dirty="0"/>
              <a:t> aún más pequeñas</a:t>
            </a:r>
            <a:r>
              <a:rPr lang="es-AR" sz="2400" dirty="0" smtClean="0"/>
              <a:t>.</a:t>
            </a:r>
          </a:p>
          <a:p>
            <a:pPr>
              <a:buFont typeface="+mj-lt"/>
              <a:buAutoNum type="arabicPeriod"/>
            </a:pPr>
            <a:endParaRPr lang="es-AR" sz="2400" dirty="0"/>
          </a:p>
          <a:p>
            <a:pPr>
              <a:buFont typeface="+mj-lt"/>
              <a:buAutoNum type="arabicPeriod"/>
            </a:pPr>
            <a:r>
              <a:rPr lang="es-AR" sz="2400" dirty="0" err="1"/>
              <a:t>Scientists</a:t>
            </a:r>
            <a:r>
              <a:rPr lang="es-AR" sz="2400" dirty="0"/>
              <a:t> </a:t>
            </a:r>
            <a:r>
              <a:rPr lang="es-AR" sz="2400" b="1" dirty="0" err="1"/>
              <a:t>will</a:t>
            </a:r>
            <a:r>
              <a:rPr lang="es-AR" sz="2400" b="1" dirty="0"/>
              <a:t> </a:t>
            </a:r>
            <a:r>
              <a:rPr lang="es-AR" sz="2400" b="1" dirty="0" err="1"/>
              <a:t>discover</a:t>
            </a:r>
            <a:r>
              <a:rPr lang="es-AR" sz="2400" dirty="0"/>
              <a:t> new </a:t>
            </a:r>
            <a:r>
              <a:rPr lang="es-AR" sz="2400" dirty="0" err="1"/>
              <a:t>ways</a:t>
            </a:r>
            <a:r>
              <a:rPr lang="es-AR" sz="2400" dirty="0"/>
              <a:t> to use AI. → Los científicos </a:t>
            </a:r>
            <a:r>
              <a:rPr lang="es-AR" sz="2400" b="1" dirty="0"/>
              <a:t>descubrirán</a:t>
            </a:r>
            <a:r>
              <a:rPr lang="es-AR" sz="2400" dirty="0"/>
              <a:t> nuevas formas de usar la IA</a:t>
            </a:r>
            <a:r>
              <a:rPr lang="es-AR" sz="2400" dirty="0" smtClean="0"/>
              <a:t>.</a:t>
            </a:r>
          </a:p>
          <a:p>
            <a:endParaRPr lang="es-AR" sz="2400" dirty="0"/>
          </a:p>
          <a:p>
            <a:pPr>
              <a:buFont typeface="+mj-lt"/>
              <a:buAutoNum type="arabicPeriod"/>
            </a:pPr>
            <a:r>
              <a:rPr lang="es-AR" sz="2400" dirty="0" err="1"/>
              <a:t>The</a:t>
            </a:r>
            <a:r>
              <a:rPr lang="es-AR" sz="2400" dirty="0"/>
              <a:t> </a:t>
            </a:r>
            <a:r>
              <a:rPr lang="es-AR" sz="2400" dirty="0" err="1"/>
              <a:t>program</a:t>
            </a:r>
            <a:r>
              <a:rPr lang="es-AR" sz="2400" dirty="0"/>
              <a:t> </a:t>
            </a:r>
            <a:r>
              <a:rPr lang="es-AR" sz="2400" b="1" dirty="0" err="1"/>
              <a:t>will</a:t>
            </a:r>
            <a:r>
              <a:rPr lang="es-AR" sz="2400" b="1" dirty="0"/>
              <a:t> run</a:t>
            </a:r>
            <a:r>
              <a:rPr lang="es-AR" sz="2400" dirty="0"/>
              <a:t> </a:t>
            </a:r>
            <a:r>
              <a:rPr lang="es-AR" sz="2400" dirty="0" err="1"/>
              <a:t>faster</a:t>
            </a:r>
            <a:r>
              <a:rPr lang="es-AR" sz="2400" dirty="0"/>
              <a:t> </a:t>
            </a:r>
            <a:r>
              <a:rPr lang="es-AR" sz="2400" dirty="0" err="1"/>
              <a:t>after</a:t>
            </a:r>
            <a:r>
              <a:rPr lang="es-AR" sz="2400" dirty="0"/>
              <a:t> </a:t>
            </a:r>
            <a:r>
              <a:rPr lang="es-AR" sz="2400" dirty="0" err="1"/>
              <a:t>the</a:t>
            </a:r>
            <a:r>
              <a:rPr lang="es-AR" sz="2400" dirty="0"/>
              <a:t> </a:t>
            </a:r>
            <a:r>
              <a:rPr lang="es-AR" sz="2400" dirty="0" err="1"/>
              <a:t>update</a:t>
            </a:r>
            <a:r>
              <a:rPr lang="es-AR" sz="2400" dirty="0"/>
              <a:t>. → El programa </a:t>
            </a:r>
            <a:r>
              <a:rPr lang="es-AR" sz="2400" b="1" dirty="0"/>
              <a:t>funcionará</a:t>
            </a:r>
            <a:r>
              <a:rPr lang="es-AR" sz="2400" dirty="0"/>
              <a:t> más rápido después de la actualización</a:t>
            </a:r>
            <a:r>
              <a:rPr lang="es-AR" sz="2400" dirty="0" smtClean="0"/>
              <a:t>.</a:t>
            </a:r>
          </a:p>
          <a:p>
            <a:endParaRPr lang="es-AR" sz="2400" dirty="0"/>
          </a:p>
          <a:p>
            <a:pPr>
              <a:buFont typeface="+mj-lt"/>
              <a:buAutoNum type="arabicPeriod"/>
            </a:pPr>
            <a:r>
              <a:rPr lang="es-AR" sz="2400" dirty="0" err="1"/>
              <a:t>We</a:t>
            </a:r>
            <a:r>
              <a:rPr lang="es-AR" sz="2400" dirty="0"/>
              <a:t> </a:t>
            </a:r>
            <a:r>
              <a:rPr lang="es-AR" sz="2400" b="1" dirty="0" err="1"/>
              <a:t>will</a:t>
            </a:r>
            <a:r>
              <a:rPr lang="es-AR" sz="2400" b="1" dirty="0"/>
              <a:t> use</a:t>
            </a:r>
            <a:r>
              <a:rPr lang="es-AR" sz="2400" dirty="0"/>
              <a:t> virtual </a:t>
            </a:r>
            <a:r>
              <a:rPr lang="es-AR" sz="2400" dirty="0" err="1"/>
              <a:t>reality</a:t>
            </a:r>
            <a:r>
              <a:rPr lang="es-AR" sz="2400" dirty="0"/>
              <a:t> in </a:t>
            </a:r>
            <a:r>
              <a:rPr lang="es-AR" sz="2400" dirty="0" err="1"/>
              <a:t>classrooms</a:t>
            </a:r>
            <a:r>
              <a:rPr lang="es-AR" sz="2400" dirty="0"/>
              <a:t>. → </a:t>
            </a:r>
            <a:r>
              <a:rPr lang="es-AR" sz="2400" b="1" dirty="0"/>
              <a:t>Usaremos</a:t>
            </a:r>
            <a:r>
              <a:rPr lang="es-AR" sz="2400" dirty="0"/>
              <a:t> realidad virtual en las aulas</a:t>
            </a:r>
            <a:r>
              <a:rPr lang="es-AR" sz="2400" dirty="0" smtClean="0"/>
              <a:t>.</a:t>
            </a:r>
          </a:p>
          <a:p>
            <a:pPr>
              <a:buFont typeface="+mj-lt"/>
              <a:buAutoNum type="arabicPeriod"/>
            </a:pPr>
            <a:endParaRPr lang="es-AR" sz="2400" dirty="0"/>
          </a:p>
          <a:p>
            <a:pPr>
              <a:buFont typeface="+mj-lt"/>
              <a:buAutoNum type="arabicPeriod"/>
            </a:pPr>
            <a:r>
              <a:rPr lang="es-AR" sz="2400" dirty="0" err="1"/>
              <a:t>Technology</a:t>
            </a:r>
            <a:r>
              <a:rPr lang="es-AR" sz="2400" dirty="0"/>
              <a:t> </a:t>
            </a:r>
            <a:r>
              <a:rPr lang="es-AR" sz="2400" b="1" dirty="0" err="1"/>
              <a:t>will</a:t>
            </a:r>
            <a:r>
              <a:rPr lang="es-AR" sz="2400" b="1" dirty="0"/>
              <a:t> </a:t>
            </a:r>
            <a:r>
              <a:rPr lang="es-AR" sz="2400" b="1" dirty="0" err="1"/>
              <a:t>change</a:t>
            </a:r>
            <a:r>
              <a:rPr lang="es-AR" sz="2400" dirty="0"/>
              <a:t> </a:t>
            </a:r>
            <a:r>
              <a:rPr lang="es-AR" sz="2400" dirty="0" err="1"/>
              <a:t>the</a:t>
            </a:r>
            <a:r>
              <a:rPr lang="es-AR" sz="2400" dirty="0"/>
              <a:t> </a:t>
            </a:r>
            <a:r>
              <a:rPr lang="es-AR" sz="2400" dirty="0" err="1"/>
              <a:t>world</a:t>
            </a:r>
            <a:r>
              <a:rPr lang="es-AR" sz="2400" dirty="0"/>
              <a:t>. → La tecnología </a:t>
            </a:r>
            <a:r>
              <a:rPr lang="es-AR" sz="2400" b="1" dirty="0"/>
              <a:t>cambiará</a:t>
            </a:r>
            <a:r>
              <a:rPr lang="es-AR" sz="2400" dirty="0"/>
              <a:t> el mundo.</a:t>
            </a:r>
          </a:p>
        </p:txBody>
      </p:sp>
    </p:spTree>
    <p:extLst>
      <p:ext uri="{BB962C8B-B14F-4D97-AF65-F5344CB8AC3E}">
        <p14:creationId xmlns:p14="http://schemas.microsoft.com/office/powerpoint/2010/main" val="21457849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668216" y="226819"/>
            <a:ext cx="8428892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T</a:t>
            </a:r>
            <a:r>
              <a:rPr lang="en-US" sz="2400" b="1" dirty="0" smtClean="0"/>
              <a:t>he </a:t>
            </a:r>
            <a:r>
              <a:rPr lang="en-US" sz="2400" b="1" dirty="0"/>
              <a:t>Role of Computers in Modern </a:t>
            </a:r>
            <a:r>
              <a:rPr lang="en-US" sz="2400" b="1" dirty="0" smtClean="0"/>
              <a:t>Life</a:t>
            </a:r>
          </a:p>
          <a:p>
            <a:endParaRPr lang="en-US" sz="2400" b="1" dirty="0"/>
          </a:p>
          <a:p>
            <a:r>
              <a:rPr lang="en-US" sz="2400" b="1" dirty="0"/>
              <a:t>🟢 </a:t>
            </a:r>
            <a:r>
              <a:rPr lang="en-US" sz="2400" b="1" dirty="0">
                <a:solidFill>
                  <a:srgbClr val="FF0000"/>
                </a:solidFill>
              </a:rPr>
              <a:t>Present Continuous</a:t>
            </a:r>
          </a:p>
          <a:p>
            <a:r>
              <a:rPr lang="en-US" sz="2400" dirty="0"/>
              <a:t>Today, computers </a:t>
            </a:r>
            <a:r>
              <a:rPr lang="en-US" sz="2400" b="1" dirty="0"/>
              <a:t>are changing</a:t>
            </a:r>
            <a:r>
              <a:rPr lang="en-US" sz="2400" dirty="0"/>
              <a:t> the way people work and communicate. Programmers </a:t>
            </a:r>
            <a:r>
              <a:rPr lang="en-US" sz="2400" b="1" dirty="0"/>
              <a:t>are creating</a:t>
            </a:r>
            <a:r>
              <a:rPr lang="en-US" sz="2400" dirty="0"/>
              <a:t> new applications every day, and companies </a:t>
            </a:r>
            <a:r>
              <a:rPr lang="en-US" sz="2400" b="1" dirty="0"/>
              <a:t>are using</a:t>
            </a:r>
            <a:r>
              <a:rPr lang="en-US" sz="2400" dirty="0"/>
              <a:t> advanced software to improve their products. Many students </a:t>
            </a:r>
            <a:r>
              <a:rPr lang="en-US" sz="2400" b="1" dirty="0"/>
              <a:t>are learning</a:t>
            </a:r>
            <a:r>
              <a:rPr lang="en-US" sz="2400" dirty="0"/>
              <a:t> coding online, and artificial intelligence </a:t>
            </a:r>
            <a:r>
              <a:rPr lang="en-US" sz="2400" b="1" dirty="0"/>
              <a:t>is becoming</a:t>
            </a:r>
            <a:r>
              <a:rPr lang="en-US" sz="2400" dirty="0"/>
              <a:t> more important in many industries</a:t>
            </a:r>
            <a:r>
              <a:rPr lang="en-US" sz="2400" dirty="0" smtClean="0"/>
              <a:t>.</a:t>
            </a:r>
          </a:p>
          <a:p>
            <a:endParaRPr lang="en-US" sz="2400" dirty="0"/>
          </a:p>
          <a:p>
            <a:r>
              <a:rPr lang="en-US" sz="2400" b="1" dirty="0"/>
              <a:t>🔵 </a:t>
            </a:r>
            <a:r>
              <a:rPr lang="en-US" sz="2400" b="1" dirty="0">
                <a:solidFill>
                  <a:srgbClr val="FF0000"/>
                </a:solidFill>
              </a:rPr>
              <a:t>Past Continuous</a:t>
            </a:r>
          </a:p>
          <a:p>
            <a:r>
              <a:rPr lang="en-US" sz="2400" dirty="0"/>
              <a:t>Ten years ago, many engineers </a:t>
            </a:r>
            <a:r>
              <a:rPr lang="en-US" sz="2400" b="1" dirty="0"/>
              <a:t>were developing</a:t>
            </a:r>
            <a:r>
              <a:rPr lang="en-US" sz="2400" dirty="0"/>
              <a:t> faster processors and better networks. At that time, people </a:t>
            </a:r>
            <a:r>
              <a:rPr lang="en-US" sz="2400" b="1" dirty="0"/>
              <a:t>were discovering</a:t>
            </a:r>
            <a:r>
              <a:rPr lang="en-US" sz="2400" dirty="0"/>
              <a:t> social media and </a:t>
            </a:r>
            <a:r>
              <a:rPr lang="en-US" sz="2400" b="1" dirty="0"/>
              <a:t>were spending</a:t>
            </a:r>
            <a:r>
              <a:rPr lang="en-US" sz="2400" dirty="0"/>
              <a:t> more time on the internet. Technology </a:t>
            </a:r>
            <a:r>
              <a:rPr lang="en-US" sz="2400" b="1" dirty="0"/>
              <a:t>was growing</a:t>
            </a:r>
            <a:r>
              <a:rPr lang="en-US" sz="2400" dirty="0"/>
              <a:t> quickly, and new systems </a:t>
            </a:r>
            <a:r>
              <a:rPr lang="en-US" sz="2400" b="1" dirty="0"/>
              <a:t>were appearing</a:t>
            </a:r>
            <a:r>
              <a:rPr lang="en-US" sz="2400" dirty="0"/>
              <a:t> everywhere.</a:t>
            </a:r>
          </a:p>
        </p:txBody>
      </p:sp>
    </p:spTree>
    <p:extLst>
      <p:ext uri="{BB962C8B-B14F-4D97-AF65-F5344CB8AC3E}">
        <p14:creationId xmlns:p14="http://schemas.microsoft.com/office/powerpoint/2010/main" val="2388273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668214" y="830722"/>
            <a:ext cx="8346831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/>
              <a:t>Future </a:t>
            </a:r>
            <a:r>
              <a:rPr lang="en-US" sz="2400" b="1" smtClean="0"/>
              <a:t>Continuous</a:t>
            </a:r>
          </a:p>
          <a:p>
            <a:endParaRPr lang="en-US" sz="2400" b="1" dirty="0"/>
          </a:p>
          <a:p>
            <a:r>
              <a:rPr lang="en-US" sz="2400" dirty="0"/>
              <a:t>In the next decade, computer scientists </a:t>
            </a:r>
            <a:r>
              <a:rPr lang="en-US" sz="2400" b="1" dirty="0"/>
              <a:t>will be designing</a:t>
            </a:r>
            <a:r>
              <a:rPr lang="en-US" sz="2400" dirty="0"/>
              <a:t> smarter machines. People </a:t>
            </a:r>
            <a:r>
              <a:rPr lang="en-US" sz="2400" b="1" dirty="0"/>
              <a:t>will be using</a:t>
            </a:r>
            <a:r>
              <a:rPr lang="en-US" sz="2400" dirty="0"/>
              <a:t> robots and virtual assistants in their daily lives. Companies </a:t>
            </a:r>
            <a:r>
              <a:rPr lang="en-US" sz="2400" b="1" dirty="0"/>
              <a:t>will be working</a:t>
            </a:r>
            <a:r>
              <a:rPr lang="en-US" sz="2400" dirty="0"/>
              <a:t> on new cybersecurity systems, and students </a:t>
            </a:r>
            <a:r>
              <a:rPr lang="en-US" sz="2400" b="1" dirty="0"/>
              <a:t>will be studying</a:t>
            </a:r>
            <a:r>
              <a:rPr lang="en-US" sz="2400" dirty="0"/>
              <a:t> new programming languages to keep up with innovation.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2"/>
          <a:srcRect l="6054" t="18328" r="3600" b="50589"/>
          <a:stretch/>
        </p:blipFill>
        <p:spPr>
          <a:xfrm>
            <a:off x="1184030" y="4425901"/>
            <a:ext cx="7149143" cy="1948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14687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226</TotalTime>
  <Words>1028</Words>
  <Application>Microsoft Office PowerPoint</Application>
  <PresentationFormat>Panorámica</PresentationFormat>
  <Paragraphs>187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32" baseType="lpstr">
      <vt:lpstr>Arial</vt:lpstr>
      <vt:lpstr>Google Sans</vt:lpstr>
      <vt:lpstr>Inter</vt:lpstr>
      <vt:lpstr>Monotype Koufi</vt:lpstr>
      <vt:lpstr>Montserrat</vt:lpstr>
      <vt:lpstr>Trebuchet MS</vt:lpstr>
      <vt:lpstr>Wingdings</vt:lpstr>
      <vt:lpstr>Wingdings 3</vt:lpstr>
      <vt:lpstr>Faceta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Cuenta Microsoft</dc:creator>
  <cp:lastModifiedBy>Cuenta Microsoft</cp:lastModifiedBy>
  <cp:revision>9</cp:revision>
  <dcterms:created xsi:type="dcterms:W3CDTF">2025-10-26T22:08:20Z</dcterms:created>
  <dcterms:modified xsi:type="dcterms:W3CDTF">2025-10-27T01:55:11Z</dcterms:modified>
</cp:coreProperties>
</file>