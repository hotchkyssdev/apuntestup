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embeddedFontLst>
    <p:embeddedFont>
      <p:font typeface="Lato" panose="020F0502020204030203" pitchFamily="34" charset="0"/>
      <p:regular r:id="rId36"/>
      <p:bold r:id="rId37"/>
      <p:italic r:id="rId38"/>
      <p:boldItalic r:id="rId39"/>
    </p:embeddedFont>
    <p:embeddedFont>
      <p:font typeface="Raleway" pitchFamily="2" charset="77"/>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5f28f0ef57_0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5f28f0ef57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96a01dff09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96a01dff09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41cc303afd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41cc303afd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41cc303afd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41cc303af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41cc303afd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41cc303afd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41cc303afd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41cc303af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41cc303afd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41cc303afd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1cc303afd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1cc303af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9687d5218d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9687d5218d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eedfbbab2a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eedfbbab2a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eedfbbab2a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eedfbbab2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9687d5218d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9687d5218d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9687d5218d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9687d5218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9687d5218d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9687d5218d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9687d5218d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9687d5218d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475c6ba51f_4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475c6ba51f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475c6ba51f_4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475c6ba51f_4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9687d5218d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9687d5218d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9687d5218d_1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9687d5218d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475c6ba51f_4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475c6ba51f_4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475c6ba51f_4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475c6ba51f_4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9687d5218d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9687d5218d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9687d5218d_1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9687d5218d_1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4759549468_1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4759549468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9687d5218d_1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9687d5218d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475c6ba51f_4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475c6ba51f_4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475c6ba51f_4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475c6ba51f_4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475c6ba51f_4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475c6ba51f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9687d5218d_1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9687d5218d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475954946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475954946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9687d5218d_1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9687d5218d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475954946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47595494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4759549468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4759549468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w="38100" cap="flat" cmpd="sng">
            <a:solidFill>
              <a:schemeClr val="lt1"/>
            </a:solidFill>
            <a:prstDash val="solid"/>
            <a:round/>
            <a:headEnd type="none" w="sm" len="sm"/>
            <a:tailEnd type="none" w="sm" len="sm"/>
          </a:ln>
        </p:spPr>
      </p:cxnSp>
      <p:cxnSp>
        <p:nvCxnSpPr>
          <p:cNvPr id="11" name="Google Shape;11;p2"/>
          <p:cNvCxnSpPr/>
          <p:nvPr/>
        </p:nvCxnSpPr>
        <p:spPr>
          <a:xfrm>
            <a:off x="2477724" y="4740000"/>
            <a:ext cx="6244200" cy="0"/>
          </a:xfrm>
          <a:prstGeom prst="straightConnector1">
            <a:avLst/>
          </a:prstGeom>
          <a:noFill/>
          <a:ln w="19050" cap="flat" cmpd="sng">
            <a:solidFill>
              <a:schemeClr val="lt1"/>
            </a:solidFill>
            <a:prstDash val="solid"/>
            <a:round/>
            <a:headEnd type="none" w="sm" len="sm"/>
            <a:tailEnd type="none" w="sm" len="sm"/>
          </a:ln>
        </p:spPr>
      </p:cxnSp>
      <p:cxnSp>
        <p:nvCxnSpPr>
          <p:cNvPr id="12" name="Google Shape;12;p2"/>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13" name="Google Shape;13;p2"/>
          <p:cNvSpPr txBox="1">
            <a:spLocks noGrp="1"/>
          </p:cNvSpPr>
          <p:nvPr>
            <p:ph type="ctrTitle"/>
          </p:nvPr>
        </p:nvSpPr>
        <p:spPr>
          <a:xfrm>
            <a:off x="2371725" y="630225"/>
            <a:ext cx="6331500" cy="1542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4" name="Google Shape;14;p2"/>
          <p:cNvSpPr txBox="1">
            <a:spLocks noGrp="1"/>
          </p:cNvSpPr>
          <p:nvPr>
            <p:ph type="subTitle" idx="1"/>
          </p:nvPr>
        </p:nvSpPr>
        <p:spPr>
          <a:xfrm>
            <a:off x="2390267" y="3238450"/>
            <a:ext cx="6331500" cy="1241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5" name="Google Shape;15;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w="38100" cap="flat" cmpd="sng">
            <a:solidFill>
              <a:schemeClr val="lt1"/>
            </a:solidFill>
            <a:prstDash val="solid"/>
            <a:round/>
            <a:headEnd type="none" w="sm" len="sm"/>
            <a:tailEnd type="none" w="sm" len="sm"/>
          </a:ln>
        </p:spPr>
      </p:cxnSp>
      <p:cxnSp>
        <p:nvCxnSpPr>
          <p:cNvPr id="18" name="Google Shape;18;p3"/>
          <p:cNvCxnSpPr/>
          <p:nvPr/>
        </p:nvCxnSpPr>
        <p:spPr>
          <a:xfrm>
            <a:off x="425200" y="4740000"/>
            <a:ext cx="8296800" cy="0"/>
          </a:xfrm>
          <a:prstGeom prst="straightConnector1">
            <a:avLst/>
          </a:prstGeom>
          <a:noFill/>
          <a:ln w="19050" cap="flat" cmpd="sng">
            <a:solidFill>
              <a:schemeClr val="lt1"/>
            </a:solidFill>
            <a:prstDash val="solid"/>
            <a:round/>
            <a:headEnd type="none" w="sm" len="sm"/>
            <a:tailEnd type="none" w="sm" len="sm"/>
          </a:ln>
        </p:spPr>
      </p:cxnSp>
      <p:sp>
        <p:nvSpPr>
          <p:cNvPr id="19" name="Google Shape;19;p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20" name="Google Shape;20;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7" name="Google Shape;27;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30" name="Google Shape;30;p5"/>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31" name="Google Shape;31;p5"/>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32" name="Google Shape;32;p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5"/>
          <p:cNvSpPr txBox="1">
            <a:spLocks noGrp="1"/>
          </p:cNvSpPr>
          <p:nvPr>
            <p:ph type="body" idx="1"/>
          </p:nvPr>
        </p:nvSpPr>
        <p:spPr>
          <a:xfrm>
            <a:off x="2400303"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 name="Google Shape;34;p5"/>
          <p:cNvSpPr txBox="1">
            <a:spLocks noGrp="1"/>
          </p:cNvSpPr>
          <p:nvPr>
            <p:ph type="body" idx="2"/>
          </p:nvPr>
        </p:nvSpPr>
        <p:spPr>
          <a:xfrm>
            <a:off x="5650572" y="1602675"/>
            <a:ext cx="3071400" cy="3002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5"/>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 name="Google Shape;38;p6"/>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41" name="Google Shape;41;p7"/>
          <p:cNvSpPr txBox="1">
            <a:spLocks noGrp="1"/>
          </p:cNvSpPr>
          <p:nvPr>
            <p:ph type="title"/>
          </p:nvPr>
        </p:nvSpPr>
        <p:spPr>
          <a:xfrm>
            <a:off x="319500" y="936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2" name="Google Shape;42;p7"/>
          <p:cNvSpPr txBox="1">
            <a:spLocks noGrp="1"/>
          </p:cNvSpPr>
          <p:nvPr>
            <p:ph type="body" idx="1"/>
          </p:nvPr>
        </p:nvSpPr>
        <p:spPr>
          <a:xfrm>
            <a:off x="319500" y="1846804"/>
            <a:ext cx="2808000" cy="2806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3" name="Google Shape;43;p7"/>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47" name="Google Shape;47;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 name="Google Shape;50;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51" name="Google Shape;51;p9"/>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a:endParaRPr/>
          </a:p>
        </p:txBody>
      </p:sp>
      <p:sp>
        <p:nvSpPr>
          <p:cNvPr id="52" name="Google Shape;52;p9"/>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4" name="Google Shape;54;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57" name="Google Shape;57;p10"/>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58" name="Google Shape;58;p10"/>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9" name="Google Shape;59;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w="19050" cap="flat" cmpd="sng">
            <a:solidFill>
              <a:schemeClr val="dk2"/>
            </a:solidFill>
            <a:prstDash val="solid"/>
            <a:round/>
            <a:headEnd type="none" w="sm" len="sm"/>
            <a:tailEnd type="none" w="sm" len="sm"/>
          </a:ln>
        </p:spPr>
      </p:cxnSp>
      <p:cxnSp>
        <p:nvCxnSpPr>
          <p:cNvPr id="62" name="Google Shape;62;p11"/>
          <p:cNvCxnSpPr/>
          <p:nvPr/>
        </p:nvCxnSpPr>
        <p:spPr>
          <a:xfrm>
            <a:off x="425200" y="415650"/>
            <a:ext cx="8296800" cy="0"/>
          </a:xfrm>
          <a:prstGeom prst="straightConnector1">
            <a:avLst/>
          </a:prstGeom>
          <a:noFill/>
          <a:ln w="38100" cap="flat" cmpd="sng">
            <a:solidFill>
              <a:schemeClr val="dk2"/>
            </a:solidFill>
            <a:prstDash val="solid"/>
            <a:round/>
            <a:headEnd type="none" w="sm" len="sm"/>
            <a:tailEnd type="none" w="sm" len="sm"/>
          </a:ln>
        </p:spPr>
      </p:cxnSp>
      <p:sp>
        <p:nvSpPr>
          <p:cNvPr id="63" name="Google Shape;63;p11"/>
          <p:cNvSpPr txBox="1">
            <a:spLocks noGrp="1"/>
          </p:cNvSpPr>
          <p:nvPr>
            <p:ph type="title" hasCustomPrompt="1"/>
          </p:nvPr>
        </p:nvSpPr>
        <p:spPr>
          <a:xfrm>
            <a:off x="853950" y="1304850"/>
            <a:ext cx="74361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a:spLocks noGrp="1"/>
          </p:cNvSpPr>
          <p:nvPr>
            <p:ph type="body" idx="1"/>
          </p:nvPr>
        </p:nvSpPr>
        <p:spPr>
          <a:xfrm>
            <a:off x="853950" y="2919450"/>
            <a:ext cx="74361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5" name="Google Shape;65;p11"/>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1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wiss-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400250" y="575950"/>
            <a:ext cx="6321600" cy="63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2410112" y="1595776"/>
            <a:ext cx="6321600" cy="3002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marL="914400" lvl="1"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marL="1371600" lvl="2"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marL="1828800" lvl="3"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marL="2286000" lvl="4"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marL="2743200" lvl="5"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marL="3200400" lvl="6"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marL="3657600" lvl="7" indent="-3175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marL="4114800" lvl="8" indent="-3175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3"/>
          <p:cNvSpPr txBox="1">
            <a:spLocks noGrp="1"/>
          </p:cNvSpPr>
          <p:nvPr>
            <p:ph type="ctrTitle"/>
          </p:nvPr>
        </p:nvSpPr>
        <p:spPr>
          <a:xfrm>
            <a:off x="311700" y="539725"/>
            <a:ext cx="8520600" cy="166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Excepciones</a:t>
            </a:r>
            <a:endParaRPr dirty="0"/>
          </a:p>
          <a:p>
            <a:pPr marL="0" lvl="0" indent="0" algn="l" rtl="0">
              <a:spcBef>
                <a:spcPts val="0"/>
              </a:spcBef>
              <a:spcAft>
                <a:spcPts val="0"/>
              </a:spcAft>
              <a:buNone/>
            </a:pPr>
            <a:r>
              <a:rPr lang="en" sz="1800" dirty="0" err="1"/>
              <a:t>Programación</a:t>
            </a:r>
            <a:r>
              <a:rPr lang="en" sz="1800" dirty="0"/>
              <a:t> II</a:t>
            </a:r>
            <a:endParaRPr sz="1800" dirty="0"/>
          </a:p>
        </p:txBody>
      </p:sp>
      <p:sp>
        <p:nvSpPr>
          <p:cNvPr id="73" name="Google Shape;73;p13"/>
          <p:cNvSpPr txBox="1">
            <a:spLocks noGrp="1"/>
          </p:cNvSpPr>
          <p:nvPr>
            <p:ph type="subTitle" idx="1"/>
          </p:nvPr>
        </p:nvSpPr>
        <p:spPr>
          <a:xfrm>
            <a:off x="311700" y="2537898"/>
            <a:ext cx="4242600" cy="989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Facundo Uferer</a:t>
            </a:r>
            <a:endParaRPr/>
          </a:p>
          <a:p>
            <a:pPr marL="0" lvl="0" indent="0" algn="l" rtl="0">
              <a:spcBef>
                <a:spcPts val="0"/>
              </a:spcBef>
              <a:spcAft>
                <a:spcPts val="0"/>
              </a:spcAft>
              <a:buNone/>
            </a:pPr>
            <a:r>
              <a:rPr lang="en"/>
              <a:t>juanfacundouf@gmail.com</a:t>
            </a:r>
            <a:endParaRPr/>
          </a:p>
          <a:p>
            <a:pPr marL="0" lvl="0" indent="0" algn="l" rtl="0">
              <a:spcBef>
                <a:spcPts val="0"/>
              </a:spcBef>
              <a:spcAft>
                <a:spcPts val="0"/>
              </a:spcAft>
              <a:buNone/>
            </a:pPr>
            <a:r>
              <a:rPr lang="en"/>
              <a:t>UTN-FRR</a:t>
            </a:r>
            <a:endParaRPr/>
          </a:p>
        </p:txBody>
      </p:sp>
      <p:pic>
        <p:nvPicPr>
          <p:cNvPr id="74" name="Google Shape;74;p13"/>
          <p:cNvPicPr preferRelativeResize="0"/>
          <p:nvPr/>
        </p:nvPicPr>
        <p:blipFill>
          <a:blip r:embed="rId3">
            <a:alphaModFix/>
          </a:blip>
          <a:stretch>
            <a:fillRect/>
          </a:stretch>
        </p:blipFill>
        <p:spPr>
          <a:xfrm>
            <a:off x="4572001" y="2734700"/>
            <a:ext cx="4002376" cy="189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¿Qué es una excepción?</a:t>
            </a:r>
            <a:endParaRPr/>
          </a:p>
        </p:txBody>
      </p:sp>
      <p:sp>
        <p:nvSpPr>
          <p:cNvPr id="80" name="Google Shape;80;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Una excepción es la indicación de que se produjo un error en el programa. </a:t>
            </a:r>
            <a:endParaRPr/>
          </a:p>
          <a:p>
            <a:pPr marL="0" lvl="0" indent="0" algn="l" rtl="0">
              <a:spcBef>
                <a:spcPts val="1600"/>
              </a:spcBef>
              <a:spcAft>
                <a:spcPts val="1600"/>
              </a:spcAft>
              <a:buNone/>
            </a:pPr>
            <a:r>
              <a:rPr lang="en"/>
              <a:t>Las excepciones, como su nombre lo indica, se producen cuando la ejecución de un método no termina correctamente, sino que termina de manera excepcional como consecuencia de una situación no esperada.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Excepciones (Exception)</a:t>
            </a:r>
            <a:endParaRPr/>
          </a:p>
        </p:txBody>
      </p:sp>
      <p:sp>
        <p:nvSpPr>
          <p:cNvPr id="86" name="Google Shape;86;p15"/>
          <p:cNvSpPr txBox="1">
            <a:spLocks noGrp="1"/>
          </p:cNvSpPr>
          <p:nvPr>
            <p:ph type="body" idx="1"/>
          </p:nvPr>
        </p:nvSpPr>
        <p:spPr>
          <a:xfrm>
            <a:off x="205575" y="1281975"/>
            <a:ext cx="4881300" cy="3323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700" b="1"/>
              <a:t>En Java los errores en tiempo de ejecución (cuando se está ejecutando el programa) se denominan excepciones, y esto ocurre cuando se produce un error en alguna de las instrucciones de nuestro programa, como por ejemplo cuando se hace una división entre cero,  cuando un objeto es 'null' y no puede serlo, cuando no se abre correctamente un fichero, etc. Cuando se produce una excepción se muestra en la pantalla un mensaje de error y finaliza la ejecución del programa.</a:t>
            </a:r>
            <a:endParaRPr sz="1700" b="1"/>
          </a:p>
        </p:txBody>
      </p:sp>
      <p:sp>
        <p:nvSpPr>
          <p:cNvPr id="87" name="Google Shape;87;p15"/>
          <p:cNvSpPr txBox="1">
            <a:spLocks noGrp="1"/>
          </p:cNvSpPr>
          <p:nvPr>
            <p:ph type="body" idx="2"/>
          </p:nvPr>
        </p:nvSpPr>
        <p:spPr>
          <a:xfrm>
            <a:off x="5565675" y="1404575"/>
            <a:ext cx="3292200" cy="30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 Java (al igual que en otros lenguajes de programación), existen mucho tipos de excepciones y enumerar cada uno de ellos sería casi una labor infinita. En lo referente a las excepciones hay que decir que se aprenden a base experiencia, de encontrarte con ellas y de saber solucionarlas.</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title"/>
          </p:nvPr>
        </p:nvSpPr>
        <p:spPr>
          <a:xfrm>
            <a:off x="311725" y="500925"/>
            <a:ext cx="3127500" cy="124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Excepciones (Exception)</a:t>
            </a:r>
            <a:endParaRPr/>
          </a:p>
        </p:txBody>
      </p:sp>
      <p:sp>
        <p:nvSpPr>
          <p:cNvPr id="93" name="Google Shape;93;p16"/>
          <p:cNvSpPr txBox="1">
            <a:spLocks noGrp="1"/>
          </p:cNvSpPr>
          <p:nvPr>
            <p:ph type="body" idx="1"/>
          </p:nvPr>
        </p:nvSpPr>
        <p:spPr>
          <a:xfrm>
            <a:off x="169425" y="1585400"/>
            <a:ext cx="3449100" cy="3103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Cuando en Java se produce una excepción se crear un objeto de una determina clase (dependiendo del tipo de error que se haya producido), que mantendrá la información sobre el error producido y nos proporcionará los métodos necesarios para obtener dicha información. Estas clases tienen como clase padre la clase Throwable, por tanto se mantiene una jerarquía en las excepciones. A continuación algunas de las clases para que nos hagamos una idea de la jerarquía que siguen las excepciones, pero existen muchísimas más excepciones</a:t>
            </a:r>
            <a:endParaRPr/>
          </a:p>
        </p:txBody>
      </p:sp>
      <p:sp>
        <p:nvSpPr>
          <p:cNvPr id="94" name="Google Shape;94;p16"/>
          <p:cNvSpPr/>
          <p:nvPr/>
        </p:nvSpPr>
        <p:spPr>
          <a:xfrm>
            <a:off x="4899850" y="196575"/>
            <a:ext cx="919800" cy="431700"/>
          </a:xfrm>
          <a:prstGeom prst="roundRect">
            <a:avLst>
              <a:gd name="adj" fmla="val 16667"/>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Error</a:t>
            </a:r>
            <a:endParaRPr/>
          </a:p>
        </p:txBody>
      </p:sp>
      <p:sp>
        <p:nvSpPr>
          <p:cNvPr id="95" name="Google Shape;95;p16"/>
          <p:cNvSpPr/>
          <p:nvPr/>
        </p:nvSpPr>
        <p:spPr>
          <a:xfrm>
            <a:off x="3595600" y="1014075"/>
            <a:ext cx="1637700" cy="672600"/>
          </a:xfrm>
          <a:prstGeom prst="roundRect">
            <a:avLst>
              <a:gd name="adj" fmla="val 16667"/>
            </a:avLst>
          </a:prstGeom>
          <a:solidFill>
            <a:srgbClr val="783F0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Tiempo de compilación (sintaxis)</a:t>
            </a:r>
            <a:endParaRPr>
              <a:solidFill>
                <a:srgbClr val="FFFFFF"/>
              </a:solidFill>
            </a:endParaRPr>
          </a:p>
        </p:txBody>
      </p:sp>
      <p:sp>
        <p:nvSpPr>
          <p:cNvPr id="96" name="Google Shape;96;p16"/>
          <p:cNvSpPr/>
          <p:nvPr/>
        </p:nvSpPr>
        <p:spPr>
          <a:xfrm>
            <a:off x="5509675" y="1014075"/>
            <a:ext cx="1637700" cy="672600"/>
          </a:xfrm>
          <a:prstGeom prst="roundRect">
            <a:avLst>
              <a:gd name="adj" fmla="val 16667"/>
            </a:avLst>
          </a:prstGeom>
          <a:solidFill>
            <a:srgbClr val="783F0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Tiempo de ejecución</a:t>
            </a:r>
            <a:endParaRPr>
              <a:solidFill>
                <a:srgbClr val="FFFFFF"/>
              </a:solidFill>
            </a:endParaRPr>
          </a:p>
        </p:txBody>
      </p:sp>
      <p:sp>
        <p:nvSpPr>
          <p:cNvPr id="97" name="Google Shape;97;p16"/>
          <p:cNvSpPr/>
          <p:nvPr/>
        </p:nvSpPr>
        <p:spPr>
          <a:xfrm>
            <a:off x="5667250" y="2079750"/>
            <a:ext cx="1260000" cy="526800"/>
          </a:xfrm>
          <a:prstGeom prst="roundRect">
            <a:avLst>
              <a:gd name="adj" fmla="val 16667"/>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Throwable</a:t>
            </a:r>
            <a:endParaRPr>
              <a:solidFill>
                <a:srgbClr val="FFFFFF"/>
              </a:solidFill>
            </a:endParaRPr>
          </a:p>
        </p:txBody>
      </p:sp>
      <p:sp>
        <p:nvSpPr>
          <p:cNvPr id="98" name="Google Shape;98;p16"/>
          <p:cNvSpPr/>
          <p:nvPr/>
        </p:nvSpPr>
        <p:spPr>
          <a:xfrm>
            <a:off x="4559638" y="3283350"/>
            <a:ext cx="1260000" cy="526800"/>
          </a:xfrm>
          <a:prstGeom prst="roundRect">
            <a:avLst>
              <a:gd name="adj" fmla="val 16667"/>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Error</a:t>
            </a:r>
            <a:endParaRPr/>
          </a:p>
        </p:txBody>
      </p:sp>
      <p:sp>
        <p:nvSpPr>
          <p:cNvPr id="99" name="Google Shape;99;p16"/>
          <p:cNvSpPr/>
          <p:nvPr/>
        </p:nvSpPr>
        <p:spPr>
          <a:xfrm>
            <a:off x="6455950" y="3306200"/>
            <a:ext cx="1260000" cy="526800"/>
          </a:xfrm>
          <a:prstGeom prst="roundRect">
            <a:avLst>
              <a:gd name="adj" fmla="val 16667"/>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Exception</a:t>
            </a:r>
            <a:endParaRPr/>
          </a:p>
        </p:txBody>
      </p:sp>
      <p:sp>
        <p:nvSpPr>
          <p:cNvPr id="100" name="Google Shape;100;p16"/>
          <p:cNvSpPr/>
          <p:nvPr/>
        </p:nvSpPr>
        <p:spPr>
          <a:xfrm>
            <a:off x="7305515" y="4385425"/>
            <a:ext cx="1743300" cy="526800"/>
          </a:xfrm>
          <a:prstGeom prst="roundRect">
            <a:avLst>
              <a:gd name="adj" fmla="val 16667"/>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783F04"/>
                </a:solidFill>
              </a:rPr>
              <a:t>RuntimeException</a:t>
            </a:r>
            <a:endParaRPr>
              <a:solidFill>
                <a:srgbClr val="783F04"/>
              </a:solidFill>
            </a:endParaRPr>
          </a:p>
        </p:txBody>
      </p:sp>
      <p:sp>
        <p:nvSpPr>
          <p:cNvPr id="101" name="Google Shape;101;p16"/>
          <p:cNvSpPr/>
          <p:nvPr/>
        </p:nvSpPr>
        <p:spPr>
          <a:xfrm>
            <a:off x="5332350" y="4418650"/>
            <a:ext cx="1743300" cy="526800"/>
          </a:xfrm>
          <a:prstGeom prst="roundRect">
            <a:avLst>
              <a:gd name="adj" fmla="val 16667"/>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783F04"/>
                </a:solidFill>
              </a:rPr>
              <a:t>IOException</a:t>
            </a:r>
            <a:endParaRPr>
              <a:solidFill>
                <a:srgbClr val="783F04"/>
              </a:solidFill>
            </a:endParaRPr>
          </a:p>
        </p:txBody>
      </p:sp>
      <p:cxnSp>
        <p:nvCxnSpPr>
          <p:cNvPr id="102" name="Google Shape;102;p16"/>
          <p:cNvCxnSpPr>
            <a:stCxn id="94" idx="2"/>
            <a:endCxn id="95" idx="0"/>
          </p:cNvCxnSpPr>
          <p:nvPr/>
        </p:nvCxnSpPr>
        <p:spPr>
          <a:xfrm rot="5400000">
            <a:off x="4694200" y="348525"/>
            <a:ext cx="385800" cy="9453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03" name="Google Shape;103;p16"/>
          <p:cNvCxnSpPr>
            <a:stCxn id="94" idx="2"/>
            <a:endCxn id="96" idx="0"/>
          </p:cNvCxnSpPr>
          <p:nvPr/>
        </p:nvCxnSpPr>
        <p:spPr>
          <a:xfrm rot="-5400000" flipH="1">
            <a:off x="5651200" y="336825"/>
            <a:ext cx="385800" cy="9687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04" name="Google Shape;104;p16"/>
          <p:cNvCxnSpPr>
            <a:stCxn id="96" idx="2"/>
            <a:endCxn id="97" idx="0"/>
          </p:cNvCxnSpPr>
          <p:nvPr/>
        </p:nvCxnSpPr>
        <p:spPr>
          <a:xfrm rot="5400000">
            <a:off x="6116425" y="1867575"/>
            <a:ext cx="393000" cy="31200"/>
          </a:xfrm>
          <a:prstGeom prst="bentConnector3">
            <a:avLst>
              <a:gd name="adj1" fmla="val 50010"/>
            </a:avLst>
          </a:prstGeom>
          <a:noFill/>
          <a:ln w="9525" cap="flat" cmpd="sng">
            <a:solidFill>
              <a:schemeClr val="dk2"/>
            </a:solidFill>
            <a:prstDash val="solid"/>
            <a:round/>
            <a:headEnd type="none" w="med" len="med"/>
            <a:tailEnd type="none" w="med" len="med"/>
          </a:ln>
        </p:spPr>
      </p:cxnSp>
      <p:cxnSp>
        <p:nvCxnSpPr>
          <p:cNvPr id="105" name="Google Shape;105;p16"/>
          <p:cNvCxnSpPr>
            <a:stCxn id="97" idx="2"/>
            <a:endCxn id="98" idx="0"/>
          </p:cNvCxnSpPr>
          <p:nvPr/>
        </p:nvCxnSpPr>
        <p:spPr>
          <a:xfrm rot="5400000">
            <a:off x="5405050" y="2391150"/>
            <a:ext cx="676800" cy="11076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06" name="Google Shape;106;p16"/>
          <p:cNvCxnSpPr>
            <a:stCxn id="97" idx="2"/>
            <a:endCxn id="99" idx="0"/>
          </p:cNvCxnSpPr>
          <p:nvPr/>
        </p:nvCxnSpPr>
        <p:spPr>
          <a:xfrm rot="-5400000" flipH="1">
            <a:off x="6341800" y="2562000"/>
            <a:ext cx="699600" cy="788700"/>
          </a:xfrm>
          <a:prstGeom prst="bentConnector3">
            <a:avLst>
              <a:gd name="adj1" fmla="val 50004"/>
            </a:avLst>
          </a:prstGeom>
          <a:noFill/>
          <a:ln w="9525" cap="flat" cmpd="sng">
            <a:solidFill>
              <a:schemeClr val="dk2"/>
            </a:solidFill>
            <a:prstDash val="solid"/>
            <a:round/>
            <a:headEnd type="none" w="med" len="med"/>
            <a:tailEnd type="none" w="med" len="med"/>
          </a:ln>
        </p:spPr>
      </p:cxnSp>
      <p:cxnSp>
        <p:nvCxnSpPr>
          <p:cNvPr id="107" name="Google Shape;107;p16"/>
          <p:cNvCxnSpPr>
            <a:stCxn id="99" idx="2"/>
            <a:endCxn id="101" idx="0"/>
          </p:cNvCxnSpPr>
          <p:nvPr/>
        </p:nvCxnSpPr>
        <p:spPr>
          <a:xfrm rot="5400000">
            <a:off x="6352150" y="3684800"/>
            <a:ext cx="585600" cy="882000"/>
          </a:xfrm>
          <a:prstGeom prst="bentConnector3">
            <a:avLst>
              <a:gd name="adj1" fmla="val 50004"/>
            </a:avLst>
          </a:prstGeom>
          <a:noFill/>
          <a:ln w="9525" cap="flat" cmpd="sng">
            <a:solidFill>
              <a:schemeClr val="dk2"/>
            </a:solidFill>
            <a:prstDash val="solid"/>
            <a:round/>
            <a:headEnd type="none" w="med" len="med"/>
            <a:tailEnd type="none" w="med" len="med"/>
          </a:ln>
        </p:spPr>
      </p:cxnSp>
      <p:cxnSp>
        <p:nvCxnSpPr>
          <p:cNvPr id="108" name="Google Shape;108;p16"/>
          <p:cNvCxnSpPr>
            <a:stCxn id="99" idx="2"/>
            <a:endCxn id="100" idx="0"/>
          </p:cNvCxnSpPr>
          <p:nvPr/>
        </p:nvCxnSpPr>
        <p:spPr>
          <a:xfrm rot="-5400000" flipH="1">
            <a:off x="7355350" y="3563600"/>
            <a:ext cx="552300" cy="1091100"/>
          </a:xfrm>
          <a:prstGeom prst="bentConnector3">
            <a:avLst>
              <a:gd name="adj1" fmla="val 5001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311750" y="831175"/>
            <a:ext cx="8317200" cy="124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9600"/>
              <a:t>Exception</a:t>
            </a:r>
            <a:endParaRPr sz="9600"/>
          </a:p>
        </p:txBody>
      </p:sp>
      <p:sp>
        <p:nvSpPr>
          <p:cNvPr id="114" name="Google Shape;114;p17"/>
          <p:cNvSpPr txBox="1">
            <a:spLocks noGrp="1"/>
          </p:cNvSpPr>
          <p:nvPr>
            <p:ph type="body" idx="1"/>
          </p:nvPr>
        </p:nvSpPr>
        <p:spPr>
          <a:xfrm>
            <a:off x="311700" y="2415375"/>
            <a:ext cx="8523000" cy="23721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3000"/>
              <a:t>Podríamos resumir (muy a lo criollo) que las excepciones son ERRORES y el control de ellas es la captura de los ERRORES para controlar el flujo del programa. </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18"/>
          <p:cNvPicPr preferRelativeResize="0"/>
          <p:nvPr/>
        </p:nvPicPr>
        <p:blipFill>
          <a:blip r:embed="rId3">
            <a:alphaModFix/>
          </a:blip>
          <a:stretch>
            <a:fillRect/>
          </a:stretch>
        </p:blipFill>
        <p:spPr>
          <a:xfrm>
            <a:off x="152400" y="152400"/>
            <a:ext cx="3190875" cy="4333875"/>
          </a:xfrm>
          <a:prstGeom prst="rect">
            <a:avLst/>
          </a:prstGeom>
          <a:noFill/>
          <a:ln>
            <a:noFill/>
          </a:ln>
        </p:spPr>
      </p:pic>
      <p:cxnSp>
        <p:nvCxnSpPr>
          <p:cNvPr id="120" name="Google Shape;120;p18"/>
          <p:cNvCxnSpPr/>
          <p:nvPr/>
        </p:nvCxnSpPr>
        <p:spPr>
          <a:xfrm rot="10800000">
            <a:off x="762500" y="1210250"/>
            <a:ext cx="2275200" cy="0"/>
          </a:xfrm>
          <a:prstGeom prst="straightConnector1">
            <a:avLst/>
          </a:prstGeom>
          <a:noFill/>
          <a:ln w="114300" cap="flat" cmpd="sng">
            <a:solidFill>
              <a:srgbClr val="FF0000"/>
            </a:solidFill>
            <a:prstDash val="solid"/>
            <a:round/>
            <a:headEnd type="none" w="med" len="med"/>
            <a:tailEnd type="none" w="med" len="med"/>
          </a:ln>
        </p:spPr>
      </p:cxnSp>
      <p:sp>
        <p:nvSpPr>
          <p:cNvPr id="121" name="Google Shape;121;p18"/>
          <p:cNvSpPr/>
          <p:nvPr/>
        </p:nvSpPr>
        <p:spPr>
          <a:xfrm>
            <a:off x="3291825" y="750350"/>
            <a:ext cx="525300" cy="992400"/>
          </a:xfrm>
          <a:prstGeom prst="curvedLeftArrow">
            <a:avLst>
              <a:gd name="adj1" fmla="val 25000"/>
              <a:gd name="adj2" fmla="val 50000"/>
              <a:gd name="adj3" fmla="val 25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8"/>
          <p:cNvSpPr/>
          <p:nvPr/>
        </p:nvSpPr>
        <p:spPr>
          <a:xfrm>
            <a:off x="96825" y="750350"/>
            <a:ext cx="798600" cy="822900"/>
          </a:xfrm>
          <a:prstGeom prst="mathMultiply">
            <a:avLst>
              <a:gd name="adj1" fmla="val 2352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8"/>
          <p:cNvSpPr txBox="1"/>
          <p:nvPr/>
        </p:nvSpPr>
        <p:spPr>
          <a:xfrm>
            <a:off x="4199525" y="520400"/>
            <a:ext cx="4368900" cy="406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Roboto"/>
                <a:ea typeface="Roboto"/>
                <a:cs typeface="Roboto"/>
                <a:sym typeface="Roboto"/>
              </a:rPr>
              <a:t>El error en la línea en rojo podría hacer que todo el programa caiga.</a:t>
            </a:r>
            <a:endParaRPr sz="2400">
              <a:latin typeface="Roboto"/>
              <a:ea typeface="Roboto"/>
              <a:cs typeface="Roboto"/>
              <a:sym typeface="Roboto"/>
            </a:endParaRPr>
          </a:p>
          <a:p>
            <a:pPr marL="0" lvl="0" indent="0" algn="l" rtl="0">
              <a:spcBef>
                <a:spcPts val="0"/>
              </a:spcBef>
              <a:spcAft>
                <a:spcPts val="0"/>
              </a:spcAft>
              <a:buNone/>
            </a:pPr>
            <a:endParaRPr sz="2400">
              <a:latin typeface="Roboto"/>
              <a:ea typeface="Roboto"/>
              <a:cs typeface="Roboto"/>
              <a:sym typeface="Roboto"/>
            </a:endParaRPr>
          </a:p>
          <a:p>
            <a:pPr marL="0" lvl="0" indent="0" algn="l" rtl="0">
              <a:spcBef>
                <a:spcPts val="0"/>
              </a:spcBef>
              <a:spcAft>
                <a:spcPts val="0"/>
              </a:spcAft>
              <a:buNone/>
            </a:pPr>
            <a:r>
              <a:rPr lang="en" sz="2400">
                <a:latin typeface="Roboto"/>
                <a:ea typeface="Roboto"/>
                <a:cs typeface="Roboto"/>
                <a:sym typeface="Roboto"/>
              </a:rPr>
              <a:t>Pero si controlamos la excepción, capturando, podemos hacer que el programa siga operando y a la par informe al usuario qué tipo de error tiene. </a:t>
            </a:r>
            <a:endParaRPr sz="24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9"/>
          <p:cNvSpPr txBox="1"/>
          <p:nvPr/>
        </p:nvSpPr>
        <p:spPr>
          <a:xfrm>
            <a:off x="84725" y="3028275"/>
            <a:ext cx="2002500" cy="108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latin typeface="Roboto"/>
                <a:ea typeface="Roboto"/>
                <a:cs typeface="Roboto"/>
                <a:sym typeface="Roboto"/>
              </a:rPr>
              <a:t>Error de hardware</a:t>
            </a:r>
            <a:endParaRPr sz="1200">
              <a:solidFill>
                <a:srgbClr val="FF0000"/>
              </a:solidFill>
              <a:latin typeface="Roboto"/>
              <a:ea typeface="Roboto"/>
              <a:cs typeface="Roboto"/>
              <a:sym typeface="Roboto"/>
            </a:endParaRPr>
          </a:p>
          <a:p>
            <a:pPr marL="0" lvl="0" indent="0" algn="l" rtl="0">
              <a:spcBef>
                <a:spcPts val="0"/>
              </a:spcBef>
              <a:spcAft>
                <a:spcPts val="0"/>
              </a:spcAft>
              <a:buNone/>
            </a:pPr>
            <a:r>
              <a:rPr lang="en" sz="1200">
                <a:solidFill>
                  <a:srgbClr val="FF0000"/>
                </a:solidFill>
                <a:latin typeface="Roboto"/>
                <a:ea typeface="Roboto"/>
                <a:cs typeface="Roboto"/>
                <a:sym typeface="Roboto"/>
              </a:rPr>
              <a:t>(no hay espacio en disco, la memoria está llena o corrupta, etc) Esto no lo podemos controlar</a:t>
            </a:r>
            <a:endParaRPr sz="1200">
              <a:solidFill>
                <a:srgbClr val="FF0000"/>
              </a:solidFill>
              <a:latin typeface="Roboto"/>
              <a:ea typeface="Roboto"/>
              <a:cs typeface="Roboto"/>
              <a:sym typeface="Roboto"/>
            </a:endParaRPr>
          </a:p>
        </p:txBody>
      </p:sp>
      <p:sp>
        <p:nvSpPr>
          <p:cNvPr id="129" name="Google Shape;129;p19"/>
          <p:cNvSpPr txBox="1"/>
          <p:nvPr/>
        </p:nvSpPr>
        <p:spPr>
          <a:xfrm>
            <a:off x="214625" y="404600"/>
            <a:ext cx="1173900" cy="189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latin typeface="Roboto"/>
                <a:ea typeface="Roboto"/>
                <a:cs typeface="Roboto"/>
                <a:sym typeface="Roboto"/>
              </a:rPr>
              <a:t>No compila porque el código está mal escrito. Hay errores de sintaxis, errores en tiempo de compilación</a:t>
            </a:r>
            <a:endParaRPr sz="1200">
              <a:solidFill>
                <a:srgbClr val="FF0000"/>
              </a:solidFill>
              <a:latin typeface="Roboto"/>
              <a:ea typeface="Roboto"/>
              <a:cs typeface="Roboto"/>
              <a:sym typeface="Roboto"/>
            </a:endParaRPr>
          </a:p>
        </p:txBody>
      </p:sp>
      <p:sp>
        <p:nvSpPr>
          <p:cNvPr id="130" name="Google Shape;130;p19"/>
          <p:cNvSpPr txBox="1"/>
          <p:nvPr/>
        </p:nvSpPr>
        <p:spPr>
          <a:xfrm>
            <a:off x="6760400" y="983300"/>
            <a:ext cx="1552800" cy="73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latin typeface="Roboto"/>
                <a:ea typeface="Roboto"/>
                <a:cs typeface="Roboto"/>
                <a:sym typeface="Roboto"/>
              </a:rPr>
              <a:t>Compila pero puede tener un error al ejecutarse</a:t>
            </a:r>
            <a:endParaRPr sz="1200">
              <a:solidFill>
                <a:srgbClr val="FF0000"/>
              </a:solidFill>
              <a:latin typeface="Roboto"/>
              <a:ea typeface="Roboto"/>
              <a:cs typeface="Roboto"/>
              <a:sym typeface="Roboto"/>
            </a:endParaRPr>
          </a:p>
        </p:txBody>
      </p:sp>
      <p:sp>
        <p:nvSpPr>
          <p:cNvPr id="131" name="Google Shape;131;p19"/>
          <p:cNvSpPr txBox="1"/>
          <p:nvPr/>
        </p:nvSpPr>
        <p:spPr>
          <a:xfrm>
            <a:off x="6697975" y="3234025"/>
            <a:ext cx="1091100" cy="67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FF0000"/>
                </a:solidFill>
                <a:latin typeface="Roboto"/>
                <a:ea typeface="Roboto"/>
                <a:cs typeface="Roboto"/>
                <a:sym typeface="Roboto"/>
              </a:rPr>
              <a:t>El error que podemos controlar</a:t>
            </a:r>
            <a:endParaRPr sz="1200">
              <a:solidFill>
                <a:srgbClr val="FF0000"/>
              </a:solidFill>
              <a:latin typeface="Roboto"/>
              <a:ea typeface="Roboto"/>
              <a:cs typeface="Roboto"/>
              <a:sym typeface="Roboto"/>
            </a:endParaRPr>
          </a:p>
        </p:txBody>
      </p:sp>
      <p:sp>
        <p:nvSpPr>
          <p:cNvPr id="132" name="Google Shape;132;p19"/>
          <p:cNvSpPr/>
          <p:nvPr/>
        </p:nvSpPr>
        <p:spPr>
          <a:xfrm>
            <a:off x="3613350" y="197300"/>
            <a:ext cx="919800" cy="431700"/>
          </a:xfrm>
          <a:prstGeom prst="roundRect">
            <a:avLst>
              <a:gd name="adj" fmla="val 16667"/>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Error</a:t>
            </a:r>
            <a:endParaRPr/>
          </a:p>
        </p:txBody>
      </p:sp>
      <p:sp>
        <p:nvSpPr>
          <p:cNvPr id="133" name="Google Shape;133;p19"/>
          <p:cNvSpPr/>
          <p:nvPr/>
        </p:nvSpPr>
        <p:spPr>
          <a:xfrm>
            <a:off x="2309100" y="1014800"/>
            <a:ext cx="1637700" cy="672600"/>
          </a:xfrm>
          <a:prstGeom prst="roundRect">
            <a:avLst>
              <a:gd name="adj" fmla="val 16667"/>
            </a:avLst>
          </a:prstGeom>
          <a:solidFill>
            <a:srgbClr val="783F0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Tiempo de compilación (sintaxis)</a:t>
            </a:r>
            <a:endParaRPr>
              <a:solidFill>
                <a:srgbClr val="FFFFFF"/>
              </a:solidFill>
            </a:endParaRPr>
          </a:p>
        </p:txBody>
      </p:sp>
      <p:sp>
        <p:nvSpPr>
          <p:cNvPr id="134" name="Google Shape;134;p19"/>
          <p:cNvSpPr/>
          <p:nvPr/>
        </p:nvSpPr>
        <p:spPr>
          <a:xfrm>
            <a:off x="4223175" y="1014800"/>
            <a:ext cx="1637700" cy="672600"/>
          </a:xfrm>
          <a:prstGeom prst="roundRect">
            <a:avLst>
              <a:gd name="adj" fmla="val 16667"/>
            </a:avLst>
          </a:prstGeom>
          <a:solidFill>
            <a:srgbClr val="783F0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Tiempo de ejecución</a:t>
            </a:r>
            <a:endParaRPr>
              <a:solidFill>
                <a:srgbClr val="FFFFFF"/>
              </a:solidFill>
            </a:endParaRPr>
          </a:p>
        </p:txBody>
      </p:sp>
      <p:sp>
        <p:nvSpPr>
          <p:cNvPr id="135" name="Google Shape;135;p19"/>
          <p:cNvSpPr/>
          <p:nvPr/>
        </p:nvSpPr>
        <p:spPr>
          <a:xfrm>
            <a:off x="4456950" y="2080475"/>
            <a:ext cx="1260000" cy="526800"/>
          </a:xfrm>
          <a:prstGeom prst="roundRect">
            <a:avLst>
              <a:gd name="adj" fmla="val 16667"/>
            </a:avLst>
          </a:prstGeom>
          <a:solidFill>
            <a:srgbClr val="B45F0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rPr>
              <a:t>Throwable</a:t>
            </a:r>
            <a:endParaRPr>
              <a:solidFill>
                <a:srgbClr val="FFFFFF"/>
              </a:solidFill>
            </a:endParaRPr>
          </a:p>
        </p:txBody>
      </p:sp>
      <p:sp>
        <p:nvSpPr>
          <p:cNvPr id="136" name="Google Shape;136;p19"/>
          <p:cNvSpPr/>
          <p:nvPr/>
        </p:nvSpPr>
        <p:spPr>
          <a:xfrm>
            <a:off x="2663538" y="3284075"/>
            <a:ext cx="1260000" cy="526800"/>
          </a:xfrm>
          <a:prstGeom prst="roundRect">
            <a:avLst>
              <a:gd name="adj" fmla="val 16667"/>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Error</a:t>
            </a:r>
            <a:endParaRPr/>
          </a:p>
        </p:txBody>
      </p:sp>
      <p:sp>
        <p:nvSpPr>
          <p:cNvPr id="137" name="Google Shape;137;p19"/>
          <p:cNvSpPr/>
          <p:nvPr/>
        </p:nvSpPr>
        <p:spPr>
          <a:xfrm>
            <a:off x="4559850" y="3306925"/>
            <a:ext cx="1260000" cy="526800"/>
          </a:xfrm>
          <a:prstGeom prst="roundRect">
            <a:avLst>
              <a:gd name="adj" fmla="val 16667"/>
            </a:avLst>
          </a:prstGeom>
          <a:solidFill>
            <a:srgbClr val="E6913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Exception</a:t>
            </a:r>
            <a:endParaRPr/>
          </a:p>
        </p:txBody>
      </p:sp>
      <p:sp>
        <p:nvSpPr>
          <p:cNvPr id="138" name="Google Shape;138;p19"/>
          <p:cNvSpPr/>
          <p:nvPr/>
        </p:nvSpPr>
        <p:spPr>
          <a:xfrm>
            <a:off x="5409415" y="4386150"/>
            <a:ext cx="1743300" cy="526800"/>
          </a:xfrm>
          <a:prstGeom prst="roundRect">
            <a:avLst>
              <a:gd name="adj" fmla="val 16667"/>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783F04"/>
                </a:solidFill>
              </a:rPr>
              <a:t>RuntimeException</a:t>
            </a:r>
            <a:endParaRPr>
              <a:solidFill>
                <a:srgbClr val="783F04"/>
              </a:solidFill>
            </a:endParaRPr>
          </a:p>
        </p:txBody>
      </p:sp>
      <p:sp>
        <p:nvSpPr>
          <p:cNvPr id="139" name="Google Shape;139;p19"/>
          <p:cNvSpPr/>
          <p:nvPr/>
        </p:nvSpPr>
        <p:spPr>
          <a:xfrm>
            <a:off x="3436250" y="4419375"/>
            <a:ext cx="1743300" cy="526800"/>
          </a:xfrm>
          <a:prstGeom prst="roundRect">
            <a:avLst>
              <a:gd name="adj" fmla="val 16667"/>
            </a:avLst>
          </a:prstGeom>
          <a:solidFill>
            <a:srgbClr val="F6B26B"/>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783F04"/>
                </a:solidFill>
              </a:rPr>
              <a:t>IOException</a:t>
            </a:r>
            <a:endParaRPr>
              <a:solidFill>
                <a:srgbClr val="783F04"/>
              </a:solidFill>
            </a:endParaRPr>
          </a:p>
        </p:txBody>
      </p:sp>
      <p:cxnSp>
        <p:nvCxnSpPr>
          <p:cNvPr id="140" name="Google Shape;140;p19"/>
          <p:cNvCxnSpPr>
            <a:stCxn id="132" idx="2"/>
            <a:endCxn id="133" idx="0"/>
          </p:cNvCxnSpPr>
          <p:nvPr/>
        </p:nvCxnSpPr>
        <p:spPr>
          <a:xfrm rot="5400000">
            <a:off x="3407700" y="349250"/>
            <a:ext cx="385800" cy="9453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41" name="Google Shape;141;p19"/>
          <p:cNvCxnSpPr>
            <a:stCxn id="132" idx="2"/>
            <a:endCxn id="134" idx="0"/>
          </p:cNvCxnSpPr>
          <p:nvPr/>
        </p:nvCxnSpPr>
        <p:spPr>
          <a:xfrm rot="-5400000" flipH="1">
            <a:off x="4364700" y="337550"/>
            <a:ext cx="385800" cy="9687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42" name="Google Shape;142;p19"/>
          <p:cNvCxnSpPr>
            <a:stCxn id="134" idx="2"/>
            <a:endCxn id="135" idx="0"/>
          </p:cNvCxnSpPr>
          <p:nvPr/>
        </p:nvCxnSpPr>
        <p:spPr>
          <a:xfrm rot="-5400000" flipH="1">
            <a:off x="4868025" y="1861400"/>
            <a:ext cx="393000" cy="45000"/>
          </a:xfrm>
          <a:prstGeom prst="bentConnector3">
            <a:avLst>
              <a:gd name="adj1" fmla="val 50010"/>
            </a:avLst>
          </a:prstGeom>
          <a:noFill/>
          <a:ln w="9525" cap="flat" cmpd="sng">
            <a:solidFill>
              <a:schemeClr val="dk2"/>
            </a:solidFill>
            <a:prstDash val="solid"/>
            <a:round/>
            <a:headEnd type="none" w="med" len="med"/>
            <a:tailEnd type="none" w="med" len="med"/>
          </a:ln>
        </p:spPr>
      </p:cxnSp>
      <p:cxnSp>
        <p:nvCxnSpPr>
          <p:cNvPr id="143" name="Google Shape;143;p19"/>
          <p:cNvCxnSpPr>
            <a:stCxn id="135" idx="2"/>
            <a:endCxn id="136" idx="0"/>
          </p:cNvCxnSpPr>
          <p:nvPr/>
        </p:nvCxnSpPr>
        <p:spPr>
          <a:xfrm rot="5400000">
            <a:off x="3851850" y="2048975"/>
            <a:ext cx="676800" cy="17934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144" name="Google Shape;144;p19"/>
          <p:cNvCxnSpPr>
            <a:stCxn id="135" idx="2"/>
            <a:endCxn id="137" idx="0"/>
          </p:cNvCxnSpPr>
          <p:nvPr/>
        </p:nvCxnSpPr>
        <p:spPr>
          <a:xfrm rot="-5400000" flipH="1">
            <a:off x="4788600" y="2905625"/>
            <a:ext cx="699600" cy="102900"/>
          </a:xfrm>
          <a:prstGeom prst="bentConnector3">
            <a:avLst>
              <a:gd name="adj1" fmla="val 50004"/>
            </a:avLst>
          </a:prstGeom>
          <a:noFill/>
          <a:ln w="9525" cap="flat" cmpd="sng">
            <a:solidFill>
              <a:schemeClr val="dk2"/>
            </a:solidFill>
            <a:prstDash val="solid"/>
            <a:round/>
            <a:headEnd type="none" w="med" len="med"/>
            <a:tailEnd type="none" w="med" len="med"/>
          </a:ln>
        </p:spPr>
      </p:cxnSp>
      <p:cxnSp>
        <p:nvCxnSpPr>
          <p:cNvPr id="145" name="Google Shape;145;p19"/>
          <p:cNvCxnSpPr>
            <a:stCxn id="137" idx="2"/>
            <a:endCxn id="139" idx="0"/>
          </p:cNvCxnSpPr>
          <p:nvPr/>
        </p:nvCxnSpPr>
        <p:spPr>
          <a:xfrm rot="5400000">
            <a:off x="4456050" y="3685525"/>
            <a:ext cx="585600" cy="882000"/>
          </a:xfrm>
          <a:prstGeom prst="bentConnector3">
            <a:avLst>
              <a:gd name="adj1" fmla="val 50004"/>
            </a:avLst>
          </a:prstGeom>
          <a:noFill/>
          <a:ln w="9525" cap="flat" cmpd="sng">
            <a:solidFill>
              <a:schemeClr val="dk2"/>
            </a:solidFill>
            <a:prstDash val="solid"/>
            <a:round/>
            <a:headEnd type="none" w="med" len="med"/>
            <a:tailEnd type="none" w="med" len="med"/>
          </a:ln>
        </p:spPr>
      </p:cxnSp>
      <p:cxnSp>
        <p:nvCxnSpPr>
          <p:cNvPr id="146" name="Google Shape;146;p19"/>
          <p:cNvCxnSpPr>
            <a:stCxn id="137" idx="2"/>
            <a:endCxn id="138" idx="0"/>
          </p:cNvCxnSpPr>
          <p:nvPr/>
        </p:nvCxnSpPr>
        <p:spPr>
          <a:xfrm rot="-5400000" flipH="1">
            <a:off x="5459250" y="3564325"/>
            <a:ext cx="552300" cy="1091100"/>
          </a:xfrm>
          <a:prstGeom prst="bentConnector3">
            <a:avLst>
              <a:gd name="adj1" fmla="val 50011"/>
            </a:avLst>
          </a:prstGeom>
          <a:noFill/>
          <a:ln w="9525" cap="flat" cmpd="sng">
            <a:solidFill>
              <a:schemeClr val="dk2"/>
            </a:solidFill>
            <a:prstDash val="solid"/>
            <a:round/>
            <a:headEnd type="none" w="med" len="med"/>
            <a:tailEnd type="none" w="med" len="med"/>
          </a:ln>
        </p:spPr>
      </p:cxnSp>
      <p:cxnSp>
        <p:nvCxnSpPr>
          <p:cNvPr id="147" name="Google Shape;147;p19"/>
          <p:cNvCxnSpPr>
            <a:stCxn id="128" idx="3"/>
            <a:endCxn id="136" idx="1"/>
          </p:cNvCxnSpPr>
          <p:nvPr/>
        </p:nvCxnSpPr>
        <p:spPr>
          <a:xfrm rot="10800000" flipH="1">
            <a:off x="2087225" y="3547425"/>
            <a:ext cx="576300" cy="24000"/>
          </a:xfrm>
          <a:prstGeom prst="straightConnector1">
            <a:avLst/>
          </a:prstGeom>
          <a:noFill/>
          <a:ln w="9525" cap="flat" cmpd="sng">
            <a:solidFill>
              <a:srgbClr val="FF0000"/>
            </a:solidFill>
            <a:prstDash val="solid"/>
            <a:round/>
            <a:headEnd type="none" w="med" len="med"/>
            <a:tailEnd type="triangle" w="med" len="med"/>
          </a:ln>
        </p:spPr>
      </p:cxnSp>
      <p:cxnSp>
        <p:nvCxnSpPr>
          <p:cNvPr id="148" name="Google Shape;148;p19"/>
          <p:cNvCxnSpPr>
            <a:stCxn id="129" idx="3"/>
            <a:endCxn id="133" idx="1"/>
          </p:cNvCxnSpPr>
          <p:nvPr/>
        </p:nvCxnSpPr>
        <p:spPr>
          <a:xfrm>
            <a:off x="1388525" y="1351100"/>
            <a:ext cx="920700" cy="0"/>
          </a:xfrm>
          <a:prstGeom prst="straightConnector1">
            <a:avLst/>
          </a:prstGeom>
          <a:noFill/>
          <a:ln w="9525" cap="flat" cmpd="sng">
            <a:solidFill>
              <a:srgbClr val="FF0000"/>
            </a:solidFill>
            <a:prstDash val="solid"/>
            <a:round/>
            <a:headEnd type="none" w="med" len="med"/>
            <a:tailEnd type="triangle" w="med" len="med"/>
          </a:ln>
        </p:spPr>
      </p:cxnSp>
      <p:cxnSp>
        <p:nvCxnSpPr>
          <p:cNvPr id="149" name="Google Shape;149;p19"/>
          <p:cNvCxnSpPr>
            <a:stCxn id="130" idx="1"/>
            <a:endCxn id="134" idx="3"/>
          </p:cNvCxnSpPr>
          <p:nvPr/>
        </p:nvCxnSpPr>
        <p:spPr>
          <a:xfrm rot="10800000">
            <a:off x="5861000" y="1351100"/>
            <a:ext cx="899400" cy="0"/>
          </a:xfrm>
          <a:prstGeom prst="straightConnector1">
            <a:avLst/>
          </a:prstGeom>
          <a:noFill/>
          <a:ln w="9525" cap="flat" cmpd="sng">
            <a:solidFill>
              <a:srgbClr val="FF0000"/>
            </a:solidFill>
            <a:prstDash val="solid"/>
            <a:round/>
            <a:headEnd type="none" w="med" len="med"/>
            <a:tailEnd type="triangle" w="med" len="med"/>
          </a:ln>
        </p:spPr>
      </p:cxnSp>
      <p:cxnSp>
        <p:nvCxnSpPr>
          <p:cNvPr id="150" name="Google Shape;150;p19"/>
          <p:cNvCxnSpPr>
            <a:stCxn id="131" idx="1"/>
            <a:endCxn id="137" idx="3"/>
          </p:cNvCxnSpPr>
          <p:nvPr/>
        </p:nvCxnSpPr>
        <p:spPr>
          <a:xfrm rot="10800000">
            <a:off x="5819875" y="3570325"/>
            <a:ext cx="878100" cy="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303300" y="242300"/>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Errores que heredan de Exception</a:t>
            </a:r>
            <a:endParaRPr/>
          </a:p>
        </p:txBody>
      </p:sp>
      <p:sp>
        <p:nvSpPr>
          <p:cNvPr id="156" name="Google Shape;156;p20"/>
          <p:cNvSpPr txBox="1"/>
          <p:nvPr/>
        </p:nvSpPr>
        <p:spPr>
          <a:xfrm>
            <a:off x="1328900" y="4044800"/>
            <a:ext cx="2469000" cy="5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No es culpa del programador</a:t>
            </a:r>
            <a:endParaRPr>
              <a:latin typeface="Roboto"/>
              <a:ea typeface="Roboto"/>
              <a:cs typeface="Roboto"/>
              <a:sym typeface="Roboto"/>
            </a:endParaRPr>
          </a:p>
        </p:txBody>
      </p:sp>
      <p:sp>
        <p:nvSpPr>
          <p:cNvPr id="157" name="Google Shape;157;p20"/>
          <p:cNvSpPr txBox="1"/>
          <p:nvPr/>
        </p:nvSpPr>
        <p:spPr>
          <a:xfrm>
            <a:off x="5753225" y="4044800"/>
            <a:ext cx="2280300" cy="5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Roboto"/>
                <a:ea typeface="Roboto"/>
                <a:cs typeface="Roboto"/>
                <a:sym typeface="Roboto"/>
              </a:rPr>
              <a:t>Es culpa del programador </a:t>
            </a:r>
            <a:endParaRPr>
              <a:latin typeface="Roboto"/>
              <a:ea typeface="Roboto"/>
              <a:cs typeface="Roboto"/>
              <a:sym typeface="Roboto"/>
            </a:endParaRPr>
          </a:p>
        </p:txBody>
      </p:sp>
      <p:pic>
        <p:nvPicPr>
          <p:cNvPr id="158" name="Google Shape;158;p20"/>
          <p:cNvPicPr preferRelativeResize="0"/>
          <p:nvPr/>
        </p:nvPicPr>
        <p:blipFill>
          <a:blip r:embed="rId3">
            <a:alphaModFix/>
          </a:blip>
          <a:stretch>
            <a:fillRect/>
          </a:stretch>
        </p:blipFill>
        <p:spPr>
          <a:xfrm>
            <a:off x="1473275" y="2006825"/>
            <a:ext cx="1905000" cy="1905000"/>
          </a:xfrm>
          <a:prstGeom prst="rect">
            <a:avLst/>
          </a:prstGeom>
          <a:noFill/>
          <a:ln>
            <a:noFill/>
          </a:ln>
        </p:spPr>
      </p:pic>
      <p:pic>
        <p:nvPicPr>
          <p:cNvPr id="159" name="Google Shape;159;p20"/>
          <p:cNvPicPr preferRelativeResize="0"/>
          <p:nvPr/>
        </p:nvPicPr>
        <p:blipFill>
          <a:blip r:embed="rId3">
            <a:alphaModFix/>
          </a:blip>
          <a:stretch>
            <a:fillRect/>
          </a:stretch>
        </p:blipFill>
        <p:spPr>
          <a:xfrm>
            <a:off x="5896725" y="2006825"/>
            <a:ext cx="1905000" cy="1905000"/>
          </a:xfrm>
          <a:prstGeom prst="rect">
            <a:avLst/>
          </a:prstGeom>
          <a:noFill/>
          <a:ln>
            <a:noFill/>
          </a:ln>
        </p:spPr>
      </p:pic>
      <p:pic>
        <p:nvPicPr>
          <p:cNvPr id="160" name="Google Shape;160;p20"/>
          <p:cNvPicPr preferRelativeResize="0"/>
          <p:nvPr/>
        </p:nvPicPr>
        <p:blipFill>
          <a:blip r:embed="rId4">
            <a:alphaModFix/>
          </a:blip>
          <a:stretch>
            <a:fillRect/>
          </a:stretch>
        </p:blipFill>
        <p:spPr>
          <a:xfrm>
            <a:off x="2051498" y="2218398"/>
            <a:ext cx="899575" cy="899575"/>
          </a:xfrm>
          <a:prstGeom prst="rect">
            <a:avLst/>
          </a:prstGeom>
          <a:noFill/>
          <a:ln>
            <a:noFill/>
          </a:ln>
        </p:spPr>
      </p:pic>
      <p:pic>
        <p:nvPicPr>
          <p:cNvPr id="161" name="Google Shape;161;p20"/>
          <p:cNvPicPr preferRelativeResize="0"/>
          <p:nvPr/>
        </p:nvPicPr>
        <p:blipFill>
          <a:blip r:embed="rId5">
            <a:alphaModFix/>
          </a:blip>
          <a:stretch>
            <a:fillRect/>
          </a:stretch>
        </p:blipFill>
        <p:spPr>
          <a:xfrm>
            <a:off x="6415150" y="2181550"/>
            <a:ext cx="936425" cy="936425"/>
          </a:xfrm>
          <a:prstGeom prst="rect">
            <a:avLst/>
          </a:prstGeom>
          <a:noFill/>
          <a:ln>
            <a:noFill/>
          </a:ln>
        </p:spPr>
      </p:pic>
      <p:sp>
        <p:nvSpPr>
          <p:cNvPr id="162" name="Google Shape;162;p20"/>
          <p:cNvSpPr txBox="1"/>
          <p:nvPr/>
        </p:nvSpPr>
        <p:spPr>
          <a:xfrm>
            <a:off x="302775" y="916150"/>
            <a:ext cx="3929700" cy="67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600" b="1">
                <a:solidFill>
                  <a:schemeClr val="dk1"/>
                </a:solidFill>
                <a:latin typeface="Raleway"/>
                <a:ea typeface="Raleway"/>
                <a:cs typeface="Raleway"/>
                <a:sym typeface="Raleway"/>
              </a:rPr>
              <a:t>IOException</a:t>
            </a:r>
            <a:endParaRPr sz="3600" b="1">
              <a:solidFill>
                <a:schemeClr val="dk1"/>
              </a:solidFill>
              <a:latin typeface="Raleway"/>
              <a:ea typeface="Raleway"/>
              <a:cs typeface="Raleway"/>
              <a:sym typeface="Raleway"/>
            </a:endParaRPr>
          </a:p>
          <a:p>
            <a:pPr marL="0" lvl="0" indent="0" algn="ctr" rtl="0">
              <a:spcBef>
                <a:spcPts val="0"/>
              </a:spcBef>
              <a:spcAft>
                <a:spcPts val="0"/>
              </a:spcAft>
              <a:buNone/>
            </a:pPr>
            <a:r>
              <a:rPr lang="en" sz="2100">
                <a:solidFill>
                  <a:schemeClr val="dk2"/>
                </a:solidFill>
                <a:latin typeface="Lato"/>
                <a:ea typeface="Lato"/>
                <a:cs typeface="Lato"/>
                <a:sym typeface="Lato"/>
              </a:rPr>
              <a:t>Excepciones comprobadas </a:t>
            </a:r>
            <a:endParaRPr sz="2100">
              <a:solidFill>
                <a:schemeClr val="dk2"/>
              </a:solidFill>
              <a:latin typeface="Lato"/>
              <a:ea typeface="Lato"/>
              <a:cs typeface="Lato"/>
              <a:sym typeface="Lato"/>
            </a:endParaRPr>
          </a:p>
          <a:p>
            <a:pPr marL="0" lvl="0" indent="0" algn="ctr" rtl="0">
              <a:spcBef>
                <a:spcPts val="0"/>
              </a:spcBef>
              <a:spcAft>
                <a:spcPts val="0"/>
              </a:spcAft>
              <a:buNone/>
            </a:pPr>
            <a:endParaRPr sz="3600" b="1">
              <a:solidFill>
                <a:schemeClr val="dk1"/>
              </a:solidFill>
              <a:latin typeface="Raleway"/>
              <a:ea typeface="Raleway"/>
              <a:cs typeface="Raleway"/>
              <a:sym typeface="Raleway"/>
            </a:endParaRPr>
          </a:p>
        </p:txBody>
      </p:sp>
      <p:sp>
        <p:nvSpPr>
          <p:cNvPr id="163" name="Google Shape;163;p20"/>
          <p:cNvSpPr txBox="1"/>
          <p:nvPr/>
        </p:nvSpPr>
        <p:spPr>
          <a:xfrm>
            <a:off x="4572000" y="992350"/>
            <a:ext cx="4415100" cy="789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400" b="1">
                <a:solidFill>
                  <a:schemeClr val="dk1"/>
                </a:solidFill>
                <a:latin typeface="Raleway"/>
                <a:ea typeface="Raleway"/>
                <a:cs typeface="Raleway"/>
                <a:sym typeface="Raleway"/>
              </a:rPr>
              <a:t>RuntimeException</a:t>
            </a:r>
            <a:endParaRPr sz="3400" b="1">
              <a:solidFill>
                <a:schemeClr val="dk1"/>
              </a:solidFill>
              <a:latin typeface="Raleway"/>
              <a:ea typeface="Raleway"/>
              <a:cs typeface="Raleway"/>
              <a:sym typeface="Raleway"/>
            </a:endParaRPr>
          </a:p>
          <a:p>
            <a:pPr marL="0" lvl="0" indent="0" algn="ctr" rtl="0">
              <a:spcBef>
                <a:spcPts val="0"/>
              </a:spcBef>
              <a:spcAft>
                <a:spcPts val="0"/>
              </a:spcAft>
              <a:buNone/>
            </a:pPr>
            <a:r>
              <a:rPr lang="en" sz="2100">
                <a:solidFill>
                  <a:schemeClr val="dk2"/>
                </a:solidFill>
                <a:latin typeface="Lato"/>
                <a:ea typeface="Lato"/>
                <a:cs typeface="Lato"/>
                <a:sym typeface="Lato"/>
              </a:rPr>
              <a:t>Excepciones no comprobadas</a:t>
            </a:r>
            <a:endParaRPr sz="3400" b="1">
              <a:solidFill>
                <a:schemeClr val="dk1"/>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IOException</a:t>
            </a:r>
            <a:endParaRPr/>
          </a:p>
        </p:txBody>
      </p:sp>
      <p:sp>
        <p:nvSpPr>
          <p:cNvPr id="169" name="Google Shape;169;p21"/>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highlight>
                  <a:srgbClr val="FFFF00"/>
                </a:highlight>
              </a:rPr>
              <a:t>Excepciones comprobadas</a:t>
            </a:r>
            <a:r>
              <a:rPr lang="en"/>
              <a:t> </a:t>
            </a:r>
            <a:endParaRPr/>
          </a:p>
          <a:p>
            <a:pPr marL="0" lvl="0" indent="0" algn="ctr" rtl="0">
              <a:spcBef>
                <a:spcPts val="0"/>
              </a:spcBef>
              <a:spcAft>
                <a:spcPts val="0"/>
              </a:spcAft>
              <a:buNone/>
            </a:pPr>
            <a:endParaRPr/>
          </a:p>
          <a:p>
            <a:pPr marL="0" lvl="0" indent="0" algn="ctr" rtl="0">
              <a:spcBef>
                <a:spcPts val="0"/>
              </a:spcBef>
              <a:spcAft>
                <a:spcPts val="0"/>
              </a:spcAft>
              <a:buNone/>
            </a:pPr>
            <a:r>
              <a:rPr lang="en"/>
              <a:t>NO DEPENDEN DEL PROGRAMDOR!</a:t>
            </a:r>
            <a:endParaRPr/>
          </a:p>
        </p:txBody>
      </p:sp>
      <p:sp>
        <p:nvSpPr>
          <p:cNvPr id="170" name="Google Shape;170;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Significa que se ha producido un error en la entrada/salida. </a:t>
            </a:r>
            <a:endParaRPr/>
          </a:p>
          <a:p>
            <a:pPr marL="0" lvl="0" indent="0" algn="l" rtl="0">
              <a:spcBef>
                <a:spcPts val="1600"/>
              </a:spcBef>
              <a:spcAft>
                <a:spcPts val="1600"/>
              </a:spcAft>
              <a:buNone/>
            </a:pPr>
            <a:r>
              <a:rPr lang="en"/>
              <a:t>Por ejemplo, cuando estamos leyendo de la consola, un fichero, etc. Es obligatorio tratar la excepción, ya sea en la cabeza del método con "throws IOException" o con un bloque try/catch.</a:t>
            </a:r>
            <a:endParaRPr/>
          </a:p>
        </p:txBody>
      </p:sp>
      <p:pic>
        <p:nvPicPr>
          <p:cNvPr id="171" name="Google Shape;171;p21"/>
          <p:cNvPicPr preferRelativeResize="0"/>
          <p:nvPr/>
        </p:nvPicPr>
        <p:blipFill>
          <a:blip r:embed="rId3">
            <a:alphaModFix/>
          </a:blip>
          <a:stretch>
            <a:fillRect/>
          </a:stretch>
        </p:blipFill>
        <p:spPr>
          <a:xfrm>
            <a:off x="1656996" y="407746"/>
            <a:ext cx="1428125" cy="1428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22"/>
          <p:cNvPicPr preferRelativeResize="0"/>
          <p:nvPr/>
        </p:nvPicPr>
        <p:blipFill rotWithShape="1">
          <a:blip r:embed="rId3">
            <a:alphaModFix/>
          </a:blip>
          <a:srcRect r="8399"/>
          <a:stretch/>
        </p:blipFill>
        <p:spPr>
          <a:xfrm>
            <a:off x="0" y="9"/>
            <a:ext cx="9144001" cy="3899441"/>
          </a:xfrm>
          <a:prstGeom prst="rect">
            <a:avLst/>
          </a:prstGeom>
          <a:noFill/>
          <a:ln>
            <a:noFill/>
          </a:ln>
        </p:spPr>
      </p:pic>
      <p:sp>
        <p:nvSpPr>
          <p:cNvPr id="177" name="Google Shape;177;p22"/>
          <p:cNvSpPr txBox="1">
            <a:spLocks noGrp="1"/>
          </p:cNvSpPr>
          <p:nvPr>
            <p:ph type="body" idx="1"/>
          </p:nvPr>
        </p:nvSpPr>
        <p:spPr>
          <a:xfrm>
            <a:off x="328025" y="3976125"/>
            <a:ext cx="8388600" cy="68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500"/>
              <a:t>La IDE nos informa del error porque es obligatorio tratar la excepción, ya sea en la cabeza del método con "throws IOException o con un bloque try/catch.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a:spLocks noGrp="1"/>
          </p:cNvSpPr>
          <p:nvPr>
            <p:ph type="body" idx="1"/>
          </p:nvPr>
        </p:nvSpPr>
        <p:spPr>
          <a:xfrm>
            <a:off x="328017" y="4226025"/>
            <a:ext cx="83886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De esta forma se resuelve el error anterior</a:t>
            </a:r>
            <a:endParaRPr/>
          </a:p>
        </p:txBody>
      </p:sp>
      <p:pic>
        <p:nvPicPr>
          <p:cNvPr id="183" name="Google Shape;183;p23"/>
          <p:cNvPicPr preferRelativeResize="0"/>
          <p:nvPr/>
        </p:nvPicPr>
        <p:blipFill>
          <a:blip r:embed="rId3">
            <a:alphaModFix/>
          </a:blip>
          <a:stretch>
            <a:fillRect/>
          </a:stretch>
        </p:blipFill>
        <p:spPr>
          <a:xfrm>
            <a:off x="0" y="0"/>
            <a:ext cx="9144000" cy="409575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400"/>
              <a:t>RuntimeException</a:t>
            </a:r>
            <a:endParaRPr sz="3400"/>
          </a:p>
        </p:txBody>
      </p:sp>
      <p:sp>
        <p:nvSpPr>
          <p:cNvPr id="189" name="Google Shape;189;p24"/>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highlight>
                  <a:srgbClr val="FFFF00"/>
                </a:highlight>
              </a:rPr>
              <a:t>Excepciones no comprobadas</a:t>
            </a:r>
            <a:endParaRPr>
              <a:highlight>
                <a:srgbClr val="FFFF00"/>
              </a:highlight>
            </a:endParaRPr>
          </a:p>
          <a:p>
            <a:pPr marL="0" lvl="0" indent="0" algn="ctr" rtl="0">
              <a:spcBef>
                <a:spcPts val="0"/>
              </a:spcBef>
              <a:spcAft>
                <a:spcPts val="0"/>
              </a:spcAft>
              <a:buNone/>
            </a:pPr>
            <a:endParaRPr/>
          </a:p>
          <a:p>
            <a:pPr marL="0" lvl="0" indent="0" algn="ctr" rtl="0">
              <a:spcBef>
                <a:spcPts val="0"/>
              </a:spcBef>
              <a:spcAft>
                <a:spcPts val="0"/>
              </a:spcAft>
              <a:buNone/>
            </a:pPr>
            <a:r>
              <a:rPr lang="en"/>
              <a:t>DEBEN SER PREVISTAS POR EL PROGRAMADOR, maldita sea.</a:t>
            </a:r>
            <a:endParaRPr/>
          </a:p>
        </p:txBody>
      </p:sp>
      <p:sp>
        <p:nvSpPr>
          <p:cNvPr id="190" name="Google Shape;190;p2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La clase RuntimeException representa las excepciones que ocurren dentro de la máquina virtual Java (durante el tiempo de ejecución). Un ejemplo de estas excepciones es NullPointerException, que ocurre cuando un método intenta acceder a un miembro de un objeto a través de una referencia nula.</a:t>
            </a:r>
            <a:endParaRPr/>
          </a:p>
        </p:txBody>
      </p:sp>
      <p:pic>
        <p:nvPicPr>
          <p:cNvPr id="191" name="Google Shape;191;p24"/>
          <p:cNvPicPr preferRelativeResize="0"/>
          <p:nvPr/>
        </p:nvPicPr>
        <p:blipFill>
          <a:blip r:embed="rId3">
            <a:alphaModFix/>
          </a:blip>
          <a:stretch>
            <a:fillRect/>
          </a:stretch>
        </p:blipFill>
        <p:spPr>
          <a:xfrm>
            <a:off x="1340222" y="218097"/>
            <a:ext cx="1701250" cy="1701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5"/>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try-catch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6"/>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try-catch</a:t>
            </a:r>
            <a:endParaRPr/>
          </a:p>
        </p:txBody>
      </p:sp>
      <p:sp>
        <p:nvSpPr>
          <p:cNvPr id="202" name="Google Shape;202;p26"/>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highlight>
                  <a:srgbClr val="FF9900"/>
                </a:highlight>
              </a:rPr>
              <a:t>Try </a:t>
            </a:r>
            <a:r>
              <a:rPr lang="en"/>
              <a:t>se utiliza cuando se desean prever excepciones en el transcurso de la ejecución de un programa. </a:t>
            </a:r>
            <a:endParaRPr/>
          </a:p>
          <a:p>
            <a:pPr marL="0" lvl="0" indent="0" algn="l" rtl="0">
              <a:spcBef>
                <a:spcPts val="1600"/>
              </a:spcBef>
              <a:spcAft>
                <a:spcPts val="1600"/>
              </a:spcAft>
              <a:buNone/>
            </a:pPr>
            <a:r>
              <a:rPr lang="en"/>
              <a:t>Es necesario ya que ahí se colocan las instrucciones que se desean realizar pese a la excepción, posteriormente se usa un </a:t>
            </a:r>
            <a:r>
              <a:rPr lang="en" b="1">
                <a:solidFill>
                  <a:srgbClr val="000000"/>
                </a:solidFill>
                <a:highlight>
                  <a:srgbClr val="FF9900"/>
                </a:highlight>
              </a:rPr>
              <a:t>catch </a:t>
            </a:r>
            <a:r>
              <a:rPr lang="en"/>
              <a:t>donde se especifica la excepción que se sabe puede ocurrir.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7"/>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Sintaxis del try-catch</a:t>
            </a:r>
            <a:endParaRPr/>
          </a:p>
        </p:txBody>
      </p:sp>
      <p:sp>
        <p:nvSpPr>
          <p:cNvPr id="208" name="Google Shape;208;p27"/>
          <p:cNvSpPr txBox="1">
            <a:spLocks noGrp="1"/>
          </p:cNvSpPr>
          <p:nvPr>
            <p:ph type="body" idx="1"/>
          </p:nvPr>
        </p:nvSpPr>
        <p:spPr>
          <a:xfrm>
            <a:off x="1344250" y="1211350"/>
            <a:ext cx="7387500" cy="3386700"/>
          </a:xfrm>
          <a:prstGeom prst="rect">
            <a:avLst/>
          </a:prstGeom>
          <a:solidFill>
            <a:srgbClr val="000000"/>
          </a:solidFill>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2"/>
              </a:buClr>
              <a:buSzPts val="1100"/>
              <a:buFont typeface="Arial"/>
              <a:buNone/>
            </a:pPr>
            <a:r>
              <a:rPr lang="en" sz="2700" b="1">
                <a:solidFill>
                  <a:srgbClr val="FF00FF"/>
                </a:solidFill>
              </a:rPr>
              <a:t>try {</a:t>
            </a:r>
            <a:endParaRPr sz="2700" b="1">
              <a:solidFill>
                <a:srgbClr val="FF00FF"/>
              </a:solidFill>
            </a:endParaRPr>
          </a:p>
          <a:p>
            <a:pPr marL="457200" lvl="0" indent="0" algn="l" rtl="0">
              <a:lnSpc>
                <a:spcPct val="100000"/>
              </a:lnSpc>
              <a:spcBef>
                <a:spcPts val="1600"/>
              </a:spcBef>
              <a:spcAft>
                <a:spcPts val="0"/>
              </a:spcAft>
              <a:buClr>
                <a:schemeClr val="dk2"/>
              </a:buClr>
              <a:buSzPts val="1100"/>
              <a:buFont typeface="Arial"/>
              <a:buNone/>
            </a:pPr>
            <a:r>
              <a:rPr lang="en" sz="2700" b="1">
                <a:solidFill>
                  <a:srgbClr val="FFFFFF"/>
                </a:solidFill>
              </a:rPr>
              <a:t>    /*Instrucciones a realizar*/</a:t>
            </a:r>
            <a:endParaRPr sz="2700" b="1">
              <a:solidFill>
                <a:srgbClr val="FFFFFF"/>
              </a:solidFill>
            </a:endParaRPr>
          </a:p>
          <a:p>
            <a:pPr marL="0" lvl="0" indent="0" algn="l" rtl="0">
              <a:lnSpc>
                <a:spcPct val="100000"/>
              </a:lnSpc>
              <a:spcBef>
                <a:spcPts val="1600"/>
              </a:spcBef>
              <a:spcAft>
                <a:spcPts val="0"/>
              </a:spcAft>
              <a:buClr>
                <a:schemeClr val="dk2"/>
              </a:buClr>
              <a:buSzPts val="1100"/>
              <a:buFont typeface="Arial"/>
              <a:buNone/>
            </a:pPr>
            <a:r>
              <a:rPr lang="en" sz="2700" b="1">
                <a:solidFill>
                  <a:srgbClr val="FF00FF"/>
                </a:solidFill>
              </a:rPr>
              <a:t>       } catch(parametros) {</a:t>
            </a:r>
            <a:endParaRPr sz="2700" b="1">
              <a:solidFill>
                <a:srgbClr val="FF00FF"/>
              </a:solidFill>
            </a:endParaRPr>
          </a:p>
          <a:p>
            <a:pPr marL="457200" lvl="0" indent="0" algn="l" rtl="0">
              <a:lnSpc>
                <a:spcPct val="100000"/>
              </a:lnSpc>
              <a:spcBef>
                <a:spcPts val="1600"/>
              </a:spcBef>
              <a:spcAft>
                <a:spcPts val="0"/>
              </a:spcAft>
              <a:buClr>
                <a:schemeClr val="dk2"/>
              </a:buClr>
              <a:buSzPts val="1100"/>
              <a:buFont typeface="Arial"/>
              <a:buNone/>
            </a:pPr>
            <a:r>
              <a:rPr lang="en" sz="2700" b="1">
                <a:solidFill>
                  <a:srgbClr val="FFFFFF"/>
                </a:solidFill>
              </a:rPr>
              <a:t>      /*Imprimir reporte de excepcion*/</a:t>
            </a:r>
            <a:endParaRPr sz="2700" b="1">
              <a:solidFill>
                <a:srgbClr val="FFFFFF"/>
              </a:solidFill>
            </a:endParaRPr>
          </a:p>
          <a:p>
            <a:pPr marL="457200" lvl="0" indent="0" algn="l" rtl="0">
              <a:lnSpc>
                <a:spcPct val="100000"/>
              </a:lnSpc>
              <a:spcBef>
                <a:spcPts val="1600"/>
              </a:spcBef>
              <a:spcAft>
                <a:spcPts val="0"/>
              </a:spcAft>
              <a:buClr>
                <a:schemeClr val="dk2"/>
              </a:buClr>
              <a:buSzPts val="1100"/>
              <a:buFont typeface="Arial"/>
              <a:buNone/>
            </a:pPr>
            <a:r>
              <a:rPr lang="en" sz="2700" b="1">
                <a:solidFill>
                  <a:srgbClr val="FF00FF"/>
                </a:solidFill>
              </a:rPr>
              <a:t>}</a:t>
            </a:r>
            <a:endParaRPr sz="2700" b="1">
              <a:solidFill>
                <a:srgbClr val="FF00FF"/>
              </a:solidFill>
            </a:endParaRPr>
          </a:p>
          <a:p>
            <a:pPr marL="0" lvl="0" indent="0" algn="l" rtl="0">
              <a:lnSpc>
                <a:spcPct val="50000"/>
              </a:lnSpc>
              <a:spcBef>
                <a:spcPts val="1600"/>
              </a:spcBef>
              <a:spcAft>
                <a:spcPts val="1600"/>
              </a:spcAft>
              <a:buNone/>
            </a:pPr>
            <a:endParaRPr sz="21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IOException</a:t>
            </a:r>
            <a:endParaRPr/>
          </a:p>
        </p:txBody>
      </p:sp>
      <p:pic>
        <p:nvPicPr>
          <p:cNvPr id="214" name="Google Shape;214;p28"/>
          <p:cNvPicPr preferRelativeResize="0"/>
          <p:nvPr/>
        </p:nvPicPr>
        <p:blipFill>
          <a:blip r:embed="rId3">
            <a:alphaModFix/>
          </a:blip>
          <a:stretch>
            <a:fillRect/>
          </a:stretch>
        </p:blipFill>
        <p:spPr>
          <a:xfrm>
            <a:off x="212425" y="1377100"/>
            <a:ext cx="8737825" cy="3226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RuneTimeExcepion y IOExcepion</a:t>
            </a:r>
            <a:endParaRPr/>
          </a:p>
        </p:txBody>
      </p:sp>
      <p:pic>
        <p:nvPicPr>
          <p:cNvPr id="220" name="Google Shape;220;p29"/>
          <p:cNvPicPr preferRelativeResize="0"/>
          <p:nvPr/>
        </p:nvPicPr>
        <p:blipFill>
          <a:blip r:embed="rId3">
            <a:alphaModFix/>
          </a:blip>
          <a:stretch>
            <a:fillRect/>
          </a:stretch>
        </p:blipFill>
        <p:spPr>
          <a:xfrm>
            <a:off x="152400" y="1338281"/>
            <a:ext cx="7937675" cy="3645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Throws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throws</a:t>
            </a:r>
            <a:endParaRPr/>
          </a:p>
        </p:txBody>
      </p:sp>
      <p:sp>
        <p:nvSpPr>
          <p:cNvPr id="231" name="Google Shape;231;p31"/>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La cláusula throws permite lanzar un método. </a:t>
            </a:r>
            <a:endParaRPr/>
          </a:p>
        </p:txBody>
      </p:sp>
      <p:sp>
        <p:nvSpPr>
          <p:cNvPr id="232" name="Google Shape;232;p31"/>
          <p:cNvSpPr txBox="1">
            <a:spLocks noGrp="1"/>
          </p:cNvSpPr>
          <p:nvPr>
            <p:ph type="body" idx="2"/>
          </p:nvPr>
        </p:nvSpPr>
        <p:spPr>
          <a:xfrm>
            <a:off x="4939500" y="660000"/>
            <a:ext cx="3837000" cy="35808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Tiene que ir declarada en el método.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Ejemplo Throws (1era parte)</a:t>
            </a:r>
            <a:endParaRPr/>
          </a:p>
        </p:txBody>
      </p:sp>
      <p:pic>
        <p:nvPicPr>
          <p:cNvPr id="238" name="Google Shape;238;p32"/>
          <p:cNvPicPr preferRelativeResize="0"/>
          <p:nvPr/>
        </p:nvPicPr>
        <p:blipFill>
          <a:blip r:embed="rId3">
            <a:alphaModFix/>
          </a:blip>
          <a:stretch>
            <a:fillRect/>
          </a:stretch>
        </p:blipFill>
        <p:spPr>
          <a:xfrm>
            <a:off x="171450" y="1497175"/>
            <a:ext cx="4400550" cy="3267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3"/>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Ejemplo Throws (2era parte)</a:t>
            </a:r>
            <a:endParaRPr/>
          </a:p>
          <a:p>
            <a:pPr marL="0" lvl="0" indent="0" algn="l" rtl="0">
              <a:spcBef>
                <a:spcPts val="0"/>
              </a:spcBef>
              <a:spcAft>
                <a:spcPts val="0"/>
              </a:spcAft>
              <a:buNone/>
            </a:pPr>
            <a:endParaRPr/>
          </a:p>
        </p:txBody>
      </p:sp>
      <p:pic>
        <p:nvPicPr>
          <p:cNvPr id="244" name="Google Shape;244;p33"/>
          <p:cNvPicPr preferRelativeResize="0"/>
          <p:nvPr/>
        </p:nvPicPr>
        <p:blipFill>
          <a:blip r:embed="rId3">
            <a:alphaModFix/>
          </a:blip>
          <a:stretch>
            <a:fillRect/>
          </a:stretch>
        </p:blipFill>
        <p:spPr>
          <a:xfrm>
            <a:off x="155837" y="1784050"/>
            <a:ext cx="8832325" cy="241824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4"/>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Throws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5"/>
          <p:cNvSpPr txBox="1">
            <a:spLocks noGrp="1"/>
          </p:cNvSpPr>
          <p:nvPr>
            <p:ph type="title"/>
          </p:nvPr>
        </p:nvSpPr>
        <p:spPr>
          <a:xfrm>
            <a:off x="265500" y="1397350"/>
            <a:ext cx="4045200" cy="1318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throws</a:t>
            </a:r>
            <a:endParaRPr/>
          </a:p>
        </p:txBody>
      </p:sp>
      <p:sp>
        <p:nvSpPr>
          <p:cNvPr id="255" name="Google Shape;255;p35"/>
          <p:cNvSpPr txBox="1">
            <a:spLocks noGrp="1"/>
          </p:cNvSpPr>
          <p:nvPr>
            <p:ph type="subTitle" idx="1"/>
          </p:nvPr>
        </p:nvSpPr>
        <p:spPr>
          <a:xfrm>
            <a:off x="265500" y="2735371"/>
            <a:ext cx="4045200" cy="134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Nos permitirá lanzar una excepción en cualquier punto de un programa en Java.</a:t>
            </a:r>
            <a:endParaRPr/>
          </a:p>
        </p:txBody>
      </p:sp>
      <p:sp>
        <p:nvSpPr>
          <p:cNvPr id="256" name="Google Shape;256;p35"/>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p>
            <a:pPr marL="0" lvl="0" indent="0" algn="l" rtl="0">
              <a:spcBef>
                <a:spcPts val="0"/>
              </a:spcBef>
              <a:spcAft>
                <a:spcPts val="1600"/>
              </a:spcAft>
              <a:buNone/>
            </a:pPr>
            <a:r>
              <a:rPr lang="en"/>
              <a:t>Lo vamos a utilizar para obligar a que rodeen la llamada a un método con un try-catch para poder controlar el posible error.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36"/>
          <p:cNvPicPr preferRelativeResize="0"/>
          <p:nvPr/>
        </p:nvPicPr>
        <p:blipFill>
          <a:blip r:embed="rId3">
            <a:alphaModFix/>
          </a:blip>
          <a:stretch>
            <a:fillRect/>
          </a:stretch>
        </p:blipFill>
        <p:spPr>
          <a:xfrm>
            <a:off x="1" y="83450"/>
            <a:ext cx="9144000" cy="49735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7"/>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Excepciones Propias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8"/>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Excepciones Propias</a:t>
            </a:r>
            <a:endParaRPr/>
          </a:p>
        </p:txBody>
      </p:sp>
      <p:pic>
        <p:nvPicPr>
          <p:cNvPr id="272" name="Google Shape;272;p38"/>
          <p:cNvPicPr preferRelativeResize="0"/>
          <p:nvPr/>
        </p:nvPicPr>
        <p:blipFill>
          <a:blip r:embed="rId3">
            <a:alphaModFix/>
          </a:blip>
          <a:stretch>
            <a:fillRect/>
          </a:stretch>
        </p:blipFill>
        <p:spPr>
          <a:xfrm>
            <a:off x="311725" y="1397100"/>
            <a:ext cx="4491550" cy="3634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9"/>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Excepciones Propias</a:t>
            </a:r>
            <a:endParaRPr/>
          </a:p>
        </p:txBody>
      </p:sp>
      <p:pic>
        <p:nvPicPr>
          <p:cNvPr id="278" name="Google Shape;278;p39"/>
          <p:cNvPicPr preferRelativeResize="0"/>
          <p:nvPr/>
        </p:nvPicPr>
        <p:blipFill>
          <a:blip r:embed="rId3">
            <a:alphaModFix/>
          </a:blip>
          <a:stretch>
            <a:fillRect/>
          </a:stretch>
        </p:blipFill>
        <p:spPr>
          <a:xfrm>
            <a:off x="171450" y="1385906"/>
            <a:ext cx="6674900" cy="3597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0"/>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Excepciones Propias</a:t>
            </a:r>
            <a:endParaRPr/>
          </a:p>
        </p:txBody>
      </p:sp>
      <p:pic>
        <p:nvPicPr>
          <p:cNvPr id="284" name="Google Shape;284;p40"/>
          <p:cNvPicPr preferRelativeResize="0"/>
          <p:nvPr/>
        </p:nvPicPr>
        <p:blipFill>
          <a:blip r:embed="rId3">
            <a:alphaModFix/>
          </a:blip>
          <a:stretch>
            <a:fillRect/>
          </a:stretch>
        </p:blipFill>
        <p:spPr>
          <a:xfrm>
            <a:off x="132375" y="1377100"/>
            <a:ext cx="5784675" cy="36663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1"/>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Capturar varias excepciones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2"/>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Capturar varias excepciones</a:t>
            </a:r>
            <a:endParaRPr/>
          </a:p>
        </p:txBody>
      </p:sp>
      <p:pic>
        <p:nvPicPr>
          <p:cNvPr id="295" name="Google Shape;295;p42"/>
          <p:cNvPicPr preferRelativeResize="0"/>
          <p:nvPr/>
        </p:nvPicPr>
        <p:blipFill>
          <a:blip r:embed="rId3">
            <a:alphaModFix/>
          </a:blip>
          <a:stretch>
            <a:fillRect/>
          </a:stretch>
        </p:blipFill>
        <p:spPr>
          <a:xfrm>
            <a:off x="180613" y="1627975"/>
            <a:ext cx="8782776" cy="3079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3"/>
          <p:cNvSpPr txBox="1">
            <a:spLocks noGrp="1"/>
          </p:cNvSpPr>
          <p:nvPr>
            <p:ph type="title"/>
          </p:nvPr>
        </p:nvSpPr>
        <p:spPr>
          <a:xfrm>
            <a:off x="406425" y="1806825"/>
            <a:ext cx="8296800" cy="154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finally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4"/>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Uso de finally</a:t>
            </a:r>
            <a:endParaRPr/>
          </a:p>
        </p:txBody>
      </p:sp>
      <p:pic>
        <p:nvPicPr>
          <p:cNvPr id="306" name="Google Shape;306;p44"/>
          <p:cNvPicPr preferRelativeResize="0"/>
          <p:nvPr/>
        </p:nvPicPr>
        <p:blipFill>
          <a:blip r:embed="rId3">
            <a:alphaModFix/>
          </a:blip>
          <a:stretch>
            <a:fillRect/>
          </a:stretch>
        </p:blipFill>
        <p:spPr>
          <a:xfrm>
            <a:off x="154400" y="1320500"/>
            <a:ext cx="4569853" cy="3714075"/>
          </a:xfrm>
          <a:prstGeom prst="rect">
            <a:avLst/>
          </a:prstGeom>
          <a:noFill/>
          <a:ln>
            <a:noFill/>
          </a:ln>
        </p:spPr>
      </p:pic>
      <p:pic>
        <p:nvPicPr>
          <p:cNvPr id="307" name="Google Shape;307;p44"/>
          <p:cNvPicPr preferRelativeResize="0"/>
          <p:nvPr/>
        </p:nvPicPr>
        <p:blipFill>
          <a:blip r:embed="rId4">
            <a:alphaModFix/>
          </a:blip>
          <a:stretch>
            <a:fillRect/>
          </a:stretch>
        </p:blipFill>
        <p:spPr>
          <a:xfrm>
            <a:off x="5738076" y="1320500"/>
            <a:ext cx="3302399" cy="3823000"/>
          </a:xfrm>
          <a:prstGeom prst="rect">
            <a:avLst/>
          </a:prstGeom>
          <a:noFill/>
          <a:ln>
            <a:noFill/>
          </a:ln>
        </p:spPr>
      </p:pic>
      <p:cxnSp>
        <p:nvCxnSpPr>
          <p:cNvPr id="308" name="Google Shape;308;p44"/>
          <p:cNvCxnSpPr/>
          <p:nvPr/>
        </p:nvCxnSpPr>
        <p:spPr>
          <a:xfrm>
            <a:off x="1358400" y="3806325"/>
            <a:ext cx="4426500" cy="514200"/>
          </a:xfrm>
          <a:prstGeom prst="straightConnector1">
            <a:avLst/>
          </a:prstGeom>
          <a:noFill/>
          <a:ln w="38100" cap="flat" cmpd="sng">
            <a:solidFill>
              <a:srgbClr val="FF0000"/>
            </a:solidFill>
            <a:prstDash val="solid"/>
            <a:round/>
            <a:headEnd type="none" w="med" len="med"/>
            <a:tailEnd type="stealth" w="med" len="med"/>
          </a:ln>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5"/>
          <p:cNvSpPr txBox="1">
            <a:spLocks noGrp="1"/>
          </p:cNvSpPr>
          <p:nvPr>
            <p:ph type="title"/>
          </p:nvPr>
        </p:nvSpPr>
        <p:spPr>
          <a:xfrm>
            <a:off x="303300" y="411575"/>
            <a:ext cx="8520600" cy="63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Uso de finally</a:t>
            </a:r>
            <a:endParaRPr/>
          </a:p>
        </p:txBody>
      </p:sp>
      <p:pic>
        <p:nvPicPr>
          <p:cNvPr id="314" name="Google Shape;314;p45"/>
          <p:cNvPicPr preferRelativeResize="0"/>
          <p:nvPr/>
        </p:nvPicPr>
        <p:blipFill>
          <a:blip r:embed="rId3">
            <a:alphaModFix/>
          </a:blip>
          <a:stretch>
            <a:fillRect/>
          </a:stretch>
        </p:blipFill>
        <p:spPr>
          <a:xfrm>
            <a:off x="259088" y="1434375"/>
            <a:ext cx="8625826" cy="3576000"/>
          </a:xfrm>
          <a:prstGeom prst="rect">
            <a:avLst/>
          </a:prstGeom>
          <a:noFill/>
          <a:ln>
            <a:noFill/>
          </a:ln>
        </p:spPr>
      </p:pic>
    </p:spTree>
  </p:cSld>
  <p:clrMapOvr>
    <a:masterClrMapping/>
  </p:clrMapOvr>
</p:sld>
</file>

<file path=ppt/theme/theme1.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831</Words>
  <Application>Microsoft Macintosh PowerPoint</Application>
  <PresentationFormat>On-screen Show (16:9)</PresentationFormat>
  <Paragraphs>90</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Lato</vt:lpstr>
      <vt:lpstr>Roboto</vt:lpstr>
      <vt:lpstr>Raleway</vt:lpstr>
      <vt:lpstr>Swiss</vt:lpstr>
      <vt:lpstr>Excepciones Programación II</vt:lpstr>
      <vt:lpstr>¿Qué es una excepción?</vt:lpstr>
      <vt:lpstr>Excepciones (Exception)</vt:lpstr>
      <vt:lpstr>Excepciones (Exception)</vt:lpstr>
      <vt:lpstr>Exception</vt:lpstr>
      <vt:lpstr>PowerPoint Presentation</vt:lpstr>
      <vt:lpstr>PowerPoint Presentation</vt:lpstr>
      <vt:lpstr>Errores que heredan de Exception</vt:lpstr>
      <vt:lpstr>IOException</vt:lpstr>
      <vt:lpstr>PowerPoint Presentation</vt:lpstr>
      <vt:lpstr>PowerPoint Presentation</vt:lpstr>
      <vt:lpstr>RuntimeException</vt:lpstr>
      <vt:lpstr>try-catch</vt:lpstr>
      <vt:lpstr>try-catch</vt:lpstr>
      <vt:lpstr>Sintaxis del try-catch</vt:lpstr>
      <vt:lpstr>IOException</vt:lpstr>
      <vt:lpstr>RuneTimeExcepion y IOExcepion</vt:lpstr>
      <vt:lpstr>Throws</vt:lpstr>
      <vt:lpstr>throws</vt:lpstr>
      <vt:lpstr>Ejemplo Throws (1era parte)</vt:lpstr>
      <vt:lpstr>Ejemplo Throws (2era parte) </vt:lpstr>
      <vt:lpstr>Throws</vt:lpstr>
      <vt:lpstr>throws</vt:lpstr>
      <vt:lpstr>PowerPoint Presentation</vt:lpstr>
      <vt:lpstr>Excepciones Propias</vt:lpstr>
      <vt:lpstr>Excepciones Propias</vt:lpstr>
      <vt:lpstr>Excepciones Propias</vt:lpstr>
      <vt:lpstr>Excepciones Propias</vt:lpstr>
      <vt:lpstr>Capturar varias excepciones</vt:lpstr>
      <vt:lpstr>Capturar varias excepciones</vt:lpstr>
      <vt:lpstr>finally</vt:lpstr>
      <vt:lpstr>Uso de finally</vt:lpstr>
      <vt:lpstr>Uso de finally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Facundo Uferer</cp:lastModifiedBy>
  <cp:revision>1</cp:revision>
  <dcterms:modified xsi:type="dcterms:W3CDTF">2024-10-22T14:35:06Z</dcterms:modified>
</cp:coreProperties>
</file>