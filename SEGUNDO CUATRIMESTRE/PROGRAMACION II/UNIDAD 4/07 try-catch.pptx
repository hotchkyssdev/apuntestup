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ink/ink2.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70" r:id="rId3"/>
    <p:sldId id="258" r:id="rId4"/>
    <p:sldId id="271" r:id="rId5"/>
    <p:sldId id="272" r:id="rId6"/>
    <p:sldId id="273" r:id="rId7"/>
    <p:sldId id="274" r:id="rId8"/>
    <p:sldId id="275" r:id="rId9"/>
  </p:sldIdLst>
  <p:sldSz cx="9144000" cy="5143500" type="screen16x9"/>
  <p:notesSz cx="6858000" cy="9144000"/>
  <p:embeddedFontLst>
    <p:embeddedFont>
      <p:font typeface="Montserrat" pitchFamily="2" charset="77"/>
      <p:regular r:id="rId11"/>
      <p:bold r:id="rId12"/>
      <p:italic r:id="rId13"/>
      <p:boldItalic r:id="rId14"/>
    </p:embeddedFont>
    <p:embeddedFont>
      <p:font typeface="Montserrat ExtraBold" pitchFamily="2" charset="77"/>
      <p:bold r:id="rId15"/>
      <p:italic r:id="rId16"/>
      <p:boldItalic r:id="rId17"/>
    </p:embeddedFont>
    <p:embeddedFont>
      <p:font typeface="Montserrat Medium" pitchFamily="2" charset="77"/>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678"/>
  </p:normalViewPr>
  <p:slideViewPr>
    <p:cSldViewPr snapToGrid="0">
      <p:cViewPr varScale="1">
        <p:scale>
          <a:sx n="179" d="100"/>
          <a:sy n="179" d="100"/>
        </p:scale>
        <p:origin x="1120"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viewProps" Target="viewProp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4T21:44:32.894"/>
    </inkml:context>
    <inkml:brush xml:id="br0">
      <inkml:brushProperty name="width" value="0.05292" units="cm"/>
      <inkml:brushProperty name="height" value="0.05292" units="cm"/>
      <inkml:brushProperty name="color" value="#FF0000"/>
    </inkml:brush>
  </inkml:definitions>
  <inkml:trace contextRef="#ctx0" brushRef="#br0">4466 10214 24575,'13'0'0,"13"0"0,-6 0 0,3 0 0,7 0 0,1 0 0,6 0 0,2 0 0,1 0 0,2 0-377,-12 0 0,1 0 0,1 0 377,3 0 0,1 0 0,1 0 0,2 0 0,2 0 0,1 0-266,-9 0 0,1 0 0,0 0 0,-1 0 266,0 0 0,-1 0 0,0 0 0,0 0 0,7 0 0,0 0 0,-1 0-154,-3 0 1,-2 0 0,0-1 153,-2 1 0,-2-2 0,0 1 0,13-3 0,-1 0 0,0-2 0,0 0 0,-1-1 0,1-1 0,-1 2 0,2 0 0,-13 2 0,1 1 0,0-1 0,1 1 0,1-1 0,-1 1 0,3 0 0,1 0 0,-1 0 0,3 0 0,1 0 0,0 0-319,0 0 1,1 0 0,0 0 318,0 1 0,0 0 0,0 0 0,-2 1 0,0 0 0,0 0 0,-1 0 0,-1 0 0,0 1 183,-4 0 1,-1 0-1,0 0-183,12 0 0,-2 0 639,-5 0 0,-1 0-639,-5 0 0,-3 0 241,-3 0 0,-2 0-241,8 0 271,-8 0 0,-12 0 1,-2 0-1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5-14T21:44:41.310"/>
    </inkml:context>
    <inkml:brush xml:id="br0">
      <inkml:brushProperty name="width" value="0.05292" units="cm"/>
      <inkml:brushProperty name="height" value="0.05292" units="cm"/>
      <inkml:brushProperty name="color" value="#FF0000"/>
    </inkml:brush>
  </inkml:definitions>
  <inkml:trace contextRef="#ctx0" brushRef="#br0">5680 9698 24575,'24'0'0,"5"0"0,6 0 0,3 0 0,1 0 0,3 0 0,-19 0 0,1 0 0,1 0 0,1 0 0,2 0 0,0 0 0,0 0 0,0 0 0,1 0 0,0 0 0,0 0 0,-1 0 0,2 0 0,0 0 0,0 0 0,-1 0 0,3 0 0,0 0 0,3 0 0,1 0 0,1 0 0,0 0 0,1 0 0,0 0 0,0 0 0,0 0 0,1 0 0,0 0 0,0 0 0,0 0 0,1 0 0,1 0 0,-3 1 0,1 1 0,-2 0 0,-1 0 0,2 1 0,-1 0 0,0 1 0,-1 0 0,2 0 0,1-1 0,0 1 0,0 0 0,-2-1 0,1 1 0,2-2 0,0 0 0,1 0 0,1-1 0,-1 0 0,0-1 0,-12 0 0,0 0 0,0 0 0,14 0 0,-1 0 0,-12 0 0,-1 0 0,0 0 0,1 0 0,0 0 0,-1 0 0,14 1 0,0-1 0,-1 2 0,0 0 0,0 1 0,1 0-170,-14-1 1,0 1-1,1 0 170,1-1 0,-1 1 0,1-1 0,-2 0 0,0 0 0,-1 0 0,14 0 0,-2-1-7,-2 0 1,0 0 6,-4-1 0,0 0 0,-1 0 0,-1 0 0,-2 0 0,-1 0 0,0 0 0,-1 0 0,1 0 0,-1 0 254,0 0 1,1 0-255,-1 0 0,0-1 6,-1 0 1,-1 0-7,0 0 0,-1-1 0,0 1 0,0 0 0,1 0 0,0-1 0,2 1 0,1 0 0,1 1 0,1-1 0,1 0 0,0-1 0,0 1 0,0 0 0,-3 0 0,0 0 0,-3 1 0,0-1 0,16 1 0,-7 0 0,-8 0 0,-6 0 0,-4 0 0,-2 0 0,1 0 0,2 0 0,2 0 0,2 0 0,1 0 0,4 0 0,1-1 0,1-1 0,-1-2 0,-2-1 0,-3 1 0,-2 1 0,-5 1 0,-4 0 0,-3 2 0,-5 0 0,-2 0 0</inkml:trace>
  <inkml:trace contextRef="#ctx0" brushRef="#br0" timeOffset="36350">5730 9284 24575,'0'10'0,"0"5"0,0 4 0,0 6 0,0 5 0,0 0 0,0 0 0,0-4 0,0 0 0,0 0 0,0 1 0,1 0 0,1 2 0,2 0 0,1 2 0,-1-7 0,0 1 0,2 12 0,0-2 0,1 5 0,-3-12 0,-1-14 0,0-7 0,0-5 0,5-9 0,8-14 0,-3 2 0,2-4 0,2-6 0,0-1 0,2-4 0,1-1 0,-2 2 0,0 0 0,-3 6 0,0 1 0,-3 5 0,-1 1 0,5-4 0,-7 11 0,-4 6 0,-2 2 0,-2-3 0,1-10 0,1-9 0,3-8 0,-1 2 0,0 8 0,-1 11 0,0 8 0,1 8 0,3 17 0,6 19 0,-4-10 0,1 1 0,0 4 0,2 0 0,-1-3 0,-1-2 0,-1-5 0,-1-3 0,4 7 0,-5-13 0,-2-9 0,0-3 0,0-3 0,-1-1 0,-1 1 0,-2 7 0,-1 11 0,-1 6 0,1 2 0,-1-4 0,1-9 0,3-9 0,9-19 0,9-20 0,-7 10 0,0-2 0,1-3 0,0 0 0,-2 3 0,0 2 0,-3 5 0,-1 2 0,5-5 0,-6 12 0,-3 10 0,-1 11 0,1 11 0,2 8 0,2 0 0,7-9 0,9-13 0,-8-13 0,2-5 0,5-5 0,-1-4 0,2-5 0,0-1 0,-3 1 0,-1 1 0,-4 6 0,-3 4 0,5-1 0,-12 24 0,-6 21 0,-4-6 0,-1 2 0,0 3 0,-1 1 0,-1-4 0,0 0 0,-2 11 0,3-18 0,5-16 0,12-19 0,11-18 0,-9 13 0,2 1 0,0 0 0,-1 3 0,8-7 0,-11 19 0,-8 11 0,-4 10 0,1 4 0,3-1 0,6-6 0,11-6 0,13-11 0,-13-4 0,1-1 0,2-4 0,-1-2 0,-2 0 0,-1 0 0,13-6 0,-10 11 0,-8 17 0,-4 17 0,0 15 0,-7-15 0,0 2 0,0-3 0,-1 0 0,3 11 0,-2-13 0,3-10 0,3-8 0,4-6 0,1-2 0,-3-1 0,-3 2 0,-1 12 0,1 13 0,2 11 0,4 7 0,4-7 0,8-10 0,8-13 0,-14-13 0,1-5 0,2-6 0,-1-4 0,2-4 0,-2-3 0,-2 1 0,-2 0 0,-4 6 0,-1 1 0,5-4 0,-9 14 0,-6 17 0,1 18 0,2 13 0,-4-16 0,0-1 0,5 13 0,-2-14 0,2-12 0,3-15 0,2-14 0,1-9 0,-2-1 0,-4 11 0,-5 14 0,-3 15 0,-2 10 0,0 2 0,0-4 0,0-10 0,1-34 0,0-1 0,0 4 0,0-1 0,0-2 0,0 11 0,3 10 0,3 8 0,4 6 0,0 2 0,-2 0 0,-2-14 0,-5-6 0,-3-10 0,-1 3 0,-1 6 0,0 7 0,1 7 0,-2 2 0,-4 1 0,-11-2 0,-10-3 0,8-3 0,0 0 0,-3-2 0,0 0 0,1 0 0,-1-1 0,-17-3 0,9 4 0,11 2 0,5 1 0,6 0 0,4 0 0,0 1 0,-6 0 0,-6-3 0,-18-7 0,12 2 0,-1-1 0,-4 0 0,-2 0 0,-1 1 0,0 1 0,3 2 0,3 2 0,-15 1 0,18 7 0,20 12 0,21 13 0,-2-11 0,3 0 0,3-1 0,2-2 0,-1-3 0,0-3 0,13 1 0,-12-15 0,-13-27 0,-18 7 0,-3 5 0,-4 3 0,-6 7 0,-1 7 0,-3 4 0,1 5 0,1 6 0,4 4 0,4 4 0,4 3 0,3 3 0,5 0 0,4-4 0,4-1 0,12 9 0,8-14 0,1-23 0,-12-23 0,-15 4 0,-8-3 0,-10-5 0,-7 1 0,4 10 0,-4 1 0,-1 2-190,-4 3 1,-1 1 0,0 3 189,0 2 0,-1 2 0,1 3 0,-11 1 0,2 6 0,7 5 0,4 6 0,7 5 0,5 3 0,7 5 0,6 2 0,7 0 0,5-1 0,3-4 0,4-4 0,2-4 0,3-4 568,21-8-568,-10-28 0,-19 3 0,-5-4 0,-5-4 0,-6 0 0,-6 0 0,-4 3 0,-5 5 0,-4 3 0,-3 5 0,-2 5 0,0 5 0,1 5 0,3 8 0,4 6 0,3 6 0,4 3 0,4 4 0,4 1 0,2-2 0,3-2 0,5 8 0,3-15 0,1-29 0,-5-27 0,-9 8 0,-5-2 0,-5-4 0,-4 2 0,-6 2 0,-3 5 0,-2 6 0,-2 4 0,2 6 0,1 4 0,3 2 0,1 4 0,-14 10 0,14 9 0,11 5 0,8-2 0,7-6 0,3-8 0,4-4 0,0-7 0,-1-9 0,-8-8 0,-13-5 0,-11 4 0,-11 7 0,14 10 0,0 2 0,-1 2 0,0 3 0,0 3 0,1 3 0,1 3 0,1 2 0,4 1 0,1 2 0,-7 11 0,9-9 0,7-10 0,1-6 0,-3-7 0,-7-1 0,-6-1 0,-3 3 0,1 3 0,3 4 0,6 13 0,8 16 0,5-8 0,4 1 0,2 3 0,3 0 0,1-1 0,2-2 0,0-4 0,2-3 0,10 3 0,-5-17 0,-6-25 0,-5-19 0,-5 14 0,-1-1 0,-1-1 0,0 1 0,-4-12 0,0 15 0,2 17 0,1 6 0,2 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99446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f4c32d58e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f4c32d58e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917354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07720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46607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f4c32d58e4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f4c32d58e4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8013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f4c32d58e4_0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f4c32d58e4_0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4874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customXml" Target="../ink/ink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customXml" Target="../ink/ink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744575"/>
            <a:ext cx="8520600" cy="2785803"/>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s-ES" sz="6600" dirty="0">
                <a:solidFill>
                  <a:srgbClr val="E122BB"/>
                </a:solidFill>
                <a:latin typeface="Montserrat ExtraBold"/>
                <a:ea typeface="Montserrat ExtraBold"/>
                <a:cs typeface="Montserrat ExtraBold"/>
                <a:sym typeface="Montserrat ExtraBold"/>
              </a:rPr>
              <a:t>try-catch</a:t>
            </a:r>
            <a:endParaRPr sz="6600" dirty="0">
              <a:solidFill>
                <a:srgbClr val="E122BB"/>
              </a:solidFill>
              <a:latin typeface="Montserrat ExtraBold"/>
              <a:ea typeface="Montserrat ExtraBold"/>
              <a:cs typeface="Montserrat ExtraBold"/>
              <a:sym typeface="Montserrat ExtraBold"/>
            </a:endParaRPr>
          </a:p>
        </p:txBody>
      </p:sp>
      <p:sp>
        <p:nvSpPr>
          <p:cNvPr id="55" name="Google Shape;55;p13"/>
          <p:cNvSpPr txBox="1">
            <a:spLocks noGrp="1"/>
          </p:cNvSpPr>
          <p:nvPr>
            <p:ph type="ctrTitle"/>
          </p:nvPr>
        </p:nvSpPr>
        <p:spPr>
          <a:xfrm>
            <a:off x="253325" y="113350"/>
            <a:ext cx="8520600" cy="411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419" sz="1700">
                <a:solidFill>
                  <a:srgbClr val="E122BB"/>
                </a:solidFill>
                <a:latin typeface="Montserrat ExtraBold"/>
                <a:ea typeface="Montserrat ExtraBold"/>
                <a:cs typeface="Montserrat ExtraBold"/>
                <a:sym typeface="Montserrat ExtraBold"/>
              </a:rPr>
              <a:t>Programación I</a:t>
            </a:r>
            <a:endParaRPr sz="1700">
              <a:solidFill>
                <a:srgbClr val="E122BB"/>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35744" y="207169"/>
            <a:ext cx="3936206" cy="4793456"/>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800" dirty="0">
                <a:solidFill>
                  <a:srgbClr val="E122BB"/>
                </a:solidFill>
                <a:latin typeface="Montserrat ExtraBold"/>
                <a:ea typeface="Montserrat ExtraBold"/>
                <a:cs typeface="Montserrat ExtraBold"/>
                <a:sym typeface="Montserrat ExtraBold"/>
              </a:rPr>
              <a:t>try-catch</a:t>
            </a:r>
          </a:p>
        </p:txBody>
      </p:sp>
      <p:sp>
        <p:nvSpPr>
          <p:cNvPr id="61" name="Google Shape;61;p14"/>
          <p:cNvSpPr txBox="1"/>
          <p:nvPr/>
        </p:nvSpPr>
        <p:spPr>
          <a:xfrm>
            <a:off x="4285754" y="364330"/>
            <a:ext cx="4683317" cy="4474895"/>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dirty="0">
                <a:solidFill>
                  <a:schemeClr val="lt1"/>
                </a:solidFill>
                <a:latin typeface="Montserrat Medium"/>
                <a:ea typeface="Montserrat Medium"/>
                <a:cs typeface="Montserrat Medium"/>
                <a:sym typeface="Montserrat Medium"/>
              </a:rPr>
              <a:t>En Java, el bloque try-catch se utiliza para manejar excepciones. Una excepción es un evento que interrumpe el flujo normal de la ejecución de un programa. Las excepciones pueden ocurrir por diversas razones, como errores de entrada/salida, operaciones aritméticas inválidas, acceso a índices fuera de los límites de un array, entre otros.</a:t>
            </a:r>
          </a:p>
          <a:p>
            <a:pPr marL="0" lvl="0" indent="0" algn="l" rtl="0">
              <a:lnSpc>
                <a:spcPct val="115000"/>
              </a:lnSpc>
              <a:spcBef>
                <a:spcPts val="0"/>
              </a:spcBef>
              <a:spcAft>
                <a:spcPts val="0"/>
              </a:spcAft>
              <a:buClr>
                <a:schemeClr val="dk1"/>
              </a:buClr>
              <a:buSzPts val="1100"/>
              <a:buFont typeface="Arial"/>
              <a:buNone/>
            </a:pPr>
            <a:endParaRPr lang="es-419" dirty="0">
              <a:solidFill>
                <a:schemeClr val="lt1"/>
              </a:solidFill>
              <a:latin typeface="Montserrat Medium"/>
              <a:ea typeface="Montserrat Medium"/>
              <a:cs typeface="Montserrat Medium"/>
              <a:sym typeface="Montserrat Medium"/>
            </a:endParaRPr>
          </a:p>
          <a:p>
            <a:pPr marL="0" lvl="0" indent="0" algn="l" rtl="0">
              <a:lnSpc>
                <a:spcPct val="115000"/>
              </a:lnSpc>
              <a:spcBef>
                <a:spcPts val="0"/>
              </a:spcBef>
              <a:spcAft>
                <a:spcPts val="0"/>
              </a:spcAft>
              <a:buClr>
                <a:schemeClr val="dk1"/>
              </a:buClr>
              <a:buSzPts val="1100"/>
              <a:buFont typeface="Arial"/>
              <a:buNone/>
            </a:pPr>
            <a:r>
              <a:rPr lang="es-419" dirty="0">
                <a:solidFill>
                  <a:schemeClr val="lt1"/>
                </a:solidFill>
                <a:latin typeface="Montserrat Medium"/>
                <a:ea typeface="Montserrat Medium"/>
                <a:cs typeface="Montserrat Medium"/>
                <a:sym typeface="Montserrat Medium"/>
              </a:rPr>
              <a:t>El manejo de excepciones es crucial para escribir programas robustos y que puedan gestionar errores de manera adecuada.</a:t>
            </a:r>
          </a:p>
        </p:txBody>
      </p:sp>
    </p:spTree>
    <p:extLst>
      <p:ext uri="{BB962C8B-B14F-4D97-AF65-F5344CB8AC3E}">
        <p14:creationId xmlns:p14="http://schemas.microsoft.com/office/powerpoint/2010/main" val="131494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ES" sz="2920" b="1" dirty="0">
                <a:solidFill>
                  <a:srgbClr val="E122BB"/>
                </a:solidFill>
                <a:latin typeface="Montserrat"/>
                <a:ea typeface="Montserrat"/>
                <a:cs typeface="Montserrat"/>
                <a:sym typeface="Montserrat"/>
              </a:rPr>
              <a:t>¿Por qué se usa try-catch?</a:t>
            </a:r>
            <a:br>
              <a:rPr lang="es-ES" sz="2920" b="1" dirty="0">
                <a:solidFill>
                  <a:srgbClr val="E122BB"/>
                </a:solidFill>
                <a:latin typeface="Montserrat"/>
                <a:ea typeface="Montserrat"/>
                <a:cs typeface="Montserrat"/>
                <a:sym typeface="Montserrat"/>
              </a:rPr>
            </a:br>
            <a:br>
              <a:rPr lang="es-ES" sz="2920" b="1" dirty="0">
                <a:solidFill>
                  <a:srgbClr val="E122BB"/>
                </a:solidFill>
                <a:latin typeface="Montserrat"/>
                <a:ea typeface="Montserrat"/>
                <a:cs typeface="Montserrat"/>
                <a:sym typeface="Montserrat"/>
              </a:rPr>
            </a:br>
            <a:endParaRPr lang="es-ES" sz="2920" b="1" dirty="0">
              <a:solidFill>
                <a:srgbClr val="E122BB"/>
              </a:solidFill>
              <a:latin typeface="Montserrat"/>
              <a:ea typeface="Montserrat"/>
              <a:cs typeface="Montserrat"/>
              <a:sym typeface="Montserrat"/>
            </a:endParaRPr>
          </a:p>
        </p:txBody>
      </p:sp>
      <p:sp>
        <p:nvSpPr>
          <p:cNvPr id="67" name="Google Shape;67;p15"/>
          <p:cNvSpPr txBox="1"/>
          <p:nvPr/>
        </p:nvSpPr>
        <p:spPr>
          <a:xfrm>
            <a:off x="292895" y="962108"/>
            <a:ext cx="8535230" cy="3931361"/>
          </a:xfrm>
          <a:prstGeom prst="rect">
            <a:avLst/>
          </a:prstGeom>
          <a:noFill/>
          <a:ln>
            <a:noFill/>
          </a:ln>
        </p:spPr>
        <p:txBody>
          <a:bodyPr spcFirstLastPara="1" wrap="square" lIns="91425" tIns="91425" rIns="91425" bIns="91425" anchor="t" anchorCtr="0">
            <a:noAutofit/>
          </a:bodyPr>
          <a:lstStyle/>
          <a:p>
            <a:pPr marL="457200" indent="-457200">
              <a:buFont typeface="+mj-lt"/>
              <a:buAutoNum type="arabicPeriod"/>
            </a:pPr>
            <a:r>
              <a:rPr lang="es-ES_tradnl" sz="2000" dirty="0">
                <a:solidFill>
                  <a:schemeClr val="tx1"/>
                </a:solidFill>
                <a:effectLst/>
                <a:latin typeface="Montserrat Medium" pitchFamily="2" charset="77"/>
              </a:rPr>
              <a:t>Robustez: Mejora la robustez del programa al permitir que el programa maneje errores de manera controlada en lugar de terminar abruptamente.</a:t>
            </a:r>
          </a:p>
          <a:p>
            <a:pPr marL="457200" indent="-457200">
              <a:buFont typeface="+mj-lt"/>
              <a:buAutoNum type="arabicPeriod"/>
            </a:pPr>
            <a:r>
              <a:rPr lang="es-ES_tradnl" sz="2000" dirty="0">
                <a:solidFill>
                  <a:schemeClr val="tx1"/>
                </a:solidFill>
                <a:effectLst/>
                <a:latin typeface="Montserrat Medium" pitchFamily="2" charset="77"/>
              </a:rPr>
              <a:t>Mantenimiento: Facilita el mantenimiento del código al centralizar la lógica de manejo de errores.</a:t>
            </a:r>
          </a:p>
          <a:p>
            <a:pPr marL="457200" indent="-457200">
              <a:buFont typeface="+mj-lt"/>
              <a:buAutoNum type="arabicPeriod"/>
            </a:pPr>
            <a:r>
              <a:rPr lang="es-ES_tradnl" sz="2000" dirty="0">
                <a:solidFill>
                  <a:schemeClr val="tx1"/>
                </a:solidFill>
                <a:effectLst/>
                <a:latin typeface="Montserrat Medium" pitchFamily="2" charset="77"/>
              </a:rPr>
              <a:t>Seguridad: Permite limpiar recursos (como archivos o conexiones de base de datos) de manera segura incluso cuando ocurre un error.</a:t>
            </a:r>
          </a:p>
          <a:p>
            <a:pPr marL="457200" indent="-457200">
              <a:buFont typeface="+mj-lt"/>
              <a:buAutoNum type="arabicPeriod"/>
            </a:pPr>
            <a:r>
              <a:rPr lang="es-ES_tradnl" sz="2000" dirty="0">
                <a:solidFill>
                  <a:schemeClr val="tx1"/>
                </a:solidFill>
                <a:effectLst/>
                <a:latin typeface="Montserrat Medium" pitchFamily="2" charset="77"/>
              </a:rPr>
              <a:t>Experiencia del Usuario: Proporciona una mejor experiencia de usuario al manejar los errores de manera adecuada, mostrando mensajes de error amigables o intentando recuperarse del error.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Estructura de try-catch</a:t>
            </a:r>
          </a:p>
        </p:txBody>
      </p:sp>
      <p:pic>
        <p:nvPicPr>
          <p:cNvPr id="3" name="Picture 2">
            <a:extLst>
              <a:ext uri="{FF2B5EF4-FFF2-40B4-BE49-F238E27FC236}">
                <a16:creationId xmlns:a16="http://schemas.microsoft.com/office/drawing/2014/main" id="{8C49FD92-0260-6709-43D6-4A8E05856BE0}"/>
              </a:ext>
            </a:extLst>
          </p:cNvPr>
          <p:cNvPicPr>
            <a:picLocks noChangeAspect="1"/>
          </p:cNvPicPr>
          <p:nvPr/>
        </p:nvPicPr>
        <p:blipFill>
          <a:blip r:embed="rId4"/>
          <a:stretch>
            <a:fillRect/>
          </a:stretch>
        </p:blipFill>
        <p:spPr>
          <a:xfrm>
            <a:off x="543268" y="1407670"/>
            <a:ext cx="5765800" cy="1689100"/>
          </a:xfrm>
          <a:prstGeom prst="rect">
            <a:avLst/>
          </a:prstGeom>
        </p:spPr>
      </p:pic>
    </p:spTree>
    <p:extLst>
      <p:ext uri="{BB962C8B-B14F-4D97-AF65-F5344CB8AC3E}">
        <p14:creationId xmlns:p14="http://schemas.microsoft.com/office/powerpoint/2010/main" val="3903639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Manejo de Excepciones en Entrada/Salida</a:t>
            </a:r>
          </a:p>
        </p:txBody>
      </p:sp>
      <p:pic>
        <p:nvPicPr>
          <p:cNvPr id="2" name="Picture 1">
            <a:extLst>
              <a:ext uri="{FF2B5EF4-FFF2-40B4-BE49-F238E27FC236}">
                <a16:creationId xmlns:a16="http://schemas.microsoft.com/office/drawing/2014/main" id="{61298298-807A-5932-D74A-F87F4CF3FC8C}"/>
              </a:ext>
            </a:extLst>
          </p:cNvPr>
          <p:cNvPicPr>
            <a:picLocks noChangeAspect="1"/>
          </p:cNvPicPr>
          <p:nvPr/>
        </p:nvPicPr>
        <p:blipFill>
          <a:blip r:embed="rId4"/>
          <a:stretch>
            <a:fillRect/>
          </a:stretch>
        </p:blipFill>
        <p:spPr>
          <a:xfrm>
            <a:off x="560928" y="1375576"/>
            <a:ext cx="4933423" cy="3391728"/>
          </a:xfrm>
          <a:prstGeom prst="rect">
            <a:avLst/>
          </a:prstGeom>
        </p:spPr>
      </p:pic>
      <p:sp>
        <p:nvSpPr>
          <p:cNvPr id="4" name="Google Shape;74;p16">
            <a:extLst>
              <a:ext uri="{FF2B5EF4-FFF2-40B4-BE49-F238E27FC236}">
                <a16:creationId xmlns:a16="http://schemas.microsoft.com/office/drawing/2014/main" id="{2DD20CF2-6C9B-A0FF-1BA5-03B03507B508}"/>
              </a:ext>
            </a:extLst>
          </p:cNvPr>
          <p:cNvSpPr txBox="1"/>
          <p:nvPr/>
        </p:nvSpPr>
        <p:spPr>
          <a:xfrm>
            <a:off x="6736019" y="1517683"/>
            <a:ext cx="2209200" cy="2743200"/>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b="1" dirty="0">
                <a:solidFill>
                  <a:schemeClr val="lt1"/>
                </a:solidFill>
              </a:rPr>
              <a:t>try: </a:t>
            </a:r>
            <a:r>
              <a:rPr lang="es-419" sz="1200" dirty="0">
                <a:solidFill>
                  <a:schemeClr val="lt1"/>
                </a:solidFill>
              </a:rPr>
              <a:t>Intenta escribir datos en un archivo. FileWriter puede lanzar una excepción IOException si ocurre un error durante la escritura.</a:t>
            </a:r>
          </a:p>
          <a:p>
            <a:pPr marL="0" lvl="0" indent="0" algn="l" rtl="0">
              <a:spcBef>
                <a:spcPts val="0"/>
              </a:spcBef>
              <a:spcAft>
                <a:spcPts val="0"/>
              </a:spcAft>
              <a:buNone/>
            </a:pPr>
            <a:endParaRPr lang="es-419" sz="1200" dirty="0">
              <a:solidFill>
                <a:schemeClr val="lt1"/>
              </a:solidFill>
            </a:endParaRPr>
          </a:p>
          <a:p>
            <a:pPr marL="0" lvl="0" indent="0" algn="l" rtl="0">
              <a:spcBef>
                <a:spcPts val="0"/>
              </a:spcBef>
              <a:spcAft>
                <a:spcPts val="0"/>
              </a:spcAft>
              <a:buNone/>
            </a:pPr>
            <a:r>
              <a:rPr lang="es-419" sz="1200" b="1" dirty="0">
                <a:solidFill>
                  <a:schemeClr val="lt1"/>
                </a:solidFill>
              </a:rPr>
              <a:t>catch (IOException e): </a:t>
            </a:r>
            <a:r>
              <a:rPr lang="es-419" sz="1200" dirty="0">
                <a:solidFill>
                  <a:schemeClr val="lt1"/>
                </a:solidFill>
              </a:rPr>
              <a:t>Captura la excepción IOException y permite al programa manejarla, en este caso, imprimiendo un mensaje de error y la traza de la excepción.</a:t>
            </a:r>
          </a:p>
        </p:txBody>
      </p:sp>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2CFC5737-17AE-41AA-F63A-BEFCDEC8235C}"/>
                  </a:ext>
                </a:extLst>
              </p14:cNvPr>
              <p14:cNvContentPartPr/>
              <p14:nvPr/>
            </p14:nvContentPartPr>
            <p14:xfrm>
              <a:off x="1607760" y="3637440"/>
              <a:ext cx="1000080" cy="39960"/>
            </p14:xfrm>
          </p:contentPart>
        </mc:Choice>
        <mc:Fallback>
          <p:pic>
            <p:nvPicPr>
              <p:cNvPr id="3" name="Ink 2">
                <a:extLst>
                  <a:ext uri="{FF2B5EF4-FFF2-40B4-BE49-F238E27FC236}">
                    <a16:creationId xmlns:a16="http://schemas.microsoft.com/office/drawing/2014/main" id="{2CFC5737-17AE-41AA-F63A-BEFCDEC8235C}"/>
                  </a:ext>
                </a:extLst>
              </p:cNvPr>
              <p:cNvPicPr/>
              <p:nvPr/>
            </p:nvPicPr>
            <p:blipFill>
              <a:blip r:embed="rId6"/>
              <a:stretch>
                <a:fillRect/>
              </a:stretch>
            </p:blipFill>
            <p:spPr>
              <a:xfrm>
                <a:off x="1598400" y="3628080"/>
                <a:ext cx="1018800" cy="58680"/>
              </a:xfrm>
              <a:prstGeom prst="rect">
                <a:avLst/>
              </a:prstGeom>
            </p:spPr>
          </p:pic>
        </mc:Fallback>
      </mc:AlternateContent>
    </p:spTree>
    <p:extLst>
      <p:ext uri="{BB962C8B-B14F-4D97-AF65-F5344CB8AC3E}">
        <p14:creationId xmlns:p14="http://schemas.microsoft.com/office/powerpoint/2010/main" val="3259162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Excepciones en Operaciones Aritméticas</a:t>
            </a:r>
          </a:p>
        </p:txBody>
      </p:sp>
      <p:sp>
        <p:nvSpPr>
          <p:cNvPr id="4" name="Google Shape;74;p16">
            <a:extLst>
              <a:ext uri="{FF2B5EF4-FFF2-40B4-BE49-F238E27FC236}">
                <a16:creationId xmlns:a16="http://schemas.microsoft.com/office/drawing/2014/main" id="{2DD20CF2-6C9B-A0FF-1BA5-03B03507B508}"/>
              </a:ext>
            </a:extLst>
          </p:cNvPr>
          <p:cNvSpPr txBox="1"/>
          <p:nvPr/>
        </p:nvSpPr>
        <p:spPr>
          <a:xfrm>
            <a:off x="6736019" y="1517683"/>
            <a:ext cx="2241004" cy="2259187"/>
          </a:xfrm>
          <a:prstGeom prst="rect">
            <a:avLst/>
          </a:prstGeom>
          <a:solidFill>
            <a:srgbClr val="E122BB"/>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419" sz="1200" dirty="0">
                <a:solidFill>
                  <a:schemeClr val="lt1"/>
                </a:solidFill>
              </a:rPr>
              <a:t>try: Intenta realizar una división. Dividir por cero lanzará una excepción ArithmeticException.</a:t>
            </a:r>
          </a:p>
          <a:p>
            <a:pPr marL="0" lvl="0" indent="0" algn="l" rtl="0">
              <a:spcBef>
                <a:spcPts val="0"/>
              </a:spcBef>
              <a:spcAft>
                <a:spcPts val="0"/>
              </a:spcAft>
              <a:buNone/>
            </a:pPr>
            <a:endParaRPr lang="es-419" sz="1200" dirty="0">
              <a:solidFill>
                <a:schemeClr val="lt1"/>
              </a:solidFill>
            </a:endParaRPr>
          </a:p>
          <a:p>
            <a:pPr marL="0" lvl="0" indent="0" algn="l" rtl="0">
              <a:spcBef>
                <a:spcPts val="0"/>
              </a:spcBef>
              <a:spcAft>
                <a:spcPts val="0"/>
              </a:spcAft>
              <a:buNone/>
            </a:pPr>
            <a:r>
              <a:rPr lang="es-419" sz="1200" dirty="0">
                <a:solidFill>
                  <a:schemeClr val="lt1"/>
                </a:solidFill>
              </a:rPr>
              <a:t>catch (ArithmeticException e): Captura la excepción ArithmeticException y maneja el error, en este caso, imprimiendo un mensaje de error específico.</a:t>
            </a:r>
          </a:p>
        </p:txBody>
      </p:sp>
      <p:pic>
        <p:nvPicPr>
          <p:cNvPr id="3" name="Picture 2">
            <a:extLst>
              <a:ext uri="{FF2B5EF4-FFF2-40B4-BE49-F238E27FC236}">
                <a16:creationId xmlns:a16="http://schemas.microsoft.com/office/drawing/2014/main" id="{60FC3ED8-8B86-EA2D-01BD-0AD93867C721}"/>
              </a:ext>
            </a:extLst>
          </p:cNvPr>
          <p:cNvPicPr>
            <a:picLocks noChangeAspect="1"/>
          </p:cNvPicPr>
          <p:nvPr/>
        </p:nvPicPr>
        <p:blipFill>
          <a:blip r:embed="rId4"/>
          <a:stretch>
            <a:fillRect/>
          </a:stretch>
        </p:blipFill>
        <p:spPr>
          <a:xfrm>
            <a:off x="606287" y="1367623"/>
            <a:ext cx="6025001" cy="3347223"/>
          </a:xfrm>
          <a:prstGeom prst="rect">
            <a:avLst/>
          </a:prstGeom>
        </p:spPr>
      </p:pic>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67C38CC7-A2DA-FE9D-4FFE-B818DD337866}"/>
                  </a:ext>
                </a:extLst>
              </p14:cNvPr>
              <p14:cNvContentPartPr/>
              <p14:nvPr/>
            </p14:nvContentPartPr>
            <p14:xfrm>
              <a:off x="2040480" y="3342240"/>
              <a:ext cx="1629000" cy="213480"/>
            </p14:xfrm>
          </p:contentPart>
        </mc:Choice>
        <mc:Fallback>
          <p:pic>
            <p:nvPicPr>
              <p:cNvPr id="2" name="Ink 1">
                <a:extLst>
                  <a:ext uri="{FF2B5EF4-FFF2-40B4-BE49-F238E27FC236}">
                    <a16:creationId xmlns:a16="http://schemas.microsoft.com/office/drawing/2014/main" id="{67C38CC7-A2DA-FE9D-4FFE-B818DD337866}"/>
                  </a:ext>
                </a:extLst>
              </p:cNvPr>
              <p:cNvPicPr/>
              <p:nvPr/>
            </p:nvPicPr>
            <p:blipFill>
              <a:blip r:embed="rId6"/>
              <a:stretch>
                <a:fillRect/>
              </a:stretch>
            </p:blipFill>
            <p:spPr>
              <a:xfrm>
                <a:off x="2031120" y="3332880"/>
                <a:ext cx="1647720" cy="232200"/>
              </a:xfrm>
              <a:prstGeom prst="rect">
                <a:avLst/>
              </a:prstGeom>
            </p:spPr>
          </p:pic>
        </mc:Fallback>
      </mc:AlternateContent>
    </p:spTree>
    <p:extLst>
      <p:ext uri="{BB962C8B-B14F-4D97-AF65-F5344CB8AC3E}">
        <p14:creationId xmlns:p14="http://schemas.microsoft.com/office/powerpoint/2010/main" val="36320998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235744" y="207169"/>
            <a:ext cx="3936206" cy="4793456"/>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s-419" sz="4800" dirty="0">
                <a:solidFill>
                  <a:srgbClr val="E122BB"/>
                </a:solidFill>
                <a:latin typeface="Montserrat ExtraBold"/>
                <a:ea typeface="Montserrat ExtraBold"/>
                <a:cs typeface="Montserrat ExtraBold"/>
                <a:sym typeface="Montserrat ExtraBold"/>
              </a:rPr>
              <a:t>Bloques finally</a:t>
            </a:r>
          </a:p>
        </p:txBody>
      </p:sp>
      <p:sp>
        <p:nvSpPr>
          <p:cNvPr id="61" name="Google Shape;61;p14"/>
          <p:cNvSpPr txBox="1"/>
          <p:nvPr/>
        </p:nvSpPr>
        <p:spPr>
          <a:xfrm>
            <a:off x="4285754" y="364330"/>
            <a:ext cx="4683317" cy="4474895"/>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s-419" sz="2000" dirty="0">
                <a:solidFill>
                  <a:schemeClr val="lt1"/>
                </a:solidFill>
                <a:latin typeface="Montserrat Medium"/>
                <a:ea typeface="Montserrat Medium"/>
                <a:cs typeface="Montserrat Medium"/>
                <a:sym typeface="Montserrat Medium"/>
              </a:rPr>
              <a:t>A veces, además de try y catch, se usa un bloque finally que se ejecuta siempre, independientemente de si se lanzó una excepción o no. Es útil para liberar recursos.</a:t>
            </a:r>
          </a:p>
          <a:p>
            <a:pPr marL="0" lvl="0" indent="0" algn="l" rtl="0">
              <a:lnSpc>
                <a:spcPct val="115000"/>
              </a:lnSpc>
              <a:spcBef>
                <a:spcPts val="0"/>
              </a:spcBef>
              <a:spcAft>
                <a:spcPts val="0"/>
              </a:spcAft>
              <a:buClr>
                <a:schemeClr val="dk1"/>
              </a:buClr>
              <a:buSzPts val="1100"/>
              <a:buFont typeface="Arial"/>
              <a:buNone/>
            </a:pPr>
            <a:endParaRPr lang="es-419" sz="2000" dirty="0">
              <a:solidFill>
                <a:schemeClr val="l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2264843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33425" y="144925"/>
            <a:ext cx="85947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r>
              <a:rPr lang="es-419" sz="2920" b="1" dirty="0">
                <a:solidFill>
                  <a:srgbClr val="E122BB"/>
                </a:solidFill>
                <a:latin typeface="Montserrat"/>
                <a:ea typeface="Montserrat"/>
                <a:cs typeface="Montserrat"/>
                <a:sym typeface="Montserrat"/>
              </a:rPr>
              <a:t>finally</a:t>
            </a:r>
          </a:p>
        </p:txBody>
      </p:sp>
      <p:pic>
        <p:nvPicPr>
          <p:cNvPr id="2" name="Picture 1">
            <a:extLst>
              <a:ext uri="{FF2B5EF4-FFF2-40B4-BE49-F238E27FC236}">
                <a16:creationId xmlns:a16="http://schemas.microsoft.com/office/drawing/2014/main" id="{9F50A93F-B1A6-F209-086A-B15E5E3DF9C4}"/>
              </a:ext>
            </a:extLst>
          </p:cNvPr>
          <p:cNvPicPr>
            <a:picLocks noChangeAspect="1"/>
          </p:cNvPicPr>
          <p:nvPr/>
        </p:nvPicPr>
        <p:blipFill>
          <a:blip r:embed="rId4"/>
          <a:stretch>
            <a:fillRect/>
          </a:stretch>
        </p:blipFill>
        <p:spPr>
          <a:xfrm>
            <a:off x="582433" y="1351721"/>
            <a:ext cx="5953441" cy="3307467"/>
          </a:xfrm>
          <a:prstGeom prst="rect">
            <a:avLst/>
          </a:prstGeom>
        </p:spPr>
      </p:pic>
    </p:spTree>
    <p:extLst>
      <p:ext uri="{BB962C8B-B14F-4D97-AF65-F5344CB8AC3E}">
        <p14:creationId xmlns:p14="http://schemas.microsoft.com/office/powerpoint/2010/main" val="215425116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402</TotalTime>
  <Words>332</Words>
  <Application>Microsoft Macintosh PowerPoint</Application>
  <PresentationFormat>On-screen Show (16:9)</PresentationFormat>
  <Paragraphs>23</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Montserrat Medium</vt:lpstr>
      <vt:lpstr>Montserrat ExtraBold</vt:lpstr>
      <vt:lpstr>Montserrat</vt:lpstr>
      <vt:lpstr>Arial</vt:lpstr>
      <vt:lpstr>Simple Light</vt:lpstr>
      <vt:lpstr>try-catch</vt:lpstr>
      <vt:lpstr>try-catch</vt:lpstr>
      <vt:lpstr>¿Por qué se usa try-catch?  </vt:lpstr>
      <vt:lpstr>Estructura de try-catch</vt:lpstr>
      <vt:lpstr>Manejo de Excepciones en Entrada/Salida</vt:lpstr>
      <vt:lpstr>Excepciones en Operaciones Aritméticas</vt:lpstr>
      <vt:lpstr>Bloques finally</vt:lpstr>
      <vt:lpstr>finally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Estructuras de control de Flujo: Iteradores</dc:title>
  <cp:lastModifiedBy>Facundo Uferer</cp:lastModifiedBy>
  <cp:revision>17</cp:revision>
  <dcterms:modified xsi:type="dcterms:W3CDTF">2024-05-14T22:37:43Z</dcterms:modified>
</cp:coreProperties>
</file>