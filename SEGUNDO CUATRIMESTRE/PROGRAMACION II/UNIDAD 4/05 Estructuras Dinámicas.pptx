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70" r:id="rId3"/>
    <p:sldId id="258"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Lst>
  <p:sldSz cx="9144000" cy="5143500" type="screen16x9"/>
  <p:notesSz cx="6858000" cy="9144000"/>
  <p:embeddedFontLst>
    <p:embeddedFont>
      <p:font typeface="Montserrat" pitchFamily="2" charset="77"/>
      <p:regular r:id="rId24"/>
      <p:bold r:id="rId25"/>
      <p:italic r:id="rId26"/>
      <p:boldItalic r:id="rId27"/>
    </p:embeddedFont>
    <p:embeddedFont>
      <p:font typeface="Montserrat ExtraBold" pitchFamily="2" charset="77"/>
      <p:bold r:id="rId28"/>
      <p:italic r:id="rId29"/>
      <p:boldItalic r:id="rId30"/>
    </p:embeddedFont>
    <p:embeddedFont>
      <p:font typeface="Montserrat Medium" pitchFamily="2" charset="77"/>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89"/>
    <p:restoredTop sz="94678"/>
  </p:normalViewPr>
  <p:slideViewPr>
    <p:cSldViewPr snapToGrid="0">
      <p:cViewPr varScale="1">
        <p:scale>
          <a:sx n="179" d="100"/>
          <a:sy n="179" d="100"/>
        </p:scale>
        <p:origin x="1032"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9446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1735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4496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3410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5434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1773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692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37219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2418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1961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8783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41781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5638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45128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823048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2785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9949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2750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895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2927313"/>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sz="6600" dirty="0">
                <a:solidFill>
                  <a:srgbClr val="E122BB"/>
                </a:solidFill>
                <a:latin typeface="Montserrat ExtraBold"/>
                <a:ea typeface="Montserrat ExtraBold"/>
                <a:cs typeface="Montserrat ExtraBold"/>
                <a:sym typeface="Montserrat ExtraBold"/>
              </a:rPr>
              <a:t>Estructuras Dinámicas</a:t>
            </a:r>
            <a:endParaRPr sz="6600" dirty="0">
              <a:solidFill>
                <a:srgbClr val="E122BB"/>
              </a:solidFill>
              <a:latin typeface="Montserrat ExtraBold"/>
              <a:ea typeface="Montserrat ExtraBold"/>
              <a:cs typeface="Montserrat ExtraBold"/>
              <a:sym typeface="Montserrat ExtraBold"/>
            </a:endParaRPr>
          </a:p>
        </p:txBody>
      </p:sp>
      <p:sp>
        <p:nvSpPr>
          <p:cNvPr id="55" name="Google Shape;55;p13"/>
          <p:cNvSpPr txBox="1">
            <a:spLocks noGrp="1"/>
          </p:cNvSpPr>
          <p:nvPr>
            <p:ph type="ctrTitle"/>
          </p:nvPr>
        </p:nvSpPr>
        <p:spPr>
          <a:xfrm>
            <a:off x="253325" y="113350"/>
            <a:ext cx="8520600" cy="41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1700">
                <a:solidFill>
                  <a:srgbClr val="E122BB"/>
                </a:solidFill>
                <a:latin typeface="Montserrat ExtraBold"/>
                <a:ea typeface="Montserrat ExtraBold"/>
                <a:cs typeface="Montserrat ExtraBold"/>
                <a:sym typeface="Montserrat ExtraBold"/>
              </a:rPr>
              <a:t>Programación I</a:t>
            </a:r>
            <a:endParaRPr sz="1700">
              <a:solidFill>
                <a:srgbClr val="E122BB"/>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35744" y="207169"/>
            <a:ext cx="3936206" cy="4793456"/>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800" dirty="0">
                <a:solidFill>
                  <a:srgbClr val="E122BB"/>
                </a:solidFill>
                <a:latin typeface="Montserrat ExtraBold"/>
                <a:ea typeface="Montserrat ExtraBold"/>
                <a:cs typeface="Montserrat ExtraBold"/>
                <a:sym typeface="Montserrat ExtraBold"/>
              </a:rPr>
              <a:t>Listas</a:t>
            </a:r>
          </a:p>
        </p:txBody>
      </p:sp>
      <p:sp>
        <p:nvSpPr>
          <p:cNvPr id="61" name="Google Shape;61;p14"/>
          <p:cNvSpPr txBox="1"/>
          <p:nvPr/>
        </p:nvSpPr>
        <p:spPr>
          <a:xfrm>
            <a:off x="4285754" y="364330"/>
            <a:ext cx="4683317" cy="4474895"/>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dirty="0">
                <a:solidFill>
                  <a:schemeClr val="lt1"/>
                </a:solidFill>
                <a:latin typeface="Montserrat Medium"/>
                <a:ea typeface="Montserrat Medium"/>
                <a:cs typeface="Montserrat Medium"/>
                <a:sym typeface="Montserrat Medium"/>
              </a:rPr>
              <a:t>Una lista es una estructura de datos que almacena una colección ordenada de elementos. En Java, una de las implementaciones más comunes es ArrayList, que es una lista redimensionable que implementa la interfaz List. </a:t>
            </a:r>
          </a:p>
        </p:txBody>
      </p:sp>
    </p:spTree>
    <p:extLst>
      <p:ext uri="{BB962C8B-B14F-4D97-AF65-F5344CB8AC3E}">
        <p14:creationId xmlns:p14="http://schemas.microsoft.com/office/powerpoint/2010/main" val="131494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Características</a:t>
            </a: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p:txBody>
      </p:sp>
      <p:sp>
        <p:nvSpPr>
          <p:cNvPr id="67" name="Google Shape;67;p15"/>
          <p:cNvSpPr txBox="1"/>
          <p:nvPr/>
        </p:nvSpPr>
        <p:spPr>
          <a:xfrm>
            <a:off x="292895" y="962108"/>
            <a:ext cx="8535230" cy="3931361"/>
          </a:xfrm>
          <a:prstGeom prst="rect">
            <a:avLst/>
          </a:prstGeom>
          <a:noFill/>
          <a:ln>
            <a:noFill/>
          </a:ln>
        </p:spPr>
        <p:txBody>
          <a:bodyPr spcFirstLastPara="1" wrap="square" lIns="91425" tIns="91425" rIns="91425" bIns="91425" anchor="t" anchorCtr="0">
            <a:noAutofit/>
          </a:bodyPr>
          <a:lstStyle/>
          <a:p>
            <a:pPr marL="285750" indent="-285750">
              <a:buFont typeface="Wingdings" pitchFamily="2" charset="2"/>
              <a:buChar char="q"/>
            </a:pPr>
            <a:r>
              <a:rPr lang="es-ES_tradnl" sz="1800" b="1" dirty="0">
                <a:solidFill>
                  <a:schemeClr val="tx1"/>
                </a:solidFill>
                <a:effectLst/>
              </a:rPr>
              <a:t>Tamaño Dinámico</a:t>
            </a:r>
            <a:r>
              <a:rPr lang="es-ES_tradnl" sz="1800" dirty="0">
                <a:solidFill>
                  <a:schemeClr val="tx1"/>
                </a:solidFill>
                <a:effectLst/>
              </a:rPr>
              <a:t>: Puedes agregar o eliminar elementos en cualquier momento sin tener que preocuparte por el tamaño inicial del array.</a:t>
            </a:r>
          </a:p>
          <a:p>
            <a:pPr marL="285750" indent="-285750">
              <a:buFont typeface="Wingdings" pitchFamily="2" charset="2"/>
              <a:buChar char="q"/>
            </a:pPr>
            <a:r>
              <a:rPr lang="es-ES_tradnl" sz="1800" b="1" dirty="0">
                <a:solidFill>
                  <a:schemeClr val="tx1"/>
                </a:solidFill>
                <a:effectLst/>
              </a:rPr>
              <a:t>Implementa la Interfaz </a:t>
            </a:r>
            <a:r>
              <a:rPr lang="es-ES_tradnl" sz="1800" b="1" dirty="0" err="1">
                <a:solidFill>
                  <a:schemeClr val="tx1"/>
                </a:solidFill>
                <a:effectLst/>
              </a:rPr>
              <a:t>List</a:t>
            </a:r>
            <a:r>
              <a:rPr lang="es-ES_tradnl" sz="1800" dirty="0">
                <a:solidFill>
                  <a:schemeClr val="tx1"/>
                </a:solidFill>
                <a:effectLst/>
              </a:rPr>
              <a:t>: </a:t>
            </a:r>
            <a:r>
              <a:rPr lang="es-ES_tradnl" sz="1800" dirty="0" err="1">
                <a:solidFill>
                  <a:schemeClr val="tx1"/>
                </a:solidFill>
                <a:effectLst/>
              </a:rPr>
              <a:t>ArrayList</a:t>
            </a:r>
            <a:r>
              <a:rPr lang="es-ES_tradnl" sz="1800" dirty="0">
                <a:solidFill>
                  <a:schemeClr val="tx1"/>
                </a:solidFill>
                <a:effectLst/>
              </a:rPr>
              <a:t> implementa la interfaz </a:t>
            </a:r>
            <a:r>
              <a:rPr lang="es-ES_tradnl" sz="1800" dirty="0" err="1">
                <a:solidFill>
                  <a:schemeClr val="tx1"/>
                </a:solidFill>
                <a:effectLst/>
              </a:rPr>
              <a:t>List</a:t>
            </a:r>
            <a:r>
              <a:rPr lang="es-ES_tradnl" sz="1800" dirty="0">
                <a:solidFill>
                  <a:schemeClr val="tx1"/>
                </a:solidFill>
                <a:effectLst/>
              </a:rPr>
              <a:t>, lo que significa que hereda todas las operaciones definidas en esa interfaz, como agregar, eliminar, buscar elementos, entre otras.</a:t>
            </a:r>
          </a:p>
          <a:p>
            <a:pPr marL="285750" indent="-285750">
              <a:buFont typeface="Wingdings" pitchFamily="2" charset="2"/>
              <a:buChar char="q"/>
            </a:pPr>
            <a:r>
              <a:rPr lang="es-ES_tradnl" sz="1800" b="1" dirty="0">
                <a:solidFill>
                  <a:schemeClr val="tx1"/>
                </a:solidFill>
                <a:effectLst/>
              </a:rPr>
              <a:t>Acceso Aleatorio Eficiente</a:t>
            </a:r>
            <a:r>
              <a:rPr lang="es-ES_tradnl" sz="1800" dirty="0">
                <a:solidFill>
                  <a:schemeClr val="tx1"/>
                </a:solidFill>
                <a:effectLst/>
              </a:rPr>
              <a:t>: Puedes acceder a cualquier elemento en la lista directamente mediante su índice.</a:t>
            </a:r>
          </a:p>
          <a:p>
            <a:pPr marL="285750" indent="-285750">
              <a:buFont typeface="Wingdings" pitchFamily="2" charset="2"/>
              <a:buChar char="q"/>
            </a:pPr>
            <a:r>
              <a:rPr lang="es-ES_tradnl" sz="1800" b="1" dirty="0">
                <a:solidFill>
                  <a:schemeClr val="tx1"/>
                </a:solidFill>
                <a:effectLst/>
              </a:rPr>
              <a:t>Permite Duplicados y Elementos Nulos</a:t>
            </a:r>
            <a:r>
              <a:rPr lang="es-ES_tradnl" sz="1800" dirty="0">
                <a:solidFill>
                  <a:schemeClr val="tx1"/>
                </a:solidFill>
                <a:effectLst/>
              </a:rPr>
              <a:t>: Permiten elementos duplicados y pueden contener elementos nulos (</a:t>
            </a:r>
            <a:r>
              <a:rPr lang="es-ES_tradnl" sz="1800" dirty="0" err="1">
                <a:solidFill>
                  <a:schemeClr val="tx1"/>
                </a:solidFill>
                <a:effectLst/>
              </a:rPr>
              <a:t>null</a:t>
            </a:r>
            <a:r>
              <a:rPr lang="es-ES_tradnl" sz="1800" dirty="0">
                <a:solidFill>
                  <a:schemeClr val="tx1"/>
                </a:solidFill>
                <a:effectLst/>
              </a:rPr>
              <a:t>).</a:t>
            </a:r>
          </a:p>
          <a:p>
            <a:pPr marL="285750" indent="-285750">
              <a:buFont typeface="Wingdings" pitchFamily="2" charset="2"/>
              <a:buChar char="q"/>
            </a:pPr>
            <a:r>
              <a:rPr lang="es-ES_tradnl" sz="1800" b="1" dirty="0">
                <a:solidFill>
                  <a:schemeClr val="tx1"/>
                </a:solidFill>
                <a:effectLst/>
              </a:rPr>
              <a:t>Iteración Eficiente</a:t>
            </a:r>
            <a:r>
              <a:rPr lang="es-ES_tradnl" sz="1800" dirty="0">
                <a:solidFill>
                  <a:schemeClr val="tx1"/>
                </a:solidFill>
                <a:effectLst/>
              </a:rPr>
              <a:t>: Los </a:t>
            </a:r>
            <a:r>
              <a:rPr lang="es-ES_tradnl" sz="1800" dirty="0" err="1">
                <a:solidFill>
                  <a:schemeClr val="tx1"/>
                </a:solidFill>
                <a:effectLst/>
              </a:rPr>
              <a:t>ArrayList</a:t>
            </a:r>
            <a:r>
              <a:rPr lang="es-ES_tradnl" sz="1800" dirty="0">
                <a:solidFill>
                  <a:schemeClr val="tx1"/>
                </a:solidFill>
                <a:effectLst/>
              </a:rPr>
              <a:t> proporcionan métodos eficientes para iterar sobre los elementos de la lista, como el uso de bucles </a:t>
            </a:r>
            <a:r>
              <a:rPr lang="es-ES_tradnl" sz="1800" dirty="0" err="1">
                <a:solidFill>
                  <a:schemeClr val="tx1"/>
                </a:solidFill>
                <a:effectLst/>
              </a:rPr>
              <a:t>for-each</a:t>
            </a:r>
            <a:r>
              <a:rPr lang="es-ES_tradnl" sz="1800" dirty="0">
                <a:solidFill>
                  <a:schemeClr val="tx1"/>
                </a:solidFill>
                <a:effectLst/>
              </a:rPr>
              <a:t> o la iteración a través de índices.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Crear y Agregar elementos</a:t>
            </a:r>
          </a:p>
        </p:txBody>
      </p:sp>
      <p:pic>
        <p:nvPicPr>
          <p:cNvPr id="3" name="Picture 2">
            <a:extLst>
              <a:ext uri="{FF2B5EF4-FFF2-40B4-BE49-F238E27FC236}">
                <a16:creationId xmlns:a16="http://schemas.microsoft.com/office/drawing/2014/main" id="{DC01B994-3C8E-E7CC-50A1-B042EE1873BB}"/>
              </a:ext>
            </a:extLst>
          </p:cNvPr>
          <p:cNvPicPr>
            <a:picLocks noChangeAspect="1"/>
          </p:cNvPicPr>
          <p:nvPr/>
        </p:nvPicPr>
        <p:blipFill>
          <a:blip r:embed="rId4"/>
          <a:stretch>
            <a:fillRect/>
          </a:stretch>
        </p:blipFill>
        <p:spPr>
          <a:xfrm>
            <a:off x="571500" y="1559718"/>
            <a:ext cx="6244343" cy="2047876"/>
          </a:xfrm>
          <a:prstGeom prst="rect">
            <a:avLst/>
          </a:prstGeom>
        </p:spPr>
      </p:pic>
    </p:spTree>
    <p:extLst>
      <p:ext uri="{BB962C8B-B14F-4D97-AF65-F5344CB8AC3E}">
        <p14:creationId xmlns:p14="http://schemas.microsoft.com/office/powerpoint/2010/main" val="390363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Acceder a un elemento</a:t>
            </a:r>
          </a:p>
        </p:txBody>
      </p:sp>
      <p:pic>
        <p:nvPicPr>
          <p:cNvPr id="4" name="Picture 3">
            <a:extLst>
              <a:ext uri="{FF2B5EF4-FFF2-40B4-BE49-F238E27FC236}">
                <a16:creationId xmlns:a16="http://schemas.microsoft.com/office/drawing/2014/main" id="{5D6E0850-5653-73C3-A097-5145FFB9393F}"/>
              </a:ext>
            </a:extLst>
          </p:cNvPr>
          <p:cNvPicPr>
            <a:picLocks noChangeAspect="1"/>
          </p:cNvPicPr>
          <p:nvPr/>
        </p:nvPicPr>
        <p:blipFill>
          <a:blip r:embed="rId4"/>
          <a:stretch>
            <a:fillRect/>
          </a:stretch>
        </p:blipFill>
        <p:spPr>
          <a:xfrm>
            <a:off x="602456" y="1658937"/>
            <a:ext cx="5753100" cy="1168400"/>
          </a:xfrm>
          <a:prstGeom prst="rect">
            <a:avLst/>
          </a:prstGeom>
        </p:spPr>
      </p:pic>
    </p:spTree>
    <p:extLst>
      <p:ext uri="{BB962C8B-B14F-4D97-AF65-F5344CB8AC3E}">
        <p14:creationId xmlns:p14="http://schemas.microsoft.com/office/powerpoint/2010/main" val="272725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Modificar elementos</a:t>
            </a:r>
          </a:p>
        </p:txBody>
      </p:sp>
      <p:pic>
        <p:nvPicPr>
          <p:cNvPr id="2" name="Picture 1">
            <a:extLst>
              <a:ext uri="{FF2B5EF4-FFF2-40B4-BE49-F238E27FC236}">
                <a16:creationId xmlns:a16="http://schemas.microsoft.com/office/drawing/2014/main" id="{9ADACD35-6322-BD58-6C40-C935B11512D4}"/>
              </a:ext>
            </a:extLst>
          </p:cNvPr>
          <p:cNvPicPr>
            <a:picLocks noChangeAspect="1"/>
          </p:cNvPicPr>
          <p:nvPr/>
        </p:nvPicPr>
        <p:blipFill>
          <a:blip r:embed="rId4"/>
          <a:stretch>
            <a:fillRect/>
          </a:stretch>
        </p:blipFill>
        <p:spPr>
          <a:xfrm>
            <a:off x="597694" y="1403350"/>
            <a:ext cx="6248400" cy="1168400"/>
          </a:xfrm>
          <a:prstGeom prst="rect">
            <a:avLst/>
          </a:prstGeom>
        </p:spPr>
      </p:pic>
    </p:spTree>
    <p:extLst>
      <p:ext uri="{BB962C8B-B14F-4D97-AF65-F5344CB8AC3E}">
        <p14:creationId xmlns:p14="http://schemas.microsoft.com/office/powerpoint/2010/main" val="1845158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Eliminar elementos</a:t>
            </a:r>
          </a:p>
        </p:txBody>
      </p:sp>
      <p:pic>
        <p:nvPicPr>
          <p:cNvPr id="3" name="Picture 2">
            <a:extLst>
              <a:ext uri="{FF2B5EF4-FFF2-40B4-BE49-F238E27FC236}">
                <a16:creationId xmlns:a16="http://schemas.microsoft.com/office/drawing/2014/main" id="{548332EC-A33B-92F5-60F5-5B60DD1543D8}"/>
              </a:ext>
            </a:extLst>
          </p:cNvPr>
          <p:cNvPicPr>
            <a:picLocks noChangeAspect="1"/>
          </p:cNvPicPr>
          <p:nvPr/>
        </p:nvPicPr>
        <p:blipFill>
          <a:blip r:embed="rId4"/>
          <a:stretch>
            <a:fillRect/>
          </a:stretch>
        </p:blipFill>
        <p:spPr>
          <a:xfrm>
            <a:off x="594519" y="1402556"/>
            <a:ext cx="6540500" cy="952500"/>
          </a:xfrm>
          <a:prstGeom prst="rect">
            <a:avLst/>
          </a:prstGeom>
        </p:spPr>
      </p:pic>
    </p:spTree>
    <p:extLst>
      <p:ext uri="{BB962C8B-B14F-4D97-AF65-F5344CB8AC3E}">
        <p14:creationId xmlns:p14="http://schemas.microsoft.com/office/powerpoint/2010/main" val="327570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Iterar sobre la lista de elementos</a:t>
            </a:r>
          </a:p>
        </p:txBody>
      </p:sp>
      <p:pic>
        <p:nvPicPr>
          <p:cNvPr id="2" name="Picture 1">
            <a:extLst>
              <a:ext uri="{FF2B5EF4-FFF2-40B4-BE49-F238E27FC236}">
                <a16:creationId xmlns:a16="http://schemas.microsoft.com/office/drawing/2014/main" id="{89C90392-4BE6-A8C1-F93A-09A2AF7826EC}"/>
              </a:ext>
            </a:extLst>
          </p:cNvPr>
          <p:cNvPicPr>
            <a:picLocks noChangeAspect="1"/>
          </p:cNvPicPr>
          <p:nvPr/>
        </p:nvPicPr>
        <p:blipFill>
          <a:blip r:embed="rId4"/>
          <a:stretch>
            <a:fillRect/>
          </a:stretch>
        </p:blipFill>
        <p:spPr>
          <a:xfrm>
            <a:off x="732631" y="1495425"/>
            <a:ext cx="4749800" cy="1409700"/>
          </a:xfrm>
          <a:prstGeom prst="rect">
            <a:avLst/>
          </a:prstGeom>
        </p:spPr>
      </p:pic>
    </p:spTree>
    <p:extLst>
      <p:ext uri="{BB962C8B-B14F-4D97-AF65-F5344CB8AC3E}">
        <p14:creationId xmlns:p14="http://schemas.microsoft.com/office/powerpoint/2010/main" val="4255834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35744" y="207169"/>
            <a:ext cx="3936206" cy="4793456"/>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800" dirty="0">
                <a:solidFill>
                  <a:srgbClr val="E122BB"/>
                </a:solidFill>
                <a:latin typeface="Montserrat ExtraBold"/>
                <a:ea typeface="Montserrat ExtraBold"/>
                <a:cs typeface="Montserrat ExtraBold"/>
                <a:sym typeface="Montserrat ExtraBold"/>
              </a:rPr>
              <a:t>Pilas</a:t>
            </a:r>
          </a:p>
        </p:txBody>
      </p:sp>
      <p:sp>
        <p:nvSpPr>
          <p:cNvPr id="61" name="Google Shape;61;p14"/>
          <p:cNvSpPr txBox="1"/>
          <p:nvPr/>
        </p:nvSpPr>
        <p:spPr>
          <a:xfrm>
            <a:off x="4285754" y="364330"/>
            <a:ext cx="4683317" cy="4474895"/>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dirty="0">
                <a:solidFill>
                  <a:schemeClr val="lt1"/>
                </a:solidFill>
                <a:latin typeface="Montserrat Medium"/>
                <a:ea typeface="Montserrat Medium"/>
                <a:cs typeface="Montserrat Medium"/>
                <a:sym typeface="Montserrat Medium"/>
              </a:rPr>
              <a:t>Una pila es una estructura de datos que sigue el principio LIFO (Last In, First Out), lo que significa que el último elemento en entrar es el primero en salir. </a:t>
            </a:r>
          </a:p>
          <a:p>
            <a:pPr marL="0" lvl="0" indent="0" algn="l" rtl="0">
              <a:lnSpc>
                <a:spcPct val="115000"/>
              </a:lnSpc>
              <a:spcBef>
                <a:spcPts val="0"/>
              </a:spcBef>
              <a:spcAft>
                <a:spcPts val="0"/>
              </a:spcAft>
              <a:buClr>
                <a:schemeClr val="dk1"/>
              </a:buClr>
              <a:buSzPts val="1100"/>
              <a:buFont typeface="Arial"/>
              <a:buNone/>
            </a:pPr>
            <a:r>
              <a:rPr lang="es-419" dirty="0">
                <a:solidFill>
                  <a:schemeClr val="lt1"/>
                </a:solidFill>
                <a:latin typeface="Montserrat Medium"/>
                <a:ea typeface="Montserrat Medium"/>
                <a:cs typeface="Montserrat Medium"/>
                <a:sym typeface="Montserrat Medium"/>
              </a:rPr>
              <a:t>En Java, puedes implementar una pila utilizando Stack de la clase java.util.</a:t>
            </a:r>
          </a:p>
        </p:txBody>
      </p:sp>
    </p:spTree>
    <p:extLst>
      <p:ext uri="{BB962C8B-B14F-4D97-AF65-F5344CB8AC3E}">
        <p14:creationId xmlns:p14="http://schemas.microsoft.com/office/powerpoint/2010/main" val="1672396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Características</a:t>
            </a: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p:txBody>
      </p:sp>
      <p:sp>
        <p:nvSpPr>
          <p:cNvPr id="67" name="Google Shape;67;p15"/>
          <p:cNvSpPr txBox="1"/>
          <p:nvPr/>
        </p:nvSpPr>
        <p:spPr>
          <a:xfrm>
            <a:off x="292895" y="962108"/>
            <a:ext cx="8535230" cy="3931361"/>
          </a:xfrm>
          <a:prstGeom prst="rect">
            <a:avLst/>
          </a:prstGeom>
          <a:noFill/>
          <a:ln>
            <a:noFill/>
          </a:ln>
        </p:spPr>
        <p:txBody>
          <a:bodyPr spcFirstLastPara="1" wrap="square" lIns="91425" tIns="91425" rIns="91425" bIns="91425" anchor="t" anchorCtr="0">
            <a:noAutofit/>
          </a:bodyPr>
          <a:lstStyle/>
          <a:p>
            <a:pPr marL="285750" indent="-285750">
              <a:buFont typeface="Wingdings" pitchFamily="2" charset="2"/>
              <a:buChar char="q"/>
            </a:pPr>
            <a:r>
              <a:rPr lang="es-ES_tradnl" sz="1800" b="1" dirty="0">
                <a:solidFill>
                  <a:schemeClr val="tx1"/>
                </a:solidFill>
                <a:effectLst/>
              </a:rPr>
              <a:t>LIFO: </a:t>
            </a:r>
            <a:r>
              <a:rPr lang="es-ES_tradnl" sz="1800" dirty="0">
                <a:solidFill>
                  <a:schemeClr val="tx1"/>
                </a:solidFill>
                <a:effectLst/>
              </a:rPr>
              <a:t>El último elemento agregado es el primero en ser removido. Esto lo hace útil en situaciones donde se necesita un comportamiento de apilamiento.</a:t>
            </a:r>
          </a:p>
          <a:p>
            <a:pPr marL="285750" indent="-285750">
              <a:buFont typeface="Wingdings" pitchFamily="2" charset="2"/>
              <a:buChar char="q"/>
            </a:pPr>
            <a:r>
              <a:rPr lang="es-ES_tradnl" sz="1800" b="1" dirty="0">
                <a:solidFill>
                  <a:schemeClr val="tx1"/>
                </a:solidFill>
                <a:effectLst/>
              </a:rPr>
              <a:t>Operaciones Básicas</a:t>
            </a:r>
            <a:r>
              <a:rPr lang="es-ES_tradnl" sz="1800" dirty="0">
                <a:solidFill>
                  <a:schemeClr val="tx1"/>
                </a:solidFill>
                <a:effectLst/>
              </a:rPr>
              <a:t>: Un </a:t>
            </a:r>
            <a:r>
              <a:rPr lang="es-ES_tradnl" sz="1800" dirty="0" err="1">
                <a:solidFill>
                  <a:schemeClr val="tx1"/>
                </a:solidFill>
                <a:effectLst/>
              </a:rPr>
              <a:t>Stack</a:t>
            </a:r>
            <a:r>
              <a:rPr lang="es-ES_tradnl" sz="1800" dirty="0">
                <a:solidFill>
                  <a:schemeClr val="tx1"/>
                </a:solidFill>
                <a:effectLst/>
              </a:rPr>
              <a:t> proporciona las operaciones básicas de una pila. </a:t>
            </a:r>
          </a:p>
          <a:p>
            <a:pPr marL="342900" indent="-342900">
              <a:buFont typeface="Arial" panose="020B0604020202020204" pitchFamily="34" charset="0"/>
              <a:buChar char="•"/>
            </a:pPr>
            <a:r>
              <a:rPr lang="es-ES_tradnl" sz="1800" dirty="0" err="1">
                <a:solidFill>
                  <a:schemeClr val="tx1"/>
                </a:solidFill>
                <a:effectLst/>
              </a:rPr>
              <a:t>push</a:t>
            </a:r>
            <a:r>
              <a:rPr lang="es-ES_tradnl" sz="1800" dirty="0">
                <a:solidFill>
                  <a:schemeClr val="tx1"/>
                </a:solidFill>
                <a:effectLst/>
              </a:rPr>
              <a:t>() para agregar un elemento en la cima de la pila</a:t>
            </a:r>
          </a:p>
          <a:p>
            <a:pPr marL="342900" indent="-342900">
              <a:buFont typeface="Arial" panose="020B0604020202020204" pitchFamily="34" charset="0"/>
              <a:buChar char="•"/>
            </a:pPr>
            <a:r>
              <a:rPr lang="es-ES_tradnl" sz="1800" dirty="0">
                <a:solidFill>
                  <a:schemeClr val="tx1"/>
                </a:solidFill>
                <a:effectLst/>
              </a:rPr>
              <a:t>pop() para remover y devolver el elemento en la cima de la pila</a:t>
            </a:r>
          </a:p>
          <a:p>
            <a:pPr marL="342900" indent="-342900">
              <a:buFont typeface="Arial" panose="020B0604020202020204" pitchFamily="34" charset="0"/>
              <a:buChar char="•"/>
            </a:pPr>
            <a:r>
              <a:rPr lang="es-ES_tradnl" sz="1800" dirty="0" err="1">
                <a:solidFill>
                  <a:schemeClr val="tx1"/>
                </a:solidFill>
                <a:effectLst/>
              </a:rPr>
              <a:t>peek</a:t>
            </a:r>
            <a:r>
              <a:rPr lang="es-ES_tradnl" sz="1800" dirty="0">
                <a:solidFill>
                  <a:schemeClr val="tx1"/>
                </a:solidFill>
                <a:effectLst/>
              </a:rPr>
              <a:t>() para obtener el elemento en la cima sin removerlo.</a:t>
            </a:r>
          </a:p>
          <a:p>
            <a:pPr marL="285750" indent="-285750">
              <a:buFont typeface="Wingdings" pitchFamily="2" charset="2"/>
              <a:buChar char="q"/>
            </a:pPr>
            <a:r>
              <a:rPr lang="es-ES_tradnl" sz="1800" b="1" dirty="0">
                <a:solidFill>
                  <a:schemeClr val="tx1"/>
                </a:solidFill>
                <a:effectLst/>
              </a:rPr>
              <a:t>Métodos Adicionales</a:t>
            </a:r>
            <a:r>
              <a:rPr lang="es-ES_tradnl" sz="1800" dirty="0">
                <a:solidFill>
                  <a:schemeClr val="tx1"/>
                </a:solidFill>
                <a:effectLst/>
              </a:rPr>
              <a:t>: Además de las operaciones básicas, también proporciona otros métodos.</a:t>
            </a:r>
          </a:p>
          <a:p>
            <a:pPr marL="285750" indent="-285750">
              <a:buFont typeface="Arial" panose="020B0604020202020204" pitchFamily="34" charset="0"/>
              <a:buChar char="•"/>
            </a:pPr>
            <a:r>
              <a:rPr lang="es-ES_tradnl" sz="1800" dirty="0" err="1">
                <a:solidFill>
                  <a:schemeClr val="tx1"/>
                </a:solidFill>
                <a:effectLst/>
              </a:rPr>
              <a:t>isEmpty</a:t>
            </a:r>
            <a:r>
              <a:rPr lang="es-ES_tradnl" sz="1800" dirty="0">
                <a:solidFill>
                  <a:schemeClr val="tx1"/>
                </a:solidFill>
                <a:effectLst/>
              </a:rPr>
              <a:t>() para verificar si la pila está vacía</a:t>
            </a:r>
          </a:p>
          <a:p>
            <a:pPr marL="285750" indent="-285750">
              <a:buFont typeface="Arial" panose="020B0604020202020204" pitchFamily="34" charset="0"/>
              <a:buChar char="•"/>
            </a:pPr>
            <a:r>
              <a:rPr lang="es-ES_tradnl" sz="1800" dirty="0" err="1">
                <a:solidFill>
                  <a:schemeClr val="tx1"/>
                </a:solidFill>
                <a:effectLst/>
              </a:rPr>
              <a:t>search</a:t>
            </a:r>
            <a:r>
              <a:rPr lang="es-ES_tradnl" sz="1800" dirty="0">
                <a:solidFill>
                  <a:schemeClr val="tx1"/>
                </a:solidFill>
                <a:effectLst/>
              </a:rPr>
              <a:t>() para buscar un elemento y obtener su posición en la pila</a:t>
            </a:r>
          </a:p>
          <a:p>
            <a:pPr marL="285750" indent="-285750">
              <a:buFont typeface="Arial" panose="020B0604020202020204" pitchFamily="34" charset="0"/>
              <a:buChar char="•"/>
            </a:pPr>
            <a:r>
              <a:rPr lang="es-ES_tradnl" sz="1800" dirty="0" err="1">
                <a:solidFill>
                  <a:schemeClr val="tx1"/>
                </a:solidFill>
                <a:effectLst/>
              </a:rPr>
              <a:t>size</a:t>
            </a:r>
            <a:r>
              <a:rPr lang="es-ES_tradnl" sz="1800" dirty="0">
                <a:solidFill>
                  <a:schemeClr val="tx1"/>
                </a:solidFill>
                <a:effectLst/>
              </a:rPr>
              <a:t>() para obtener el tamaño actual de la pila</a:t>
            </a:r>
          </a:p>
        </p:txBody>
      </p:sp>
    </p:spTree>
    <p:extLst>
      <p:ext uri="{BB962C8B-B14F-4D97-AF65-F5344CB8AC3E}">
        <p14:creationId xmlns:p14="http://schemas.microsoft.com/office/powerpoint/2010/main" val="3195348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Crear y Agregar elementos</a:t>
            </a:r>
          </a:p>
        </p:txBody>
      </p:sp>
      <p:pic>
        <p:nvPicPr>
          <p:cNvPr id="2" name="Picture 1">
            <a:extLst>
              <a:ext uri="{FF2B5EF4-FFF2-40B4-BE49-F238E27FC236}">
                <a16:creationId xmlns:a16="http://schemas.microsoft.com/office/drawing/2014/main" id="{F2189D92-2AA0-EF52-88E9-14AE21F90DC7}"/>
              </a:ext>
            </a:extLst>
          </p:cNvPr>
          <p:cNvPicPr>
            <a:picLocks noChangeAspect="1"/>
          </p:cNvPicPr>
          <p:nvPr/>
        </p:nvPicPr>
        <p:blipFill>
          <a:blip r:embed="rId4"/>
          <a:stretch>
            <a:fillRect/>
          </a:stretch>
        </p:blipFill>
        <p:spPr>
          <a:xfrm>
            <a:off x="539750" y="1435100"/>
            <a:ext cx="4749800" cy="2273300"/>
          </a:xfrm>
          <a:prstGeom prst="rect">
            <a:avLst/>
          </a:prstGeom>
        </p:spPr>
      </p:pic>
    </p:spTree>
    <p:extLst>
      <p:ext uri="{BB962C8B-B14F-4D97-AF65-F5344CB8AC3E}">
        <p14:creationId xmlns:p14="http://schemas.microsoft.com/office/powerpoint/2010/main" val="2767102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Desapilar elementos</a:t>
            </a:r>
          </a:p>
        </p:txBody>
      </p:sp>
      <p:pic>
        <p:nvPicPr>
          <p:cNvPr id="3" name="Picture 2">
            <a:extLst>
              <a:ext uri="{FF2B5EF4-FFF2-40B4-BE49-F238E27FC236}">
                <a16:creationId xmlns:a16="http://schemas.microsoft.com/office/drawing/2014/main" id="{A3518D67-4E28-62DB-5FD1-77F4DF0B08D7}"/>
              </a:ext>
            </a:extLst>
          </p:cNvPr>
          <p:cNvPicPr>
            <a:picLocks noChangeAspect="1"/>
          </p:cNvPicPr>
          <p:nvPr/>
        </p:nvPicPr>
        <p:blipFill>
          <a:blip r:embed="rId4"/>
          <a:stretch>
            <a:fillRect/>
          </a:stretch>
        </p:blipFill>
        <p:spPr>
          <a:xfrm>
            <a:off x="584993" y="1424781"/>
            <a:ext cx="6502400" cy="1079500"/>
          </a:xfrm>
          <a:prstGeom prst="rect">
            <a:avLst/>
          </a:prstGeom>
        </p:spPr>
      </p:pic>
    </p:spTree>
    <p:extLst>
      <p:ext uri="{BB962C8B-B14F-4D97-AF65-F5344CB8AC3E}">
        <p14:creationId xmlns:p14="http://schemas.microsoft.com/office/powerpoint/2010/main" val="3154956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Obtener y remover</a:t>
            </a:r>
          </a:p>
        </p:txBody>
      </p:sp>
      <p:pic>
        <p:nvPicPr>
          <p:cNvPr id="2" name="Picture 1">
            <a:extLst>
              <a:ext uri="{FF2B5EF4-FFF2-40B4-BE49-F238E27FC236}">
                <a16:creationId xmlns:a16="http://schemas.microsoft.com/office/drawing/2014/main" id="{C62357D5-A06D-79E3-DF48-D0CA36E0BE7F}"/>
              </a:ext>
            </a:extLst>
          </p:cNvPr>
          <p:cNvPicPr>
            <a:picLocks noChangeAspect="1"/>
          </p:cNvPicPr>
          <p:nvPr/>
        </p:nvPicPr>
        <p:blipFill>
          <a:blip r:embed="rId4"/>
          <a:stretch>
            <a:fillRect/>
          </a:stretch>
        </p:blipFill>
        <p:spPr>
          <a:xfrm>
            <a:off x="593725" y="1492250"/>
            <a:ext cx="6413500" cy="1079500"/>
          </a:xfrm>
          <a:prstGeom prst="rect">
            <a:avLst/>
          </a:prstGeom>
        </p:spPr>
      </p:pic>
    </p:spTree>
    <p:extLst>
      <p:ext uri="{BB962C8B-B14F-4D97-AF65-F5344CB8AC3E}">
        <p14:creationId xmlns:p14="http://schemas.microsoft.com/office/powerpoint/2010/main" val="2796002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Obtener sin remover</a:t>
            </a:r>
          </a:p>
        </p:txBody>
      </p:sp>
      <p:pic>
        <p:nvPicPr>
          <p:cNvPr id="3" name="Picture 2">
            <a:extLst>
              <a:ext uri="{FF2B5EF4-FFF2-40B4-BE49-F238E27FC236}">
                <a16:creationId xmlns:a16="http://schemas.microsoft.com/office/drawing/2014/main" id="{47657A86-5492-12BF-CB19-195DFA31E9E3}"/>
              </a:ext>
            </a:extLst>
          </p:cNvPr>
          <p:cNvPicPr>
            <a:picLocks noChangeAspect="1"/>
          </p:cNvPicPr>
          <p:nvPr/>
        </p:nvPicPr>
        <p:blipFill>
          <a:blip r:embed="rId4"/>
          <a:stretch>
            <a:fillRect/>
          </a:stretch>
        </p:blipFill>
        <p:spPr>
          <a:xfrm>
            <a:off x="541337" y="1492250"/>
            <a:ext cx="6395244" cy="993776"/>
          </a:xfrm>
          <a:prstGeom prst="rect">
            <a:avLst/>
          </a:prstGeom>
        </p:spPr>
      </p:pic>
    </p:spTree>
    <p:extLst>
      <p:ext uri="{BB962C8B-B14F-4D97-AF65-F5344CB8AC3E}">
        <p14:creationId xmlns:p14="http://schemas.microsoft.com/office/powerpoint/2010/main" val="2862512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Verificar si la pila está vacía</a:t>
            </a:r>
          </a:p>
        </p:txBody>
      </p:sp>
      <p:pic>
        <p:nvPicPr>
          <p:cNvPr id="2" name="Picture 1">
            <a:extLst>
              <a:ext uri="{FF2B5EF4-FFF2-40B4-BE49-F238E27FC236}">
                <a16:creationId xmlns:a16="http://schemas.microsoft.com/office/drawing/2014/main" id="{3D7F6132-82AB-9264-58A7-6017990DB407}"/>
              </a:ext>
            </a:extLst>
          </p:cNvPr>
          <p:cNvPicPr>
            <a:picLocks noChangeAspect="1"/>
          </p:cNvPicPr>
          <p:nvPr/>
        </p:nvPicPr>
        <p:blipFill>
          <a:blip r:embed="rId4"/>
          <a:stretch>
            <a:fillRect/>
          </a:stretch>
        </p:blipFill>
        <p:spPr>
          <a:xfrm>
            <a:off x="656432" y="1396206"/>
            <a:ext cx="6273800" cy="1079500"/>
          </a:xfrm>
          <a:prstGeom prst="rect">
            <a:avLst/>
          </a:prstGeom>
        </p:spPr>
      </p:pic>
    </p:spTree>
    <p:extLst>
      <p:ext uri="{BB962C8B-B14F-4D97-AF65-F5344CB8AC3E}">
        <p14:creationId xmlns:p14="http://schemas.microsoft.com/office/powerpoint/2010/main" val="1906282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35744" y="207169"/>
            <a:ext cx="3936206" cy="4793456"/>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800" dirty="0">
                <a:solidFill>
                  <a:srgbClr val="E122BB"/>
                </a:solidFill>
                <a:latin typeface="Montserrat ExtraBold"/>
                <a:ea typeface="Montserrat ExtraBold"/>
                <a:cs typeface="Montserrat ExtraBold"/>
                <a:sym typeface="Montserrat ExtraBold"/>
              </a:rPr>
              <a:t>Colas</a:t>
            </a:r>
          </a:p>
        </p:txBody>
      </p:sp>
      <p:sp>
        <p:nvSpPr>
          <p:cNvPr id="61" name="Google Shape;61;p14"/>
          <p:cNvSpPr txBox="1"/>
          <p:nvPr/>
        </p:nvSpPr>
        <p:spPr>
          <a:xfrm>
            <a:off x="4285754" y="364330"/>
            <a:ext cx="4683317" cy="4474895"/>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dirty="0">
                <a:solidFill>
                  <a:schemeClr val="lt1"/>
                </a:solidFill>
                <a:latin typeface="Montserrat Medium"/>
                <a:ea typeface="Montserrat Medium"/>
                <a:cs typeface="Montserrat Medium"/>
                <a:sym typeface="Montserrat Medium"/>
              </a:rPr>
              <a:t>Una cola es una estructura de datos que sigue el principio FIFO (First In, First Out), lo que significa que el primer elemento en entrar es el primero en salir. En Java, puedes implementar una cola utilizando LinkedList de la clase java.util.</a:t>
            </a:r>
          </a:p>
          <a:p>
            <a:pPr marL="0" lvl="0" indent="0" algn="l" rtl="0">
              <a:lnSpc>
                <a:spcPct val="115000"/>
              </a:lnSpc>
              <a:spcBef>
                <a:spcPts val="0"/>
              </a:spcBef>
              <a:spcAft>
                <a:spcPts val="0"/>
              </a:spcAft>
              <a:buClr>
                <a:schemeClr val="dk1"/>
              </a:buClr>
              <a:buSzPts val="1100"/>
              <a:buFont typeface="Arial"/>
              <a:buNone/>
            </a:pPr>
            <a:endParaRPr lang="es-419"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754926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Características</a:t>
            </a:r>
            <a:endParaRPr sz="2920" b="1" dirty="0">
              <a:solidFill>
                <a:srgbClr val="E122BB"/>
              </a:solidFill>
              <a:latin typeface="Montserrat"/>
              <a:ea typeface="Montserrat"/>
              <a:cs typeface="Montserrat"/>
              <a:sym typeface="Montserrat"/>
            </a:endParaRPr>
          </a:p>
          <a:p>
            <a:pPr marL="0" lvl="0" indent="0" algn="l" rtl="0">
              <a:spcBef>
                <a:spcPts val="0"/>
              </a:spcBef>
              <a:spcAft>
                <a:spcPts val="0"/>
              </a:spcAft>
              <a:buSzPts val="1100"/>
              <a:buNone/>
            </a:pPr>
            <a:endParaRPr sz="2920" b="1" dirty="0">
              <a:solidFill>
                <a:srgbClr val="E122BB"/>
              </a:solidFill>
              <a:latin typeface="Montserrat"/>
              <a:ea typeface="Montserrat"/>
              <a:cs typeface="Montserrat"/>
              <a:sym typeface="Montserrat"/>
            </a:endParaRPr>
          </a:p>
        </p:txBody>
      </p:sp>
      <p:sp>
        <p:nvSpPr>
          <p:cNvPr id="67" name="Google Shape;67;p15"/>
          <p:cNvSpPr txBox="1"/>
          <p:nvPr/>
        </p:nvSpPr>
        <p:spPr>
          <a:xfrm>
            <a:off x="292895" y="962108"/>
            <a:ext cx="8535230" cy="3931361"/>
          </a:xfrm>
          <a:prstGeom prst="rect">
            <a:avLst/>
          </a:prstGeom>
          <a:noFill/>
          <a:ln>
            <a:noFill/>
          </a:ln>
        </p:spPr>
        <p:txBody>
          <a:bodyPr spcFirstLastPara="1" wrap="square" lIns="91425" tIns="91425" rIns="91425" bIns="91425" anchor="t" anchorCtr="0">
            <a:noAutofit/>
          </a:bodyPr>
          <a:lstStyle/>
          <a:p>
            <a:pPr marL="285750" indent="-285750">
              <a:buFont typeface="Wingdings" pitchFamily="2" charset="2"/>
              <a:buChar char="q"/>
            </a:pPr>
            <a:r>
              <a:rPr lang="es-ES_tradnl" sz="1600" b="1" dirty="0">
                <a:solidFill>
                  <a:schemeClr val="tx1"/>
                </a:solidFill>
                <a:effectLst/>
              </a:rPr>
              <a:t>Estructura de Datos de Lista Doblemente Enlazada</a:t>
            </a:r>
            <a:r>
              <a:rPr lang="es-ES_tradnl" sz="1600" dirty="0">
                <a:solidFill>
                  <a:schemeClr val="tx1"/>
                </a:solidFill>
                <a:effectLst/>
              </a:rPr>
              <a:t>: Cada elemento está representado por un nodo que contiene referencias tanto al anterior como al siguiente en la lista. Esto permite un acceso eficiente tanto hacia adelante como hacia atrás en la lista.</a:t>
            </a:r>
          </a:p>
          <a:p>
            <a:pPr marL="285750" indent="-285750">
              <a:buFont typeface="Wingdings" pitchFamily="2" charset="2"/>
              <a:buChar char="q"/>
            </a:pPr>
            <a:r>
              <a:rPr lang="es-ES_tradnl" sz="1600" b="1" dirty="0">
                <a:solidFill>
                  <a:schemeClr val="tx1"/>
                </a:solidFill>
                <a:effectLst/>
              </a:rPr>
              <a:t>Almacenamiento Dinámico</a:t>
            </a:r>
            <a:r>
              <a:rPr lang="es-ES_tradnl" sz="1600" dirty="0">
                <a:solidFill>
                  <a:schemeClr val="tx1"/>
                </a:solidFill>
                <a:effectLst/>
              </a:rPr>
              <a:t>: Puede crecer o reducirse automáticamente según sea necesario.</a:t>
            </a:r>
          </a:p>
          <a:p>
            <a:pPr marL="285750" indent="-285750">
              <a:buFont typeface="Wingdings" pitchFamily="2" charset="2"/>
              <a:buChar char="q"/>
            </a:pPr>
            <a:r>
              <a:rPr lang="es-ES_tradnl" sz="1600" b="1" dirty="0">
                <a:solidFill>
                  <a:schemeClr val="tx1"/>
                </a:solidFill>
                <a:effectLst/>
              </a:rPr>
              <a:t>Operaciones de Inserción y Eliminación Eficientes</a:t>
            </a:r>
            <a:r>
              <a:rPr lang="es-ES_tradnl" sz="1600" dirty="0">
                <a:solidFill>
                  <a:schemeClr val="tx1"/>
                </a:solidFill>
                <a:effectLst/>
              </a:rPr>
              <a:t>: Debido a su estructura de lista doblemente enlazada, </a:t>
            </a:r>
            <a:r>
              <a:rPr lang="es-ES_tradnl" sz="1600" dirty="0" err="1">
                <a:solidFill>
                  <a:schemeClr val="tx1"/>
                </a:solidFill>
                <a:effectLst/>
              </a:rPr>
              <a:t>LinkedList</a:t>
            </a:r>
            <a:r>
              <a:rPr lang="es-ES_tradnl" sz="1600" dirty="0">
                <a:solidFill>
                  <a:schemeClr val="tx1"/>
                </a:solidFill>
                <a:effectLst/>
              </a:rPr>
              <a:t> es particularmente eficiente para operaciones de inserción y eliminación en cualquier posición de la lista. </a:t>
            </a:r>
          </a:p>
          <a:p>
            <a:pPr marL="285750" indent="-285750">
              <a:buFont typeface="Wingdings" pitchFamily="2" charset="2"/>
              <a:buChar char="q"/>
            </a:pPr>
            <a:r>
              <a:rPr lang="es-ES_tradnl" sz="1600" b="1" dirty="0">
                <a:solidFill>
                  <a:schemeClr val="tx1"/>
                </a:solidFill>
                <a:effectLst/>
              </a:rPr>
              <a:t>Acceso Secuencial Eficiente</a:t>
            </a:r>
            <a:r>
              <a:rPr lang="es-ES_tradnl" sz="1600" dirty="0">
                <a:solidFill>
                  <a:schemeClr val="tx1"/>
                </a:solidFill>
                <a:effectLst/>
              </a:rPr>
              <a:t>: Las operaciones como </a:t>
            </a:r>
            <a:r>
              <a:rPr lang="es-ES_tradnl" sz="1600" dirty="0" err="1">
                <a:solidFill>
                  <a:schemeClr val="tx1"/>
                </a:solidFill>
                <a:effectLst/>
              </a:rPr>
              <a:t>get</a:t>
            </a:r>
            <a:r>
              <a:rPr lang="es-ES_tradnl" sz="1600" dirty="0">
                <a:solidFill>
                  <a:schemeClr val="tx1"/>
                </a:solidFill>
                <a:effectLst/>
              </a:rPr>
              <a:t>() pueden ser menos eficientes que en un </a:t>
            </a:r>
            <a:r>
              <a:rPr lang="es-ES_tradnl" sz="1600" dirty="0" err="1">
                <a:solidFill>
                  <a:schemeClr val="tx1"/>
                </a:solidFill>
                <a:effectLst/>
              </a:rPr>
              <a:t>ArrayList</a:t>
            </a:r>
            <a:r>
              <a:rPr lang="es-ES_tradnl" sz="1600" dirty="0">
                <a:solidFill>
                  <a:schemeClr val="tx1"/>
                </a:solidFill>
                <a:effectLst/>
              </a:rPr>
              <a:t>. </a:t>
            </a:r>
            <a:r>
              <a:rPr lang="es-ES_tradnl" sz="1600" b="1" dirty="0">
                <a:solidFill>
                  <a:schemeClr val="tx1"/>
                </a:solidFill>
                <a:effectLst/>
              </a:rPr>
              <a:t>Uso de Memoria Adicional</a:t>
            </a:r>
            <a:r>
              <a:rPr lang="es-ES_tradnl" sz="1600" dirty="0">
                <a:solidFill>
                  <a:schemeClr val="tx1"/>
                </a:solidFill>
                <a:effectLst/>
              </a:rPr>
              <a:t>: Debido a la necesidad de almacenar referencias a los nodos previos y siguientes, </a:t>
            </a:r>
            <a:r>
              <a:rPr lang="es-ES_tradnl" sz="1600" dirty="0" err="1">
                <a:solidFill>
                  <a:schemeClr val="tx1"/>
                </a:solidFill>
                <a:effectLst/>
              </a:rPr>
              <a:t>LinkedList</a:t>
            </a:r>
            <a:r>
              <a:rPr lang="es-ES_tradnl" sz="1600" dirty="0">
                <a:solidFill>
                  <a:schemeClr val="tx1"/>
                </a:solidFill>
                <a:effectLst/>
              </a:rPr>
              <a:t> puede consumir más memoria que </a:t>
            </a:r>
            <a:r>
              <a:rPr lang="es-ES_tradnl" sz="1600" dirty="0" err="1">
                <a:solidFill>
                  <a:schemeClr val="tx1"/>
                </a:solidFill>
                <a:effectLst/>
              </a:rPr>
              <a:t>ArrayList</a:t>
            </a:r>
            <a:r>
              <a:rPr lang="es-ES_tradnl" sz="1600" dirty="0">
                <a:solidFill>
                  <a:schemeClr val="tx1"/>
                </a:solidFill>
                <a:effectLst/>
              </a:rPr>
              <a:t>, especialmente para listas grandes.</a:t>
            </a:r>
          </a:p>
          <a:p>
            <a:pPr marL="285750" indent="-285750">
              <a:buFont typeface="Wingdings" pitchFamily="2" charset="2"/>
              <a:buChar char="q"/>
            </a:pPr>
            <a:r>
              <a:rPr lang="es-ES_tradnl" sz="1600" b="1" dirty="0">
                <a:solidFill>
                  <a:schemeClr val="tx1"/>
                </a:solidFill>
                <a:effectLst/>
              </a:rPr>
              <a:t>Iteración Eficiente</a:t>
            </a:r>
            <a:r>
              <a:rPr lang="es-ES_tradnl" sz="1600" dirty="0">
                <a:solidFill>
                  <a:schemeClr val="tx1"/>
                </a:solidFill>
                <a:effectLst/>
              </a:rPr>
              <a:t>: </a:t>
            </a:r>
            <a:r>
              <a:rPr lang="es-ES_tradnl" sz="1600" dirty="0" err="1">
                <a:solidFill>
                  <a:schemeClr val="tx1"/>
                </a:solidFill>
                <a:effectLst/>
              </a:rPr>
              <a:t>LinkedList</a:t>
            </a:r>
            <a:r>
              <a:rPr lang="es-ES_tradnl" sz="1600" dirty="0">
                <a:solidFill>
                  <a:schemeClr val="tx1"/>
                </a:solidFill>
                <a:effectLst/>
              </a:rPr>
              <a:t> proporciona métodos eficientes para iterar sobre los elementos de la lista, ya sea mediante el uso de bucles </a:t>
            </a:r>
            <a:r>
              <a:rPr lang="es-ES_tradnl" sz="1600" dirty="0" err="1">
                <a:solidFill>
                  <a:schemeClr val="tx1"/>
                </a:solidFill>
                <a:effectLst/>
              </a:rPr>
              <a:t>for-each</a:t>
            </a:r>
            <a:r>
              <a:rPr lang="es-ES_tradnl" sz="1600" dirty="0">
                <a:solidFill>
                  <a:schemeClr val="tx1"/>
                </a:solidFill>
                <a:effectLst/>
              </a:rPr>
              <a:t> o iteradores.</a:t>
            </a:r>
          </a:p>
        </p:txBody>
      </p:sp>
    </p:spTree>
    <p:extLst>
      <p:ext uri="{BB962C8B-B14F-4D97-AF65-F5344CB8AC3E}">
        <p14:creationId xmlns:p14="http://schemas.microsoft.com/office/powerpoint/2010/main" val="2106109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Crear y Agregar elementos</a:t>
            </a:r>
          </a:p>
        </p:txBody>
      </p:sp>
      <p:pic>
        <p:nvPicPr>
          <p:cNvPr id="3" name="Picture 2">
            <a:extLst>
              <a:ext uri="{FF2B5EF4-FFF2-40B4-BE49-F238E27FC236}">
                <a16:creationId xmlns:a16="http://schemas.microsoft.com/office/drawing/2014/main" id="{978A8929-62D0-4B6F-3D62-3A0B97E2642E}"/>
              </a:ext>
            </a:extLst>
          </p:cNvPr>
          <p:cNvPicPr>
            <a:picLocks noChangeAspect="1"/>
          </p:cNvPicPr>
          <p:nvPr/>
        </p:nvPicPr>
        <p:blipFill>
          <a:blip r:embed="rId4"/>
          <a:stretch>
            <a:fillRect/>
          </a:stretch>
        </p:blipFill>
        <p:spPr>
          <a:xfrm>
            <a:off x="592137" y="1371600"/>
            <a:ext cx="4559300" cy="2286000"/>
          </a:xfrm>
          <a:prstGeom prst="rect">
            <a:avLst/>
          </a:prstGeom>
        </p:spPr>
      </p:pic>
    </p:spTree>
    <p:extLst>
      <p:ext uri="{BB962C8B-B14F-4D97-AF65-F5344CB8AC3E}">
        <p14:creationId xmlns:p14="http://schemas.microsoft.com/office/powerpoint/2010/main" val="3483772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Obtiener y remover</a:t>
            </a:r>
          </a:p>
        </p:txBody>
      </p:sp>
      <p:pic>
        <p:nvPicPr>
          <p:cNvPr id="2" name="Picture 1">
            <a:extLst>
              <a:ext uri="{FF2B5EF4-FFF2-40B4-BE49-F238E27FC236}">
                <a16:creationId xmlns:a16="http://schemas.microsoft.com/office/drawing/2014/main" id="{52B3F3C1-6FB6-4465-8B6A-D026578B496F}"/>
              </a:ext>
            </a:extLst>
          </p:cNvPr>
          <p:cNvPicPr>
            <a:picLocks noChangeAspect="1"/>
          </p:cNvPicPr>
          <p:nvPr/>
        </p:nvPicPr>
        <p:blipFill>
          <a:blip r:embed="rId4"/>
          <a:stretch>
            <a:fillRect/>
          </a:stretch>
        </p:blipFill>
        <p:spPr>
          <a:xfrm>
            <a:off x="538956" y="1352550"/>
            <a:ext cx="6451600" cy="1219200"/>
          </a:xfrm>
          <a:prstGeom prst="rect">
            <a:avLst/>
          </a:prstGeom>
        </p:spPr>
      </p:pic>
    </p:spTree>
    <p:extLst>
      <p:ext uri="{BB962C8B-B14F-4D97-AF65-F5344CB8AC3E}">
        <p14:creationId xmlns:p14="http://schemas.microsoft.com/office/powerpoint/2010/main" val="3793493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Obtiener sin remover</a:t>
            </a:r>
          </a:p>
        </p:txBody>
      </p:sp>
      <p:pic>
        <p:nvPicPr>
          <p:cNvPr id="3" name="Picture 2">
            <a:extLst>
              <a:ext uri="{FF2B5EF4-FFF2-40B4-BE49-F238E27FC236}">
                <a16:creationId xmlns:a16="http://schemas.microsoft.com/office/drawing/2014/main" id="{0EEC9B68-90F0-820B-D116-DB66C79EFC87}"/>
              </a:ext>
            </a:extLst>
          </p:cNvPr>
          <p:cNvPicPr>
            <a:picLocks noChangeAspect="1"/>
          </p:cNvPicPr>
          <p:nvPr/>
        </p:nvPicPr>
        <p:blipFill>
          <a:blip r:embed="rId4"/>
          <a:stretch>
            <a:fillRect/>
          </a:stretch>
        </p:blipFill>
        <p:spPr>
          <a:xfrm>
            <a:off x="496093" y="1285874"/>
            <a:ext cx="6650295" cy="877887"/>
          </a:xfrm>
          <a:prstGeom prst="rect">
            <a:avLst/>
          </a:prstGeom>
        </p:spPr>
      </p:pic>
    </p:spTree>
    <p:extLst>
      <p:ext uri="{BB962C8B-B14F-4D97-AF65-F5344CB8AC3E}">
        <p14:creationId xmlns:p14="http://schemas.microsoft.com/office/powerpoint/2010/main" val="2980522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Verificar si la cola está vacía</a:t>
            </a:r>
          </a:p>
        </p:txBody>
      </p:sp>
      <p:pic>
        <p:nvPicPr>
          <p:cNvPr id="2" name="Picture 1">
            <a:extLst>
              <a:ext uri="{FF2B5EF4-FFF2-40B4-BE49-F238E27FC236}">
                <a16:creationId xmlns:a16="http://schemas.microsoft.com/office/drawing/2014/main" id="{9218744C-7863-40D4-EE2B-3622C2D032DD}"/>
              </a:ext>
            </a:extLst>
          </p:cNvPr>
          <p:cNvPicPr>
            <a:picLocks noChangeAspect="1"/>
          </p:cNvPicPr>
          <p:nvPr/>
        </p:nvPicPr>
        <p:blipFill>
          <a:blip r:embed="rId4"/>
          <a:stretch>
            <a:fillRect/>
          </a:stretch>
        </p:blipFill>
        <p:spPr>
          <a:xfrm>
            <a:off x="537369" y="1560512"/>
            <a:ext cx="6197600" cy="1079500"/>
          </a:xfrm>
          <a:prstGeom prst="rect">
            <a:avLst/>
          </a:prstGeom>
        </p:spPr>
      </p:pic>
    </p:spTree>
    <p:extLst>
      <p:ext uri="{BB962C8B-B14F-4D97-AF65-F5344CB8AC3E}">
        <p14:creationId xmlns:p14="http://schemas.microsoft.com/office/powerpoint/2010/main" val="345274510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TotalTime>
  <Words>611</Words>
  <Application>Microsoft Macintosh PowerPoint</Application>
  <PresentationFormat>On-screen Show (16:9)</PresentationFormat>
  <Paragraphs>45</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Montserrat Medium</vt:lpstr>
      <vt:lpstr>Wingdings</vt:lpstr>
      <vt:lpstr>Montserrat ExtraBold</vt:lpstr>
      <vt:lpstr>Montserrat</vt:lpstr>
      <vt:lpstr>Simple Light</vt:lpstr>
      <vt:lpstr>Estructuras Dinámicas</vt:lpstr>
      <vt:lpstr>Listas</vt:lpstr>
      <vt:lpstr>Características </vt:lpstr>
      <vt:lpstr>Crear y Agregar elementos</vt:lpstr>
      <vt:lpstr>Acceder a un elemento</vt:lpstr>
      <vt:lpstr>Modificar elementos</vt:lpstr>
      <vt:lpstr>Eliminar elementos</vt:lpstr>
      <vt:lpstr>Iterar sobre la lista de elementos</vt:lpstr>
      <vt:lpstr>Pilas</vt:lpstr>
      <vt:lpstr>Características </vt:lpstr>
      <vt:lpstr>Crear y Agregar elementos</vt:lpstr>
      <vt:lpstr>Desapilar elementos</vt:lpstr>
      <vt:lpstr>Obtener y remover</vt:lpstr>
      <vt:lpstr>Obtener sin remover</vt:lpstr>
      <vt:lpstr>Verificar si la pila está vacía</vt:lpstr>
      <vt:lpstr>Colas</vt:lpstr>
      <vt:lpstr>Características </vt:lpstr>
      <vt:lpstr>Crear y Agregar elementos</vt:lpstr>
      <vt:lpstr>Obtiener y remover</vt:lpstr>
      <vt:lpstr>Obtiener sin remover</vt:lpstr>
      <vt:lpstr>Verificar si la cola está vacía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Estructuras de control de Flujo: Iteradores</dc:title>
  <cp:lastModifiedBy>Facundo Uferer</cp:lastModifiedBy>
  <cp:revision>14</cp:revision>
  <dcterms:modified xsi:type="dcterms:W3CDTF">2024-05-03T21:36:16Z</dcterms:modified>
</cp:coreProperties>
</file>