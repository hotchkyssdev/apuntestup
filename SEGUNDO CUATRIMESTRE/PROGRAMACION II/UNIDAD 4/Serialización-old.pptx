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
      <p:font typeface="Raleway" pitchFamily="2" charset="77"/>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5f28f0ef57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5f28f0ef57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62076a1f7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62076a1f7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9dd769d6bb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9dd769d6b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2076a1f7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2076a1f7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9dd769d6b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9dd769d6b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9dd769d6bb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9dd769d6b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62076a1f7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62076a1f7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9dd769d6bb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9dd769d6bb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9dd769d6bb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9dd769d6b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9dd769d6bb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9dd769d6b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9dd769d6bb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9dd769d6bb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9dd769d6bb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9dd769d6b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62076a1f7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62076a1f7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62076a1f8f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62076a1f8f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9dd769d6bb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9dd769d6b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9dd769d6bb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9dd769d6bb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dd769d6bb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dd769d6bb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20" name="Google Shape;20;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docs.oracle.com/javase/9/docs/api/java/io/Serializable.html"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docs.oracle.com/javase/9/docs/api/java/io/ObjectOutputStream.html"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docs.oracle.com/javase/7/docs/api/java/io/ObjectInputStream.html"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311700" y="539725"/>
            <a:ext cx="8520600" cy="166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Serialización</a:t>
            </a:r>
            <a:endParaRPr dirty="0"/>
          </a:p>
          <a:p>
            <a:pPr marL="0" lvl="0" indent="0" algn="l" rtl="0">
              <a:spcBef>
                <a:spcPts val="0"/>
              </a:spcBef>
              <a:spcAft>
                <a:spcPts val="0"/>
              </a:spcAft>
              <a:buNone/>
            </a:pPr>
            <a:r>
              <a:rPr lang="en" sz="1800" dirty="0" err="1"/>
              <a:t>Programación</a:t>
            </a:r>
            <a:r>
              <a:rPr lang="en" sz="1800" dirty="0"/>
              <a:t> II</a:t>
            </a:r>
            <a:endParaRPr sz="1800" dirty="0"/>
          </a:p>
        </p:txBody>
      </p:sp>
      <p:sp>
        <p:nvSpPr>
          <p:cNvPr id="73" name="Google Shape;73;p13"/>
          <p:cNvSpPr txBox="1">
            <a:spLocks noGrp="1"/>
          </p:cNvSpPr>
          <p:nvPr>
            <p:ph type="subTitle" idx="1"/>
          </p:nvPr>
        </p:nvSpPr>
        <p:spPr>
          <a:xfrm>
            <a:off x="311700" y="2537898"/>
            <a:ext cx="4242600" cy="98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Facundo Uferer</a:t>
            </a:r>
            <a:endParaRPr/>
          </a:p>
          <a:p>
            <a:pPr marL="0" lvl="0" indent="0" algn="l" rtl="0">
              <a:spcBef>
                <a:spcPts val="0"/>
              </a:spcBef>
              <a:spcAft>
                <a:spcPts val="0"/>
              </a:spcAft>
              <a:buNone/>
            </a:pPr>
            <a:r>
              <a:rPr lang="en"/>
              <a:t>juanfacundouf@gmail.com</a:t>
            </a:r>
            <a:endParaRPr/>
          </a:p>
          <a:p>
            <a:pPr marL="0" lvl="0" indent="0" algn="l" rtl="0">
              <a:spcBef>
                <a:spcPts val="0"/>
              </a:spcBef>
              <a:spcAft>
                <a:spcPts val="0"/>
              </a:spcAft>
              <a:buNone/>
            </a:pPr>
            <a:r>
              <a:rPr lang="en"/>
              <a:t>UTN-FRR</a:t>
            </a:r>
            <a:endParaRPr/>
          </a:p>
        </p:txBody>
      </p:sp>
      <p:pic>
        <p:nvPicPr>
          <p:cNvPr id="74" name="Google Shape;74;p13"/>
          <p:cNvPicPr preferRelativeResize="0"/>
          <p:nvPr/>
        </p:nvPicPr>
        <p:blipFill>
          <a:blip r:embed="rId3">
            <a:alphaModFix/>
          </a:blip>
          <a:stretch>
            <a:fillRect/>
          </a:stretch>
        </p:blipFill>
        <p:spPr>
          <a:xfrm>
            <a:off x="4620701" y="2692800"/>
            <a:ext cx="4002376" cy="189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Serialización</a:t>
            </a:r>
            <a:endParaRPr/>
          </a:p>
        </p:txBody>
      </p:sp>
      <p:pic>
        <p:nvPicPr>
          <p:cNvPr id="80" name="Google Shape;80;p14"/>
          <p:cNvPicPr preferRelativeResize="0"/>
          <p:nvPr/>
        </p:nvPicPr>
        <p:blipFill>
          <a:blip r:embed="rId3">
            <a:alphaModFix/>
          </a:blip>
          <a:stretch>
            <a:fillRect/>
          </a:stretch>
        </p:blipFill>
        <p:spPr>
          <a:xfrm>
            <a:off x="537078" y="1208700"/>
            <a:ext cx="7866950" cy="1557125"/>
          </a:xfrm>
          <a:prstGeom prst="rect">
            <a:avLst/>
          </a:prstGeom>
          <a:noFill/>
          <a:ln>
            <a:noFill/>
          </a:ln>
        </p:spPr>
      </p:pic>
      <p:sp>
        <p:nvSpPr>
          <p:cNvPr id="81" name="Google Shape;81;p14"/>
          <p:cNvSpPr txBox="1">
            <a:spLocks noGrp="1"/>
          </p:cNvSpPr>
          <p:nvPr>
            <p:ph type="body" idx="4294967295"/>
          </p:nvPr>
        </p:nvSpPr>
        <p:spPr>
          <a:xfrm>
            <a:off x="3204650" y="2923350"/>
            <a:ext cx="5790000" cy="206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La serialización de objetos es el proceso por el cual el estado actual de un objeto puede ser guardado en forma persistente, también se puede recuperar el objeto con su estado de la misma en la que se guardó.</a:t>
            </a:r>
            <a:endParaRPr sz="1400"/>
          </a:p>
          <a:p>
            <a:pPr marL="0" lvl="0" indent="0" algn="l" rtl="0">
              <a:spcBef>
                <a:spcPts val="1600"/>
              </a:spcBef>
              <a:spcAft>
                <a:spcPts val="1600"/>
              </a:spcAft>
              <a:buNone/>
            </a:pPr>
            <a:r>
              <a:rPr lang="en" sz="1400"/>
              <a:t>El proceso de almacenar el objeto se llama Serialización de objetos, mientras que el proceso de leer el objeto y recuperar el valor que había sido almacenado se llama deserialización de objetos.</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ctrTitle"/>
          </p:nvPr>
        </p:nvSpPr>
        <p:spPr>
          <a:xfrm>
            <a:off x="2371725" y="630225"/>
            <a:ext cx="6331500" cy="11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En la serialización de objetos esta guarda los siguientes detalles acerca de un objeto que está siendo serializado:</a:t>
            </a:r>
            <a:endParaRPr sz="2400"/>
          </a:p>
        </p:txBody>
      </p:sp>
      <p:sp>
        <p:nvSpPr>
          <p:cNvPr id="87" name="Google Shape;87;p15"/>
          <p:cNvSpPr txBox="1">
            <a:spLocks noGrp="1"/>
          </p:cNvSpPr>
          <p:nvPr>
            <p:ph type="subTitle" idx="1"/>
          </p:nvPr>
        </p:nvSpPr>
        <p:spPr>
          <a:xfrm>
            <a:off x="2390275" y="2481325"/>
            <a:ext cx="6331500" cy="1998900"/>
          </a:xfrm>
          <a:prstGeom prst="rect">
            <a:avLst/>
          </a:prstGeom>
        </p:spPr>
        <p:txBody>
          <a:bodyPr spcFirstLastPara="1" wrap="square" lIns="91425" tIns="91425" rIns="91425" bIns="91425" anchor="b" anchorCtr="0">
            <a:noAutofit/>
          </a:bodyPr>
          <a:lstStyle/>
          <a:p>
            <a:pPr marL="457200" lvl="0" indent="-482600" algn="l" rtl="0">
              <a:spcBef>
                <a:spcPts val="0"/>
              </a:spcBef>
              <a:spcAft>
                <a:spcPts val="0"/>
              </a:spcAft>
              <a:buSzPts val="4000"/>
              <a:buAutoNum type="arabicPeriod"/>
            </a:pPr>
            <a:r>
              <a:rPr lang="en" sz="4000" b="1" i="1"/>
              <a:t>Tipo de Objeto.</a:t>
            </a:r>
            <a:endParaRPr sz="4000" b="1" i="1"/>
          </a:p>
          <a:p>
            <a:pPr marL="457200" lvl="0" indent="-482600" algn="l" rtl="0">
              <a:spcBef>
                <a:spcPts val="0"/>
              </a:spcBef>
              <a:spcAft>
                <a:spcPts val="0"/>
              </a:spcAft>
              <a:buSzPts val="4000"/>
              <a:buAutoNum type="arabicPeriod"/>
            </a:pPr>
            <a:r>
              <a:rPr lang="en" sz="4000" b="1" i="1"/>
              <a:t>Información interna. .</a:t>
            </a:r>
            <a:endParaRPr sz="4000" b="1" i="1"/>
          </a:p>
          <a:p>
            <a:pPr marL="457200" lvl="0" indent="-482600" algn="l" rtl="0">
              <a:spcBef>
                <a:spcPts val="0"/>
              </a:spcBef>
              <a:spcAft>
                <a:spcPts val="0"/>
              </a:spcAft>
              <a:buSzPts val="4000"/>
              <a:buAutoNum type="arabicPeriod"/>
            </a:pPr>
            <a:r>
              <a:rPr lang="en" sz="4000" b="1" i="1"/>
              <a:t>Referencia a otros Objetos.</a:t>
            </a:r>
            <a:endParaRPr sz="4500" b="1"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3586375" y="572625"/>
            <a:ext cx="5116800" cy="4078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700" u="sng"/>
              <a:t>Resumiendo</a:t>
            </a:r>
            <a:r>
              <a:rPr lang="en" sz="3700"/>
              <a:t>: </a:t>
            </a:r>
            <a:endParaRPr sz="3700"/>
          </a:p>
          <a:p>
            <a:pPr marL="0" lvl="0" indent="0" algn="l" rtl="0">
              <a:spcBef>
                <a:spcPts val="0"/>
              </a:spcBef>
              <a:spcAft>
                <a:spcPts val="0"/>
              </a:spcAft>
              <a:buNone/>
            </a:pPr>
            <a:r>
              <a:rPr lang="en" sz="3700"/>
              <a:t>Consiste en convertir en bits un objeto, almacenarlo y hacer lo inverso para usarlo después o enviarlo.</a:t>
            </a:r>
            <a:endParaRPr sz="3700"/>
          </a:p>
        </p:txBody>
      </p:sp>
      <p:pic>
        <p:nvPicPr>
          <p:cNvPr id="93" name="Google Shape;93;p16"/>
          <p:cNvPicPr preferRelativeResize="0"/>
          <p:nvPr/>
        </p:nvPicPr>
        <p:blipFill>
          <a:blip r:embed="rId3">
            <a:alphaModFix/>
          </a:blip>
          <a:stretch>
            <a:fillRect/>
          </a:stretch>
        </p:blipFill>
        <p:spPr>
          <a:xfrm>
            <a:off x="365750" y="1468875"/>
            <a:ext cx="3048000" cy="228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700">
                <a:solidFill>
                  <a:srgbClr val="FF9900"/>
                </a:solidFill>
              </a:rPr>
              <a:t>Serializar, escribir, deserializar y leer</a:t>
            </a:r>
            <a:endParaRPr sz="3700">
              <a:solidFill>
                <a:srgbClr val="FF9900"/>
              </a:solidFill>
            </a:endParaRPr>
          </a:p>
        </p:txBody>
      </p:sp>
      <p:pic>
        <p:nvPicPr>
          <p:cNvPr id="99" name="Google Shape;99;p17"/>
          <p:cNvPicPr preferRelativeResize="0"/>
          <p:nvPr/>
        </p:nvPicPr>
        <p:blipFill>
          <a:blip r:embed="rId3">
            <a:alphaModFix/>
          </a:blip>
          <a:stretch>
            <a:fillRect/>
          </a:stretch>
        </p:blipFill>
        <p:spPr>
          <a:xfrm>
            <a:off x="1448300" y="1193525"/>
            <a:ext cx="6605235" cy="3787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265500" y="1708775"/>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Persistencia de Objetos</a:t>
            </a:r>
            <a:endParaRPr/>
          </a:p>
        </p:txBody>
      </p:sp>
      <p:sp>
        <p:nvSpPr>
          <p:cNvPr id="105" name="Google Shape;105;p18"/>
          <p:cNvSpPr txBox="1">
            <a:spLocks noGrp="1"/>
          </p:cNvSpPr>
          <p:nvPr>
            <p:ph type="body" idx="2"/>
          </p:nvPr>
        </p:nvSpPr>
        <p:spPr>
          <a:xfrm>
            <a:off x="4731300" y="200925"/>
            <a:ext cx="4269900" cy="421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sz="1500"/>
              <a:t>Persistencia involucra el almacenaje de un objeto, vamos asumir que necesitamos que los datos contenidos en un objeto sean persistente, una forma de almacenar un objeto es almacenando en un archivo, con delimitadores (separadores), pero esto requiere muchas manipulaciones de cadenas de caracteres y del archivo como tal.</a:t>
            </a:r>
            <a:endParaRPr sz="1500"/>
          </a:p>
          <a:p>
            <a:pPr marL="0" lvl="0" indent="0" algn="l" rtl="0">
              <a:spcBef>
                <a:spcPts val="1600"/>
              </a:spcBef>
              <a:spcAft>
                <a:spcPts val="1600"/>
              </a:spcAft>
              <a:buNone/>
            </a:pPr>
            <a:r>
              <a:rPr lang="en" sz="1500"/>
              <a:t>La otra forma seria lograr la persistencia a través de la serialización de objetos, estos objetos se pueden guardar en forma persistente durante una ejecución del programa y recuperarlos durante otra ejecución que sería la deserialización.</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API necesaria para serializar</a:t>
            </a:r>
            <a:endParaRPr/>
          </a:p>
        </p:txBody>
      </p:sp>
      <p:pic>
        <p:nvPicPr>
          <p:cNvPr id="111" name="Google Shape;111;p19"/>
          <p:cNvPicPr preferRelativeResize="0"/>
          <p:nvPr/>
        </p:nvPicPr>
        <p:blipFill>
          <a:blip r:embed="rId3">
            <a:alphaModFix/>
          </a:blip>
          <a:stretch>
            <a:fillRect/>
          </a:stretch>
        </p:blipFill>
        <p:spPr>
          <a:xfrm>
            <a:off x="152400" y="1429425"/>
            <a:ext cx="8839201" cy="3508031"/>
          </a:xfrm>
          <a:prstGeom prst="rect">
            <a:avLst/>
          </a:prstGeom>
          <a:noFill/>
          <a:ln>
            <a:noFill/>
          </a:ln>
        </p:spPr>
      </p:pic>
      <p:sp>
        <p:nvSpPr>
          <p:cNvPr id="112" name="Google Shape;112;p19"/>
          <p:cNvSpPr txBox="1"/>
          <p:nvPr/>
        </p:nvSpPr>
        <p:spPr>
          <a:xfrm>
            <a:off x="184200" y="1368763"/>
            <a:ext cx="2286000" cy="958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Roboto"/>
                <a:ea typeface="Roboto"/>
                <a:cs typeface="Roboto"/>
                <a:sym typeface="Roboto"/>
              </a:rPr>
              <a:t>Crea un flujo para que podamos “sacar” el objeto de nuestro programa una vez que ha sido serializado</a:t>
            </a:r>
            <a:endParaRPr sz="1200">
              <a:latin typeface="Roboto"/>
              <a:ea typeface="Roboto"/>
              <a:cs typeface="Roboto"/>
              <a:sym typeface="Roboto"/>
            </a:endParaRPr>
          </a:p>
        </p:txBody>
      </p:sp>
      <p:cxnSp>
        <p:nvCxnSpPr>
          <p:cNvPr id="113" name="Google Shape;113;p19"/>
          <p:cNvCxnSpPr>
            <a:stCxn id="112" idx="2"/>
          </p:cNvCxnSpPr>
          <p:nvPr/>
        </p:nvCxnSpPr>
        <p:spPr>
          <a:xfrm>
            <a:off x="1327200" y="2327563"/>
            <a:ext cx="63600" cy="355800"/>
          </a:xfrm>
          <a:prstGeom prst="straightConnector1">
            <a:avLst/>
          </a:prstGeom>
          <a:noFill/>
          <a:ln w="9525" cap="flat" cmpd="sng">
            <a:solidFill>
              <a:srgbClr val="FF0000"/>
            </a:solidFill>
            <a:prstDash val="solid"/>
            <a:round/>
            <a:headEnd type="none" w="med" len="med"/>
            <a:tailEnd type="triangle" w="med" len="med"/>
          </a:ln>
        </p:spPr>
      </p:cxnSp>
      <p:sp>
        <p:nvSpPr>
          <p:cNvPr id="114" name="Google Shape;114;p19"/>
          <p:cNvSpPr txBox="1"/>
          <p:nvPr/>
        </p:nvSpPr>
        <p:spPr>
          <a:xfrm>
            <a:off x="6705600" y="1308100"/>
            <a:ext cx="2286000" cy="958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Roboto"/>
                <a:ea typeface="Roboto"/>
                <a:cs typeface="Roboto"/>
                <a:sym typeface="Roboto"/>
              </a:rPr>
              <a:t>Crea un flujo para que podamos “meter” el objeto serializado que queremos deserializar. </a:t>
            </a:r>
            <a:endParaRPr sz="1200">
              <a:latin typeface="Roboto"/>
              <a:ea typeface="Roboto"/>
              <a:cs typeface="Roboto"/>
              <a:sym typeface="Roboto"/>
            </a:endParaRPr>
          </a:p>
        </p:txBody>
      </p:sp>
      <p:cxnSp>
        <p:nvCxnSpPr>
          <p:cNvPr id="115" name="Google Shape;115;p19"/>
          <p:cNvCxnSpPr>
            <a:stCxn id="114" idx="2"/>
          </p:cNvCxnSpPr>
          <p:nvPr/>
        </p:nvCxnSpPr>
        <p:spPr>
          <a:xfrm flipH="1">
            <a:off x="7620000" y="2266900"/>
            <a:ext cx="228600" cy="450900"/>
          </a:xfrm>
          <a:prstGeom prst="straightConnector1">
            <a:avLst/>
          </a:prstGeom>
          <a:noFill/>
          <a:ln w="9525" cap="flat" cmpd="sng">
            <a:solidFill>
              <a:srgbClr val="FF0000"/>
            </a:solidFill>
            <a:prstDash val="solid"/>
            <a:round/>
            <a:headEnd type="none" w="med" len="med"/>
            <a:tailEnd type="triangle" w="med" len="med"/>
          </a:ln>
        </p:spPr>
      </p:cxnSp>
      <p:cxnSp>
        <p:nvCxnSpPr>
          <p:cNvPr id="116" name="Google Shape;116;p19"/>
          <p:cNvCxnSpPr/>
          <p:nvPr/>
        </p:nvCxnSpPr>
        <p:spPr>
          <a:xfrm flipH="1">
            <a:off x="1600300" y="3549650"/>
            <a:ext cx="12600" cy="469800"/>
          </a:xfrm>
          <a:prstGeom prst="straightConnector1">
            <a:avLst/>
          </a:prstGeom>
          <a:noFill/>
          <a:ln w="19050" cap="flat" cmpd="sng">
            <a:solidFill>
              <a:srgbClr val="FF0000"/>
            </a:solidFill>
            <a:prstDash val="solid"/>
            <a:round/>
            <a:headEnd type="none" w="med" len="med"/>
            <a:tailEnd type="triangle" w="med" len="med"/>
          </a:ln>
        </p:spPr>
      </p:cxnSp>
      <p:cxnSp>
        <p:nvCxnSpPr>
          <p:cNvPr id="117" name="Google Shape;117;p19"/>
          <p:cNvCxnSpPr/>
          <p:nvPr/>
        </p:nvCxnSpPr>
        <p:spPr>
          <a:xfrm>
            <a:off x="7226300" y="3498850"/>
            <a:ext cx="12600" cy="4953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Implementando serialización</a:t>
            </a:r>
            <a:endParaRPr/>
          </a:p>
        </p:txBody>
      </p:sp>
      <p:sp>
        <p:nvSpPr>
          <p:cNvPr id="123" name="Google Shape;123;p20"/>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Usando clases que permiten flujos de entrada y salida de java.</a:t>
            </a:r>
            <a:endParaRPr/>
          </a:p>
        </p:txBody>
      </p:sp>
      <p:sp>
        <p:nvSpPr>
          <p:cNvPr id="124" name="Google Shape;124;p2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a:t>La lectura y escritura de los objetos en java se lleva a cabo con la ayuda de 2 flujos presentes en el paquete java.io estos son:</a:t>
            </a:r>
            <a:endParaRPr/>
          </a:p>
          <a:p>
            <a:pPr marL="457200" lvl="0" indent="-342900" algn="l" rtl="0">
              <a:spcBef>
                <a:spcPts val="1600"/>
              </a:spcBef>
              <a:spcAft>
                <a:spcPts val="0"/>
              </a:spcAft>
              <a:buSzPts val="1800"/>
              <a:buAutoNum type="arabicPeriod"/>
            </a:pPr>
            <a:r>
              <a:rPr lang="en"/>
              <a:t>ObjectInputStream</a:t>
            </a:r>
            <a:endParaRPr/>
          </a:p>
          <a:p>
            <a:pPr marL="457200" lvl="0" indent="-342900" algn="l" rtl="0">
              <a:spcBef>
                <a:spcPts val="0"/>
              </a:spcBef>
              <a:spcAft>
                <a:spcPts val="0"/>
              </a:spcAft>
              <a:buSzPts val="1800"/>
              <a:buAutoNum type="arabicPeriod"/>
            </a:pPr>
            <a:r>
              <a:rPr lang="en"/>
              <a:t>ObjectOutputStream</a:t>
            </a: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Interfaz Serializable</a:t>
            </a:r>
            <a:endParaRPr/>
          </a:p>
        </p:txBody>
      </p:sp>
      <p:sp>
        <p:nvSpPr>
          <p:cNvPr id="130" name="Google Shape;130;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Si Ud. quiere que una clase se pueda serializar, pues dicha clase debe implementar la interfaz Serializable, esta es una interfaz vacía, una interfaz vacía es aquella que no contiene métodos, esta se usa solo para identificar la semántica de la serialización, serializable es una interfaz marcadora y marca que la clase tiene propiedad de la serialización.</a:t>
            </a:r>
            <a:endParaRPr/>
          </a:p>
        </p:txBody>
      </p:sp>
      <p:sp>
        <p:nvSpPr>
          <p:cNvPr id="131" name="Google Shape;131;p21"/>
          <p:cNvSpPr txBox="1"/>
          <p:nvPr/>
        </p:nvSpPr>
        <p:spPr>
          <a:xfrm>
            <a:off x="190875" y="4349875"/>
            <a:ext cx="4299600" cy="67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latin typeface="Lato"/>
                <a:ea typeface="Lato"/>
                <a:cs typeface="Lato"/>
                <a:sym typeface="Lato"/>
              </a:rPr>
              <a:t>Más sobre esta interface: </a:t>
            </a:r>
            <a:endParaRPr sz="1100">
              <a:latin typeface="Lato"/>
              <a:ea typeface="Lato"/>
              <a:cs typeface="Lato"/>
              <a:sym typeface="Lato"/>
            </a:endParaRPr>
          </a:p>
          <a:p>
            <a:pPr marL="0" lvl="0" indent="0" algn="l" rtl="0">
              <a:spcBef>
                <a:spcPts val="0"/>
              </a:spcBef>
              <a:spcAft>
                <a:spcPts val="0"/>
              </a:spcAft>
              <a:buNone/>
            </a:pPr>
            <a:r>
              <a:rPr lang="en" sz="1100" u="sng">
                <a:solidFill>
                  <a:schemeClr val="hlink"/>
                </a:solidFill>
                <a:latin typeface="Lato"/>
                <a:ea typeface="Lato"/>
                <a:cs typeface="Lato"/>
                <a:sym typeface="Lato"/>
                <a:hlinkClick r:id="rId3"/>
              </a:rPr>
              <a:t>https://docs.oracle.com/javase/9/docs/api/java/io/Serializable.html</a:t>
            </a:r>
            <a:r>
              <a:rPr lang="en" sz="1100">
                <a:latin typeface="Lato"/>
                <a:ea typeface="Lato"/>
                <a:cs typeface="Lato"/>
                <a:sym typeface="Lato"/>
              </a:rPr>
              <a:t> </a:t>
            </a:r>
            <a:endParaRPr sz="11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100"/>
              <a:t>La clase OjectOutputStream</a:t>
            </a:r>
            <a:endParaRPr sz="3100"/>
          </a:p>
        </p:txBody>
      </p:sp>
      <p:sp>
        <p:nvSpPr>
          <p:cNvPr id="137" name="Google Shape;137;p22"/>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Esta se usa para escribir tipos de datos que están contenidos en objetos de java a una clase OutputStream, escribe la representación en la memoria de los objetos a la clase OutputStream. Los objetos java escritos usando ObjectOutputStream pueden leerse usando ObjectInputStream.</a:t>
            </a:r>
            <a:endParaRPr/>
          </a:p>
        </p:txBody>
      </p:sp>
      <p:sp>
        <p:nvSpPr>
          <p:cNvPr id="138" name="Google Shape;138;p22"/>
          <p:cNvSpPr txBox="1"/>
          <p:nvPr/>
        </p:nvSpPr>
        <p:spPr>
          <a:xfrm>
            <a:off x="60275" y="4570875"/>
            <a:ext cx="44403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latin typeface="Lato"/>
                <a:ea typeface="Lato"/>
                <a:cs typeface="Lato"/>
                <a:sym typeface="Lato"/>
                <a:hlinkClick r:id="rId3"/>
              </a:rPr>
              <a:t>https://docs.oracle.com/javase/9/docs/api/java/io/ObjectOutputStream.html</a:t>
            </a:r>
            <a:r>
              <a:rPr lang="en" sz="1000">
                <a:latin typeface="Lato"/>
                <a:ea typeface="Lato"/>
                <a:cs typeface="Lato"/>
                <a:sym typeface="Lato"/>
              </a:rPr>
              <a:t> </a:t>
            </a:r>
            <a:endParaRPr sz="10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a:t>La clase ObjectInputStream</a:t>
            </a:r>
            <a:endParaRPr sz="3200"/>
          </a:p>
        </p:txBody>
      </p:sp>
      <p:sp>
        <p:nvSpPr>
          <p:cNvPr id="144" name="Google Shape;144;p23"/>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Esta permite la deserialización de datos primitivos u objetos escrito por el ObjectOutputStream, estos 2 flujos cuando se usan con FileInputStream y FileOutpuStream proporcionan almacenamiento persistente de objetos.</a:t>
            </a:r>
            <a:endParaRPr/>
          </a:p>
        </p:txBody>
      </p:sp>
      <p:sp>
        <p:nvSpPr>
          <p:cNvPr id="145" name="Google Shape;145;p23"/>
          <p:cNvSpPr txBox="1"/>
          <p:nvPr/>
        </p:nvSpPr>
        <p:spPr>
          <a:xfrm>
            <a:off x="150700" y="4611075"/>
            <a:ext cx="43299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latin typeface="Lato"/>
                <a:ea typeface="Lato"/>
                <a:cs typeface="Lato"/>
                <a:sym typeface="Lato"/>
                <a:hlinkClick r:id="rId3"/>
              </a:rPr>
              <a:t>https://docs.oracle.com/javase/7/docs/api/java/io/ObjectInputStream.html</a:t>
            </a:r>
            <a:r>
              <a:rPr lang="en" sz="1000">
                <a:latin typeface="Lato"/>
                <a:ea typeface="Lato"/>
                <a:cs typeface="Lato"/>
                <a:sym typeface="Lato"/>
              </a:rPr>
              <a:t> </a:t>
            </a:r>
            <a:endParaRPr sz="10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Codeando un poquito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Escritura</a:t>
            </a:r>
            <a:endParaRPr/>
          </a:p>
        </p:txBody>
      </p:sp>
      <p:pic>
        <p:nvPicPr>
          <p:cNvPr id="156" name="Google Shape;156;p25"/>
          <p:cNvPicPr preferRelativeResize="0"/>
          <p:nvPr/>
        </p:nvPicPr>
        <p:blipFill>
          <a:blip r:embed="rId3">
            <a:alphaModFix/>
          </a:blip>
          <a:stretch>
            <a:fillRect/>
          </a:stretch>
        </p:blipFill>
        <p:spPr>
          <a:xfrm>
            <a:off x="0" y="1518325"/>
            <a:ext cx="9143999" cy="30640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Lectura</a:t>
            </a:r>
            <a:endParaRPr/>
          </a:p>
        </p:txBody>
      </p:sp>
      <p:pic>
        <p:nvPicPr>
          <p:cNvPr id="162" name="Google Shape;162;p26"/>
          <p:cNvPicPr preferRelativeResize="0"/>
          <p:nvPr/>
        </p:nvPicPr>
        <p:blipFill>
          <a:blip r:embed="rId3">
            <a:alphaModFix/>
          </a:blip>
          <a:stretch>
            <a:fillRect/>
          </a:stretch>
        </p:blipFill>
        <p:spPr>
          <a:xfrm>
            <a:off x="-8400" y="1356197"/>
            <a:ext cx="9144001" cy="33534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Serial Version ID</a:t>
            </a:r>
            <a:endParaRPr/>
          </a:p>
        </p:txBody>
      </p:sp>
      <p:sp>
        <p:nvSpPr>
          <p:cNvPr id="168" name="Google Shape;168;p27"/>
          <p:cNvSpPr txBox="1">
            <a:spLocks noGrp="1"/>
          </p:cNvSpPr>
          <p:nvPr>
            <p:ph type="subTitle" idx="1"/>
          </p:nvPr>
        </p:nvSpPr>
        <p:spPr>
          <a:xfrm>
            <a:off x="2390275" y="1607350"/>
            <a:ext cx="6331500" cy="287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Es un número de versión que posee cada clase Serializable, el cual es usado en la deserialización para verificar que el emisor y el receptor de un objeto serializado mantienen una compatibilidad con respecto a la clases que ambos tienen.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Colocando un Serial Versions ID a mi clase</a:t>
            </a:r>
            <a:endParaRPr/>
          </a:p>
        </p:txBody>
      </p:sp>
      <p:pic>
        <p:nvPicPr>
          <p:cNvPr id="174" name="Google Shape;174;p28"/>
          <p:cNvPicPr preferRelativeResize="0"/>
          <p:nvPr/>
        </p:nvPicPr>
        <p:blipFill>
          <a:blip r:embed="rId3">
            <a:alphaModFix/>
          </a:blip>
          <a:stretch>
            <a:fillRect/>
          </a:stretch>
        </p:blipFill>
        <p:spPr>
          <a:xfrm>
            <a:off x="1207225" y="1173450"/>
            <a:ext cx="6964664" cy="3787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Serial Version ID</a:t>
            </a:r>
            <a:endParaRPr/>
          </a:p>
        </p:txBody>
      </p:sp>
      <p:pic>
        <p:nvPicPr>
          <p:cNvPr id="180" name="Google Shape;180;p29"/>
          <p:cNvPicPr preferRelativeResize="0"/>
          <p:nvPr/>
        </p:nvPicPr>
        <p:blipFill>
          <a:blip r:embed="rId3">
            <a:alphaModFix/>
          </a:blip>
          <a:stretch>
            <a:fillRect/>
          </a:stretch>
        </p:blipFill>
        <p:spPr>
          <a:xfrm>
            <a:off x="1491475" y="1051175"/>
            <a:ext cx="6281599" cy="3787526"/>
          </a:xfrm>
          <a:prstGeom prst="rect">
            <a:avLst/>
          </a:prstGeom>
          <a:noFill/>
          <a:ln>
            <a:noFill/>
          </a:ln>
        </p:spPr>
      </p:pic>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609</Words>
  <Application>Microsoft Macintosh PowerPoint</Application>
  <PresentationFormat>On-screen Show (16:9)</PresentationFormat>
  <Paragraphs>43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Lato</vt:lpstr>
      <vt:lpstr>Roboto</vt:lpstr>
      <vt:lpstr>Raleway</vt:lpstr>
      <vt:lpstr>Swiss</vt:lpstr>
      <vt:lpstr>Serialización Programación II</vt:lpstr>
      <vt:lpstr>Serialización</vt:lpstr>
      <vt:lpstr>En la serialización de objetos esta guarda los siguientes detalles acerca de un objeto que está siendo serializado:</vt:lpstr>
      <vt:lpstr>Resumiendo:  Consiste en convertir en bits un objeto, almacenarlo y hacer lo inverso para usarlo después o enviarlo.</vt:lpstr>
      <vt:lpstr>Serializar, escribir, deserializar y leer</vt:lpstr>
      <vt:lpstr>Persistencia de Objetos</vt:lpstr>
      <vt:lpstr>API necesaria para serializar</vt:lpstr>
      <vt:lpstr>Implementando serialización</vt:lpstr>
      <vt:lpstr>Interfaz Serializable</vt:lpstr>
      <vt:lpstr>La clase OjectOutputStream</vt:lpstr>
      <vt:lpstr>La clase ObjectInputStream</vt:lpstr>
      <vt:lpstr>Codeando un poquito</vt:lpstr>
      <vt:lpstr>Escritura</vt:lpstr>
      <vt:lpstr>Lectura</vt:lpstr>
      <vt:lpstr>Serial Version ID</vt:lpstr>
      <vt:lpstr>Colocando un Serial Versions ID a mi clase</vt:lpstr>
      <vt:lpstr>Serial Version ID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Facundo Uferer</cp:lastModifiedBy>
  <cp:revision>1</cp:revision>
  <dcterms:modified xsi:type="dcterms:W3CDTF">2024-10-22T12:50:23Z</dcterms:modified>
</cp:coreProperties>
</file>