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Montserrat"/>
      <p:regular r:id="rId11"/>
      <p:bold r:id="rId12"/>
      <p:italic r:id="rId13"/>
      <p:boldItalic r:id="rId14"/>
    </p:embeddedFont>
    <p:embeddedFont>
      <p:font typeface="Montserrat Medium"/>
      <p:regular r:id="rId15"/>
      <p:bold r:id="rId16"/>
      <p:italic r:id="rId17"/>
      <p:boldItalic r:id="rId18"/>
    </p:embeddedFont>
    <p:embeddedFont>
      <p:font typeface="Montserrat ExtraBold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ExtraBold-boldItalic.fntdata"/><Relationship Id="rId11" Type="http://schemas.openxmlformats.org/officeDocument/2006/relationships/font" Target="fonts/Montserrat-regular.fntdata"/><Relationship Id="rId10" Type="http://schemas.openxmlformats.org/officeDocument/2006/relationships/slide" Target="slides/slide5.xml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Medium-regular.fntdata"/><Relationship Id="rId14" Type="http://schemas.openxmlformats.org/officeDocument/2006/relationships/font" Target="fonts/Montserrat-boldItalic.fntdata"/><Relationship Id="rId17" Type="http://schemas.openxmlformats.org/officeDocument/2006/relationships/font" Target="fonts/MontserratMedium-italic.fntdata"/><Relationship Id="rId16" Type="http://schemas.openxmlformats.org/officeDocument/2006/relationships/font" Target="fonts/MontserratMedium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ExtraBold-bold.fntdata"/><Relationship Id="rId6" Type="http://schemas.openxmlformats.org/officeDocument/2006/relationships/slide" Target="slides/slide1.xml"/><Relationship Id="rId18" Type="http://schemas.openxmlformats.org/officeDocument/2006/relationships/font" Target="fonts/Montserrat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419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Procesos</a:t>
            </a:r>
            <a:endParaRPr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419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Introducción al Lenguaje Java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0" y="908650"/>
            <a:ext cx="85206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-419" sz="418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Procesos</a:t>
            </a:r>
            <a:endParaRPr sz="418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1458850" y="1925250"/>
            <a:ext cx="6543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 proceso en este contexto puede entenderse como una serie de pasos lógicos y secuenciales que transforman una entrada en una salida deseada.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41750"/>
            <a:ext cx="85206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92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Para tener en cuenta</a:t>
            </a:r>
            <a:endParaRPr sz="292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45050" y="800275"/>
            <a:ext cx="5673900" cy="4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419" sz="1200">
                <a:solidFill>
                  <a:schemeClr val="dk1"/>
                </a:solidFill>
              </a:rPr>
              <a:t>SECUENCIA DE PASOS: </a:t>
            </a:r>
            <a:r>
              <a:rPr lang="es-419" sz="1200">
                <a:solidFill>
                  <a:schemeClr val="dk1"/>
                </a:solidFill>
              </a:rPr>
              <a:t>Un proceso debe tener una secuencia clara de pasos que se deben seguir para alcanzar el resultado deseado. Cada paso debe ser claro y preciso, indicando qué hacer en ese momento específico.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s-419" sz="1200">
                <a:solidFill>
                  <a:schemeClr val="dk1"/>
                </a:solidFill>
              </a:rPr>
              <a:t>ACCIONES ESPECÍFICAS: </a:t>
            </a:r>
            <a:r>
              <a:rPr lang="es-419" sz="1200">
                <a:solidFill>
                  <a:schemeClr val="dk1"/>
                </a:solidFill>
              </a:rPr>
              <a:t>Cada paso del proceso debe describir una acción específica que se debe realizar. Estas acciones pueden incluir operaciones matemáticas, manipulación de datos, toma de decisiones, bucles, etc.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s-419" sz="1200">
                <a:solidFill>
                  <a:schemeClr val="dk1"/>
                </a:solidFill>
              </a:rPr>
              <a:t>ENTRADA Y SALIDA: </a:t>
            </a:r>
            <a:r>
              <a:rPr lang="es-419" sz="1200">
                <a:solidFill>
                  <a:schemeClr val="dk1"/>
                </a:solidFill>
              </a:rPr>
              <a:t>Un proceso debe definir claramente cuál es la entrada requerida para comenzar, así como la salida que se espera obtener al finalizar el proceso. Esto ayuda a delimitar el alcance del problema y a comprender qué información se necesita y qué se espera producir como resultado.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s-419" sz="1200">
                <a:solidFill>
                  <a:schemeClr val="dk1"/>
                </a:solidFill>
              </a:rPr>
              <a:t>CLARIDAD Y PRECISIÓN: </a:t>
            </a:r>
            <a:r>
              <a:rPr lang="es-419" sz="1200">
                <a:solidFill>
                  <a:schemeClr val="dk1"/>
                </a:solidFill>
              </a:rPr>
              <a:t>Los pasos del proceso deben ser claros y precisos, evitando ambigüedades o interpretaciones incorrectas. Esto asegura que el proceso pueda ser entendido y seguido correctamente.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es-419" sz="1200">
                <a:solidFill>
                  <a:schemeClr val="dk1"/>
                </a:solidFill>
              </a:rPr>
              <a:t>EFICIENCIA Y EFECTIVIDAD: </a:t>
            </a:r>
            <a:r>
              <a:rPr lang="es-419" sz="1200">
                <a:solidFill>
                  <a:schemeClr val="dk1"/>
                </a:solidFill>
              </a:rPr>
              <a:t>Un buen proceso no solo debe producir el resultado deseado, sino que también debe hacerlo de manera eficiente, utilizando la menor cantidad de recursos posible y en un tiempo razonable.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8" name="Google Shape;68;p15"/>
          <p:cNvSpPr/>
          <p:nvPr/>
        </p:nvSpPr>
        <p:spPr>
          <a:xfrm rot="5400000">
            <a:off x="7557425" y="3148151"/>
            <a:ext cx="883500" cy="48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122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7429875" y="2467313"/>
            <a:ext cx="1138600" cy="382400"/>
          </a:xfrm>
          <a:prstGeom prst="flowChartProcess">
            <a:avLst/>
          </a:prstGeom>
          <a:solidFill>
            <a:srgbClr val="E122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419" sz="1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PROCESOS</a:t>
            </a:r>
            <a:endParaRPr b="1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/>
          <p:nvPr/>
        </p:nvSpPr>
        <p:spPr>
          <a:xfrm rot="5400000">
            <a:off x="7557425" y="1660526"/>
            <a:ext cx="883500" cy="48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122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7429875" y="3935875"/>
            <a:ext cx="1138600" cy="572700"/>
          </a:xfrm>
          <a:prstGeom prst="flowChartProcess">
            <a:avLst/>
          </a:prstGeom>
          <a:solidFill>
            <a:srgbClr val="E122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419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INFORMACIÓN</a:t>
            </a:r>
            <a:endParaRPr b="1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7429875" y="871400"/>
            <a:ext cx="1138600" cy="471625"/>
          </a:xfrm>
          <a:prstGeom prst="flowChartProcess">
            <a:avLst/>
          </a:prstGeom>
          <a:solidFill>
            <a:srgbClr val="E122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419" sz="1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DATOS</a:t>
            </a:r>
            <a:endParaRPr b="1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-419" sz="292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Proceso para calcular el área de un círculo</a:t>
            </a:r>
            <a:endParaRPr b="1" sz="292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808650" y="1675600"/>
            <a:ext cx="77361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-419" sz="17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Entrada:</a:t>
            </a:r>
            <a:r>
              <a:rPr b="0" i="0" lang="es-419" sz="17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El proceso requiere el radio del círculo como entrada.</a:t>
            </a:r>
            <a:endParaRPr b="0" i="0" sz="17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Montserrat"/>
              <a:buChar char="●"/>
            </a:pPr>
            <a:r>
              <a:rPr b="1" i="0" lang="es-419" sz="17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Paso 1: </a:t>
            </a:r>
            <a:r>
              <a:rPr b="0" i="0" lang="es-419" sz="17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Leer el valor del radio del círculo.</a:t>
            </a:r>
            <a:endParaRPr b="0" i="0" sz="17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●"/>
            </a:pPr>
            <a:r>
              <a:rPr b="1" i="0" lang="es-419" sz="17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Paso 2:</a:t>
            </a:r>
            <a:r>
              <a:rPr b="0" i="0" lang="es-419" sz="17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Calcular el área del círculo utilizando la fórmula: </a:t>
            </a:r>
            <a:r>
              <a:rPr b="0" i="1" lang="es-419" sz="1700" u="none" cap="none" strike="noStrik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π⋅radio2</a:t>
            </a:r>
            <a:r>
              <a:rPr b="0" i="0" lang="es-419" sz="17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donde π es una constante.</a:t>
            </a:r>
            <a:endParaRPr b="0" i="0" sz="17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Montserrat"/>
              <a:buChar char="●"/>
            </a:pPr>
            <a:r>
              <a:rPr b="1" i="0" lang="es-419" sz="17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Paso 3: </a:t>
            </a:r>
            <a:r>
              <a:rPr b="0" i="0" lang="es-419" sz="17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Mostrar el resultado del cálculo del área.</a:t>
            </a:r>
            <a:endParaRPr b="0" i="0" sz="17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17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Salida: </a:t>
            </a:r>
            <a:r>
              <a:rPr b="0" i="0" lang="es-419" sz="17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El resultado es el área del círculo.</a:t>
            </a:r>
            <a:endParaRPr b="0" i="0" sz="17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s-419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Programa que calcula el área de un círculo</a:t>
            </a:r>
            <a:endParaRPr b="1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900" y="1317125"/>
            <a:ext cx="4791024" cy="34172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/>
          <p:nvPr/>
        </p:nvSpPr>
        <p:spPr>
          <a:xfrm>
            <a:off x="1158750" y="2409200"/>
            <a:ext cx="3993000" cy="658500"/>
          </a:xfrm>
          <a:prstGeom prst="rect">
            <a:avLst/>
          </a:prstGeom>
          <a:noFill/>
          <a:ln cap="flat" cmpd="sng" w="19050">
            <a:solidFill>
              <a:srgbClr val="E12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5235200" y="2499250"/>
            <a:ext cx="103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E122BB"/>
                </a:solidFill>
                <a:latin typeface="Arial"/>
                <a:ea typeface="Arial"/>
                <a:cs typeface="Arial"/>
                <a:sym typeface="Arial"/>
              </a:rPr>
              <a:t>Entrada</a:t>
            </a:r>
            <a:endParaRPr b="0" i="0" sz="1200" u="none" cap="none" strike="noStrike">
              <a:solidFill>
                <a:srgbClr val="E122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1158750" y="3442900"/>
            <a:ext cx="3993000" cy="216900"/>
          </a:xfrm>
          <a:prstGeom prst="rect">
            <a:avLst/>
          </a:prstGeom>
          <a:noFill/>
          <a:ln cap="flat" cmpd="sng" w="19050">
            <a:solidFill>
              <a:srgbClr val="E12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5235200" y="3366700"/>
            <a:ext cx="103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E122BB"/>
                </a:solidFill>
                <a:latin typeface="Arial"/>
                <a:ea typeface="Arial"/>
                <a:cs typeface="Arial"/>
                <a:sym typeface="Arial"/>
              </a:rPr>
              <a:t>Proceso</a:t>
            </a:r>
            <a:endParaRPr b="0" i="0" sz="1200" u="none" cap="none" strike="noStrike">
              <a:solidFill>
                <a:srgbClr val="E122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1158750" y="4035000"/>
            <a:ext cx="3993000" cy="288600"/>
          </a:xfrm>
          <a:prstGeom prst="rect">
            <a:avLst/>
          </a:prstGeom>
          <a:noFill/>
          <a:ln cap="flat" cmpd="sng" w="19050">
            <a:solidFill>
              <a:srgbClr val="E12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5235200" y="3994650"/>
            <a:ext cx="103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E122BB"/>
                </a:solidFill>
                <a:latin typeface="Arial"/>
                <a:ea typeface="Arial"/>
                <a:cs typeface="Arial"/>
                <a:sym typeface="Arial"/>
              </a:rPr>
              <a:t>Salida</a:t>
            </a:r>
            <a:endParaRPr b="0" i="0" sz="1200" u="none" cap="none" strike="noStrike">
              <a:solidFill>
                <a:srgbClr val="E122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/>
          <p:nvPr/>
        </p:nvSpPr>
        <p:spPr>
          <a:xfrm rot="5400000">
            <a:off x="5551975" y="3176125"/>
            <a:ext cx="1608900" cy="5727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E12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7561100" y="916950"/>
            <a:ext cx="1408800" cy="2592600"/>
          </a:xfrm>
          <a:prstGeom prst="rect">
            <a:avLst/>
          </a:prstGeom>
          <a:solidFill>
            <a:srgbClr val="E122B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419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Paso 1:</a:t>
            </a:r>
            <a:r>
              <a:rPr b="0" i="0" lang="es-419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Leer el valor del radio del círculo.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419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Paso 2: </a:t>
            </a:r>
            <a:r>
              <a:rPr b="0" i="0" lang="es-419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Calcular el área del círculo utilizando la fórmula: π⋅radio2, donde π es una constante.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419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Paso 3: </a:t>
            </a:r>
            <a:r>
              <a:rPr b="0" i="0" lang="es-419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Mostrar el resultado del cálculo del área.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