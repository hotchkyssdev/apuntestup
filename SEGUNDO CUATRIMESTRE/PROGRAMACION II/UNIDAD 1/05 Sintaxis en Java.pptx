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Roboto"/>
      <p:regular r:id="rId10"/>
      <p:bold r:id="rId11"/>
      <p:italic r:id="rId12"/>
      <p:boldItalic r:id="rId13"/>
    </p:embeddedFont>
    <p:embeddedFont>
      <p:font typeface="Montserrat"/>
      <p:regular r:id="rId14"/>
      <p:bold r:id="rId15"/>
      <p:italic r:id="rId16"/>
      <p:boldItalic r:id="rId17"/>
    </p:embeddedFont>
    <p:embeddedFont>
      <p:font typeface="Montserrat Medium"/>
      <p:regular r:id="rId18"/>
      <p:bold r:id="rId19"/>
      <p:italic r:id="rId20"/>
      <p:boldItalic r:id="rId21"/>
    </p:embeddedFont>
    <p:embeddedFont>
      <p:font typeface="Montserrat ExtraBold"/>
      <p:bold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Medium-italic.fntdata"/><Relationship Id="rId11" Type="http://schemas.openxmlformats.org/officeDocument/2006/relationships/font" Target="fonts/Roboto-bold.fntdata"/><Relationship Id="rId22" Type="http://schemas.openxmlformats.org/officeDocument/2006/relationships/font" Target="fonts/MontserratExtraBold-bold.fntdata"/><Relationship Id="rId10" Type="http://schemas.openxmlformats.org/officeDocument/2006/relationships/font" Target="fonts/Roboto-regular.fntdata"/><Relationship Id="rId21" Type="http://schemas.openxmlformats.org/officeDocument/2006/relationships/font" Target="fonts/MontserratMedium-boldItalic.fntdata"/><Relationship Id="rId13" Type="http://schemas.openxmlformats.org/officeDocument/2006/relationships/font" Target="fonts/Roboto-boldItalic.fntdata"/><Relationship Id="rId12" Type="http://schemas.openxmlformats.org/officeDocument/2006/relationships/font" Target="fonts/Roboto-italic.fntdata"/><Relationship Id="rId23" Type="http://schemas.openxmlformats.org/officeDocument/2006/relationships/font" Target="fonts/MontserratExtra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MontserratMedium-bold.fntdata"/><Relationship Id="rId6" Type="http://schemas.openxmlformats.org/officeDocument/2006/relationships/slide" Target="slides/slide1.xml"/><Relationship Id="rId18" Type="http://schemas.openxmlformats.org/officeDocument/2006/relationships/font" Target="fonts/MontserratMedium-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s-419">
                <a:solidFill>
                  <a:srgbClr val="E122BB"/>
                </a:solidFill>
                <a:latin typeface="Montserrat ExtraBold"/>
                <a:ea typeface="Montserrat ExtraBold"/>
                <a:cs typeface="Montserrat ExtraBold"/>
                <a:sym typeface="Montserrat ExtraBold"/>
              </a:rPr>
              <a:t>Sintaxis en Java</a:t>
            </a:r>
            <a:endParaRPr>
              <a:solidFill>
                <a:srgbClr val="E122BB"/>
              </a:solidFill>
              <a:latin typeface="Montserrat ExtraBold"/>
              <a:ea typeface="Montserrat ExtraBold"/>
              <a:cs typeface="Montserrat ExtraBold"/>
              <a:sym typeface="Montserrat ExtraBold"/>
            </a:endParaRPr>
          </a:p>
        </p:txBody>
      </p:sp>
      <p:sp>
        <p:nvSpPr>
          <p:cNvPr id="55" name="Google Shape;55;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s-419">
                <a:solidFill>
                  <a:schemeClr val="lt1"/>
                </a:solidFill>
                <a:latin typeface="Montserrat Medium"/>
                <a:ea typeface="Montserrat Medium"/>
                <a:cs typeface="Montserrat Medium"/>
                <a:sym typeface="Montserrat Medium"/>
              </a:rPr>
              <a:t>Introducción al Lenguaje Java</a:t>
            </a:r>
            <a:endParaRPr>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Un programa sencillo en Java </a:t>
            </a:r>
            <a:endParaRPr b="1" sz="2920">
              <a:solidFill>
                <a:srgbClr val="E122BB"/>
              </a:solidFill>
              <a:latin typeface="Montserrat"/>
              <a:ea typeface="Montserrat"/>
              <a:cs typeface="Montserrat"/>
              <a:sym typeface="Montserrat"/>
            </a:endParaRPr>
          </a:p>
        </p:txBody>
      </p:sp>
      <p:pic>
        <p:nvPicPr>
          <p:cNvPr id="61" name="Google Shape;61;p14"/>
          <p:cNvPicPr preferRelativeResize="0"/>
          <p:nvPr/>
        </p:nvPicPr>
        <p:blipFill rotWithShape="1">
          <a:blip r:embed="rId4">
            <a:alphaModFix/>
          </a:blip>
          <a:srcRect b="0" l="0" r="0" t="0"/>
          <a:stretch/>
        </p:blipFill>
        <p:spPr>
          <a:xfrm>
            <a:off x="1091550" y="1131750"/>
            <a:ext cx="7259712" cy="37140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Sintaxis en Java </a:t>
            </a:r>
            <a:endParaRPr b="1" sz="2920">
              <a:solidFill>
                <a:srgbClr val="E122BB"/>
              </a:solidFill>
              <a:latin typeface="Montserrat"/>
              <a:ea typeface="Montserrat"/>
              <a:cs typeface="Montserrat"/>
              <a:sym typeface="Montserrat"/>
            </a:endParaRPr>
          </a:p>
        </p:txBody>
      </p:sp>
      <p:sp>
        <p:nvSpPr>
          <p:cNvPr id="67" name="Google Shape;67;p15"/>
          <p:cNvSpPr txBox="1"/>
          <p:nvPr/>
        </p:nvSpPr>
        <p:spPr>
          <a:xfrm>
            <a:off x="325125" y="1017025"/>
            <a:ext cx="3618000" cy="3786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rgbClr val="434343"/>
                </a:solidFill>
                <a:latin typeface="Arial"/>
                <a:ea typeface="Arial"/>
                <a:cs typeface="Arial"/>
                <a:sym typeface="Arial"/>
              </a:rPr>
              <a:t>public es un modificador de acceso. Estos modificadores controlan el nivel de acceso que tienen a este código otras partes del programa. </a:t>
            </a:r>
            <a:endParaRPr b="0" i="0" sz="13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rgbClr val="434343"/>
                </a:solidFill>
                <a:latin typeface="Arial"/>
                <a:ea typeface="Arial"/>
                <a:cs typeface="Arial"/>
                <a:sym typeface="Arial"/>
              </a:rPr>
              <a:t> </a:t>
            </a:r>
            <a:endParaRPr b="0" i="0" sz="13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rgbClr val="434343"/>
                </a:solidFill>
                <a:latin typeface="Arial"/>
                <a:ea typeface="Arial"/>
                <a:cs typeface="Arial"/>
                <a:sym typeface="Arial"/>
              </a:rPr>
              <a:t>La palabra reservada class nos recuerda que todo lo que hay en un programa Java está dentro de una clase. </a:t>
            </a:r>
            <a:endParaRPr b="0" i="0" sz="13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rgbClr val="434343"/>
                </a:solidFill>
                <a:latin typeface="Arial"/>
                <a:ea typeface="Arial"/>
                <a:cs typeface="Arial"/>
                <a:sym typeface="Arial"/>
              </a:rPr>
              <a:t>Después de la palabra reservada class está el nombre de la clase. </a:t>
            </a:r>
            <a:endParaRPr b="0" i="0" sz="13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rgbClr val="434343"/>
                </a:solidFill>
                <a:latin typeface="Arial"/>
                <a:ea typeface="Arial"/>
                <a:cs typeface="Arial"/>
                <a:sym typeface="Arial"/>
              </a:rPr>
              <a:t>Los nombres de las clases deben empezar por una letra y a continuación puede haber cualquier combinación de letras y dígitos. La longitud del nombre no está limitada. Se suele establecer que la primera letra del nombre de la clase sea mayúscula.</a:t>
            </a:r>
            <a:endParaRPr b="0" i="0" sz="1300" u="none" cap="none" strike="noStrike">
              <a:solidFill>
                <a:srgbClr val="434343"/>
              </a:solidFill>
              <a:latin typeface="Arial"/>
              <a:ea typeface="Arial"/>
              <a:cs typeface="Arial"/>
              <a:sym typeface="Arial"/>
            </a:endParaRPr>
          </a:p>
        </p:txBody>
      </p:sp>
      <p:sp>
        <p:nvSpPr>
          <p:cNvPr id="68" name="Google Shape;68;p15"/>
          <p:cNvSpPr txBox="1"/>
          <p:nvPr/>
        </p:nvSpPr>
        <p:spPr>
          <a:xfrm>
            <a:off x="5095825" y="1017025"/>
            <a:ext cx="3618000" cy="218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chemeClr val="dk1"/>
                </a:solidFill>
                <a:latin typeface="Roboto"/>
                <a:ea typeface="Roboto"/>
                <a:cs typeface="Roboto"/>
                <a:sym typeface="Roboto"/>
              </a:rPr>
              <a:t>No se pueden utilizar palabras reservadas para nombrar las clases de Java. </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chemeClr val="dk1"/>
                </a:solidFill>
                <a:latin typeface="Roboto"/>
                <a:ea typeface="Roboto"/>
                <a:cs typeface="Roboto"/>
                <a:sym typeface="Roboto"/>
              </a:rPr>
              <a:t>Cuando se utiliza Java NombreClase para ejecutar un programa compilado, la máquina virtual de Java empieza la ejecución en el código que se encuentra dentro del método main de la clase indicada.  </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chemeClr val="dk1"/>
                </a:solidFill>
                <a:latin typeface="Roboto"/>
                <a:ea typeface="Roboto"/>
                <a:cs typeface="Roboto"/>
                <a:sym typeface="Roboto"/>
              </a:rPr>
              <a:t>Es preciso tener un método main en el código. </a:t>
            </a:r>
            <a:endParaRPr b="0" i="0" sz="1300" u="none" cap="none" strike="noStrike">
              <a:solidFill>
                <a:srgbClr val="43434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233425" y="144925"/>
            <a:ext cx="85947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419" sz="2920">
                <a:solidFill>
                  <a:srgbClr val="E122BB"/>
                </a:solidFill>
                <a:latin typeface="Montserrat"/>
                <a:ea typeface="Montserrat"/>
                <a:cs typeface="Montserrat"/>
                <a:sym typeface="Montserrat"/>
              </a:rPr>
              <a:t>Sintaxis en Java </a:t>
            </a:r>
            <a:endParaRPr b="1" sz="2920">
              <a:solidFill>
                <a:srgbClr val="E122BB"/>
              </a:solidFill>
              <a:latin typeface="Montserrat"/>
              <a:ea typeface="Montserrat"/>
              <a:cs typeface="Montserrat"/>
              <a:sym typeface="Montserrat"/>
            </a:endParaRPr>
          </a:p>
        </p:txBody>
      </p:sp>
      <p:sp>
        <p:nvSpPr>
          <p:cNvPr id="74" name="Google Shape;74;p16"/>
          <p:cNvSpPr txBox="1"/>
          <p:nvPr/>
        </p:nvSpPr>
        <p:spPr>
          <a:xfrm>
            <a:off x="325125" y="1017025"/>
            <a:ext cx="4713600" cy="118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rgbClr val="434343"/>
                </a:solidFill>
                <a:latin typeface="Arial"/>
                <a:ea typeface="Arial"/>
                <a:cs typeface="Arial"/>
                <a:sym typeface="Arial"/>
              </a:rPr>
              <a:t>Las llaves delimitan los bloques del programa. </a:t>
            </a:r>
            <a:endParaRPr b="0" i="0" sz="13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rgbClr val="434343"/>
                </a:solidFill>
                <a:latin typeface="Arial"/>
                <a:ea typeface="Arial"/>
                <a:cs typeface="Arial"/>
                <a:sym typeface="Arial"/>
              </a:rPr>
              <a:t>Los métodos deben empezar por una llave abierta { y terminar por una cerrada }  </a:t>
            </a:r>
            <a:endParaRPr b="0" i="0" sz="13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rgbClr val="434343"/>
                </a:solidFill>
                <a:latin typeface="Arial"/>
                <a:ea typeface="Arial"/>
                <a:cs typeface="Arial"/>
                <a:sym typeface="Arial"/>
              </a:rPr>
              <a:t>Toda aplicación debe tener un método main que se declara de la siguiente manera: </a:t>
            </a:r>
            <a:endParaRPr b="0" i="0" sz="1300" u="none" cap="none" strike="noStrike">
              <a:solidFill>
                <a:srgbClr val="434343"/>
              </a:solidFill>
              <a:latin typeface="Arial"/>
              <a:ea typeface="Arial"/>
              <a:cs typeface="Arial"/>
              <a:sym typeface="Arial"/>
            </a:endParaRPr>
          </a:p>
        </p:txBody>
      </p:sp>
      <p:sp>
        <p:nvSpPr>
          <p:cNvPr id="75" name="Google Shape;75;p16"/>
          <p:cNvSpPr txBox="1"/>
          <p:nvPr/>
        </p:nvSpPr>
        <p:spPr>
          <a:xfrm>
            <a:off x="5210125" y="1017025"/>
            <a:ext cx="3618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chemeClr val="dk1"/>
                </a:solidFill>
                <a:latin typeface="Roboto"/>
                <a:ea typeface="Roboto"/>
                <a:cs typeface="Roboto"/>
                <a:sym typeface="Roboto"/>
              </a:rPr>
              <a:t>Toda aplicación debe tener un método main que se declara de la siguiente manera: </a:t>
            </a:r>
            <a:endParaRPr b="0" i="0" sz="1300" u="none" cap="none" strike="noStrike">
              <a:solidFill>
                <a:schemeClr val="dk1"/>
              </a:solidFill>
              <a:latin typeface="Roboto"/>
              <a:ea typeface="Roboto"/>
              <a:cs typeface="Roboto"/>
              <a:sym typeface="Roboto"/>
            </a:endParaRPr>
          </a:p>
        </p:txBody>
      </p:sp>
      <p:pic>
        <p:nvPicPr>
          <p:cNvPr id="76" name="Google Shape;76;p16"/>
          <p:cNvPicPr preferRelativeResize="0"/>
          <p:nvPr/>
        </p:nvPicPr>
        <p:blipFill rotWithShape="1">
          <a:blip r:embed="rId4">
            <a:alphaModFix/>
          </a:blip>
          <a:srcRect b="0" l="0" r="0" t="0"/>
          <a:stretch/>
        </p:blipFill>
        <p:spPr>
          <a:xfrm>
            <a:off x="325125" y="2342975"/>
            <a:ext cx="4713526" cy="2537358"/>
          </a:xfrm>
          <a:prstGeom prst="rect">
            <a:avLst/>
          </a:prstGeom>
          <a:noFill/>
          <a:ln>
            <a:noFill/>
          </a:ln>
        </p:spPr>
      </p:pic>
      <p:pic>
        <p:nvPicPr>
          <p:cNvPr id="77" name="Google Shape;77;p16"/>
          <p:cNvPicPr preferRelativeResize="0"/>
          <p:nvPr/>
        </p:nvPicPr>
        <p:blipFill rotWithShape="1">
          <a:blip r:embed="rId5">
            <a:alphaModFix/>
          </a:blip>
          <a:srcRect b="0" l="0" r="0" t="0"/>
          <a:stretch/>
        </p:blipFill>
        <p:spPr>
          <a:xfrm>
            <a:off x="5210125" y="1658275"/>
            <a:ext cx="3618000" cy="1968298"/>
          </a:xfrm>
          <a:prstGeom prst="rect">
            <a:avLst/>
          </a:prstGeom>
          <a:noFill/>
          <a:ln>
            <a:noFill/>
          </a:ln>
        </p:spPr>
      </p:pic>
      <p:sp>
        <p:nvSpPr>
          <p:cNvPr id="78" name="Google Shape;78;p16"/>
          <p:cNvSpPr txBox="1"/>
          <p:nvPr/>
        </p:nvSpPr>
        <p:spPr>
          <a:xfrm>
            <a:off x="5210125" y="3728675"/>
            <a:ext cx="3618000" cy="1185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s-419" sz="1300" u="none" cap="none" strike="noStrike">
                <a:solidFill>
                  <a:schemeClr val="dk1"/>
                </a:solidFill>
                <a:latin typeface="Roboto"/>
                <a:ea typeface="Roboto"/>
                <a:cs typeface="Roboto"/>
                <a:sym typeface="Roboto"/>
              </a:rPr>
              <a:t>Las llaves marcan el principio y el final del método. Este método solo contiene una declaración o sentencia. En Java toda declaración o sentencia debe acabar con un punto y coma. </a:t>
            </a:r>
            <a:endParaRPr b="0" i="0" sz="1300" u="none" cap="none" strike="noStrike">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