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oboto"/>
      <p:regular r:id="rId14"/>
      <p:bold r:id="rId15"/>
      <p:italic r:id="rId16"/>
      <p:boldItalic r:id="rId17"/>
    </p:embeddedFont>
    <p:embeddedFont>
      <p:font typeface="Montserrat"/>
      <p:regular r:id="rId18"/>
      <p:bold r:id="rId19"/>
      <p:italic r:id="rId20"/>
      <p:boldItalic r:id="rId21"/>
    </p:embeddedFont>
    <p:embeddedFont>
      <p:font typeface="Montserrat Medium"/>
      <p:regular r:id="rId22"/>
      <p:bold r:id="rId23"/>
      <p:italic r:id="rId24"/>
      <p:boldItalic r:id="rId25"/>
    </p:embeddedFont>
    <p:embeddedFont>
      <p:font typeface="Montserrat ExtraBold"/>
      <p:bold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italic.fntdata"/><Relationship Id="rId22" Type="http://schemas.openxmlformats.org/officeDocument/2006/relationships/font" Target="fonts/MontserratMedium-regular.fntdata"/><Relationship Id="rId21" Type="http://schemas.openxmlformats.org/officeDocument/2006/relationships/font" Target="fonts/Montserrat-boldItalic.fntdata"/><Relationship Id="rId24" Type="http://schemas.openxmlformats.org/officeDocument/2006/relationships/font" Target="fonts/MontserratMedium-italic.fntdata"/><Relationship Id="rId23" Type="http://schemas.openxmlformats.org/officeDocument/2006/relationships/font" Target="fonts/MontserratMedium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ExtraBold-bold.fntdata"/><Relationship Id="rId25" Type="http://schemas.openxmlformats.org/officeDocument/2006/relationships/font" Target="fonts/MontserratMedium-boldItalic.fntdata"/><Relationship Id="rId27" Type="http://schemas.openxmlformats.org/officeDocument/2006/relationships/font" Target="fonts/MontserratExtraBol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19" Type="http://schemas.openxmlformats.org/officeDocument/2006/relationships/font" Target="fonts/Montserrat-bold.fntdata"/><Relationship Id="rId18" Type="http://schemas.openxmlformats.org/officeDocument/2006/relationships/font" Target="fonts/Montserra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s-419">
                <a:solidFill>
                  <a:srgbClr val="E122B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Variables y Constantes</a:t>
            </a:r>
            <a:endParaRPr>
              <a:solidFill>
                <a:srgbClr val="E122BB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419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Introducción al Lenguaje Java</a:t>
            </a:r>
            <a:endParaRPr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233425" y="144925"/>
            <a:ext cx="8594700" cy="7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-419" sz="4120">
                <a:solidFill>
                  <a:srgbClr val="E122BB"/>
                </a:solidFill>
                <a:latin typeface="Montserrat"/>
                <a:ea typeface="Montserrat"/>
                <a:cs typeface="Montserrat"/>
                <a:sym typeface="Montserrat"/>
              </a:rPr>
              <a:t>Variables</a:t>
            </a:r>
            <a:endParaRPr b="1" sz="4120">
              <a:solidFill>
                <a:srgbClr val="E122B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575200" y="1050375"/>
            <a:ext cx="8136300" cy="37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419" sz="2000" u="none" cap="none" strike="noStrik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Espacio en la memoria del ordenador, en el que se guarda el valor asignado a dicha variable. </a:t>
            </a:r>
            <a:endParaRPr b="0" i="0" sz="2000" u="none" cap="none" strike="noStrik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419" sz="2000" u="none" cap="none" strike="noStrik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Hay varios tipos de variables que requieren distintas cantidades de memoria para guardar datos.  </a:t>
            </a:r>
            <a:endParaRPr b="0" i="0" sz="2000" u="none" cap="none" strike="noStrik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419" sz="2000" u="none" cap="none" strike="noStrik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Todas las variables han de declararse antes de usarlas, la declaración consiste en una sentencia en la que figura el tipo de dato y el nombre que asignamos a la variable. </a:t>
            </a:r>
            <a:endParaRPr b="0" i="0" sz="2000" u="none" cap="none" strike="noStrik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419" sz="2000" u="none" cap="none" strike="noStrik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Una vez declarada se le podrá asignar valores. </a:t>
            </a:r>
            <a:endParaRPr b="0" i="0" sz="2000" u="none" cap="none" strike="noStrik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233425" y="144925"/>
            <a:ext cx="8594700" cy="7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-419" sz="4120">
                <a:solidFill>
                  <a:srgbClr val="E122BB"/>
                </a:solidFill>
                <a:latin typeface="Montserrat"/>
                <a:ea typeface="Montserrat"/>
                <a:cs typeface="Montserrat"/>
                <a:sym typeface="Montserrat"/>
              </a:rPr>
              <a:t>¿Para qué sirven las variables?</a:t>
            </a:r>
            <a:endParaRPr b="1" sz="4120">
              <a:solidFill>
                <a:srgbClr val="E122B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" name="Google Shape;67;p15"/>
          <p:cNvSpPr txBox="1"/>
          <p:nvPr/>
        </p:nvSpPr>
        <p:spPr>
          <a:xfrm>
            <a:off x="575200" y="1050375"/>
            <a:ext cx="8253000" cy="32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ontserrat Medium"/>
              <a:buChar char="●"/>
            </a:pPr>
            <a:r>
              <a:rPr b="0" i="0" lang="es-419" sz="2000" u="none" cap="none" strike="noStrik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Guardar datos y estados.</a:t>
            </a:r>
            <a:endParaRPr b="0" i="0" sz="2000" u="none" cap="none" strike="noStrik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ontserrat Medium"/>
              <a:buChar char="●"/>
            </a:pPr>
            <a:r>
              <a:rPr b="0" i="0" lang="es-419" sz="2000" u="none" cap="none" strike="noStrik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Asignar valores de una variable a otra.</a:t>
            </a:r>
            <a:endParaRPr b="0" i="0" sz="2000" u="none" cap="none" strike="noStrik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ontserrat Medium"/>
              <a:buChar char="●"/>
            </a:pPr>
            <a:r>
              <a:rPr b="0" i="0" lang="es-419" sz="2000" u="none" cap="none" strike="noStrik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Representar valores dentro de una expresión matemática.</a:t>
            </a:r>
            <a:endParaRPr b="0" i="0" sz="2000" u="none" cap="none" strike="noStrik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ontserrat Medium"/>
              <a:buChar char="●"/>
            </a:pPr>
            <a:r>
              <a:rPr b="0" i="0" lang="es-419" sz="2000" u="none" cap="none" strike="noStrik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Mostrar valores por pantalla.</a:t>
            </a:r>
            <a:endParaRPr b="0" i="0" sz="2000" u="none" cap="none" strike="noStrik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ontserrat Medium"/>
              <a:buChar char="●"/>
            </a:pPr>
            <a:r>
              <a:rPr b="0" i="0" lang="es-419" sz="2000" u="none" cap="none" strike="noStrik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Etc.</a:t>
            </a:r>
            <a:endParaRPr b="0" i="0" sz="2000" u="none" cap="none" strike="noStrik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419" sz="2000" u="none" cap="none" strike="noStrik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Todas las variables deben ser de un tipo de datos (en JAVA), ya sea un dato de tipo primitivo, como un número o texto, o un objeto que se ha creado.</a:t>
            </a:r>
            <a:endParaRPr b="0" i="0" sz="2000" u="none" cap="none" strike="noStrik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233425" y="144925"/>
            <a:ext cx="8594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-419" sz="2920">
                <a:solidFill>
                  <a:srgbClr val="E122BB"/>
                </a:solidFill>
                <a:latin typeface="Montserrat"/>
                <a:ea typeface="Montserrat"/>
                <a:cs typeface="Montserrat"/>
                <a:sym typeface="Montserrat"/>
              </a:rPr>
              <a:t>Variables</a:t>
            </a:r>
            <a:endParaRPr b="1" sz="2920">
              <a:solidFill>
                <a:srgbClr val="E122BB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2920">
              <a:solidFill>
                <a:srgbClr val="E122BB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2920">
              <a:solidFill>
                <a:srgbClr val="E122B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" name="Google Shape;73;p16"/>
          <p:cNvSpPr txBox="1"/>
          <p:nvPr/>
        </p:nvSpPr>
        <p:spPr>
          <a:xfrm>
            <a:off x="342475" y="1008725"/>
            <a:ext cx="84858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-419" sz="2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En Java, todas las variables tienen un tipo. Las variables se declaran en Java poniendo primero el tipo seguido del nombre de la variable:</a:t>
            </a:r>
            <a:endParaRPr b="0" i="0" sz="2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4" name="Google Shape;7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97500" y="2736100"/>
            <a:ext cx="2871350" cy="158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233425" y="144925"/>
            <a:ext cx="8594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-419" sz="2920">
                <a:solidFill>
                  <a:srgbClr val="E122BB"/>
                </a:solidFill>
                <a:latin typeface="Montserrat"/>
                <a:ea typeface="Montserrat"/>
                <a:cs typeface="Montserrat"/>
                <a:sym typeface="Montserrat"/>
              </a:rPr>
              <a:t>Variables</a:t>
            </a:r>
            <a:endParaRPr b="1" sz="2920">
              <a:solidFill>
                <a:srgbClr val="E122BB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2920">
              <a:solidFill>
                <a:srgbClr val="E122BB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2920">
              <a:solidFill>
                <a:srgbClr val="E122B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" name="Google Shape;80;p17"/>
          <p:cNvSpPr txBox="1"/>
          <p:nvPr/>
        </p:nvSpPr>
        <p:spPr>
          <a:xfrm>
            <a:off x="342475" y="1008725"/>
            <a:ext cx="8485800" cy="3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"/>
              <a:buChar char="●"/>
            </a:pPr>
            <a:r>
              <a:rPr b="0" i="0" lang="es-419" sz="2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El punto y coma al final de cada declaración es necesario.  </a:t>
            </a:r>
            <a:endParaRPr b="0" i="0" sz="21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"/>
              <a:buChar char="●"/>
            </a:pPr>
            <a:r>
              <a:rPr b="0" i="0" lang="es-419" sz="2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Los nombres de las variables tienen que empezar por una letra y deben ser una sucesión formada por letras y cifras. </a:t>
            </a:r>
            <a:endParaRPr b="0" i="0" sz="21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"/>
              <a:buChar char="●"/>
            </a:pPr>
            <a:r>
              <a:rPr b="0" i="0" lang="es-419" sz="2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 longitud del nombre de una variable es ilimitada.  </a:t>
            </a:r>
            <a:endParaRPr b="0" i="0" sz="21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"/>
              <a:buChar char="●"/>
            </a:pPr>
            <a:r>
              <a:rPr b="0" i="0" lang="es-419" sz="2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 se pueden utilizar palabras reservadas para nombrar variables.   </a:t>
            </a:r>
            <a:endParaRPr b="0" i="0" sz="21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"/>
              <a:buChar char="●"/>
            </a:pPr>
            <a:r>
              <a:rPr b="0" i="0" lang="es-419" sz="2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 pueden declarar variables en una misma línea:  </a:t>
            </a:r>
            <a:endParaRPr b="0" i="0" sz="21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"/>
              <a:buChar char="●"/>
            </a:pPr>
            <a:r>
              <a:rPr b="0" i="0" lang="es-419" sz="2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Case Sensitive: En los nombres se distingue entre mayúscula y minúscula. </a:t>
            </a:r>
            <a:endParaRPr b="0" i="0" sz="21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"/>
              <a:buChar char="●"/>
            </a:pPr>
            <a:r>
              <a:rPr b="0" i="0" lang="es-419" sz="2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Utiliza el conjunto de caracteres Unicode. ASCII y también otros caracteres. Así, podemos declarar una variable que contenga la letra ñ: int año=1999; </a:t>
            </a:r>
            <a:endParaRPr b="0" i="0" sz="21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233425" y="144925"/>
            <a:ext cx="8594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-419" sz="2920">
                <a:solidFill>
                  <a:srgbClr val="E122BB"/>
                </a:solidFill>
                <a:latin typeface="Montserrat"/>
                <a:ea typeface="Montserrat"/>
                <a:cs typeface="Montserrat"/>
                <a:sym typeface="Montserrat"/>
              </a:rPr>
              <a:t>Iniciación de variables</a:t>
            </a:r>
            <a:endParaRPr b="1" sz="2920">
              <a:solidFill>
                <a:srgbClr val="E122BB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2920">
              <a:solidFill>
                <a:srgbClr val="E122BB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2920">
              <a:solidFill>
                <a:srgbClr val="E122B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" name="Google Shape;86;p18"/>
          <p:cNvSpPr txBox="1"/>
          <p:nvPr/>
        </p:nvSpPr>
        <p:spPr>
          <a:xfrm>
            <a:off x="342475" y="1008725"/>
            <a:ext cx="84273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"/>
              <a:buChar char="●"/>
            </a:pPr>
            <a:r>
              <a:rPr b="0" i="0" lang="es-419" sz="2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Tras declarar una variable, es preciso darle valor inicial mediante una sentencia de asignación.  </a:t>
            </a:r>
            <a:endParaRPr b="0" i="0" sz="21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"/>
              <a:buChar char="●"/>
            </a:pPr>
            <a:r>
              <a:rPr b="0" i="0" lang="es-419" sz="2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 se puede utilizar una variable hasta que no se le haya dado un valor inicial. Esta sentencia daría error: </a:t>
            </a:r>
            <a:endParaRPr b="0" i="0" sz="21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7" name="Google Shape;8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08600" y="2777324"/>
            <a:ext cx="4253075" cy="112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233425" y="144925"/>
            <a:ext cx="8594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-419" sz="2920">
                <a:solidFill>
                  <a:srgbClr val="E122BB"/>
                </a:solidFill>
                <a:latin typeface="Montserrat"/>
                <a:ea typeface="Montserrat"/>
                <a:cs typeface="Montserrat"/>
                <a:sym typeface="Montserrat"/>
              </a:rPr>
              <a:t>Iniciación de variables</a:t>
            </a:r>
            <a:endParaRPr b="1" sz="2920">
              <a:solidFill>
                <a:srgbClr val="E122BB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2920">
              <a:solidFill>
                <a:srgbClr val="E122BB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2920">
              <a:solidFill>
                <a:srgbClr val="E122B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" name="Google Shape;93;p19"/>
          <p:cNvSpPr txBox="1"/>
          <p:nvPr/>
        </p:nvSpPr>
        <p:spPr>
          <a:xfrm>
            <a:off x="342475" y="1008725"/>
            <a:ext cx="8427300" cy="35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b="0" i="0" lang="es-419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Para asignar valor a una variable declarada previamente, se pone el nombre de la variable a la </a:t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b="0" i="0" lang="es-419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izquierda, después un signo = y a continuación alguna expresión de Java que tenga el valor </a:t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b="0" i="0" lang="es-419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adecuado a su derecha. int diasdevacaciones; </a:t>
            </a:r>
            <a:r>
              <a:rPr b="1" i="0" lang="es-419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diasdevacaciones=14</a:t>
            </a:r>
            <a:r>
              <a:rPr b="0" i="0" lang="es-419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;  </a:t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b="0" i="0" lang="es-419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 puede declarar y dar valor inicial en la misma línea. Por ejemplo: int diasdevacaciones=14;  </a:t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b="0" i="0" lang="es-419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En Java se pueden poner declaraciones en cualquier lugar del código.  </a:t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b="0" i="0" lang="es-419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Es aconsejable declarar variables tan cerca de donde se van a utilizar como sea posible. </a:t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233425" y="144925"/>
            <a:ext cx="8594700" cy="7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-419" sz="4120">
                <a:solidFill>
                  <a:srgbClr val="E122BB"/>
                </a:solidFill>
                <a:latin typeface="Montserrat"/>
                <a:ea typeface="Montserrat"/>
                <a:cs typeface="Montserrat"/>
                <a:sym typeface="Montserrat"/>
              </a:rPr>
              <a:t>Constantes</a:t>
            </a:r>
            <a:endParaRPr b="1" sz="4120">
              <a:solidFill>
                <a:srgbClr val="E122B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" name="Google Shape;99;p20"/>
          <p:cNvSpPr txBox="1"/>
          <p:nvPr/>
        </p:nvSpPr>
        <p:spPr>
          <a:xfrm>
            <a:off x="575200" y="1050375"/>
            <a:ext cx="8136300" cy="18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419" sz="2000" u="none" cap="none" strike="noStrik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Una constante es un espacio en la memoria del ordenador donde se almacenará un valor que no podrá cambiar durante la ejecución de un programa.</a:t>
            </a:r>
            <a:endParaRPr b="0" i="0" sz="2000" u="none" cap="none" strike="noStrik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419" sz="2000" u="none" cap="none" strike="noStrik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En Java para denotar una constante se emplea la palabra reservada final. </a:t>
            </a:r>
            <a:endParaRPr b="0" i="0" sz="2000" u="none" cap="none" strike="noStrik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00" name="Google Shape;10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57975" y="3124000"/>
            <a:ext cx="3970750" cy="142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