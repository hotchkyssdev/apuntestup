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5143500" cx="9144000"/>
  <p:notesSz cx="6858000" cy="9144000"/>
  <p:embeddedFontLst>
    <p:embeddedFont>
      <p:font typeface="Montserrat"/>
      <p:regular r:id="rId32"/>
      <p:bold r:id="rId33"/>
      <p:italic r:id="rId34"/>
      <p:boldItalic r:id="rId35"/>
    </p:embeddedFont>
    <p:embeddedFont>
      <p:font typeface="Montserrat Medium"/>
      <p:regular r:id="rId36"/>
      <p:bold r:id="rId37"/>
      <p:italic r:id="rId38"/>
      <p:boldItalic r:id="rId39"/>
    </p:embeddedFont>
    <p:embeddedFont>
      <p:font typeface="Montserrat ExtraBold"/>
      <p:bold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ExtraBold-bold.fntdata"/><Relationship Id="rId20" Type="http://schemas.openxmlformats.org/officeDocument/2006/relationships/slide" Target="slides/slide16.xml"/><Relationship Id="rId41" Type="http://schemas.openxmlformats.org/officeDocument/2006/relationships/font" Target="fonts/MontserratExtraBold-bold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Montserrat-bold.fntdata"/><Relationship Id="rId10" Type="http://schemas.openxmlformats.org/officeDocument/2006/relationships/slide" Target="slides/slide6.xml"/><Relationship Id="rId32" Type="http://schemas.openxmlformats.org/officeDocument/2006/relationships/font" Target="fonts/Montserrat-regular.fntdata"/><Relationship Id="rId13" Type="http://schemas.openxmlformats.org/officeDocument/2006/relationships/slide" Target="slides/slide9.xml"/><Relationship Id="rId35" Type="http://schemas.openxmlformats.org/officeDocument/2006/relationships/font" Target="fonts/Montserrat-boldItalic.fntdata"/><Relationship Id="rId12" Type="http://schemas.openxmlformats.org/officeDocument/2006/relationships/slide" Target="slides/slide8.xml"/><Relationship Id="rId34" Type="http://schemas.openxmlformats.org/officeDocument/2006/relationships/font" Target="fonts/Montserrat-italic.fntdata"/><Relationship Id="rId15" Type="http://schemas.openxmlformats.org/officeDocument/2006/relationships/slide" Target="slides/slide11.xml"/><Relationship Id="rId37" Type="http://schemas.openxmlformats.org/officeDocument/2006/relationships/font" Target="fonts/MontserratMedium-bold.fntdata"/><Relationship Id="rId14" Type="http://schemas.openxmlformats.org/officeDocument/2006/relationships/slide" Target="slides/slide10.xml"/><Relationship Id="rId36" Type="http://schemas.openxmlformats.org/officeDocument/2006/relationships/font" Target="fonts/MontserratMedium-regular.fntdata"/><Relationship Id="rId17" Type="http://schemas.openxmlformats.org/officeDocument/2006/relationships/slide" Target="slides/slide13.xml"/><Relationship Id="rId39" Type="http://schemas.openxmlformats.org/officeDocument/2006/relationships/font" Target="fonts/MontserratMedium-boldItalic.fntdata"/><Relationship Id="rId16" Type="http://schemas.openxmlformats.org/officeDocument/2006/relationships/slide" Target="slides/slide12.xml"/><Relationship Id="rId38" Type="http://schemas.openxmlformats.org/officeDocument/2006/relationships/font" Target="fonts/MontserratMedium-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41321d3c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3641321d3ce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41321d3ce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641321d3ce_2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41321d3ce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641321d3ce_2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41321d3ce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641321d3ce_2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641321d3ce_2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641321d3ce_2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641321d3ce_2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641321d3ce_2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41321d3ce_2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641321d3ce_2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641321d3ce_2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641321d3ce_2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641321d3ce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641321d3ce_2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641321d3ce_2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641321d3ce_2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641321d3ce_2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641321d3ce_2_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641321d3ce_2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641321d3ce_2_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641321d3ce_2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641321d3ce_2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641321d3ce_2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641321d3ce_2_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641321d3ce_2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641321d3ce_2_1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641321d3ce_2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641321d3ce_2_1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41321d3ce_2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641321d3ce_2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641321d3ce_2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641321d3ce_2_1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641321d3ce_2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641321d3ce_2_1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641321d3ce_2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641321d3ce_2_1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641321d3ce_2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641321d3ce_2_1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641321d3ce_2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641321d3ce_2_1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/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Google Shape;9;p2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" name="Google Shape;12;p3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_NUMBER" type="blank">
  <p:cSld name="BLANK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hasCustomPrompt="1"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>
            <a:r>
              <a:t>xx%</a:t>
            </a:r>
          </a:p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secHead">
  <p:cSld name="SECTION_HEADER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TWO_COLUMNS" type="twoObj">
  <p:cSld name="TWO_OBJECTS"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" name="Google Shape;26;p7"/>
          <p:cNvSpPr txBox="1"/>
          <p:nvPr>
            <p:ph idx="2"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0" name="Google Shape;30;p8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_COLUMN_TEXT">
  <p:cSld name="ONE_COLUMN_TEXT"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3" name="Google Shape;33;p9"/>
          <p:cNvSpPr txBox="1"/>
          <p:nvPr>
            <p:ph idx="1"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4" name="Google Shape;34;p9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_POINT">
  <p:cSld name="MAIN_POINT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/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7" name="Google Shape;37;p10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">
  <p:cSld name="SECTION_TITLE_AND_DESCRIPTION">
    <p:bg>
      <p:bgPr>
        <a:solidFill>
          <a:schemeClr val="l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1"/>
          <p:cNvSpPr txBox="1"/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1" name="Google Shape;41;p11"/>
          <p:cNvSpPr txBox="1"/>
          <p:nvPr>
            <p:ph idx="1"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2" name="Google Shape;42;p11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_ONLY">
  <p:cSld name="CAPTION_ONLY">
    <p:bg>
      <p:bgPr>
        <a:solidFill>
          <a:schemeClr val="lt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"/>
          <p:cNvSpPr txBox="1"/>
          <p:nvPr>
            <p:ph idx="1"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</a:lstStyle>
          <a:p/>
        </p:txBody>
      </p:sp>
      <p:sp>
        <p:nvSpPr>
          <p:cNvPr id="45" name="Google Shape;45;p12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sz="1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311760" y="114300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2500" lnSpcReduction="19999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22BB"/>
              </a:buClr>
              <a:buSzPct val="100000"/>
              <a:buFont typeface="Montserrat ExtraBold"/>
              <a:buNone/>
            </a:pPr>
            <a:r>
              <a:rPr b="0" lang="es-419" sz="5200" u="none" strike="noStrike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Introducción a la</a:t>
            </a:r>
            <a:endParaRPr b="0" sz="5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22BB"/>
              </a:buClr>
              <a:buSzPct val="100000"/>
              <a:buFont typeface="Montserrat ExtraBold"/>
              <a:buNone/>
            </a:pPr>
            <a:r>
              <a:rPr b="0" lang="es-419" sz="5200" u="none" strike="noStrike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Programación Orientada</a:t>
            </a:r>
            <a:endParaRPr b="0" sz="5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22BB"/>
              </a:buClr>
              <a:buSzPct val="100000"/>
              <a:buFont typeface="Montserrat ExtraBold"/>
              <a:buNone/>
            </a:pPr>
            <a:r>
              <a:rPr b="0" lang="es-419" sz="5200" u="none" strike="noStrike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 Objetos (POO)</a:t>
            </a:r>
            <a:endParaRPr b="0" sz="5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311760" y="275040"/>
            <a:ext cx="8520120" cy="7167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2500" lnSpcReduction="19999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22BB"/>
              </a:buClr>
              <a:buSzPct val="100000"/>
              <a:buFont typeface="Montserrat ExtraBold"/>
              <a:buNone/>
            </a:pPr>
            <a:r>
              <a:rPr b="0" lang="es-419" sz="4180" u="none" strike="noStrike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POO</a:t>
            </a:r>
            <a:endParaRPr b="0" sz="418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4"/>
          <p:cNvSpPr/>
          <p:nvPr/>
        </p:nvSpPr>
        <p:spPr>
          <a:xfrm>
            <a:off x="245160" y="1181160"/>
            <a:ext cx="8670240" cy="1402200"/>
          </a:xfrm>
          <a:prstGeom prst="rect">
            <a:avLst/>
          </a:prstGeom>
          <a:noFill/>
          <a:ln>
            <a:noFill/>
          </a:ln>
        </p:spPr>
        <p:txBody>
          <a:bodyPr anchorCtr="1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 un paradigma de programación que utiliza "objetos" para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diseñar aplicaciones y programas. Un objeto es una instancia de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una clase, que es una plantilla o blueprint que define las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propiedades y comportamientos (métodos) comunes.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233280" y="145080"/>
            <a:ext cx="859428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22BB"/>
              </a:buClr>
              <a:buSzPts val="2920"/>
              <a:buFont typeface="Montserrat"/>
              <a:buNone/>
            </a:pPr>
            <a:r>
              <a:rPr b="1" lang="es-419" sz="2920" u="none" strike="noStrike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Programación Estructurada VS POO</a:t>
            </a:r>
            <a:endParaRPr b="0" sz="292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325080" y="1110600"/>
            <a:ext cx="401832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Programación Estructurada: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Se basa en una secuencia de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procedimientos o funciones.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El enfoque está en las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funciones y la lógica.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Los datos y las funciones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están separados.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• Ejemplo: C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4572000" y="1142640"/>
            <a:ext cx="4114800" cy="3200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Programación Orientada a Objetos:</a:t>
            </a:r>
            <a:endParaRPr b="0" sz="1800" u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1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0" lang="es-419" sz="1800" u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 basa en objetos que contienen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18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datos y métodos.</a:t>
            </a:r>
            <a:endParaRPr b="0" sz="1800" u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1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0" lang="es-419" sz="1800" u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El enfoque está en los objetos y la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18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interacción entre ellos.</a:t>
            </a:r>
            <a:endParaRPr b="0" sz="1800" u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1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0" lang="es-419" sz="1800" u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Los datos y los métodos que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18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operan sobre esos datos están</a:t>
            </a:r>
            <a:endParaRPr b="0" sz="1800" u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18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encapsulados juntos.</a:t>
            </a:r>
            <a:endParaRPr b="0" sz="1800" u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1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0" lang="es-419" sz="1800" u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Ejemplo: Java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title"/>
          </p:nvPr>
        </p:nvSpPr>
        <p:spPr>
          <a:xfrm>
            <a:off x="233280" y="145080"/>
            <a:ext cx="859428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22BB"/>
              </a:buClr>
              <a:buSzPts val="2920"/>
              <a:buFont typeface="Montserrat"/>
              <a:buNone/>
            </a:pPr>
            <a:r>
              <a:rPr b="1" lang="es-419" sz="2920" u="none" strike="noStrike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Beneficios de la Aplicación de la POO</a:t>
            </a:r>
            <a:endParaRPr b="0" sz="292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3296880" y="1143360"/>
            <a:ext cx="4932720" cy="3200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 u="none" strike="noStrike">
                <a:solidFill>
                  <a:srgbClr val="FF00DD"/>
                </a:solidFill>
                <a:latin typeface="Arial"/>
                <a:ea typeface="Arial"/>
                <a:cs typeface="Arial"/>
                <a:sym typeface="Arial"/>
              </a:rPr>
              <a:t>Reusabilidad:</a:t>
            </a:r>
            <a:r>
              <a:rPr b="0" lang="es-419" sz="18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Se pueden reutilizar clases y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18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objetos en diferentes programas.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 u="none" strike="noStrike">
                <a:solidFill>
                  <a:srgbClr val="FF00DD"/>
                </a:solidFill>
                <a:latin typeface="Arial"/>
                <a:ea typeface="Arial"/>
                <a:cs typeface="Arial"/>
                <a:sym typeface="Arial"/>
              </a:rPr>
              <a:t>Mantenibilidad</a:t>
            </a:r>
            <a:r>
              <a:rPr b="0" lang="es-419" sz="18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: El código es más fácil de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18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mantener y actualizar.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 u="none" strike="noStrike">
                <a:solidFill>
                  <a:srgbClr val="FF00DD"/>
                </a:solidFill>
                <a:latin typeface="Arial"/>
                <a:ea typeface="Arial"/>
                <a:cs typeface="Arial"/>
                <a:sym typeface="Arial"/>
              </a:rPr>
              <a:t>Modularidad</a:t>
            </a:r>
            <a:r>
              <a:rPr b="0" lang="es-419" sz="18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: El código está organizado en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18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módulos (clases) independientes.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 u="none" strike="noStrike">
                <a:solidFill>
                  <a:srgbClr val="FF00DD"/>
                </a:solidFill>
                <a:latin typeface="Arial"/>
                <a:ea typeface="Arial"/>
                <a:cs typeface="Arial"/>
                <a:sym typeface="Arial"/>
              </a:rPr>
              <a:t>Escalabilidad</a:t>
            </a:r>
            <a:r>
              <a:rPr b="0" lang="es-419" sz="18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: Facilita la ampliación y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s-419" sz="1800" u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modificación de aplicaciones grandes.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311760" y="1143000"/>
            <a:ext cx="8520000" cy="205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22BB"/>
              </a:buClr>
              <a:buSzPct val="100000"/>
              <a:buFont typeface="Montserrat ExtraBold"/>
              <a:buNone/>
            </a:pPr>
            <a:r>
              <a:rPr lang="es-419" sz="520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Principios de la</a:t>
            </a:r>
            <a:endParaRPr sz="5200">
              <a:solidFill>
                <a:srgbClr val="E122B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22BB"/>
              </a:buClr>
              <a:buSzPct val="100000"/>
              <a:buFont typeface="Montserrat ExtraBold"/>
              <a:buNone/>
            </a:pPr>
            <a:r>
              <a:rPr lang="es-419" sz="520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Programación Orientada</a:t>
            </a:r>
            <a:endParaRPr sz="5200">
              <a:solidFill>
                <a:srgbClr val="E122B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22BB"/>
              </a:buClr>
              <a:buSzPct val="100000"/>
              <a:buFont typeface="Montserrat ExtraBold"/>
              <a:buNone/>
            </a:pPr>
            <a:r>
              <a:rPr lang="es-419" sz="520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 Objetos</a:t>
            </a:r>
            <a:endParaRPr sz="5200">
              <a:solidFill>
                <a:srgbClr val="E122B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33280" y="145080"/>
            <a:ext cx="859428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22BB"/>
              </a:buClr>
              <a:buSzPts val="2920"/>
              <a:buFont typeface="Montserrat"/>
              <a:buNone/>
            </a:pPr>
            <a:r>
              <a:rPr b="1" lang="es-419" sz="292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Abstracción</a:t>
            </a:r>
            <a:endParaRPr b="0" sz="292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8"/>
          <p:cNvSpPr/>
          <p:nvPr/>
        </p:nvSpPr>
        <p:spPr>
          <a:xfrm>
            <a:off x="325074" y="1110600"/>
            <a:ext cx="3984600" cy="26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434343"/>
                </a:solidFill>
              </a:rPr>
              <a:t>Ocultar los detalles complejos</a:t>
            </a:r>
            <a:endParaRPr sz="18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434343"/>
                </a:solidFill>
              </a:rPr>
              <a:t>mostrando solo la información</a:t>
            </a:r>
            <a:endParaRPr sz="18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434343"/>
                </a:solidFill>
              </a:rPr>
              <a:t>esencial.</a:t>
            </a:r>
            <a:endParaRPr sz="18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type="title"/>
          </p:nvPr>
        </p:nvSpPr>
        <p:spPr>
          <a:xfrm>
            <a:off x="233280" y="145080"/>
            <a:ext cx="8594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22BB"/>
              </a:buClr>
              <a:buSzPts val="2920"/>
              <a:buFont typeface="Montserrat"/>
              <a:buNone/>
            </a:pPr>
            <a:r>
              <a:rPr b="1" lang="es-419" sz="292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Encapsulamiento</a:t>
            </a:r>
            <a:endParaRPr b="0" sz="292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9"/>
          <p:cNvSpPr/>
          <p:nvPr/>
        </p:nvSpPr>
        <p:spPr>
          <a:xfrm>
            <a:off x="325075" y="1110600"/>
            <a:ext cx="3984600" cy="36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434343"/>
                </a:solidFill>
              </a:rPr>
              <a:t>El encapsulamiento en Java es el</a:t>
            </a:r>
            <a:endParaRPr sz="18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434343"/>
                </a:solidFill>
              </a:rPr>
              <a:t>concepto de ocultar los detalles</a:t>
            </a:r>
            <a:endParaRPr sz="18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434343"/>
                </a:solidFill>
              </a:rPr>
              <a:t>internos de una clase y proporcionar</a:t>
            </a:r>
            <a:endParaRPr sz="18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434343"/>
                </a:solidFill>
              </a:rPr>
              <a:t>una interfaz pública para interactuar</a:t>
            </a:r>
            <a:endParaRPr sz="18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434343"/>
                </a:solidFill>
              </a:rPr>
              <a:t>con la clase. Esto se logra mediante</a:t>
            </a:r>
            <a:endParaRPr sz="18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434343"/>
                </a:solidFill>
              </a:rPr>
              <a:t>el uso de modificadores de acceso</a:t>
            </a:r>
            <a:endParaRPr sz="18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434343"/>
                </a:solidFill>
              </a:rPr>
              <a:t>como private, public y protected, así</a:t>
            </a:r>
            <a:endParaRPr sz="18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434343"/>
                </a:solidFill>
              </a:rPr>
              <a:t>como mediante el uso de métodos</a:t>
            </a:r>
            <a:endParaRPr sz="18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434343"/>
                </a:solidFill>
              </a:rPr>
              <a:t>de acceso (getters) y métodos de</a:t>
            </a:r>
            <a:endParaRPr sz="18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434343"/>
                </a:solidFill>
              </a:rPr>
              <a:t>modificación (setters) para acceder</a:t>
            </a:r>
            <a:endParaRPr sz="18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434343"/>
                </a:solidFill>
              </a:rPr>
              <a:t>a los datos de la clase.</a:t>
            </a:r>
            <a:endParaRPr sz="1800">
              <a:solidFill>
                <a:srgbClr val="434343"/>
              </a:solidFill>
            </a:endParaRPr>
          </a:p>
        </p:txBody>
      </p:sp>
      <p:pic>
        <p:nvPicPr>
          <p:cNvPr id="87" name="Google Shape;8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0780" y="1051500"/>
            <a:ext cx="3735196" cy="3868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>
            <p:ph type="title"/>
          </p:nvPr>
        </p:nvSpPr>
        <p:spPr>
          <a:xfrm>
            <a:off x="233280" y="145080"/>
            <a:ext cx="8594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22BB"/>
              </a:buClr>
              <a:buSzPts val="2920"/>
              <a:buFont typeface="Montserrat"/>
              <a:buNone/>
            </a:pPr>
            <a:r>
              <a:rPr b="1" lang="es-419" sz="292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Encapsulamiento</a:t>
            </a:r>
            <a:endParaRPr b="0" sz="292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800" y="770805"/>
            <a:ext cx="7183315" cy="4121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 txBox="1"/>
          <p:nvPr>
            <p:ph type="title"/>
          </p:nvPr>
        </p:nvSpPr>
        <p:spPr>
          <a:xfrm>
            <a:off x="233280" y="145080"/>
            <a:ext cx="8594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22BB"/>
              </a:buClr>
              <a:buSzPts val="2920"/>
              <a:buFont typeface="Montserrat"/>
              <a:buNone/>
            </a:pPr>
            <a:r>
              <a:rPr b="1" lang="es-419" sz="292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Herencia</a:t>
            </a:r>
            <a:endParaRPr b="0" sz="292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1"/>
          <p:cNvSpPr/>
          <p:nvPr/>
        </p:nvSpPr>
        <p:spPr>
          <a:xfrm>
            <a:off x="325075" y="1110600"/>
            <a:ext cx="3984600" cy="36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434343"/>
                </a:solidFill>
              </a:rPr>
              <a:t>Permite crear nuevas clases</a:t>
            </a:r>
            <a:endParaRPr sz="18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434343"/>
                </a:solidFill>
              </a:rPr>
              <a:t>basadas en clases existentes. La</a:t>
            </a:r>
            <a:endParaRPr sz="18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434343"/>
                </a:solidFill>
              </a:rPr>
              <a:t>clase nueva, llamada subclase o</a:t>
            </a:r>
            <a:endParaRPr sz="18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434343"/>
                </a:solidFill>
              </a:rPr>
              <a:t>clase derivada, hereda los</a:t>
            </a:r>
            <a:endParaRPr sz="18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434343"/>
                </a:solidFill>
              </a:rPr>
              <a:t>atributos y métodos de la clase</a:t>
            </a:r>
            <a:endParaRPr sz="18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434343"/>
                </a:solidFill>
              </a:rPr>
              <a:t>existente, llamada superclase o</a:t>
            </a:r>
            <a:endParaRPr sz="18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434343"/>
                </a:solidFill>
              </a:rPr>
              <a:t>clase base. Esto facilita la</a:t>
            </a:r>
            <a:endParaRPr sz="18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434343"/>
                </a:solidFill>
              </a:rPr>
              <a:t>reutilización del código y</a:t>
            </a:r>
            <a:endParaRPr sz="18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434343"/>
                </a:solidFill>
              </a:rPr>
              <a:t>establece una relación "es-un"</a:t>
            </a:r>
            <a:endParaRPr sz="18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434343"/>
                </a:solidFill>
              </a:rPr>
              <a:t>entre las clases.</a:t>
            </a:r>
            <a:endParaRPr sz="1800">
              <a:solidFill>
                <a:srgbClr val="434343"/>
              </a:solidFill>
            </a:endParaRPr>
          </a:p>
        </p:txBody>
      </p:sp>
      <p:pic>
        <p:nvPicPr>
          <p:cNvPr id="100" name="Google Shape;10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9675" y="1036305"/>
            <a:ext cx="4529524" cy="2268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>
            <p:ph type="title"/>
          </p:nvPr>
        </p:nvSpPr>
        <p:spPr>
          <a:xfrm>
            <a:off x="233280" y="145080"/>
            <a:ext cx="8594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22BB"/>
              </a:buClr>
              <a:buSzPts val="2920"/>
              <a:buFont typeface="Montserrat"/>
              <a:buNone/>
            </a:pPr>
            <a:r>
              <a:rPr b="1" lang="es-419" sz="292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Herencia</a:t>
            </a:r>
            <a:endParaRPr b="0" sz="292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275" y="795580"/>
            <a:ext cx="7228434" cy="41212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 txBox="1"/>
          <p:nvPr>
            <p:ph type="title"/>
          </p:nvPr>
        </p:nvSpPr>
        <p:spPr>
          <a:xfrm>
            <a:off x="233280" y="145080"/>
            <a:ext cx="8594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22BB"/>
              </a:buClr>
              <a:buSzPts val="2920"/>
              <a:buFont typeface="Montserrat"/>
              <a:buNone/>
            </a:pPr>
            <a:r>
              <a:rPr b="1" lang="es-419" sz="292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Herencia</a:t>
            </a:r>
            <a:endParaRPr b="0" sz="292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250" y="820330"/>
            <a:ext cx="7228434" cy="41212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type="title"/>
          </p:nvPr>
        </p:nvSpPr>
        <p:spPr>
          <a:xfrm>
            <a:off x="233280" y="145080"/>
            <a:ext cx="8594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22BB"/>
              </a:buClr>
              <a:buSzPts val="2920"/>
              <a:buFont typeface="Montserrat"/>
              <a:buNone/>
            </a:pPr>
            <a:r>
              <a:rPr b="1" lang="es-419" sz="292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Herencia</a:t>
            </a:r>
            <a:endParaRPr b="0" sz="292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025" y="803830"/>
            <a:ext cx="7228434" cy="41212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5"/>
          <p:cNvSpPr txBox="1"/>
          <p:nvPr>
            <p:ph type="title"/>
          </p:nvPr>
        </p:nvSpPr>
        <p:spPr>
          <a:xfrm>
            <a:off x="233280" y="145080"/>
            <a:ext cx="8594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22BB"/>
              </a:buClr>
              <a:buSzPts val="2920"/>
              <a:buFont typeface="Montserrat"/>
              <a:buNone/>
            </a:pPr>
            <a:r>
              <a:rPr b="1" lang="es-419" sz="292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Herencia</a:t>
            </a:r>
            <a:endParaRPr b="0" sz="292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275" y="717480"/>
            <a:ext cx="7228434" cy="41212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 txBox="1"/>
          <p:nvPr>
            <p:ph type="title"/>
          </p:nvPr>
        </p:nvSpPr>
        <p:spPr>
          <a:xfrm>
            <a:off x="233280" y="145080"/>
            <a:ext cx="8594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22BB"/>
              </a:buClr>
              <a:buSzPts val="2920"/>
              <a:buFont typeface="Montserrat"/>
              <a:buNone/>
            </a:pPr>
            <a:r>
              <a:rPr b="1" lang="es-419" sz="292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Polimorfismo</a:t>
            </a:r>
            <a:endParaRPr b="0" sz="292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6"/>
          <p:cNvSpPr/>
          <p:nvPr/>
        </p:nvSpPr>
        <p:spPr>
          <a:xfrm>
            <a:off x="325075" y="1110600"/>
            <a:ext cx="3984600" cy="36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434343"/>
                </a:solidFill>
              </a:rPr>
              <a:t>Capacidad de objetos de</a:t>
            </a:r>
            <a:endParaRPr sz="18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434343"/>
                </a:solidFill>
              </a:rPr>
              <a:t>diferentes clases de responder al</a:t>
            </a:r>
            <a:endParaRPr sz="18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434343"/>
                </a:solidFill>
              </a:rPr>
              <a:t>mismo mensaje o llamada a un</a:t>
            </a:r>
            <a:endParaRPr sz="18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434343"/>
                </a:solidFill>
              </a:rPr>
              <a:t>método de manera distinta,</a:t>
            </a:r>
            <a:endParaRPr sz="18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434343"/>
                </a:solidFill>
              </a:rPr>
              <a:t>según la implementación</a:t>
            </a:r>
            <a:endParaRPr sz="18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434343"/>
                </a:solidFill>
              </a:rPr>
              <a:t>específica de cada clase. En otras</a:t>
            </a:r>
            <a:endParaRPr sz="18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434343"/>
                </a:solidFill>
              </a:rPr>
              <a:t>palabras, el polimorfismo permite</a:t>
            </a:r>
            <a:endParaRPr sz="18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434343"/>
                </a:solidFill>
              </a:rPr>
              <a:t>que un objeto pueda comportarse</a:t>
            </a:r>
            <a:endParaRPr sz="18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434343"/>
                </a:solidFill>
              </a:rPr>
              <a:t>de múltiples formas.</a:t>
            </a:r>
            <a:endParaRPr sz="1800">
              <a:solidFill>
                <a:srgbClr val="434343"/>
              </a:solidFill>
            </a:endParaRPr>
          </a:p>
        </p:txBody>
      </p:sp>
      <p:pic>
        <p:nvPicPr>
          <p:cNvPr id="131" name="Google Shape;13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7425" y="993730"/>
            <a:ext cx="4529523" cy="2524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/>
          <p:nvPr>
            <p:ph type="title"/>
          </p:nvPr>
        </p:nvSpPr>
        <p:spPr>
          <a:xfrm>
            <a:off x="233280" y="145080"/>
            <a:ext cx="8594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22BB"/>
              </a:buClr>
              <a:buSzPts val="2920"/>
              <a:buFont typeface="Montserrat"/>
              <a:buNone/>
            </a:pPr>
            <a:r>
              <a:rPr b="1" lang="es-419" sz="292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Polimorfismo</a:t>
            </a:r>
            <a:endParaRPr b="0" sz="292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775" y="787330"/>
            <a:ext cx="7188675" cy="4121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/>
          <p:nvPr>
            <p:ph type="title"/>
          </p:nvPr>
        </p:nvSpPr>
        <p:spPr>
          <a:xfrm>
            <a:off x="394331" y="1926250"/>
            <a:ext cx="33621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22BB"/>
              </a:buClr>
              <a:buSzPct val="100000"/>
              <a:buFont typeface="Montserrat ExtraBold"/>
              <a:buNone/>
            </a:pPr>
            <a:r>
              <a:rPr lang="es-419" sz="418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Clases</a:t>
            </a:r>
            <a:endParaRPr b="0" sz="418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8"/>
          <p:cNvSpPr/>
          <p:nvPr/>
        </p:nvSpPr>
        <p:spPr>
          <a:xfrm>
            <a:off x="3954625" y="1122825"/>
            <a:ext cx="4960800" cy="2493300"/>
          </a:xfrm>
          <a:prstGeom prst="rect">
            <a:avLst/>
          </a:prstGeom>
          <a:noFill/>
          <a:ln>
            <a:noFill/>
          </a:ln>
        </p:spPr>
        <p:txBody>
          <a:bodyPr anchorCtr="1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Es un molde para crear objetos. Define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un tipo de objeto según sus atributos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(datos) y métodos (funciones).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Es un modelo que especifica qué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atributos y métodos tendrán los objetos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creados a partir de esa clase.</a:t>
            </a:r>
            <a:endParaRPr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 txBox="1"/>
          <p:nvPr>
            <p:ph type="title"/>
          </p:nvPr>
        </p:nvSpPr>
        <p:spPr>
          <a:xfrm>
            <a:off x="286991" y="282275"/>
            <a:ext cx="83652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22BB"/>
              </a:buClr>
              <a:buSzPct val="100000"/>
              <a:buFont typeface="Montserrat ExtraBold"/>
              <a:buNone/>
            </a:pPr>
            <a:r>
              <a:rPr lang="es-419" sz="418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Clases</a:t>
            </a:r>
            <a:endParaRPr b="0" sz="418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900" y="1118350"/>
            <a:ext cx="6697662" cy="3839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/>
          <p:nvPr>
            <p:ph type="title"/>
          </p:nvPr>
        </p:nvSpPr>
        <p:spPr>
          <a:xfrm>
            <a:off x="410831" y="1579500"/>
            <a:ext cx="33621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22BB"/>
              </a:buClr>
              <a:buSzPct val="100000"/>
              <a:buFont typeface="Montserrat ExtraBold"/>
              <a:buNone/>
            </a:pPr>
            <a:r>
              <a:rPr lang="es-419" sz="418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Objeto</a:t>
            </a:r>
            <a:endParaRPr b="0" sz="418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0"/>
          <p:cNvSpPr/>
          <p:nvPr/>
        </p:nvSpPr>
        <p:spPr>
          <a:xfrm>
            <a:off x="3987650" y="495350"/>
            <a:ext cx="4960800" cy="3145500"/>
          </a:xfrm>
          <a:prstGeom prst="rect">
            <a:avLst/>
          </a:prstGeom>
          <a:noFill/>
          <a:ln>
            <a:noFill/>
          </a:ln>
        </p:spPr>
        <p:txBody>
          <a:bodyPr anchorCtr="1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Es una instancia de una clase.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Es una entidad concreta que tiene un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estado y un comportamiento definido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por la clase a partir de la cual se creó.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Cada objeto tiene su propio conjunto de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valores para los atributos definidos en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su clase.</a:t>
            </a:r>
            <a:endParaRPr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1"/>
          <p:cNvSpPr txBox="1"/>
          <p:nvPr>
            <p:ph type="title"/>
          </p:nvPr>
        </p:nvSpPr>
        <p:spPr>
          <a:xfrm>
            <a:off x="286991" y="282275"/>
            <a:ext cx="83652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22BB"/>
              </a:buClr>
              <a:buSzPct val="100000"/>
              <a:buFont typeface="Montserrat ExtraBold"/>
              <a:buNone/>
            </a:pPr>
            <a:r>
              <a:rPr lang="es-419" sz="418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Objeto</a:t>
            </a:r>
            <a:endParaRPr b="0" sz="418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200" y="1077075"/>
            <a:ext cx="6697662" cy="3839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2"/>
          <p:cNvSpPr txBox="1"/>
          <p:nvPr>
            <p:ph type="title"/>
          </p:nvPr>
        </p:nvSpPr>
        <p:spPr>
          <a:xfrm>
            <a:off x="344775" y="1117150"/>
            <a:ext cx="3362100" cy="238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22BB"/>
              </a:buClr>
              <a:buSzPts val="4180"/>
              <a:buFont typeface="Montserrat ExtraBold"/>
              <a:buNone/>
            </a:pPr>
            <a:r>
              <a:rPr lang="es-419" sz="300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Diferencias entre</a:t>
            </a:r>
            <a:endParaRPr sz="3000">
              <a:solidFill>
                <a:srgbClr val="E122B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22BB"/>
              </a:buClr>
              <a:buSzPts val="4180"/>
              <a:buFont typeface="Montserrat ExtraBold"/>
              <a:buNone/>
            </a:pPr>
            <a:r>
              <a:rPr lang="es-419" sz="300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Clases y Objetos</a:t>
            </a:r>
            <a:endParaRPr sz="3000">
              <a:solidFill>
                <a:srgbClr val="E122B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67" name="Google Shape;167;p32"/>
          <p:cNvSpPr/>
          <p:nvPr/>
        </p:nvSpPr>
        <p:spPr>
          <a:xfrm>
            <a:off x="3987650" y="1213625"/>
            <a:ext cx="4960800" cy="2427300"/>
          </a:xfrm>
          <a:prstGeom prst="rect">
            <a:avLst/>
          </a:prstGeom>
          <a:noFill/>
          <a:ln>
            <a:noFill/>
          </a:ln>
        </p:spPr>
        <p:txBody>
          <a:bodyPr anchorCtr="1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Clase: Define un tipo de objeto con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atributos y métodos.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Objeto: Una instancia de una clase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que tiene un estado particular y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puede ejecutar métodos definidos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en la clase.</a:t>
            </a:r>
            <a:endParaRPr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3"/>
          <p:cNvSpPr txBox="1"/>
          <p:nvPr>
            <p:ph type="title"/>
          </p:nvPr>
        </p:nvSpPr>
        <p:spPr>
          <a:xfrm>
            <a:off x="233280" y="145080"/>
            <a:ext cx="8594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22BB"/>
              </a:buClr>
              <a:buSzPts val="2920"/>
              <a:buFont typeface="Montserrat"/>
              <a:buNone/>
            </a:pPr>
            <a:r>
              <a:rPr b="1" lang="es-419" sz="292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Diferencias entre Clases y Objetos</a:t>
            </a:r>
            <a:endParaRPr b="0" sz="292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3"/>
          <p:cNvSpPr/>
          <p:nvPr/>
        </p:nvSpPr>
        <p:spPr>
          <a:xfrm>
            <a:off x="325075" y="1028025"/>
            <a:ext cx="83355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434343"/>
                </a:solidFill>
              </a:rPr>
              <a:t>Definición vs. Instancia</a:t>
            </a:r>
            <a:endParaRPr b="1" sz="2000">
              <a:solidFill>
                <a:srgbClr val="434343"/>
              </a:solidFill>
            </a:endParaRPr>
          </a:p>
        </p:txBody>
      </p:sp>
      <p:sp>
        <p:nvSpPr>
          <p:cNvPr id="174" name="Google Shape;174;p33"/>
          <p:cNvSpPr/>
          <p:nvPr/>
        </p:nvSpPr>
        <p:spPr>
          <a:xfrm>
            <a:off x="387750" y="1837775"/>
            <a:ext cx="3855900" cy="28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rgbClr val="434343"/>
                </a:solidFill>
              </a:rPr>
              <a:t>Clase</a:t>
            </a:r>
            <a:endParaRPr sz="20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rgbClr val="434343"/>
                </a:solidFill>
              </a:rPr>
              <a:t>Es una definición, una</a:t>
            </a:r>
            <a:endParaRPr sz="20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rgbClr val="434343"/>
                </a:solidFill>
              </a:rPr>
              <a:t>plantilla. No es una entidad</a:t>
            </a:r>
            <a:endParaRPr sz="20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rgbClr val="434343"/>
                </a:solidFill>
              </a:rPr>
              <a:t>tangible.</a:t>
            </a:r>
            <a:endParaRPr sz="2000">
              <a:solidFill>
                <a:srgbClr val="434343"/>
              </a:solidFill>
            </a:endParaRPr>
          </a:p>
        </p:txBody>
      </p:sp>
      <p:sp>
        <p:nvSpPr>
          <p:cNvPr id="175" name="Google Shape;175;p33"/>
          <p:cNvSpPr/>
          <p:nvPr/>
        </p:nvSpPr>
        <p:spPr>
          <a:xfrm>
            <a:off x="4804675" y="1915400"/>
            <a:ext cx="3855900" cy="28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rgbClr val="434343"/>
                </a:solidFill>
              </a:rPr>
              <a:t>Objeto</a:t>
            </a:r>
            <a:endParaRPr sz="20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rgbClr val="434343"/>
                </a:solidFill>
              </a:rPr>
              <a:t>Es una instancia concreta de</a:t>
            </a:r>
            <a:endParaRPr sz="20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rgbClr val="434343"/>
                </a:solidFill>
              </a:rPr>
              <a:t>una clase. Es una entidad</a:t>
            </a:r>
            <a:endParaRPr sz="20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rgbClr val="434343"/>
                </a:solidFill>
              </a:rPr>
              <a:t>tangible que ocupa memoria y</a:t>
            </a:r>
            <a:endParaRPr sz="20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rgbClr val="434343"/>
                </a:solidFill>
              </a:rPr>
              <a:t>tiene un estado específico.</a:t>
            </a:r>
            <a:endParaRPr sz="20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/>
          <p:nvPr>
            <p:ph type="title"/>
          </p:nvPr>
        </p:nvSpPr>
        <p:spPr>
          <a:xfrm>
            <a:off x="233280" y="145080"/>
            <a:ext cx="8594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22BB"/>
              </a:buClr>
              <a:buSzPts val="2920"/>
              <a:buFont typeface="Montserrat"/>
              <a:buNone/>
            </a:pPr>
            <a:r>
              <a:rPr b="1" lang="es-419" sz="292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Diferencias entre Clases y Objetos</a:t>
            </a:r>
            <a:endParaRPr b="0" sz="292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4"/>
          <p:cNvSpPr/>
          <p:nvPr/>
        </p:nvSpPr>
        <p:spPr>
          <a:xfrm>
            <a:off x="325075" y="1028025"/>
            <a:ext cx="83355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434343"/>
                </a:solidFill>
              </a:rPr>
              <a:t>Reusabilidad</a:t>
            </a:r>
            <a:endParaRPr b="1" sz="2000">
              <a:solidFill>
                <a:srgbClr val="434343"/>
              </a:solidFill>
            </a:endParaRPr>
          </a:p>
        </p:txBody>
      </p:sp>
      <p:sp>
        <p:nvSpPr>
          <p:cNvPr id="182" name="Google Shape;182;p34"/>
          <p:cNvSpPr/>
          <p:nvPr/>
        </p:nvSpPr>
        <p:spPr>
          <a:xfrm>
            <a:off x="387750" y="1837775"/>
            <a:ext cx="3855900" cy="28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rgbClr val="434343"/>
                </a:solidFill>
              </a:rPr>
              <a:t>Clase</a:t>
            </a:r>
            <a:endParaRPr sz="20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rgbClr val="434343"/>
                </a:solidFill>
              </a:rPr>
              <a:t>Puede ser utilizada para</a:t>
            </a:r>
            <a:endParaRPr sz="20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rgbClr val="434343"/>
                </a:solidFill>
              </a:rPr>
              <a:t>crear múltiples objetos.</a:t>
            </a:r>
            <a:endParaRPr sz="2000">
              <a:solidFill>
                <a:srgbClr val="434343"/>
              </a:solidFill>
            </a:endParaRPr>
          </a:p>
        </p:txBody>
      </p:sp>
      <p:sp>
        <p:nvSpPr>
          <p:cNvPr id="183" name="Google Shape;183;p34"/>
          <p:cNvSpPr/>
          <p:nvPr/>
        </p:nvSpPr>
        <p:spPr>
          <a:xfrm>
            <a:off x="4804675" y="1915400"/>
            <a:ext cx="3855900" cy="28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rgbClr val="434343"/>
                </a:solidFill>
              </a:rPr>
              <a:t>Objeto</a:t>
            </a:r>
            <a:endParaRPr sz="20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rgbClr val="434343"/>
                </a:solidFill>
              </a:rPr>
              <a:t>Es una única instancia de una</a:t>
            </a:r>
            <a:endParaRPr sz="20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rgbClr val="434343"/>
                </a:solidFill>
              </a:rPr>
              <a:t>clase específica.</a:t>
            </a:r>
            <a:endParaRPr sz="20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5"/>
          <p:cNvSpPr txBox="1"/>
          <p:nvPr>
            <p:ph type="title"/>
          </p:nvPr>
        </p:nvSpPr>
        <p:spPr>
          <a:xfrm>
            <a:off x="233280" y="145080"/>
            <a:ext cx="8594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22BB"/>
              </a:buClr>
              <a:buSzPts val="2920"/>
              <a:buFont typeface="Montserrat"/>
              <a:buNone/>
            </a:pPr>
            <a:r>
              <a:rPr b="1" lang="es-419" sz="292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Diferencias entre Clases y Objetos</a:t>
            </a:r>
            <a:endParaRPr b="0" sz="292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35"/>
          <p:cNvSpPr/>
          <p:nvPr/>
        </p:nvSpPr>
        <p:spPr>
          <a:xfrm>
            <a:off x="325075" y="1028025"/>
            <a:ext cx="83355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434343"/>
                </a:solidFill>
              </a:rPr>
              <a:t>Estructura vs. Estado</a:t>
            </a:r>
            <a:endParaRPr b="1" sz="2000">
              <a:solidFill>
                <a:srgbClr val="434343"/>
              </a:solidFill>
            </a:endParaRPr>
          </a:p>
        </p:txBody>
      </p:sp>
      <p:sp>
        <p:nvSpPr>
          <p:cNvPr id="190" name="Google Shape;190;p35"/>
          <p:cNvSpPr/>
          <p:nvPr/>
        </p:nvSpPr>
        <p:spPr>
          <a:xfrm>
            <a:off x="387750" y="1837775"/>
            <a:ext cx="3855900" cy="28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rgbClr val="434343"/>
                </a:solidFill>
              </a:rPr>
              <a:t>Clase</a:t>
            </a:r>
            <a:endParaRPr sz="20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rgbClr val="434343"/>
                </a:solidFill>
              </a:rPr>
              <a:t>Define la estructura</a:t>
            </a:r>
            <a:endParaRPr sz="20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rgbClr val="434343"/>
                </a:solidFill>
              </a:rPr>
              <a:t>(atributos) y el</a:t>
            </a:r>
            <a:endParaRPr sz="20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rgbClr val="434343"/>
                </a:solidFill>
              </a:rPr>
              <a:t>comportamiento (métodos)</a:t>
            </a:r>
            <a:endParaRPr sz="20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rgbClr val="434343"/>
                </a:solidFill>
              </a:rPr>
              <a:t>comunes a todos los objetos</a:t>
            </a:r>
            <a:endParaRPr sz="20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rgbClr val="434343"/>
                </a:solidFill>
              </a:rPr>
              <a:t>de ese tipo.</a:t>
            </a:r>
            <a:endParaRPr sz="2000">
              <a:solidFill>
                <a:srgbClr val="434343"/>
              </a:solidFill>
            </a:endParaRPr>
          </a:p>
        </p:txBody>
      </p:sp>
      <p:sp>
        <p:nvSpPr>
          <p:cNvPr id="191" name="Google Shape;191;p35"/>
          <p:cNvSpPr/>
          <p:nvPr/>
        </p:nvSpPr>
        <p:spPr>
          <a:xfrm>
            <a:off x="4804675" y="1915400"/>
            <a:ext cx="3855900" cy="28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rgbClr val="434343"/>
                </a:solidFill>
              </a:rPr>
              <a:t>Objeto</a:t>
            </a:r>
            <a:endParaRPr sz="20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rgbClr val="434343"/>
                </a:solidFill>
              </a:rPr>
              <a:t>Tiene un estado particular</a:t>
            </a:r>
            <a:endParaRPr sz="20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rgbClr val="434343"/>
                </a:solidFill>
              </a:rPr>
              <a:t>(valores de atributos) y puede</a:t>
            </a:r>
            <a:endParaRPr sz="20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rgbClr val="434343"/>
                </a:solidFill>
              </a:rPr>
              <a:t>ejecutar comportamientos</a:t>
            </a:r>
            <a:endParaRPr sz="20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rgbClr val="434343"/>
                </a:solidFill>
              </a:rPr>
              <a:t>definidos por su clase.</a:t>
            </a:r>
            <a:endParaRPr sz="20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6"/>
          <p:cNvSpPr txBox="1"/>
          <p:nvPr>
            <p:ph type="title"/>
          </p:nvPr>
        </p:nvSpPr>
        <p:spPr>
          <a:xfrm>
            <a:off x="344775" y="1480425"/>
            <a:ext cx="3362100" cy="13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22BB"/>
              </a:buClr>
              <a:buSzPts val="4180"/>
              <a:buFont typeface="Montserrat ExtraBold"/>
              <a:buNone/>
            </a:pPr>
            <a:r>
              <a:rPr lang="es-419" sz="300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this</a:t>
            </a:r>
            <a:endParaRPr sz="3000">
              <a:solidFill>
                <a:srgbClr val="E122B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97" name="Google Shape;197;p36"/>
          <p:cNvSpPr/>
          <p:nvPr/>
        </p:nvSpPr>
        <p:spPr>
          <a:xfrm>
            <a:off x="3987650" y="1733775"/>
            <a:ext cx="4960800" cy="1907100"/>
          </a:xfrm>
          <a:prstGeom prst="rect">
            <a:avLst/>
          </a:prstGeom>
          <a:noFill/>
          <a:ln>
            <a:noFill/>
          </a:ln>
        </p:spPr>
        <p:txBody>
          <a:bodyPr anchorCtr="1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La palabra clave this en Java se refiere a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varios usos importantes en la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programación orientada a objetos</a:t>
            </a:r>
            <a:endParaRPr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/>
          <p:nvPr>
            <p:ph type="title"/>
          </p:nvPr>
        </p:nvSpPr>
        <p:spPr>
          <a:xfrm>
            <a:off x="344775" y="1480425"/>
            <a:ext cx="3362100" cy="13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22BB"/>
              </a:buClr>
              <a:buSzPts val="4180"/>
              <a:buFont typeface="Montserrat ExtraBold"/>
              <a:buNone/>
            </a:pPr>
            <a:r>
              <a:rPr lang="es-419" sz="300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Referencia al objeto actual</a:t>
            </a:r>
            <a:endParaRPr sz="3000">
              <a:solidFill>
                <a:srgbClr val="E122B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03" name="Google Shape;203;p37"/>
          <p:cNvSpPr/>
          <p:nvPr/>
        </p:nvSpPr>
        <p:spPr>
          <a:xfrm>
            <a:off x="3923475" y="2980425"/>
            <a:ext cx="4960800" cy="1907100"/>
          </a:xfrm>
          <a:prstGeom prst="rect">
            <a:avLst/>
          </a:prstGeom>
          <a:noFill/>
          <a:ln>
            <a:noFill/>
          </a:ln>
        </p:spPr>
        <p:txBody>
          <a:bodyPr anchorCtr="1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this se utiliza para hacer referencia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al objeto actual dentro de la propia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clase. Puede ser útil cuando hay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ambigüedad entre los nombres de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variables de instancia y parámetros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en un método.</a:t>
            </a:r>
            <a:endParaRPr sz="2000">
              <a:solidFill>
                <a:schemeClr val="lt1"/>
              </a:solidFill>
            </a:endParaRPr>
          </a:p>
        </p:txBody>
      </p:sp>
      <p:pic>
        <p:nvPicPr>
          <p:cNvPr id="204" name="Google Shape;20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51950" y="928475"/>
            <a:ext cx="5132326" cy="19959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/>
          <p:nvPr>
            <p:ph type="title"/>
          </p:nvPr>
        </p:nvSpPr>
        <p:spPr>
          <a:xfrm>
            <a:off x="369550" y="433100"/>
            <a:ext cx="3362100" cy="13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22BB"/>
              </a:buClr>
              <a:buSzPct val="139333"/>
              <a:buFont typeface="Montserrat ExtraBold"/>
              <a:buNone/>
            </a:pPr>
            <a:r>
              <a:rPr lang="es-419" sz="300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Llamada al constructor de la misma clase</a:t>
            </a:r>
            <a:endParaRPr sz="3000">
              <a:solidFill>
                <a:srgbClr val="E122B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10" name="Google Shape;210;p38"/>
          <p:cNvSpPr/>
          <p:nvPr/>
        </p:nvSpPr>
        <p:spPr>
          <a:xfrm>
            <a:off x="369550" y="1973225"/>
            <a:ext cx="3362100" cy="1907100"/>
          </a:xfrm>
          <a:prstGeom prst="rect">
            <a:avLst/>
          </a:prstGeom>
          <a:noFill/>
          <a:ln>
            <a:noFill/>
          </a:ln>
        </p:spPr>
        <p:txBody>
          <a:bodyPr anchorCtr="1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lt1"/>
                </a:solidFill>
              </a:rPr>
              <a:t>this se puede usar para llamar a otro constructor de</a:t>
            </a:r>
            <a:endParaRPr sz="15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lt1"/>
                </a:solidFill>
              </a:rPr>
              <a:t>la misma clase desde un constructor. Esta técnica</a:t>
            </a:r>
            <a:endParaRPr sz="15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lt1"/>
                </a:solidFill>
              </a:rPr>
              <a:t>se llama "reutilización de constructores" o "llamada</a:t>
            </a:r>
            <a:endParaRPr sz="15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lt1"/>
                </a:solidFill>
              </a:rPr>
              <a:t>al constructor".</a:t>
            </a:r>
            <a:endParaRPr sz="1500">
              <a:solidFill>
                <a:schemeClr val="lt1"/>
              </a:solidFill>
            </a:endParaRPr>
          </a:p>
        </p:txBody>
      </p:sp>
      <p:pic>
        <p:nvPicPr>
          <p:cNvPr id="211" name="Google Shape;21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8600" y="664275"/>
            <a:ext cx="4916674" cy="344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9"/>
          <p:cNvSpPr txBox="1"/>
          <p:nvPr>
            <p:ph type="title"/>
          </p:nvPr>
        </p:nvSpPr>
        <p:spPr>
          <a:xfrm>
            <a:off x="369550" y="433100"/>
            <a:ext cx="3362100" cy="13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122BB"/>
              </a:buClr>
              <a:buSzPct val="139333"/>
              <a:buFont typeface="Montserrat ExtraBold"/>
              <a:buNone/>
            </a:pPr>
            <a:r>
              <a:rPr lang="es-419" sz="300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Llamada al constructor de la misma clase</a:t>
            </a:r>
            <a:endParaRPr sz="3000">
              <a:solidFill>
                <a:srgbClr val="E122B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17" name="Google Shape;217;p39"/>
          <p:cNvSpPr/>
          <p:nvPr/>
        </p:nvSpPr>
        <p:spPr>
          <a:xfrm>
            <a:off x="369550" y="1973225"/>
            <a:ext cx="3065100" cy="1378800"/>
          </a:xfrm>
          <a:prstGeom prst="rect">
            <a:avLst/>
          </a:prstGeom>
          <a:noFill/>
          <a:ln>
            <a:noFill/>
          </a:ln>
        </p:spPr>
        <p:txBody>
          <a:bodyPr anchorCtr="1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lt1"/>
                </a:solidFill>
              </a:rPr>
              <a:t>En algunos casos, es útil pasar</a:t>
            </a:r>
            <a:endParaRPr sz="15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lt1"/>
                </a:solidFill>
              </a:rPr>
              <a:t>la instancia actual como</a:t>
            </a:r>
            <a:endParaRPr sz="15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lt1"/>
                </a:solidFill>
              </a:rPr>
              <a:t>argumento a otro método.</a:t>
            </a:r>
            <a:endParaRPr sz="1500">
              <a:solidFill>
                <a:schemeClr val="lt1"/>
              </a:solidFill>
            </a:endParaRPr>
          </a:p>
        </p:txBody>
      </p:sp>
      <p:pic>
        <p:nvPicPr>
          <p:cNvPr id="218" name="Google Shape;21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8000" y="1151375"/>
            <a:ext cx="5107551" cy="30901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