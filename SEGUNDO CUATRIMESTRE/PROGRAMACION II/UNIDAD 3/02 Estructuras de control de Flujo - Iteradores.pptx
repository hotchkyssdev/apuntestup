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67" r:id="rId4"/>
    <p:sldId id="258" r:id="rId5"/>
    <p:sldId id="259" r:id="rId6"/>
    <p:sldId id="269" r:id="rId7"/>
    <p:sldId id="270" r:id="rId8"/>
    <p:sldId id="271" r:id="rId9"/>
    <p:sldId id="260" r:id="rId10"/>
    <p:sldId id="261" r:id="rId11"/>
    <p:sldId id="268" r:id="rId12"/>
    <p:sldId id="262" r:id="rId13"/>
    <p:sldId id="263" r:id="rId14"/>
    <p:sldId id="264" r:id="rId15"/>
    <p:sldId id="265" r:id="rId16"/>
    <p:sldId id="266" r:id="rId17"/>
    <p:sldId id="272" r:id="rId18"/>
    <p:sldId id="274" r:id="rId19"/>
    <p:sldId id="275" r:id="rId20"/>
    <p:sldId id="276" r:id="rId21"/>
  </p:sldIdLst>
  <p:sldSz cx="9144000" cy="5143500" type="screen16x9"/>
  <p:notesSz cx="6858000" cy="9144000"/>
  <p:embeddedFontLst>
    <p:embeddedFont>
      <p:font typeface="Montserrat" pitchFamily="2" charset="77"/>
      <p:regular r:id="rId23"/>
      <p:bold r:id="rId24"/>
      <p:italic r:id="rId25"/>
      <p:boldItalic r:id="rId26"/>
    </p:embeddedFont>
    <p:embeddedFont>
      <p:font typeface="Montserrat ExtraBold" pitchFamily="2" charset="77"/>
      <p:bold r:id="rId27"/>
      <p:italic r:id="rId28"/>
      <p:boldItalic r:id="rId29"/>
    </p:embeddedFont>
    <p:embeddedFont>
      <p:font typeface="Montserrat Medium" pitchFamily="2" charset="77"/>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66"/>
    <p:restoredTop sz="94749"/>
  </p:normalViewPr>
  <p:slideViewPr>
    <p:cSldViewPr snapToGrid="0">
      <p:cViewPr varScale="1">
        <p:scale>
          <a:sx n="186" d="100"/>
          <a:sy n="186" d="100"/>
        </p:scale>
        <p:origin x="1512"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6120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5117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3248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6399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1f4c32d58e4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1f4c32d58e4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f4c32d58e4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f4c32d58e4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1f4c32d58e4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1f4c32d58e4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6886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f4c32d58e4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f4c32d58e4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6b370abc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6b370abc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c6b370abc3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c6b370abc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c6b370abc3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c6b370abc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c6b370abc3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c6b370abc3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6b370abc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6b370abc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88896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c6b370abc3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c6b370abc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2178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6b370abc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6b370abc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8498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c6b370abc3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c6b370abc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8133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27210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419">
                <a:solidFill>
                  <a:srgbClr val="E122BB"/>
                </a:solidFill>
                <a:latin typeface="Montserrat ExtraBold"/>
                <a:ea typeface="Montserrat ExtraBold"/>
                <a:cs typeface="Montserrat ExtraBold"/>
                <a:sym typeface="Montserrat ExtraBold"/>
              </a:rPr>
              <a:t>Estructuras de control de Flujo:</a:t>
            </a:r>
            <a:endParaRPr>
              <a:solidFill>
                <a:srgbClr val="E122BB"/>
              </a:solidFill>
              <a:latin typeface="Montserrat ExtraBold"/>
              <a:ea typeface="Montserrat ExtraBold"/>
              <a:cs typeface="Montserrat ExtraBold"/>
              <a:sym typeface="Montserrat ExtraBold"/>
            </a:endParaRPr>
          </a:p>
          <a:p>
            <a:pPr marL="0" lvl="0" indent="0" algn="ctr" rtl="0">
              <a:spcBef>
                <a:spcPts val="0"/>
              </a:spcBef>
              <a:spcAft>
                <a:spcPts val="0"/>
              </a:spcAft>
              <a:buNone/>
            </a:pPr>
            <a:r>
              <a:rPr lang="es-419">
                <a:solidFill>
                  <a:srgbClr val="E122BB"/>
                </a:solidFill>
                <a:latin typeface="Montserrat ExtraBold"/>
                <a:ea typeface="Montserrat ExtraBold"/>
                <a:cs typeface="Montserrat ExtraBold"/>
                <a:sym typeface="Montserrat ExtraBold"/>
              </a:rPr>
              <a:t>Iteradores</a:t>
            </a:r>
            <a:endParaRPr>
              <a:solidFill>
                <a:srgbClr val="E122BB"/>
              </a:solidFill>
              <a:latin typeface="Montserrat ExtraBold"/>
              <a:ea typeface="Montserrat ExtraBold"/>
              <a:cs typeface="Montserrat ExtraBold"/>
              <a:sym typeface="Montserrat ExtraBold"/>
            </a:endParaRPr>
          </a:p>
        </p:txBody>
      </p:sp>
      <p:sp>
        <p:nvSpPr>
          <p:cNvPr id="55" name="Google Shape;55;p13"/>
          <p:cNvSpPr txBox="1">
            <a:spLocks noGrp="1"/>
          </p:cNvSpPr>
          <p:nvPr>
            <p:ph type="ctrTitle"/>
          </p:nvPr>
        </p:nvSpPr>
        <p:spPr>
          <a:xfrm>
            <a:off x="253325" y="113350"/>
            <a:ext cx="8520600" cy="41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1700">
                <a:solidFill>
                  <a:srgbClr val="E122BB"/>
                </a:solidFill>
                <a:latin typeface="Montserrat ExtraBold"/>
                <a:ea typeface="Montserrat ExtraBold"/>
                <a:cs typeface="Montserrat ExtraBold"/>
                <a:sym typeface="Montserrat ExtraBold"/>
              </a:rPr>
              <a:t>Programación I</a:t>
            </a:r>
            <a:endParaRPr sz="1700">
              <a:solidFill>
                <a:srgbClr val="E122BB"/>
              </a:solidFill>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0" y="744575"/>
            <a:ext cx="8520600" cy="947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419">
                <a:solidFill>
                  <a:srgbClr val="E122BB"/>
                </a:solidFill>
                <a:latin typeface="Montserrat ExtraBold"/>
                <a:ea typeface="Montserrat ExtraBold"/>
                <a:cs typeface="Montserrat ExtraBold"/>
                <a:sym typeface="Montserrat ExtraBold"/>
              </a:rPr>
              <a:t>Bucle while </a:t>
            </a:r>
            <a:endParaRPr>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783625" y="1692274"/>
            <a:ext cx="7769400" cy="226747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El bucle while en Java se utiliza para repetir un bloque de código mientras una condición especificada sea verdadera. </a:t>
            </a:r>
          </a:p>
          <a:p>
            <a:pPr marL="0" lvl="0" indent="0" algn="l" rtl="0">
              <a:lnSpc>
                <a:spcPct val="115000"/>
              </a:lnSpc>
              <a:spcBef>
                <a:spcPts val="0"/>
              </a:spcBef>
              <a:spcAft>
                <a:spcPts val="0"/>
              </a:spcAft>
              <a:buClr>
                <a:schemeClr val="dk1"/>
              </a:buClr>
              <a:buSzPts val="1100"/>
              <a:buFont typeface="Arial"/>
              <a:buNone/>
            </a:pPr>
            <a:endParaRPr lang="es-419" sz="1800"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El bloque de código se ejecutará repetidamente mientras la condición se evalúe como verdadera. Si la condición es falsa al principio, el bloque de código no se ejecutará en absoluto.</a:t>
            </a:r>
            <a:endParaRPr sz="1800" dirty="0">
              <a:solidFill>
                <a:schemeClr val="lt1"/>
              </a:solidFill>
              <a:latin typeface="Montserrat Medium"/>
              <a:ea typeface="Montserrat Medium"/>
              <a:cs typeface="Montserrat Medium"/>
              <a:sym typeface="Montserrat Medium"/>
            </a:endParaRPr>
          </a:p>
          <a:p>
            <a:pPr marL="0" lvl="0" indent="0" algn="l" rtl="0">
              <a:lnSpc>
                <a:spcPct val="115000"/>
              </a:lnSpc>
              <a:spcBef>
                <a:spcPts val="1600"/>
              </a:spcBef>
              <a:spcAft>
                <a:spcPts val="1600"/>
              </a:spcAft>
              <a:buNone/>
            </a:pPr>
            <a:endParaRPr sz="1800" dirty="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0" y="744575"/>
            <a:ext cx="8520600" cy="947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419" dirty="0">
                <a:solidFill>
                  <a:srgbClr val="E122BB"/>
                </a:solidFill>
                <a:latin typeface="Montserrat ExtraBold"/>
                <a:ea typeface="Montserrat ExtraBold"/>
                <a:cs typeface="Montserrat ExtraBold"/>
                <a:sym typeface="Montserrat ExtraBold"/>
              </a:rPr>
              <a:t>Bucle while </a:t>
            </a:r>
            <a:endParaRPr dirty="0">
              <a:solidFill>
                <a:srgbClr val="E122BB"/>
              </a:solidFill>
              <a:latin typeface="Montserrat ExtraBold"/>
              <a:ea typeface="Montserrat ExtraBold"/>
              <a:cs typeface="Montserrat ExtraBold"/>
              <a:sym typeface="Montserrat ExtraBold"/>
            </a:endParaRPr>
          </a:p>
        </p:txBody>
      </p:sp>
      <p:sp>
        <p:nvSpPr>
          <p:cNvPr id="2" name="Google Shape;68;p15">
            <a:extLst>
              <a:ext uri="{FF2B5EF4-FFF2-40B4-BE49-F238E27FC236}">
                <a16:creationId xmlns:a16="http://schemas.microsoft.com/office/drawing/2014/main" id="{A8CFAB38-32D9-6AE0-A7E3-A3A507A1FC9C}"/>
              </a:ext>
            </a:extLst>
          </p:cNvPr>
          <p:cNvSpPr txBox="1"/>
          <p:nvPr/>
        </p:nvSpPr>
        <p:spPr>
          <a:xfrm>
            <a:off x="411608" y="1611445"/>
            <a:ext cx="8520600" cy="2458800"/>
          </a:xfrm>
          <a:prstGeom prst="rect">
            <a:avLst/>
          </a:prstGeom>
          <a:noFill/>
          <a:ln>
            <a:noFill/>
          </a:ln>
        </p:spPr>
        <p:txBody>
          <a:bodyPr spcFirstLastPara="1" wrap="square" lIns="91425" tIns="91425" rIns="91425" bIns="91425" anchor="t" anchorCtr="0">
            <a:noAutofit/>
          </a:bodyPr>
          <a:lstStyle/>
          <a:p>
            <a:pPr marL="406400" lvl="0" indent="-285750" algn="l" rtl="0">
              <a:spcBef>
                <a:spcPts val="0"/>
              </a:spcBef>
              <a:spcAft>
                <a:spcPts val="0"/>
              </a:spcAft>
              <a:buSzPts val="1700"/>
              <a:buFont typeface="System Font Regular"/>
              <a:buChar char="🟣"/>
            </a:pPr>
            <a:r>
              <a:rPr lang="es-419" sz="1700" dirty="0">
                <a:solidFill>
                  <a:schemeClr val="bg1"/>
                </a:solidFill>
                <a:latin typeface="Montserrat Medium"/>
                <a:ea typeface="Montserrat Medium"/>
                <a:cs typeface="Montserrat Medium"/>
                <a:sym typeface="Montserrat Medium"/>
              </a:rPr>
              <a:t>La condición es una expresión booleana que se evalúa antes de cada iteración del bucle.</a:t>
            </a:r>
            <a:endParaRPr sz="1700" dirty="0">
              <a:solidFill>
                <a:schemeClr val="bg1"/>
              </a:solidFill>
              <a:latin typeface="Montserrat Medium"/>
              <a:ea typeface="Montserrat Medium"/>
              <a:cs typeface="Montserrat Medium"/>
              <a:sym typeface="Montserrat Medium"/>
            </a:endParaRPr>
          </a:p>
          <a:p>
            <a:pPr marL="406400" lvl="0" indent="-285750" algn="l" rtl="0">
              <a:spcBef>
                <a:spcPts val="0"/>
              </a:spcBef>
              <a:spcAft>
                <a:spcPts val="0"/>
              </a:spcAft>
              <a:buSzPts val="1700"/>
              <a:buFont typeface="System Font Regular"/>
              <a:buChar char="🟣"/>
            </a:pPr>
            <a:r>
              <a:rPr lang="es-419" sz="1700" dirty="0">
                <a:solidFill>
                  <a:schemeClr val="bg1"/>
                </a:solidFill>
                <a:latin typeface="Montserrat Medium"/>
                <a:ea typeface="Montserrat Medium"/>
                <a:cs typeface="Montserrat Medium"/>
                <a:sym typeface="Montserrat Medium"/>
              </a:rPr>
              <a:t>Si la condición es verdadera, se ejecuta el bloque de código.</a:t>
            </a:r>
            <a:endParaRPr sz="1700" dirty="0">
              <a:solidFill>
                <a:schemeClr val="bg1"/>
              </a:solidFill>
              <a:latin typeface="Montserrat Medium"/>
              <a:ea typeface="Montserrat Medium"/>
              <a:cs typeface="Montserrat Medium"/>
              <a:sym typeface="Montserrat Medium"/>
            </a:endParaRPr>
          </a:p>
          <a:p>
            <a:pPr marL="406400" lvl="0" indent="-285750" algn="l" rtl="0">
              <a:spcBef>
                <a:spcPts val="0"/>
              </a:spcBef>
              <a:spcAft>
                <a:spcPts val="0"/>
              </a:spcAft>
              <a:buSzPts val="1700"/>
              <a:buFont typeface="System Font Regular"/>
              <a:buChar char="🟣"/>
            </a:pPr>
            <a:r>
              <a:rPr lang="es-419" sz="1700" dirty="0">
                <a:solidFill>
                  <a:schemeClr val="bg1"/>
                </a:solidFill>
                <a:latin typeface="Montserrat Medium"/>
                <a:ea typeface="Montserrat Medium"/>
                <a:cs typeface="Montserrat Medium"/>
                <a:sym typeface="Montserrat Medium"/>
              </a:rPr>
              <a:t>Una vez que el bloque de código se ejecuta, la condición se evalúa nuevamente.</a:t>
            </a:r>
            <a:endParaRPr sz="1700" dirty="0">
              <a:solidFill>
                <a:schemeClr val="bg1"/>
              </a:solidFill>
              <a:latin typeface="Montserrat Medium"/>
              <a:ea typeface="Montserrat Medium"/>
              <a:cs typeface="Montserrat Medium"/>
              <a:sym typeface="Montserrat Medium"/>
            </a:endParaRPr>
          </a:p>
          <a:p>
            <a:pPr marL="406400" lvl="0" indent="-285750" algn="l" rtl="0">
              <a:spcBef>
                <a:spcPts val="0"/>
              </a:spcBef>
              <a:spcAft>
                <a:spcPts val="0"/>
              </a:spcAft>
              <a:buSzPts val="1700"/>
              <a:buFont typeface="System Font Regular"/>
              <a:buChar char="🟣"/>
            </a:pPr>
            <a:r>
              <a:rPr lang="es-419" sz="1700" dirty="0">
                <a:solidFill>
                  <a:schemeClr val="bg1"/>
                </a:solidFill>
                <a:latin typeface="Montserrat Medium"/>
                <a:ea typeface="Montserrat Medium"/>
                <a:cs typeface="Montserrat Medium"/>
                <a:sym typeface="Montserrat Medium"/>
              </a:rPr>
              <a:t>El bucle continuará ejecutándose mientras la condición sea verdadera.</a:t>
            </a:r>
            <a:endParaRPr sz="1700" dirty="0">
              <a:solidFill>
                <a:schemeClr val="bg1"/>
              </a:solidFill>
              <a:latin typeface="Montserrat Medium"/>
              <a:ea typeface="Montserrat Medium"/>
              <a:cs typeface="Montserrat Medium"/>
              <a:sym typeface="Montserrat Medium"/>
            </a:endParaRPr>
          </a:p>
          <a:p>
            <a:pPr marL="406400" lvl="0" indent="-285750" algn="l" rtl="0">
              <a:spcBef>
                <a:spcPts val="0"/>
              </a:spcBef>
              <a:spcAft>
                <a:spcPts val="0"/>
              </a:spcAft>
              <a:buSzPts val="1700"/>
              <a:buFont typeface="System Font Regular"/>
              <a:buChar char="🟣"/>
            </a:pPr>
            <a:r>
              <a:rPr lang="es-419" sz="1700" dirty="0">
                <a:solidFill>
                  <a:schemeClr val="bg1"/>
                </a:solidFill>
                <a:latin typeface="Montserrat Medium"/>
                <a:ea typeface="Montserrat Medium"/>
                <a:cs typeface="Montserrat Medium"/>
                <a:sym typeface="Montserrat Medium"/>
              </a:rPr>
              <a:t>Si la condición es falsa desde el principio, el bloque de código no se ejecutará.</a:t>
            </a:r>
            <a:endParaRPr sz="1700" dirty="0">
              <a:solidFill>
                <a:schemeClr val="bg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425145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a:solidFill>
                  <a:srgbClr val="E122BB"/>
                </a:solidFill>
                <a:latin typeface="Montserrat"/>
                <a:ea typeface="Montserrat"/>
                <a:cs typeface="Montserrat"/>
                <a:sym typeface="Montserrat"/>
              </a:rPr>
              <a:t>Bucle while </a:t>
            </a: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p:txBody>
      </p:sp>
      <p:sp>
        <p:nvSpPr>
          <p:cNvPr id="67" name="Google Shape;67;p15"/>
          <p:cNvSpPr txBox="1"/>
          <p:nvPr/>
        </p:nvSpPr>
        <p:spPr>
          <a:xfrm>
            <a:off x="362550" y="993725"/>
            <a:ext cx="8465700" cy="380091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4000" b="1" dirty="0">
                <a:solidFill>
                  <a:srgbClr val="E122BB"/>
                </a:solidFill>
                <a:latin typeface="Montserrat"/>
                <a:ea typeface="Montserrat"/>
                <a:cs typeface="Montserrat"/>
                <a:sym typeface="Montserrat"/>
              </a:rPr>
              <a:t>while </a:t>
            </a:r>
            <a:r>
              <a:rPr lang="es-419" sz="4000" b="1" dirty="0">
                <a:solidFill>
                  <a:srgbClr val="2E95D3"/>
                </a:solidFill>
                <a:latin typeface="Montserrat"/>
                <a:ea typeface="Montserrat"/>
                <a:cs typeface="Montserrat"/>
                <a:sym typeface="Montserrat"/>
              </a:rPr>
              <a:t>(</a:t>
            </a:r>
            <a:r>
              <a:rPr lang="es-419" sz="4000" b="1" dirty="0">
                <a:solidFill>
                  <a:srgbClr val="9900FF"/>
                </a:solidFill>
                <a:latin typeface="Montserrat"/>
                <a:ea typeface="Montserrat"/>
                <a:cs typeface="Montserrat"/>
                <a:sym typeface="Montserrat"/>
              </a:rPr>
              <a:t>condición</a:t>
            </a:r>
            <a:r>
              <a:rPr lang="es-419" sz="4000" b="1" dirty="0">
                <a:solidFill>
                  <a:srgbClr val="2E95D3"/>
                </a:solidFill>
                <a:latin typeface="Montserrat"/>
                <a:ea typeface="Montserrat"/>
                <a:cs typeface="Montserrat"/>
                <a:sym typeface="Montserrat"/>
              </a:rPr>
              <a:t>) {</a:t>
            </a:r>
            <a:endParaRPr sz="4000" b="1" dirty="0">
              <a:solidFill>
                <a:srgbClr val="2E95D3"/>
              </a:solidFill>
              <a:latin typeface="Montserrat"/>
              <a:ea typeface="Montserrat"/>
              <a:cs typeface="Montserrat"/>
              <a:sym typeface="Montserrat"/>
            </a:endParaRPr>
          </a:p>
          <a:p>
            <a:pPr marL="0" lvl="0" indent="0" algn="l" rtl="0">
              <a:spcBef>
                <a:spcPts val="0"/>
              </a:spcBef>
              <a:spcAft>
                <a:spcPts val="0"/>
              </a:spcAft>
              <a:buNone/>
            </a:pPr>
            <a:r>
              <a:rPr lang="es-419" sz="4000" b="1" dirty="0">
                <a:solidFill>
                  <a:srgbClr val="999999"/>
                </a:solidFill>
                <a:latin typeface="Montserrat"/>
                <a:ea typeface="Montserrat"/>
                <a:cs typeface="Montserrat"/>
                <a:sym typeface="Montserrat"/>
              </a:rPr>
              <a:t>    /** Ejecutar mientras </a:t>
            </a:r>
          </a:p>
          <a:p>
            <a:pPr marL="0" lvl="0" indent="0" algn="l" rtl="0">
              <a:spcBef>
                <a:spcPts val="0"/>
              </a:spcBef>
              <a:spcAft>
                <a:spcPts val="0"/>
              </a:spcAft>
              <a:buNone/>
            </a:pPr>
            <a:r>
              <a:rPr lang="es-419" sz="4000" b="1" dirty="0">
                <a:solidFill>
                  <a:srgbClr val="999999"/>
                </a:solidFill>
                <a:latin typeface="Montserrat"/>
                <a:ea typeface="Montserrat"/>
                <a:cs typeface="Montserrat"/>
                <a:sym typeface="Montserrat"/>
              </a:rPr>
              <a:t>          la condición sea </a:t>
            </a:r>
          </a:p>
          <a:p>
            <a:pPr marL="0" lvl="0" indent="0" algn="l" rtl="0">
              <a:spcBef>
                <a:spcPts val="0"/>
              </a:spcBef>
              <a:spcAft>
                <a:spcPts val="0"/>
              </a:spcAft>
              <a:buNone/>
            </a:pPr>
            <a:r>
              <a:rPr lang="es-419" sz="4000" b="1" dirty="0">
                <a:solidFill>
                  <a:srgbClr val="999999"/>
                </a:solidFill>
                <a:latin typeface="Montserrat"/>
                <a:ea typeface="Montserrat"/>
                <a:cs typeface="Montserrat"/>
                <a:sym typeface="Montserrat"/>
              </a:rPr>
              <a:t>          verdadera */</a:t>
            </a:r>
            <a:endParaRPr sz="4000" b="1" dirty="0">
              <a:solidFill>
                <a:srgbClr val="999999"/>
              </a:solidFill>
              <a:latin typeface="Montserrat"/>
              <a:ea typeface="Montserrat"/>
              <a:cs typeface="Montserrat"/>
              <a:sym typeface="Montserrat"/>
            </a:endParaRPr>
          </a:p>
          <a:p>
            <a:pPr marL="0" lvl="0" indent="0" algn="l" rtl="0">
              <a:spcBef>
                <a:spcPts val="0"/>
              </a:spcBef>
              <a:spcAft>
                <a:spcPts val="0"/>
              </a:spcAft>
              <a:buNone/>
            </a:pPr>
            <a:r>
              <a:rPr lang="es-419" sz="4000" b="1" dirty="0">
                <a:solidFill>
                  <a:srgbClr val="2E95D3"/>
                </a:solidFill>
                <a:latin typeface="Montserrat"/>
                <a:ea typeface="Montserrat"/>
                <a:cs typeface="Montserrat"/>
                <a:sym typeface="Montserrat"/>
              </a:rPr>
              <a:t>}</a:t>
            </a:r>
            <a:endParaRPr sz="4000" b="1" dirty="0">
              <a:solidFill>
                <a:srgbClr val="2E95D3"/>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a:solidFill>
                  <a:srgbClr val="E122BB"/>
                </a:solidFill>
                <a:latin typeface="Montserrat"/>
                <a:ea typeface="Montserrat"/>
                <a:cs typeface="Montserrat"/>
                <a:sym typeface="Montserrat"/>
              </a:rPr>
              <a:t>Sintaxis del operador ternario</a:t>
            </a: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p:txBody>
      </p:sp>
      <p:sp>
        <p:nvSpPr>
          <p:cNvPr id="74" name="Google Shape;74;p16"/>
          <p:cNvSpPr txBox="1"/>
          <p:nvPr/>
        </p:nvSpPr>
        <p:spPr>
          <a:xfrm>
            <a:off x="6653950" y="1555950"/>
            <a:ext cx="2209200" cy="2031600"/>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a:solidFill>
                  <a:schemeClr val="lt1"/>
                </a:solidFill>
              </a:rPr>
              <a:t>En este ejemplo, el bucle while se ejecutará mientras el valor de contador sea menor que 5. En cada iteración, se imprime el valor del contador y luego se incrementa en 1. Cuando contador alcanza el valor de 5, la condición contador &lt; 5 se vuelve falsa y el bucle se detiene.</a:t>
            </a:r>
            <a:endParaRPr sz="1200">
              <a:solidFill>
                <a:schemeClr val="lt1"/>
              </a:solidFill>
            </a:endParaRPr>
          </a:p>
        </p:txBody>
      </p:sp>
      <p:pic>
        <p:nvPicPr>
          <p:cNvPr id="75" name="Google Shape;75;p16"/>
          <p:cNvPicPr preferRelativeResize="0"/>
          <p:nvPr/>
        </p:nvPicPr>
        <p:blipFill>
          <a:blip r:embed="rId4">
            <a:alphaModFix/>
          </a:blip>
          <a:stretch>
            <a:fillRect/>
          </a:stretch>
        </p:blipFill>
        <p:spPr>
          <a:xfrm>
            <a:off x="724800" y="1410600"/>
            <a:ext cx="4772025" cy="1247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0" y="744575"/>
            <a:ext cx="8520600" cy="947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419" dirty="0">
                <a:solidFill>
                  <a:srgbClr val="E122BB"/>
                </a:solidFill>
                <a:latin typeface="Montserrat ExtraBold"/>
                <a:ea typeface="Montserrat ExtraBold"/>
                <a:cs typeface="Montserrat ExtraBold"/>
                <a:sym typeface="Montserrat ExtraBold"/>
              </a:rPr>
              <a:t>Bucle do-while </a:t>
            </a:r>
          </a:p>
        </p:txBody>
      </p:sp>
      <p:sp>
        <p:nvSpPr>
          <p:cNvPr id="2" name="Google Shape;68;p15">
            <a:extLst>
              <a:ext uri="{FF2B5EF4-FFF2-40B4-BE49-F238E27FC236}">
                <a16:creationId xmlns:a16="http://schemas.microsoft.com/office/drawing/2014/main" id="{A8CFAB38-32D9-6AE0-A7E3-A3A507A1FC9C}"/>
              </a:ext>
            </a:extLst>
          </p:cNvPr>
          <p:cNvSpPr txBox="1"/>
          <p:nvPr/>
        </p:nvSpPr>
        <p:spPr>
          <a:xfrm>
            <a:off x="411608" y="1611445"/>
            <a:ext cx="8520600" cy="2458800"/>
          </a:xfrm>
          <a:prstGeom prst="rect">
            <a:avLst/>
          </a:prstGeom>
          <a:noFill/>
          <a:ln>
            <a:noFill/>
          </a:ln>
        </p:spPr>
        <p:txBody>
          <a:bodyPr spcFirstLastPara="1" wrap="square" lIns="91425" tIns="91425" rIns="91425" bIns="91425" anchor="t" anchorCtr="0">
            <a:noAutofit/>
          </a:bodyPr>
          <a:lstStyle/>
          <a:p>
            <a:pPr marL="406400" lvl="0" indent="-285750" algn="l" rtl="0">
              <a:spcBef>
                <a:spcPts val="0"/>
              </a:spcBef>
              <a:spcAft>
                <a:spcPts val="0"/>
              </a:spcAft>
              <a:buSzPts val="1700"/>
              <a:buFont typeface="System Font Regular"/>
              <a:buChar char="🟣"/>
            </a:pPr>
            <a:r>
              <a:rPr lang="es-419" sz="1700" dirty="0">
                <a:solidFill>
                  <a:schemeClr val="bg1"/>
                </a:solidFill>
                <a:latin typeface="Montserrat Medium"/>
                <a:ea typeface="Montserrat Medium"/>
                <a:cs typeface="Montserrat Medium"/>
                <a:sym typeface="Montserrat Medium"/>
              </a:rPr>
              <a:t>Es una estructura de control que permite repetir un bloque de código mientras una condición especificada sea verdadera. </a:t>
            </a:r>
          </a:p>
          <a:p>
            <a:pPr marL="406400" lvl="0" indent="-285750" algn="l" rtl="0">
              <a:spcBef>
                <a:spcPts val="0"/>
              </a:spcBef>
              <a:spcAft>
                <a:spcPts val="0"/>
              </a:spcAft>
              <a:buSzPts val="1700"/>
              <a:buFont typeface="System Font Regular"/>
              <a:buChar char="🟣"/>
            </a:pPr>
            <a:r>
              <a:rPr lang="es-419" sz="1700" dirty="0">
                <a:solidFill>
                  <a:schemeClr val="bg1"/>
                </a:solidFill>
                <a:latin typeface="Montserrat Medium"/>
                <a:ea typeface="Montserrat Medium"/>
                <a:cs typeface="Montserrat Medium"/>
                <a:sym typeface="Montserrat Medium"/>
              </a:rPr>
              <a:t>El bloque de código dentro del bucle do-while se ejecutará al menos una vez, ya que la condición se evalúa después de la ejecución del bloque.</a:t>
            </a:r>
          </a:p>
          <a:p>
            <a:pPr marL="406400" lvl="0" indent="-285750" algn="l" rtl="0">
              <a:spcBef>
                <a:spcPts val="0"/>
              </a:spcBef>
              <a:spcAft>
                <a:spcPts val="0"/>
              </a:spcAft>
              <a:buSzPts val="1700"/>
              <a:buFont typeface="System Font Regular"/>
              <a:buChar char="🟣"/>
            </a:pPr>
            <a:r>
              <a:rPr lang="es-419" sz="1700" dirty="0">
                <a:solidFill>
                  <a:schemeClr val="bg1"/>
                </a:solidFill>
                <a:latin typeface="Montserrat Medium"/>
                <a:ea typeface="Montserrat Medium"/>
                <a:cs typeface="Montserrat Medium"/>
                <a:sym typeface="Montserrat Medium"/>
              </a:rPr>
              <a:t>Si la condición es verdadera después de la primera ejecución, el bloque de código se ejecutará nuevamente. Esto continuará hasta que la condición sea falsa.</a:t>
            </a:r>
            <a:endParaRPr sz="1700" dirty="0">
              <a:solidFill>
                <a:schemeClr val="bg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671843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Bucle do-while  </a:t>
            </a: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p:txBody>
      </p:sp>
      <p:sp>
        <p:nvSpPr>
          <p:cNvPr id="67" name="Google Shape;67;p15"/>
          <p:cNvSpPr txBox="1"/>
          <p:nvPr/>
        </p:nvSpPr>
        <p:spPr>
          <a:xfrm>
            <a:off x="316259" y="1361287"/>
            <a:ext cx="8676995" cy="336459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4500" b="1" dirty="0">
                <a:solidFill>
                  <a:schemeClr val="bg2"/>
                </a:solidFill>
                <a:latin typeface="Montserrat"/>
                <a:ea typeface="Montserrat"/>
                <a:cs typeface="Montserrat"/>
                <a:sym typeface="Montserrat"/>
              </a:rPr>
              <a:t>do</a:t>
            </a:r>
            <a:r>
              <a:rPr lang="es-419" sz="4500" b="1" dirty="0">
                <a:solidFill>
                  <a:srgbClr val="E122BB"/>
                </a:solidFill>
                <a:latin typeface="Montserrat"/>
                <a:ea typeface="Montserrat"/>
                <a:cs typeface="Montserrat"/>
                <a:sym typeface="Montserrat"/>
              </a:rPr>
              <a:t> {</a:t>
            </a:r>
          </a:p>
          <a:p>
            <a:pPr marL="0" lvl="0" indent="0" algn="l" rtl="0">
              <a:spcBef>
                <a:spcPts val="0"/>
              </a:spcBef>
              <a:spcAft>
                <a:spcPts val="0"/>
              </a:spcAft>
              <a:buNone/>
            </a:pPr>
            <a:r>
              <a:rPr lang="es-419" sz="4500" b="1" dirty="0">
                <a:solidFill>
                  <a:srgbClr val="E122BB"/>
                </a:solidFill>
                <a:latin typeface="Montserrat"/>
                <a:ea typeface="Montserrat"/>
                <a:cs typeface="Montserrat"/>
                <a:sym typeface="Montserrat"/>
              </a:rPr>
              <a:t>    // Bloque de código</a:t>
            </a:r>
          </a:p>
          <a:p>
            <a:pPr marL="0" lvl="0" indent="0" algn="l" rtl="0">
              <a:spcBef>
                <a:spcPts val="0"/>
              </a:spcBef>
              <a:spcAft>
                <a:spcPts val="0"/>
              </a:spcAft>
              <a:buNone/>
            </a:pPr>
            <a:r>
              <a:rPr lang="es-419" sz="4500" b="1" dirty="0">
                <a:solidFill>
                  <a:srgbClr val="E122BB"/>
                </a:solidFill>
                <a:latin typeface="Montserrat"/>
                <a:ea typeface="Montserrat"/>
                <a:cs typeface="Montserrat"/>
                <a:sym typeface="Montserrat"/>
              </a:rPr>
              <a:t>} </a:t>
            </a:r>
            <a:r>
              <a:rPr lang="es-419" sz="4500" b="1" dirty="0">
                <a:solidFill>
                  <a:schemeClr val="bg2"/>
                </a:solidFill>
                <a:latin typeface="Montserrat"/>
                <a:ea typeface="Montserrat"/>
                <a:cs typeface="Montserrat"/>
                <a:sym typeface="Montserrat"/>
              </a:rPr>
              <a:t>while</a:t>
            </a:r>
            <a:r>
              <a:rPr lang="es-419" sz="4500" b="1" dirty="0">
                <a:solidFill>
                  <a:srgbClr val="E122BB"/>
                </a:solidFill>
                <a:latin typeface="Montserrat"/>
                <a:ea typeface="Montserrat"/>
                <a:cs typeface="Montserrat"/>
                <a:sym typeface="Montserrat"/>
              </a:rPr>
              <a:t> </a:t>
            </a:r>
            <a:r>
              <a:rPr lang="es-419" sz="4500" b="1" dirty="0">
                <a:solidFill>
                  <a:schemeClr val="accent1"/>
                </a:solidFill>
                <a:latin typeface="Montserrat"/>
                <a:ea typeface="Montserrat"/>
                <a:cs typeface="Montserrat"/>
                <a:sym typeface="Montserrat"/>
              </a:rPr>
              <a:t>(</a:t>
            </a:r>
            <a:r>
              <a:rPr lang="es-419" sz="4500" b="1" dirty="0">
                <a:solidFill>
                  <a:srgbClr val="E122BB"/>
                </a:solidFill>
                <a:latin typeface="Montserrat"/>
                <a:ea typeface="Montserrat"/>
                <a:cs typeface="Montserrat"/>
                <a:sym typeface="Montserrat"/>
              </a:rPr>
              <a:t>condición</a:t>
            </a:r>
            <a:r>
              <a:rPr lang="es-419" sz="4500" b="1" dirty="0">
                <a:solidFill>
                  <a:schemeClr val="accent1"/>
                </a:solidFill>
                <a:latin typeface="Montserrat"/>
                <a:ea typeface="Montserrat"/>
                <a:cs typeface="Montserrat"/>
                <a:sym typeface="Montserrat"/>
              </a:rPr>
              <a:t>)</a:t>
            </a:r>
            <a:r>
              <a:rPr lang="es-419" sz="4500" b="1" dirty="0">
                <a:solidFill>
                  <a:srgbClr val="E122BB"/>
                </a:solidFill>
                <a:latin typeface="Montserrat"/>
                <a:ea typeface="Montserrat"/>
                <a:cs typeface="Montserrat"/>
                <a:sym typeface="Montserrat"/>
              </a:rPr>
              <a:t>;</a:t>
            </a:r>
          </a:p>
        </p:txBody>
      </p:sp>
    </p:spTree>
    <p:extLst>
      <p:ext uri="{BB962C8B-B14F-4D97-AF65-F5344CB8AC3E}">
        <p14:creationId xmlns:p14="http://schemas.microsoft.com/office/powerpoint/2010/main" val="907289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a:solidFill>
                  <a:srgbClr val="E122BB"/>
                </a:solidFill>
                <a:latin typeface="Montserrat"/>
                <a:ea typeface="Montserrat"/>
                <a:cs typeface="Montserrat"/>
                <a:sym typeface="Montserrat"/>
              </a:rPr>
              <a:t>Sintaxis del operador ternario</a:t>
            </a: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p:txBody>
      </p:sp>
      <p:pic>
        <p:nvPicPr>
          <p:cNvPr id="2" name="Picture 1">
            <a:extLst>
              <a:ext uri="{FF2B5EF4-FFF2-40B4-BE49-F238E27FC236}">
                <a16:creationId xmlns:a16="http://schemas.microsoft.com/office/drawing/2014/main" id="{1DC91447-ECAA-037E-B92B-37526B747E69}"/>
              </a:ext>
            </a:extLst>
          </p:cNvPr>
          <p:cNvPicPr>
            <a:picLocks noChangeAspect="1"/>
          </p:cNvPicPr>
          <p:nvPr/>
        </p:nvPicPr>
        <p:blipFill>
          <a:blip r:embed="rId4"/>
          <a:stretch>
            <a:fillRect/>
          </a:stretch>
        </p:blipFill>
        <p:spPr>
          <a:xfrm>
            <a:off x="535358" y="1351882"/>
            <a:ext cx="6587923" cy="2832191"/>
          </a:xfrm>
          <a:prstGeom prst="rect">
            <a:avLst/>
          </a:prstGeom>
        </p:spPr>
      </p:pic>
      <p:sp>
        <p:nvSpPr>
          <p:cNvPr id="74" name="Google Shape;74;p16"/>
          <p:cNvSpPr txBox="1"/>
          <p:nvPr/>
        </p:nvSpPr>
        <p:spPr>
          <a:xfrm>
            <a:off x="6820205" y="1625222"/>
            <a:ext cx="2209200" cy="2389888"/>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En este ejemplo, el programa solicita al usuario que ingrese un número entre 1 y 10 utilizando un bucle do-while. La condición del bucle do-while es numero &lt; 1 || numero &gt; 10, lo que significa que el bloque de código se ejecutará al menos una vez y se repetirá mientras el número ingresado no esté en el rango especificado.</a:t>
            </a:r>
          </a:p>
        </p:txBody>
      </p:sp>
    </p:spTree>
    <p:extLst>
      <p:ext uri="{BB962C8B-B14F-4D97-AF65-F5344CB8AC3E}">
        <p14:creationId xmlns:p14="http://schemas.microsoft.com/office/powerpoint/2010/main" val="1626160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
        <p:cNvGrpSpPr/>
        <p:nvPr/>
      </p:nvGrpSpPr>
      <p:grpSpPr>
        <a:xfrm>
          <a:off x="0" y="0"/>
          <a:ext cx="0" cy="0"/>
          <a:chOff x="0" y="0"/>
          <a:chExt cx="0" cy="0"/>
        </a:xfrm>
      </p:grpSpPr>
      <p:sp>
        <p:nvSpPr>
          <p:cNvPr id="80" name="Google Shape;80;p17"/>
          <p:cNvSpPr txBox="1">
            <a:spLocks noGrp="1"/>
          </p:cNvSpPr>
          <p:nvPr>
            <p:ph type="ctrTitle"/>
          </p:nvPr>
        </p:nvSpPr>
        <p:spPr>
          <a:xfrm>
            <a:off x="311700" y="238500"/>
            <a:ext cx="8520600" cy="8109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419">
                <a:solidFill>
                  <a:srgbClr val="E122BB"/>
                </a:solidFill>
                <a:latin typeface="Montserrat ExtraBold"/>
                <a:ea typeface="Montserrat ExtraBold"/>
                <a:cs typeface="Montserrat ExtraBold"/>
                <a:sym typeface="Montserrat ExtraBold"/>
              </a:rPr>
              <a:t>Bucle For </a:t>
            </a:r>
            <a:endParaRPr>
              <a:solidFill>
                <a:srgbClr val="E122BB"/>
              </a:solidFill>
              <a:latin typeface="Montserrat ExtraBold"/>
              <a:ea typeface="Montserrat ExtraBold"/>
              <a:cs typeface="Montserrat ExtraBold"/>
              <a:sym typeface="Montserrat ExtraBold"/>
            </a:endParaRPr>
          </a:p>
        </p:txBody>
      </p:sp>
      <p:sp>
        <p:nvSpPr>
          <p:cNvPr id="81" name="Google Shape;81;p17"/>
          <p:cNvSpPr txBox="1"/>
          <p:nvPr/>
        </p:nvSpPr>
        <p:spPr>
          <a:xfrm>
            <a:off x="556475" y="1064700"/>
            <a:ext cx="8107800" cy="301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2000" dirty="0">
                <a:solidFill>
                  <a:schemeClr val="lt1"/>
                </a:solidFill>
                <a:latin typeface="Montserrat Medium"/>
                <a:ea typeface="Montserrat Medium"/>
                <a:cs typeface="Montserrat Medium"/>
                <a:sym typeface="Montserrat Medium"/>
              </a:rPr>
              <a:t>Es un bucle determinado: Son aquellos en los que se sabe de antemano cuántas veces se va a ejecutar el código que hay en su interior. </a:t>
            </a:r>
            <a:endParaRPr sz="2000" dirty="0">
              <a:solidFill>
                <a:schemeClr val="lt1"/>
              </a:solidFill>
              <a:latin typeface="Montserrat Medium"/>
              <a:ea typeface="Montserrat Medium"/>
              <a:cs typeface="Montserrat Medium"/>
              <a:sym typeface="Montserrat Medium"/>
            </a:endParaRPr>
          </a:p>
          <a:p>
            <a:pPr marL="0" lvl="0" indent="0" algn="l" rtl="0">
              <a:lnSpc>
                <a:spcPct val="115000"/>
              </a:lnSpc>
              <a:spcBef>
                <a:spcPts val="1600"/>
              </a:spcBef>
              <a:spcAft>
                <a:spcPts val="0"/>
              </a:spcAft>
              <a:buClr>
                <a:schemeClr val="dk1"/>
              </a:buClr>
              <a:buSzPts val="1100"/>
              <a:buFont typeface="Arial"/>
              <a:buNone/>
            </a:pPr>
            <a:r>
              <a:rPr lang="es-419" sz="2000" dirty="0">
                <a:solidFill>
                  <a:schemeClr val="lt1"/>
                </a:solidFill>
                <a:latin typeface="Montserrat Medium"/>
                <a:ea typeface="Montserrat Medium"/>
                <a:cs typeface="Montserrat Medium"/>
                <a:sym typeface="Montserrat Medium"/>
              </a:rPr>
              <a:t>El bucle for es una construcción general que está controlada por un contador que se actualiza después de cada iteración. </a:t>
            </a:r>
            <a:endParaRPr sz="2000" dirty="0">
              <a:solidFill>
                <a:schemeClr val="lt1"/>
              </a:solidFill>
              <a:latin typeface="Montserrat Medium"/>
              <a:ea typeface="Montserrat Medium"/>
              <a:cs typeface="Montserrat Medium"/>
              <a:sym typeface="Montserrat Medium"/>
            </a:endParaRPr>
          </a:p>
          <a:p>
            <a:pPr marL="0" lvl="0" indent="0" algn="l" rtl="0">
              <a:lnSpc>
                <a:spcPct val="115000"/>
              </a:lnSpc>
              <a:spcBef>
                <a:spcPts val="1600"/>
              </a:spcBef>
              <a:spcAft>
                <a:spcPts val="1600"/>
              </a:spcAft>
              <a:buNone/>
            </a:pPr>
            <a:endParaRPr sz="2000" dirty="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a:solidFill>
                  <a:srgbClr val="E122BB"/>
                </a:solidFill>
                <a:latin typeface="Montserrat"/>
                <a:ea typeface="Montserrat"/>
                <a:cs typeface="Montserrat"/>
                <a:sym typeface="Montserrat"/>
              </a:rPr>
              <a:t>Sintaxis bucle for</a:t>
            </a: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p:txBody>
      </p:sp>
      <p:sp>
        <p:nvSpPr>
          <p:cNvPr id="87" name="Google Shape;87;p18"/>
          <p:cNvSpPr txBox="1"/>
          <p:nvPr/>
        </p:nvSpPr>
        <p:spPr>
          <a:xfrm>
            <a:off x="321325" y="958350"/>
            <a:ext cx="8418900" cy="161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sz="3000" b="1" dirty="0">
                <a:solidFill>
                  <a:schemeClr val="dk2"/>
                </a:solidFill>
                <a:latin typeface="Montserrat"/>
                <a:ea typeface="Montserrat"/>
                <a:cs typeface="Montserrat"/>
                <a:sym typeface="Montserrat"/>
              </a:rPr>
              <a:t>for (</a:t>
            </a:r>
            <a:r>
              <a:rPr lang="es-419" sz="3000" b="1" dirty="0">
                <a:solidFill>
                  <a:srgbClr val="E122BB"/>
                </a:solidFill>
                <a:latin typeface="Montserrat"/>
                <a:ea typeface="Montserrat"/>
                <a:cs typeface="Montserrat"/>
                <a:sym typeface="Montserrat"/>
              </a:rPr>
              <a:t>inicialización</a:t>
            </a:r>
            <a:r>
              <a:rPr lang="es-419" sz="3000" b="1" dirty="0">
                <a:solidFill>
                  <a:schemeClr val="dk2"/>
                </a:solidFill>
                <a:latin typeface="Montserrat"/>
                <a:ea typeface="Montserrat"/>
                <a:cs typeface="Montserrat"/>
                <a:sym typeface="Montserrat"/>
              </a:rPr>
              <a:t>; </a:t>
            </a:r>
            <a:r>
              <a:rPr lang="es-419" sz="3000" b="1" dirty="0">
                <a:solidFill>
                  <a:srgbClr val="2E95D3"/>
                </a:solidFill>
                <a:latin typeface="Montserrat"/>
                <a:ea typeface="Montserrat"/>
                <a:cs typeface="Montserrat"/>
                <a:sym typeface="Montserrat"/>
              </a:rPr>
              <a:t>condición</a:t>
            </a:r>
            <a:r>
              <a:rPr lang="es-419" sz="3000" b="1" dirty="0">
                <a:solidFill>
                  <a:schemeClr val="dk2"/>
                </a:solidFill>
                <a:latin typeface="Montserrat"/>
                <a:ea typeface="Montserrat"/>
                <a:cs typeface="Montserrat"/>
                <a:sym typeface="Montserrat"/>
              </a:rPr>
              <a:t>; </a:t>
            </a:r>
            <a:r>
              <a:rPr lang="es-419" sz="3000" b="1" dirty="0">
                <a:solidFill>
                  <a:srgbClr val="9900FF"/>
                </a:solidFill>
                <a:latin typeface="Montserrat"/>
                <a:ea typeface="Montserrat"/>
                <a:cs typeface="Montserrat"/>
                <a:sym typeface="Montserrat"/>
              </a:rPr>
              <a:t>iteración</a:t>
            </a:r>
            <a:r>
              <a:rPr lang="es-419" sz="3000" b="1" dirty="0">
                <a:solidFill>
                  <a:schemeClr val="dk2"/>
                </a:solidFill>
                <a:latin typeface="Montserrat"/>
                <a:ea typeface="Montserrat"/>
                <a:cs typeface="Montserrat"/>
                <a:sym typeface="Montserrat"/>
              </a:rPr>
              <a:t>) {</a:t>
            </a:r>
            <a:endParaRPr sz="3000" b="1" dirty="0">
              <a:solidFill>
                <a:schemeClr val="dk2"/>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419" sz="3000" b="1" dirty="0">
                <a:solidFill>
                  <a:schemeClr val="dk2"/>
                </a:solidFill>
                <a:latin typeface="Montserrat"/>
                <a:ea typeface="Montserrat"/>
                <a:cs typeface="Montserrat"/>
                <a:sym typeface="Montserrat"/>
              </a:rPr>
              <a:t>    </a:t>
            </a:r>
            <a:r>
              <a:rPr lang="es-419" sz="3000" b="1" dirty="0">
                <a:solidFill>
                  <a:srgbClr val="999999"/>
                </a:solidFill>
                <a:latin typeface="Montserrat"/>
                <a:ea typeface="Montserrat"/>
                <a:cs typeface="Montserrat"/>
                <a:sym typeface="Montserrat"/>
              </a:rPr>
              <a:t>// cuerpo del bucle</a:t>
            </a:r>
            <a:endParaRPr sz="3000" b="1" dirty="0">
              <a:solidFill>
                <a:srgbClr val="999999"/>
              </a:solidFill>
              <a:latin typeface="Montserrat"/>
              <a:ea typeface="Montserrat"/>
              <a:cs typeface="Montserrat"/>
              <a:sym typeface="Montserrat"/>
            </a:endParaRPr>
          </a:p>
          <a:p>
            <a:pPr marL="0" lvl="0" indent="0" algn="l" rtl="0">
              <a:spcBef>
                <a:spcPts val="0"/>
              </a:spcBef>
              <a:spcAft>
                <a:spcPts val="0"/>
              </a:spcAft>
              <a:buNone/>
            </a:pPr>
            <a:r>
              <a:rPr lang="es-419" sz="3000" b="1" dirty="0">
                <a:solidFill>
                  <a:schemeClr val="dk2"/>
                </a:solidFill>
                <a:latin typeface="Montserrat"/>
                <a:ea typeface="Montserrat"/>
                <a:cs typeface="Montserrat"/>
                <a:sym typeface="Montserrat"/>
              </a:rPr>
              <a:t>}</a:t>
            </a:r>
            <a:endParaRPr sz="3000" b="1" dirty="0">
              <a:solidFill>
                <a:schemeClr val="dk2"/>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
        <p:cNvGrpSpPr/>
        <p:nvPr/>
      </p:nvGrpSpPr>
      <p:grpSpPr>
        <a:xfrm>
          <a:off x="0" y="0"/>
          <a:ext cx="0" cy="0"/>
          <a:chOff x="0" y="0"/>
          <a:chExt cx="0" cy="0"/>
        </a:xfrm>
      </p:grpSpPr>
      <p:sp>
        <p:nvSpPr>
          <p:cNvPr id="80" name="Google Shape;80;p17"/>
          <p:cNvSpPr txBox="1">
            <a:spLocks noGrp="1"/>
          </p:cNvSpPr>
          <p:nvPr>
            <p:ph type="ctrTitle"/>
          </p:nvPr>
        </p:nvSpPr>
        <p:spPr>
          <a:xfrm>
            <a:off x="311700" y="238500"/>
            <a:ext cx="8520600" cy="8109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419">
                <a:solidFill>
                  <a:srgbClr val="E122BB"/>
                </a:solidFill>
                <a:latin typeface="Montserrat ExtraBold"/>
                <a:ea typeface="Montserrat ExtraBold"/>
                <a:cs typeface="Montserrat ExtraBold"/>
                <a:sym typeface="Montserrat ExtraBold"/>
              </a:rPr>
              <a:t>Bucle For </a:t>
            </a:r>
            <a:endParaRPr>
              <a:solidFill>
                <a:srgbClr val="E122BB"/>
              </a:solidFill>
              <a:latin typeface="Montserrat ExtraBold"/>
              <a:ea typeface="Montserrat ExtraBold"/>
              <a:cs typeface="Montserrat ExtraBold"/>
              <a:sym typeface="Montserrat ExtraBold"/>
            </a:endParaRPr>
          </a:p>
        </p:txBody>
      </p:sp>
      <p:sp>
        <p:nvSpPr>
          <p:cNvPr id="2" name="Google Shape;88;p18">
            <a:extLst>
              <a:ext uri="{FF2B5EF4-FFF2-40B4-BE49-F238E27FC236}">
                <a16:creationId xmlns:a16="http://schemas.microsoft.com/office/drawing/2014/main" id="{5378DB75-0001-CFC2-7E09-266D5CEF3804}"/>
              </a:ext>
            </a:extLst>
          </p:cNvPr>
          <p:cNvSpPr txBox="1"/>
          <p:nvPr/>
        </p:nvSpPr>
        <p:spPr>
          <a:xfrm>
            <a:off x="601510" y="1049400"/>
            <a:ext cx="8159100" cy="352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sz="1800" b="1" dirty="0">
                <a:solidFill>
                  <a:schemeClr val="bg1"/>
                </a:solidFill>
                <a:latin typeface="Montserrat"/>
                <a:ea typeface="Montserrat"/>
                <a:cs typeface="Montserrat"/>
                <a:sym typeface="Montserrat"/>
              </a:rPr>
              <a:t>La inicialización</a:t>
            </a:r>
            <a:r>
              <a:rPr lang="es-419" sz="1800" dirty="0">
                <a:solidFill>
                  <a:schemeClr val="bg1"/>
                </a:solidFill>
                <a:latin typeface="Montserrat"/>
                <a:ea typeface="Montserrat"/>
                <a:cs typeface="Montserrat"/>
                <a:sym typeface="Montserrat"/>
              </a:rPr>
              <a:t> se ejecuta una vez antes de que comience la iteración del bucle. Es donde generalmente se inicializan las variables de control del bucle.</a:t>
            </a:r>
            <a:endParaRPr sz="1800" dirty="0">
              <a:solidFill>
                <a:schemeClr val="bg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800" dirty="0">
              <a:solidFill>
                <a:schemeClr val="bg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419" sz="1800" b="1" dirty="0">
                <a:solidFill>
                  <a:schemeClr val="bg1"/>
                </a:solidFill>
                <a:latin typeface="Montserrat"/>
                <a:ea typeface="Montserrat"/>
                <a:cs typeface="Montserrat"/>
                <a:sym typeface="Montserrat"/>
              </a:rPr>
              <a:t>La condición</a:t>
            </a:r>
            <a:r>
              <a:rPr lang="es-419" sz="1800" dirty="0">
                <a:solidFill>
                  <a:schemeClr val="bg1"/>
                </a:solidFill>
                <a:latin typeface="Montserrat"/>
                <a:ea typeface="Montserrat"/>
                <a:cs typeface="Montserrat"/>
                <a:sym typeface="Montserrat"/>
              </a:rPr>
              <a:t> es una expresión booleana que se evalúa antes de cada iteración del bucle. Si la condición es verdadera, se ejecuta el cuerpo del bucle; si es falsa, el bucle termina y la ejecución continúa con la instrucción siguiente al bucle for.</a:t>
            </a:r>
            <a:endParaRPr sz="1800" dirty="0">
              <a:solidFill>
                <a:schemeClr val="bg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800" dirty="0">
              <a:solidFill>
                <a:schemeClr val="bg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419" sz="1800" b="1" dirty="0">
                <a:solidFill>
                  <a:schemeClr val="bg1"/>
                </a:solidFill>
                <a:latin typeface="Montserrat"/>
                <a:ea typeface="Montserrat"/>
                <a:cs typeface="Montserrat"/>
                <a:sym typeface="Montserrat"/>
              </a:rPr>
              <a:t>La expresión de iteración</a:t>
            </a:r>
            <a:r>
              <a:rPr lang="es-419" sz="1800" dirty="0">
                <a:solidFill>
                  <a:schemeClr val="bg1"/>
                </a:solidFill>
                <a:latin typeface="Montserrat"/>
                <a:ea typeface="Montserrat"/>
                <a:cs typeface="Montserrat"/>
                <a:sym typeface="Montserrat"/>
              </a:rPr>
              <a:t> se ejecuta al final de cada iteración del bucle, generalmente se utiliza para actualizar las variables de control del bucle.</a:t>
            </a:r>
            <a:endParaRPr sz="1800" dirty="0">
              <a:solidFill>
                <a:schemeClr val="bg1"/>
              </a:solidFill>
              <a:latin typeface="Montserrat"/>
              <a:ea typeface="Montserrat"/>
              <a:cs typeface="Montserrat"/>
              <a:sym typeface="Montserrat"/>
            </a:endParaRPr>
          </a:p>
          <a:p>
            <a:pPr marL="0" lvl="0" indent="0" algn="l" rtl="0">
              <a:spcBef>
                <a:spcPts val="0"/>
              </a:spcBef>
              <a:spcAft>
                <a:spcPts val="0"/>
              </a:spcAft>
              <a:buNone/>
            </a:pPr>
            <a:endParaRPr sz="1800" dirty="0">
              <a:solidFill>
                <a:schemeClr val="bg1"/>
              </a:solidFill>
              <a:latin typeface="Montserrat"/>
              <a:ea typeface="Montserrat"/>
              <a:cs typeface="Montserrat"/>
              <a:sym typeface="Montserrat"/>
            </a:endParaRPr>
          </a:p>
        </p:txBody>
      </p:sp>
    </p:spTree>
    <p:extLst>
      <p:ext uri="{BB962C8B-B14F-4D97-AF65-F5344CB8AC3E}">
        <p14:creationId xmlns:p14="http://schemas.microsoft.com/office/powerpoint/2010/main" val="3478273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a:solidFill>
                  <a:srgbClr val="E122BB"/>
                </a:solidFill>
                <a:latin typeface="Montserrat"/>
                <a:ea typeface="Montserrat"/>
                <a:cs typeface="Montserrat"/>
                <a:sym typeface="Montserrat"/>
              </a:rPr>
              <a:t>Sintaxis bucle for</a:t>
            </a: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p:txBody>
      </p:sp>
      <p:pic>
        <p:nvPicPr>
          <p:cNvPr id="94" name="Google Shape;94;p19"/>
          <p:cNvPicPr preferRelativeResize="0"/>
          <p:nvPr/>
        </p:nvPicPr>
        <p:blipFill>
          <a:blip r:embed="rId4">
            <a:alphaModFix/>
          </a:blip>
          <a:stretch>
            <a:fillRect/>
          </a:stretch>
        </p:blipFill>
        <p:spPr>
          <a:xfrm>
            <a:off x="653225" y="1346999"/>
            <a:ext cx="5501668" cy="879365"/>
          </a:xfrm>
          <a:prstGeom prst="rect">
            <a:avLst/>
          </a:prstGeom>
          <a:noFill/>
          <a:ln>
            <a:noFill/>
          </a:ln>
        </p:spPr>
      </p:pic>
      <p:sp>
        <p:nvSpPr>
          <p:cNvPr id="95" name="Google Shape;95;p19"/>
          <p:cNvSpPr txBox="1"/>
          <p:nvPr/>
        </p:nvSpPr>
        <p:spPr>
          <a:xfrm>
            <a:off x="6208775" y="1347000"/>
            <a:ext cx="2782500" cy="3148200"/>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a:solidFill>
                  <a:schemeClr val="lt1"/>
                </a:solidFill>
              </a:rPr>
              <a:t>La inicialización es int i = 0;, lo que inicializa la variable i con un valor de 0.</a:t>
            </a: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s-419" sz="1200">
                <a:solidFill>
                  <a:schemeClr val="lt1"/>
                </a:solidFill>
              </a:rPr>
              <a:t>La condición es i &lt; 5;, que verifica si i es menor que 5 antes de cada iteración.</a:t>
            </a: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s-419" sz="1200">
                <a:solidFill>
                  <a:schemeClr val="lt1"/>
                </a:solidFill>
              </a:rPr>
              <a:t>La expresión de iteración es i++, que incrementa i en 1 después de cada iteración.</a:t>
            </a: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s-419" sz="1200">
                <a:solidFill>
                  <a:schemeClr val="lt1"/>
                </a:solidFill>
              </a:rPr>
              <a:t>Este bucle imprimirá los valores de i desde 0 hasta 4. Una vez que i llega a 5, la condición i &lt; 5 se vuelve falsa y el bucle termina.</a:t>
            </a:r>
            <a:endParaRPr sz="12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20"/>
          <p:cNvSpPr txBox="1">
            <a:spLocks noGrp="1"/>
          </p:cNvSpPr>
          <p:nvPr>
            <p:ph type="ctrTitle"/>
          </p:nvPr>
        </p:nvSpPr>
        <p:spPr>
          <a:xfrm>
            <a:off x="311700" y="238500"/>
            <a:ext cx="8520600" cy="8109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419">
                <a:solidFill>
                  <a:srgbClr val="E122BB"/>
                </a:solidFill>
                <a:latin typeface="Montserrat ExtraBold"/>
                <a:ea typeface="Montserrat ExtraBold"/>
                <a:cs typeface="Montserrat ExtraBold"/>
                <a:sym typeface="Montserrat ExtraBold"/>
              </a:rPr>
              <a:t>Bucle For-Each </a:t>
            </a:r>
            <a:endParaRPr>
              <a:solidFill>
                <a:srgbClr val="E122BB"/>
              </a:solidFill>
              <a:latin typeface="Montserrat ExtraBold"/>
              <a:ea typeface="Montserrat ExtraBold"/>
              <a:cs typeface="Montserrat ExtraBold"/>
              <a:sym typeface="Montserrat ExtraBold"/>
            </a:endParaRPr>
          </a:p>
        </p:txBody>
      </p:sp>
      <p:sp>
        <p:nvSpPr>
          <p:cNvPr id="101" name="Google Shape;101;p20"/>
          <p:cNvSpPr txBox="1"/>
          <p:nvPr/>
        </p:nvSpPr>
        <p:spPr>
          <a:xfrm>
            <a:off x="866350" y="1264400"/>
            <a:ext cx="7641000" cy="315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419">
                <a:solidFill>
                  <a:schemeClr val="lt1"/>
                </a:solidFill>
                <a:latin typeface="Montserrat Medium"/>
                <a:ea typeface="Montserrat Medium"/>
                <a:cs typeface="Montserrat Medium"/>
                <a:sym typeface="Montserrat Medium"/>
              </a:rPr>
              <a:t>El bucle for-each, también conocido como bucle mejorado, es una estructura de control en Java que permite recorrer fácilmente todos los elementos de una colección o un arreglo sin necesidad de utilizar un índice explícito. Esto hace que el código sea más limpio y fácil de entender.</a:t>
            </a:r>
            <a:endParaRPr>
              <a:solidFill>
                <a:schemeClr val="lt1"/>
              </a:solidFill>
              <a:latin typeface="Montserrat Medium"/>
              <a:ea typeface="Montserrat Medium"/>
              <a:cs typeface="Montserrat Medium"/>
              <a:sym typeface="Montserrat Medium"/>
            </a:endParaRPr>
          </a:p>
          <a:p>
            <a:pPr marL="0" lvl="0" indent="0" algn="l" rtl="0">
              <a:lnSpc>
                <a:spcPct val="115000"/>
              </a:lnSpc>
              <a:spcBef>
                <a:spcPts val="1600"/>
              </a:spcBef>
              <a:spcAft>
                <a:spcPts val="1600"/>
              </a:spcAft>
              <a:buNone/>
            </a:pPr>
            <a:r>
              <a:rPr lang="es-419">
                <a:solidFill>
                  <a:schemeClr val="lt1"/>
                </a:solidFill>
                <a:latin typeface="Montserrat Medium"/>
                <a:ea typeface="Montserrat Medium"/>
                <a:cs typeface="Montserrat Medium"/>
                <a:sym typeface="Montserrat Medium"/>
              </a:rPr>
              <a:t>es especialmente útil cuando necesitas recorrer todos los elementos de una colección o un arreglo sin preocuparte por el índice de cada elemento. Además, el código es más conciso y fácil de entender en comparación con el bucle for tradicional.</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sz="2920" b="1">
                <a:solidFill>
                  <a:srgbClr val="E122BB"/>
                </a:solidFill>
                <a:latin typeface="Montserrat"/>
                <a:ea typeface="Montserrat"/>
                <a:cs typeface="Montserrat"/>
                <a:sym typeface="Montserrat"/>
              </a:rPr>
              <a:t>Sintaxis del bucle for-each</a:t>
            </a:r>
            <a:endParaRPr sz="2920" b="1">
              <a:solidFill>
                <a:srgbClr val="E122BB"/>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p:txBody>
      </p:sp>
      <p:sp>
        <p:nvSpPr>
          <p:cNvPr id="107" name="Google Shape;107;p21"/>
          <p:cNvSpPr txBox="1"/>
          <p:nvPr/>
        </p:nvSpPr>
        <p:spPr>
          <a:xfrm>
            <a:off x="349775" y="1002725"/>
            <a:ext cx="8418900" cy="21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sz="3900" b="1">
                <a:solidFill>
                  <a:srgbClr val="2E95D3"/>
                </a:solidFill>
                <a:latin typeface="Montserrat"/>
                <a:ea typeface="Montserrat"/>
                <a:cs typeface="Montserrat"/>
                <a:sym typeface="Montserrat"/>
              </a:rPr>
              <a:t>for (</a:t>
            </a:r>
            <a:r>
              <a:rPr lang="es-419" sz="3900" b="1">
                <a:solidFill>
                  <a:srgbClr val="E122BB"/>
                </a:solidFill>
                <a:latin typeface="Montserrat"/>
                <a:ea typeface="Montserrat"/>
                <a:cs typeface="Montserrat"/>
                <a:sym typeface="Montserrat"/>
              </a:rPr>
              <a:t>tipo elemento</a:t>
            </a:r>
            <a:r>
              <a:rPr lang="es-419" sz="3900" b="1">
                <a:solidFill>
                  <a:srgbClr val="2E95D3"/>
                </a:solidFill>
                <a:latin typeface="Montserrat"/>
                <a:ea typeface="Montserrat"/>
                <a:cs typeface="Montserrat"/>
                <a:sym typeface="Montserrat"/>
              </a:rPr>
              <a:t> : </a:t>
            </a:r>
            <a:r>
              <a:rPr lang="es-419" sz="3900" b="1">
                <a:solidFill>
                  <a:srgbClr val="E122BB"/>
                </a:solidFill>
                <a:latin typeface="Montserrat"/>
                <a:ea typeface="Montserrat"/>
                <a:cs typeface="Montserrat"/>
                <a:sym typeface="Montserrat"/>
              </a:rPr>
              <a:t>colección</a:t>
            </a:r>
            <a:r>
              <a:rPr lang="es-419" sz="3900" b="1">
                <a:solidFill>
                  <a:srgbClr val="2E95D3"/>
                </a:solidFill>
                <a:latin typeface="Montserrat"/>
                <a:ea typeface="Montserrat"/>
                <a:cs typeface="Montserrat"/>
                <a:sym typeface="Montserrat"/>
              </a:rPr>
              <a:t>) {</a:t>
            </a:r>
            <a:endParaRPr sz="3900" b="1">
              <a:solidFill>
                <a:srgbClr val="2E95D3"/>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419" sz="3900" b="1">
                <a:solidFill>
                  <a:srgbClr val="2E95D3"/>
                </a:solidFill>
                <a:latin typeface="Montserrat"/>
                <a:ea typeface="Montserrat"/>
                <a:cs typeface="Montserrat"/>
                <a:sym typeface="Montserrat"/>
              </a:rPr>
              <a:t>    </a:t>
            </a:r>
            <a:r>
              <a:rPr lang="es-419" sz="3900" b="1">
                <a:solidFill>
                  <a:srgbClr val="999999"/>
                </a:solidFill>
                <a:latin typeface="Montserrat"/>
                <a:ea typeface="Montserrat"/>
                <a:cs typeface="Montserrat"/>
                <a:sym typeface="Montserrat"/>
              </a:rPr>
              <a:t>// Cuerpo del bucle</a:t>
            </a:r>
            <a:endParaRPr sz="3900" b="1">
              <a:solidFill>
                <a:srgbClr val="999999"/>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419" sz="3900" b="1">
                <a:solidFill>
                  <a:srgbClr val="2E95D3"/>
                </a:solidFill>
                <a:latin typeface="Montserrat"/>
                <a:ea typeface="Montserrat"/>
                <a:cs typeface="Montserrat"/>
                <a:sym typeface="Montserrat"/>
              </a:rPr>
              <a:t>}</a:t>
            </a:r>
            <a:endParaRPr sz="3900" b="1">
              <a:solidFill>
                <a:srgbClr val="2E95D3"/>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3900" b="1">
              <a:solidFill>
                <a:srgbClr val="2E95D3"/>
              </a:solidFill>
              <a:latin typeface="Montserrat"/>
              <a:ea typeface="Montserrat"/>
              <a:cs typeface="Montserrat"/>
              <a:sym typeface="Montserrat"/>
            </a:endParaRPr>
          </a:p>
          <a:p>
            <a:pPr marL="0" lvl="0" indent="0" algn="l" rtl="0">
              <a:spcBef>
                <a:spcPts val="0"/>
              </a:spcBef>
              <a:spcAft>
                <a:spcPts val="0"/>
              </a:spcAft>
              <a:buNone/>
            </a:pPr>
            <a:endParaRPr sz="3900" b="1">
              <a:solidFill>
                <a:schemeClr val="dk2"/>
              </a:solidFill>
              <a:latin typeface="Montserrat"/>
              <a:ea typeface="Montserrat"/>
              <a:cs typeface="Montserrat"/>
              <a:sym typeface="Montserrat"/>
            </a:endParaRPr>
          </a:p>
        </p:txBody>
      </p:sp>
      <p:sp>
        <p:nvSpPr>
          <p:cNvPr id="108" name="Google Shape;108;p21"/>
          <p:cNvSpPr txBox="1"/>
          <p:nvPr/>
        </p:nvSpPr>
        <p:spPr>
          <a:xfrm>
            <a:off x="545850" y="3488850"/>
            <a:ext cx="8159100" cy="135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b="1" dirty="0">
                <a:solidFill>
                  <a:schemeClr val="dk2"/>
                </a:solidFill>
                <a:latin typeface="Montserrat"/>
                <a:ea typeface="Montserrat"/>
                <a:cs typeface="Montserrat"/>
                <a:sym typeface="Montserrat"/>
              </a:rPr>
              <a:t>tipo es el tipo de dato de los elementos de la colección.</a:t>
            </a:r>
            <a:endParaRPr b="1" dirty="0">
              <a:solidFill>
                <a:schemeClr val="dk2"/>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419" b="1" dirty="0">
                <a:solidFill>
                  <a:schemeClr val="dk2"/>
                </a:solidFill>
                <a:latin typeface="Montserrat"/>
                <a:ea typeface="Montserrat"/>
                <a:cs typeface="Montserrat"/>
                <a:sym typeface="Montserrat"/>
              </a:rPr>
              <a:t>elemento es una variable que representa cada elemento de la colección en cada iteración del bucle.</a:t>
            </a:r>
            <a:endParaRPr b="1" dirty="0">
              <a:solidFill>
                <a:schemeClr val="dk2"/>
              </a:solidFill>
              <a:latin typeface="Montserrat"/>
              <a:ea typeface="Montserrat"/>
              <a:cs typeface="Montserrat"/>
              <a:sym typeface="Montserrat"/>
            </a:endParaRPr>
          </a:p>
          <a:p>
            <a:pPr marL="0" lvl="0" indent="0" algn="l" rtl="0">
              <a:spcBef>
                <a:spcPts val="0"/>
              </a:spcBef>
              <a:spcAft>
                <a:spcPts val="0"/>
              </a:spcAft>
              <a:buNone/>
            </a:pPr>
            <a:r>
              <a:rPr lang="es-419" b="1" dirty="0">
                <a:solidFill>
                  <a:schemeClr val="dk2"/>
                </a:solidFill>
                <a:latin typeface="Montserrat"/>
                <a:ea typeface="Montserrat"/>
                <a:cs typeface="Montserrat"/>
                <a:sym typeface="Montserrat"/>
              </a:rPr>
              <a:t>colección es la colección o arreglo a recorrer.</a:t>
            </a:r>
            <a:endParaRPr b="1" dirty="0">
              <a:solidFill>
                <a:schemeClr val="dk2"/>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sz="2920" b="1" dirty="0">
                <a:solidFill>
                  <a:srgbClr val="E122BB"/>
                </a:solidFill>
                <a:latin typeface="Montserrat"/>
                <a:ea typeface="Montserrat"/>
                <a:cs typeface="Montserrat"/>
                <a:sym typeface="Montserrat"/>
              </a:rPr>
              <a:t>Uso del bucle for-each con un arreglo</a:t>
            </a: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p:txBody>
      </p:sp>
      <p:pic>
        <p:nvPicPr>
          <p:cNvPr id="115" name="Google Shape;115;p22"/>
          <p:cNvPicPr preferRelativeResize="0"/>
          <p:nvPr/>
        </p:nvPicPr>
        <p:blipFill>
          <a:blip r:embed="rId4">
            <a:alphaModFix/>
          </a:blip>
          <a:stretch>
            <a:fillRect/>
          </a:stretch>
        </p:blipFill>
        <p:spPr>
          <a:xfrm>
            <a:off x="659700" y="1416374"/>
            <a:ext cx="6182433" cy="2487715"/>
          </a:xfrm>
          <a:prstGeom prst="rect">
            <a:avLst/>
          </a:prstGeom>
          <a:noFill/>
          <a:ln>
            <a:noFill/>
          </a:ln>
        </p:spPr>
      </p:pic>
      <p:sp>
        <p:nvSpPr>
          <p:cNvPr id="114" name="Google Shape;114;p22"/>
          <p:cNvSpPr txBox="1"/>
          <p:nvPr/>
        </p:nvSpPr>
        <p:spPr>
          <a:xfrm>
            <a:off x="6735725" y="2268000"/>
            <a:ext cx="2216400" cy="2204400"/>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En este ejemplo, el bucle for-each itera sobre todos los elementos del arreglo nombres. En cada iteración, la variable nombre toma el valor de un elemento del arreglo y se ejecuta el bloque de código dentro del bucle, que en este caso simplemente imprime el nombre en la consola.</a:t>
            </a:r>
            <a:endParaRPr sz="1200" dirty="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a:solidFill>
                  <a:srgbClr val="E122BB"/>
                </a:solidFill>
                <a:latin typeface="Montserrat"/>
                <a:ea typeface="Montserrat"/>
                <a:cs typeface="Montserrat"/>
                <a:sym typeface="Montserrat"/>
              </a:rPr>
              <a:t>Uso del bucle for-each con un arreglo</a:t>
            </a: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a:solidFill>
                <a:srgbClr val="E122BB"/>
              </a:solidFill>
              <a:latin typeface="Montserrat"/>
              <a:ea typeface="Montserrat"/>
              <a:cs typeface="Montserrat"/>
              <a:sym typeface="Montserrat"/>
            </a:endParaRPr>
          </a:p>
        </p:txBody>
      </p:sp>
      <p:sp>
        <p:nvSpPr>
          <p:cNvPr id="121" name="Google Shape;121;p23"/>
          <p:cNvSpPr txBox="1"/>
          <p:nvPr/>
        </p:nvSpPr>
        <p:spPr>
          <a:xfrm>
            <a:off x="6735725" y="2268000"/>
            <a:ext cx="2216400" cy="1540800"/>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a:solidFill>
                  <a:schemeClr val="lt1"/>
                </a:solidFill>
              </a:rPr>
              <a:t>En este ejemplo, el bucle for-each itera sobre todos los elementos del ArrayList numeros. En cada iteración, la variable num toma el valor de un elemento del ArrayList y se imprime en la consola.</a:t>
            </a:r>
            <a:endParaRPr sz="1200">
              <a:solidFill>
                <a:schemeClr val="lt1"/>
              </a:solidFill>
            </a:endParaRPr>
          </a:p>
        </p:txBody>
      </p:sp>
      <p:pic>
        <p:nvPicPr>
          <p:cNvPr id="122" name="Google Shape;122;p23"/>
          <p:cNvPicPr preferRelativeResize="0"/>
          <p:nvPr/>
        </p:nvPicPr>
        <p:blipFill>
          <a:blip r:embed="rId4">
            <a:alphaModFix/>
          </a:blip>
          <a:stretch>
            <a:fillRect/>
          </a:stretch>
        </p:blipFill>
        <p:spPr>
          <a:xfrm>
            <a:off x="627025" y="1330525"/>
            <a:ext cx="5734050" cy="3314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20"/>
          <p:cNvSpPr txBox="1">
            <a:spLocks noGrp="1"/>
          </p:cNvSpPr>
          <p:nvPr>
            <p:ph type="ctrTitle"/>
          </p:nvPr>
        </p:nvSpPr>
        <p:spPr>
          <a:xfrm>
            <a:off x="311700" y="238500"/>
            <a:ext cx="8520600" cy="8109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419" dirty="0">
                <a:solidFill>
                  <a:srgbClr val="E122BB"/>
                </a:solidFill>
                <a:latin typeface="Montserrat ExtraBold"/>
                <a:ea typeface="Montserrat ExtraBold"/>
                <a:cs typeface="Montserrat ExtraBold"/>
                <a:sym typeface="Montserrat ExtraBold"/>
              </a:rPr>
              <a:t>continue</a:t>
            </a:r>
          </a:p>
        </p:txBody>
      </p:sp>
      <p:sp>
        <p:nvSpPr>
          <p:cNvPr id="101" name="Google Shape;101;p20"/>
          <p:cNvSpPr txBox="1"/>
          <p:nvPr/>
        </p:nvSpPr>
        <p:spPr>
          <a:xfrm>
            <a:off x="776896" y="1244410"/>
            <a:ext cx="7562707" cy="2846327"/>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419" dirty="0">
                <a:solidFill>
                  <a:schemeClr val="lt1"/>
                </a:solidFill>
                <a:latin typeface="Montserrat Medium"/>
                <a:ea typeface="Montserrat Medium"/>
                <a:cs typeface="Montserrat Medium"/>
                <a:sym typeface="Montserrat Medium"/>
              </a:rPr>
              <a:t>Es utilizada para controlar el flujo de bucles, como for, while, y do-while. Su propósito es inmediatamente terminar la iteración actual del bucle en el que se encuentra, saltándose cualquier código que siga después de continue dentro de esa iteración, y procediendo directamente con la próxima iteración del bucle.</a:t>
            </a:r>
          </a:p>
          <a:p>
            <a:pPr marL="0" lvl="0" indent="0" algn="l" rtl="0">
              <a:lnSpc>
                <a:spcPct val="115000"/>
              </a:lnSpc>
              <a:spcBef>
                <a:spcPts val="0"/>
              </a:spcBef>
              <a:spcAft>
                <a:spcPts val="0"/>
              </a:spcAft>
              <a:buNone/>
            </a:pPr>
            <a:endParaRPr lang="es-419"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None/>
            </a:pPr>
            <a:r>
              <a:rPr lang="es-419" b="1" u="sng" dirty="0">
                <a:solidFill>
                  <a:schemeClr val="lt1"/>
                </a:solidFill>
                <a:latin typeface="Montserrat Medium"/>
                <a:ea typeface="Montserrat Medium"/>
                <a:cs typeface="Montserrat Medium"/>
                <a:sym typeface="Montserrat Medium"/>
              </a:rPr>
              <a:t>Funcionamiento del continue</a:t>
            </a:r>
          </a:p>
          <a:p>
            <a:pPr marL="0" lvl="0" indent="0" algn="l" rtl="0">
              <a:lnSpc>
                <a:spcPct val="115000"/>
              </a:lnSpc>
              <a:spcBef>
                <a:spcPts val="0"/>
              </a:spcBef>
              <a:spcAft>
                <a:spcPts val="0"/>
              </a:spcAft>
              <a:buNone/>
            </a:pPr>
            <a:r>
              <a:rPr lang="es-419" dirty="0">
                <a:solidFill>
                  <a:schemeClr val="lt1"/>
                </a:solidFill>
                <a:latin typeface="Montserrat Medium"/>
                <a:ea typeface="Montserrat Medium"/>
                <a:cs typeface="Montserrat Medium"/>
                <a:sym typeface="Montserrat Medium"/>
              </a:rPr>
              <a:t>Cuando el flujo del programa llega a una instrucción continue, el bucle omite el resto de su cuerpo para esa iteración particular y continúa con la siguiente iteración. Esto es especialmente útil cuando necesitas saltar sobre ciertas iteraciones basadas en condiciones específicas, sin salir completamente del bucle.</a:t>
            </a:r>
          </a:p>
          <a:p>
            <a:pPr marL="0" lvl="0" indent="0" algn="l" rtl="0">
              <a:lnSpc>
                <a:spcPct val="115000"/>
              </a:lnSpc>
              <a:spcBef>
                <a:spcPts val="0"/>
              </a:spcBef>
              <a:spcAft>
                <a:spcPts val="0"/>
              </a:spcAft>
              <a:buNone/>
            </a:pPr>
            <a:endParaRPr lang="es-419" dirty="0">
              <a:solidFill>
                <a:schemeClr val="l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730122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sz="2920" b="1" dirty="0">
                <a:solidFill>
                  <a:srgbClr val="E122BB"/>
                </a:solidFill>
                <a:latin typeface="Montserrat"/>
                <a:ea typeface="Montserrat"/>
                <a:cs typeface="Montserrat"/>
                <a:sym typeface="Montserrat"/>
              </a:rPr>
              <a:t>Uso del continue</a:t>
            </a: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p:txBody>
      </p:sp>
      <p:sp>
        <p:nvSpPr>
          <p:cNvPr id="114" name="Google Shape;114;p22"/>
          <p:cNvSpPr txBox="1"/>
          <p:nvPr/>
        </p:nvSpPr>
        <p:spPr>
          <a:xfrm>
            <a:off x="6572823" y="2268000"/>
            <a:ext cx="2379302" cy="1059591"/>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Consideremos que deseas imprimir números del 1 al 10, pero quieres omitir todos los números que son múltiplos de 3</a:t>
            </a:r>
            <a:endParaRPr sz="1200" dirty="0">
              <a:solidFill>
                <a:schemeClr val="lt1"/>
              </a:solidFill>
            </a:endParaRPr>
          </a:p>
        </p:txBody>
      </p:sp>
      <p:pic>
        <p:nvPicPr>
          <p:cNvPr id="2" name="Picture 1">
            <a:extLst>
              <a:ext uri="{FF2B5EF4-FFF2-40B4-BE49-F238E27FC236}">
                <a16:creationId xmlns:a16="http://schemas.microsoft.com/office/drawing/2014/main" id="{0BA42114-450A-D052-F164-CBC959245A68}"/>
              </a:ext>
            </a:extLst>
          </p:cNvPr>
          <p:cNvPicPr>
            <a:picLocks noChangeAspect="1"/>
          </p:cNvPicPr>
          <p:nvPr/>
        </p:nvPicPr>
        <p:blipFill>
          <a:blip r:embed="rId4"/>
          <a:stretch>
            <a:fillRect/>
          </a:stretch>
        </p:blipFill>
        <p:spPr>
          <a:xfrm>
            <a:off x="591123" y="1283750"/>
            <a:ext cx="5981700" cy="1968500"/>
          </a:xfrm>
          <a:prstGeom prst="rect">
            <a:avLst/>
          </a:prstGeom>
        </p:spPr>
      </p:pic>
    </p:spTree>
    <p:extLst>
      <p:ext uri="{BB962C8B-B14F-4D97-AF65-F5344CB8AC3E}">
        <p14:creationId xmlns:p14="http://schemas.microsoft.com/office/powerpoint/2010/main" val="1370611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20"/>
          <p:cNvSpPr txBox="1">
            <a:spLocks noGrp="1"/>
          </p:cNvSpPr>
          <p:nvPr>
            <p:ph type="ctrTitle"/>
          </p:nvPr>
        </p:nvSpPr>
        <p:spPr>
          <a:xfrm>
            <a:off x="311700" y="238500"/>
            <a:ext cx="8520600" cy="8109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419" dirty="0">
                <a:solidFill>
                  <a:srgbClr val="E122BB"/>
                </a:solidFill>
                <a:latin typeface="Montserrat ExtraBold"/>
                <a:ea typeface="Montserrat ExtraBold"/>
                <a:cs typeface="Montserrat ExtraBold"/>
                <a:sym typeface="Montserrat ExtraBold"/>
              </a:rPr>
              <a:t>break</a:t>
            </a:r>
          </a:p>
        </p:txBody>
      </p:sp>
      <p:sp>
        <p:nvSpPr>
          <p:cNvPr id="101" name="Google Shape;101;p20"/>
          <p:cNvSpPr txBox="1"/>
          <p:nvPr/>
        </p:nvSpPr>
        <p:spPr>
          <a:xfrm>
            <a:off x="776896" y="1423164"/>
            <a:ext cx="7562707" cy="295298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419" dirty="0">
                <a:solidFill>
                  <a:schemeClr val="lt1"/>
                </a:solidFill>
                <a:latin typeface="Montserrat Medium"/>
                <a:ea typeface="Montserrat Medium"/>
                <a:cs typeface="Montserrat Medium"/>
                <a:sym typeface="Montserrat Medium"/>
              </a:rPr>
              <a:t>se utiliza para terminar de manera inmediata un bucle, independientemente del estado en que se encuentre su condición de continuación. Break puede ser usado en todos los tipos de bucles, incluyendo for, while y do-while, así como en estructuras de selección como switch.</a:t>
            </a:r>
          </a:p>
          <a:p>
            <a:pPr marL="0" lvl="0" indent="0" algn="l" rtl="0">
              <a:lnSpc>
                <a:spcPct val="115000"/>
              </a:lnSpc>
              <a:spcBef>
                <a:spcPts val="0"/>
              </a:spcBef>
              <a:spcAft>
                <a:spcPts val="0"/>
              </a:spcAft>
              <a:buNone/>
            </a:pPr>
            <a:endParaRPr lang="es-419"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None/>
            </a:pPr>
            <a:r>
              <a:rPr lang="es-419" b="1" u="sng" dirty="0">
                <a:solidFill>
                  <a:schemeClr val="lt1"/>
                </a:solidFill>
                <a:latin typeface="Montserrat Medium"/>
                <a:ea typeface="Montserrat Medium"/>
                <a:cs typeface="Montserrat Medium"/>
                <a:sym typeface="Montserrat Medium"/>
              </a:rPr>
              <a:t>Funcionamiento del break</a:t>
            </a:r>
          </a:p>
          <a:p>
            <a:pPr marL="0" lvl="0" indent="0" algn="l" rtl="0">
              <a:lnSpc>
                <a:spcPct val="115000"/>
              </a:lnSpc>
              <a:spcBef>
                <a:spcPts val="0"/>
              </a:spcBef>
              <a:spcAft>
                <a:spcPts val="0"/>
              </a:spcAft>
              <a:buNone/>
            </a:pPr>
            <a:r>
              <a:rPr lang="es-419" dirty="0">
                <a:solidFill>
                  <a:schemeClr val="lt1"/>
                </a:solidFill>
                <a:latin typeface="Montserrat Medium"/>
                <a:ea typeface="Montserrat Medium"/>
                <a:cs typeface="Montserrat Medium"/>
                <a:sym typeface="Montserrat Medium"/>
              </a:rPr>
              <a:t>Cuando el flujo del programa llega a una instrucción break, el bucle o la estructura switch en la que se encuentra se termina inmediatamente. El control del programa se transfiere al bloque de código que sigue inmediatamente después del bucle o switch.</a:t>
            </a:r>
          </a:p>
        </p:txBody>
      </p:sp>
    </p:spTree>
    <p:extLst>
      <p:ext uri="{BB962C8B-B14F-4D97-AF65-F5344CB8AC3E}">
        <p14:creationId xmlns:p14="http://schemas.microsoft.com/office/powerpoint/2010/main" val="1072250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sz="2920" b="1" dirty="0">
                <a:solidFill>
                  <a:srgbClr val="E122BB"/>
                </a:solidFill>
                <a:latin typeface="Montserrat"/>
                <a:ea typeface="Montserrat"/>
                <a:cs typeface="Montserrat"/>
                <a:sym typeface="Montserrat"/>
              </a:rPr>
              <a:t>Uso del break</a:t>
            </a: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3DB3F27B-21B6-CBE4-BCBC-B86BCB03AE39}"/>
              </a:ext>
            </a:extLst>
          </p:cNvPr>
          <p:cNvPicPr>
            <a:picLocks noChangeAspect="1"/>
          </p:cNvPicPr>
          <p:nvPr/>
        </p:nvPicPr>
        <p:blipFill>
          <a:blip r:embed="rId4"/>
          <a:stretch>
            <a:fillRect/>
          </a:stretch>
        </p:blipFill>
        <p:spPr>
          <a:xfrm>
            <a:off x="708145" y="1334503"/>
            <a:ext cx="5864678" cy="2138164"/>
          </a:xfrm>
          <a:prstGeom prst="rect">
            <a:avLst/>
          </a:prstGeom>
        </p:spPr>
      </p:pic>
      <p:sp>
        <p:nvSpPr>
          <p:cNvPr id="114" name="Google Shape;114;p22"/>
          <p:cNvSpPr txBox="1"/>
          <p:nvPr/>
        </p:nvSpPr>
        <p:spPr>
          <a:xfrm>
            <a:off x="6572823" y="2268000"/>
            <a:ext cx="2379302" cy="1348349"/>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Supongamos que necesitas buscar un elemento en un arreglo y detener la búsqueda tan pronto como encuentres el primer elemento que cumpla con un criterio específico</a:t>
            </a:r>
            <a:endParaRPr sz="1200" dirty="0">
              <a:solidFill>
                <a:schemeClr val="lt1"/>
              </a:solidFill>
            </a:endParaRPr>
          </a:p>
        </p:txBody>
      </p:sp>
    </p:spTree>
    <p:extLst>
      <p:ext uri="{BB962C8B-B14F-4D97-AF65-F5344CB8AC3E}">
        <p14:creationId xmlns:p14="http://schemas.microsoft.com/office/powerpoint/2010/main" val="294786017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1164</Words>
  <Application>Microsoft Macintosh PowerPoint</Application>
  <PresentationFormat>On-screen Show (16:9)</PresentationFormat>
  <Paragraphs>93</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Montserrat ExtraBold</vt:lpstr>
      <vt:lpstr>Montserrat</vt:lpstr>
      <vt:lpstr>Arial</vt:lpstr>
      <vt:lpstr>System Font Regular</vt:lpstr>
      <vt:lpstr>Montserrat Medium</vt:lpstr>
      <vt:lpstr>Simple Light</vt:lpstr>
      <vt:lpstr>Estructuras de control de Flujo: Iteradores</vt:lpstr>
      <vt:lpstr>Bucle while </vt:lpstr>
      <vt:lpstr>Bucle while </vt:lpstr>
      <vt:lpstr>Bucle while   </vt:lpstr>
      <vt:lpstr>Sintaxis del operador ternario  </vt:lpstr>
      <vt:lpstr>Bucle do-while </vt:lpstr>
      <vt:lpstr>Bucle do-while    </vt:lpstr>
      <vt:lpstr>Sintaxis del operador ternario  </vt:lpstr>
      <vt:lpstr>Bucle For </vt:lpstr>
      <vt:lpstr>Sintaxis bucle for  </vt:lpstr>
      <vt:lpstr>Bucle For </vt:lpstr>
      <vt:lpstr>Sintaxis bucle for   </vt:lpstr>
      <vt:lpstr>Bucle For-Each </vt:lpstr>
      <vt:lpstr>Sintaxis del bucle for-each    </vt:lpstr>
      <vt:lpstr>Uso del bucle for-each con un arreglo     </vt:lpstr>
      <vt:lpstr>Uso del bucle for-each con un arreglo     </vt:lpstr>
      <vt:lpstr>continue</vt:lpstr>
      <vt:lpstr>Uso del continue    </vt:lpstr>
      <vt:lpstr>break</vt:lpstr>
      <vt:lpstr>Uso del break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Estructuras de control de Flujo: Iteradores</dc:title>
  <cp:lastModifiedBy>Facundo Uferer</cp:lastModifiedBy>
  <cp:revision>4</cp:revision>
  <dcterms:modified xsi:type="dcterms:W3CDTF">2024-04-17T23:21:40Z</dcterms:modified>
</cp:coreProperties>
</file>