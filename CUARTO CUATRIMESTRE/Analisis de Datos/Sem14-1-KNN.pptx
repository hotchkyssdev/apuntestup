
<file path=[Content_Types].xml><?xml version="1.0" encoding="utf-8"?>
<Types xmlns="http://schemas.openxmlformats.org/package/2006/content-types">
  <Default Extension="png" ContentType="image/png"/>
  <Default Extension="jpeg" ContentType="image/jpeg"/>
  <Default Extension="wmf" ContentType="image/x-wmf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94" r:id="rId1"/>
  </p:sldMasterIdLst>
  <p:handoutMasterIdLst>
    <p:handoutMasterId r:id="rId21"/>
  </p:handoutMasterIdLst>
  <p:sldIdLst>
    <p:sldId id="256" r:id="rId2"/>
    <p:sldId id="343" r:id="rId3"/>
    <p:sldId id="344" r:id="rId4"/>
    <p:sldId id="345" r:id="rId5"/>
    <p:sldId id="346" r:id="rId6"/>
    <p:sldId id="347" r:id="rId7"/>
    <p:sldId id="348" r:id="rId8"/>
    <p:sldId id="349" r:id="rId9"/>
    <p:sldId id="350" r:id="rId10"/>
    <p:sldId id="351" r:id="rId11"/>
    <p:sldId id="352" r:id="rId12"/>
    <p:sldId id="353" r:id="rId13"/>
    <p:sldId id="354" r:id="rId14"/>
    <p:sldId id="355" r:id="rId15"/>
    <p:sldId id="356" r:id="rId16"/>
    <p:sldId id="357" r:id="rId17"/>
    <p:sldId id="358" r:id="rId18"/>
    <p:sldId id="359" r:id="rId19"/>
    <p:sldId id="283" r:id="rId20"/>
  </p:sldIdLst>
  <p:sldSz cx="9144000" cy="5143500" type="screen16x9"/>
  <p:notesSz cx="7099300" cy="10234613"/>
  <p:defaultTextStyle>
    <a:defPPr>
      <a:defRPr lang="es-AR"/>
    </a:defPPr>
    <a:lvl1pPr algn="l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32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32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32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32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F00"/>
    <a:srgbClr val="29FFFA"/>
    <a:srgbClr val="FF7D7D"/>
    <a:srgbClr val="3D41EB"/>
    <a:srgbClr val="0000CC"/>
    <a:srgbClr val="8286A6"/>
    <a:srgbClr val="97979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35" autoAdjust="0"/>
    <p:restoredTop sz="94718" autoAdjust="0"/>
  </p:normalViewPr>
  <p:slideViewPr>
    <p:cSldViewPr>
      <p:cViewPr varScale="1">
        <p:scale>
          <a:sx n="105" d="100"/>
          <a:sy n="105" d="100"/>
        </p:scale>
        <p:origin x="390" y="96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48" y="5766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celo" userId="acdc93b2-ebd9-4c97-ab19-3ec72dfb892c" providerId="ADAL" clId="{7D912DA5-5FC4-4A34-8414-8D5E939ABA4F}"/>
    <pc:docChg chg="modSld">
      <pc:chgData name="Marcelo" userId="acdc93b2-ebd9-4c97-ab19-3ec72dfb892c" providerId="ADAL" clId="{7D912DA5-5FC4-4A34-8414-8D5E939ABA4F}" dt="2021-11-08T22:48:11.053" v="20" actId="18131"/>
      <pc:docMkLst>
        <pc:docMk/>
      </pc:docMkLst>
      <pc:sldChg chg="modSp mod">
        <pc:chgData name="Marcelo" userId="acdc93b2-ebd9-4c97-ab19-3ec72dfb892c" providerId="ADAL" clId="{7D912DA5-5FC4-4A34-8414-8D5E939ABA4F}" dt="2021-11-08T22:47:05.817" v="13" actId="732"/>
        <pc:sldMkLst>
          <pc:docMk/>
          <pc:sldMk cId="0" sldId="345"/>
        </pc:sldMkLst>
        <pc:picChg chg="mod modCrop">
          <ac:chgData name="Marcelo" userId="acdc93b2-ebd9-4c97-ab19-3ec72dfb892c" providerId="ADAL" clId="{7D912DA5-5FC4-4A34-8414-8D5E939ABA4F}" dt="2021-11-08T22:47:05.817" v="13" actId="732"/>
          <ac:picMkLst>
            <pc:docMk/>
            <pc:sldMk cId="0" sldId="345"/>
            <ac:picMk id="9" creationId="{00000000-0000-0000-0000-000000000000}"/>
          </ac:picMkLst>
        </pc:picChg>
      </pc:sldChg>
      <pc:sldChg chg="modSp mod">
        <pc:chgData name="Marcelo" userId="acdc93b2-ebd9-4c97-ab19-3ec72dfb892c" providerId="ADAL" clId="{7D912DA5-5FC4-4A34-8414-8D5E939ABA4F}" dt="2021-11-08T22:48:11.053" v="20" actId="18131"/>
        <pc:sldMkLst>
          <pc:docMk/>
          <pc:sldMk cId="0" sldId="351"/>
        </pc:sldMkLst>
        <pc:picChg chg="mod modCrop">
          <ac:chgData name="Marcelo" userId="acdc93b2-ebd9-4c97-ab19-3ec72dfb892c" providerId="ADAL" clId="{7D912DA5-5FC4-4A34-8414-8D5E939ABA4F}" dt="2021-11-08T22:48:11.053" v="20" actId="18131"/>
          <ac:picMkLst>
            <pc:docMk/>
            <pc:sldMk cId="0" sldId="351"/>
            <ac:picMk id="8" creationId="{00000000-0000-0000-0000-000000000000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3" name="2 Marcador de fecha"/>
          <p:cNvSpPr>
            <a:spLocks noGrp="1"/>
          </p:cNvSpPr>
          <p:nvPr>
            <p:ph type="dt" sz="quarter" idx="1"/>
          </p:nvPr>
        </p:nvSpPr>
        <p:spPr>
          <a:xfrm>
            <a:off x="4021138" y="0"/>
            <a:ext cx="3076575" cy="511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DDBF2D-9F60-4D0E-8EA5-FC96E57339A1}" type="datetimeFigureOut">
              <a:rPr lang="es-AR" smtClean="0"/>
              <a:pPr/>
              <a:t>1/11/2025</a:t>
            </a:fld>
            <a:endParaRPr lang="es-AR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2"/>
          </p:nvPr>
        </p:nvSpPr>
        <p:spPr>
          <a:xfrm>
            <a:off x="0" y="9721850"/>
            <a:ext cx="3076575" cy="511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3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91FF78-4493-4148-A949-6AC4659F29DB}" type="slidenum">
              <a:rPr lang="es-AR" smtClean="0"/>
              <a:pPr/>
              <a:t>‹Nº›</a:t>
            </a:fld>
            <a:endParaRPr lang="es-A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Rectángulo"/>
          <p:cNvSpPr/>
          <p:nvPr/>
        </p:nvSpPr>
        <p:spPr>
          <a:xfrm>
            <a:off x="1" y="0"/>
            <a:ext cx="365125" cy="5141119"/>
          </a:xfrm>
          <a:prstGeom prst="rect">
            <a:avLst/>
          </a:prstGeom>
          <a:solidFill>
            <a:srgbClr val="FFFFFF">
              <a:alpha val="100000"/>
            </a:srgb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5" name="4 Rectángulo"/>
          <p:cNvSpPr/>
          <p:nvPr/>
        </p:nvSpPr>
        <p:spPr>
          <a:xfrm>
            <a:off x="309564" y="510779"/>
            <a:ext cx="46037" cy="273844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6" name="5 Rectángulo"/>
          <p:cNvSpPr/>
          <p:nvPr/>
        </p:nvSpPr>
        <p:spPr>
          <a:xfrm>
            <a:off x="268289" y="510779"/>
            <a:ext cx="28575" cy="273844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7" name="6 Rectángulo"/>
          <p:cNvSpPr/>
          <p:nvPr/>
        </p:nvSpPr>
        <p:spPr>
          <a:xfrm>
            <a:off x="249239" y="510779"/>
            <a:ext cx="9525" cy="273844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0" name="9 Rectángulo"/>
          <p:cNvSpPr/>
          <p:nvPr/>
        </p:nvSpPr>
        <p:spPr>
          <a:xfrm>
            <a:off x="222250" y="510779"/>
            <a:ext cx="7938" cy="273844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11" name="10 Rectángulo"/>
          <p:cNvSpPr/>
          <p:nvPr/>
        </p:nvSpPr>
        <p:spPr>
          <a:xfrm>
            <a:off x="255589" y="3784998"/>
            <a:ext cx="73025" cy="1269206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2" name="11 Rectángulo"/>
          <p:cNvSpPr/>
          <p:nvPr/>
        </p:nvSpPr>
        <p:spPr>
          <a:xfrm>
            <a:off x="255589" y="3598069"/>
            <a:ext cx="73025" cy="171450"/>
          </a:xfrm>
          <a:prstGeom prst="rect">
            <a:avLst/>
          </a:prstGeom>
          <a:solidFill>
            <a:schemeClr val="accent3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3" name="12 Rectángulo"/>
          <p:cNvSpPr/>
          <p:nvPr/>
        </p:nvSpPr>
        <p:spPr>
          <a:xfrm>
            <a:off x="255589" y="3477816"/>
            <a:ext cx="73025" cy="103584"/>
          </a:xfrm>
          <a:prstGeom prst="rect">
            <a:avLst/>
          </a:prstGeom>
          <a:solidFill>
            <a:schemeClr val="bg2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4" name="13 Rectángulo"/>
          <p:cNvSpPr/>
          <p:nvPr/>
        </p:nvSpPr>
        <p:spPr>
          <a:xfrm>
            <a:off x="255589" y="3406379"/>
            <a:ext cx="73025" cy="55959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8" name="7 Título"/>
          <p:cNvSpPr>
            <a:spLocks noGrp="1"/>
          </p:cNvSpPr>
          <p:nvPr>
            <p:ph type="ctrTitle"/>
          </p:nvPr>
        </p:nvSpPr>
        <p:spPr>
          <a:xfrm>
            <a:off x="914400" y="3257550"/>
            <a:ext cx="7772400" cy="1481328"/>
          </a:xfrm>
        </p:spPr>
        <p:txBody>
          <a:bodyPr/>
          <a:lstStyle>
            <a:lvl1pPr marR="9144" algn="l">
              <a:defRPr sz="4000" b="1" cap="all" spc="0" baseline="0">
                <a:effectLst>
                  <a:reflection blurRad="12700" stA="34000" endA="740" endPos="53000" dir="5400000" sy="-100000" algn="bl" rotWithShape="0"/>
                </a:effectLst>
              </a:defRPr>
            </a:lvl1pPr>
            <a:extLst/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9" name="8 Subtítulo"/>
          <p:cNvSpPr>
            <a:spLocks noGrp="1"/>
          </p:cNvSpPr>
          <p:nvPr>
            <p:ph type="subTitle" idx="1"/>
          </p:nvPr>
        </p:nvSpPr>
        <p:spPr>
          <a:xfrm>
            <a:off x="914400" y="2125980"/>
            <a:ext cx="7772400" cy="1131570"/>
          </a:xfrm>
        </p:spPr>
        <p:txBody>
          <a:bodyPr lIns="100584" anchor="b"/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lang="es-ES"/>
              <a:t>Haga clic para modificar el estilo de subtítulo del patrón</a:t>
            </a:r>
            <a:endParaRPr lang="en-US"/>
          </a:p>
        </p:txBody>
      </p:sp>
      <p:sp>
        <p:nvSpPr>
          <p:cNvPr id="15" name="27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es-AR"/>
          </a:p>
        </p:txBody>
      </p:sp>
      <p:sp>
        <p:nvSpPr>
          <p:cNvPr id="16" name="16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es-AR"/>
          </a:p>
        </p:txBody>
      </p:sp>
      <p:sp>
        <p:nvSpPr>
          <p:cNvPr id="17" name="2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5938ACB2-8174-4BB3-ADB9-FE2EB428FF57}" type="slidenum">
              <a:rPr lang="es-AR"/>
              <a:pPr>
                <a:defRPr/>
              </a:pPr>
              <a:t>‹Nº›</a:t>
            </a:fld>
            <a:endParaRPr lang="es-AR"/>
          </a:p>
        </p:txBody>
      </p:sp>
    </p:spTree>
  </p:cSld>
  <p:clrMapOvr>
    <a:masterClrMapping/>
  </p:clrMapOvr>
  <p:transition>
    <p:split orient="vert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CuadroTexto"/>
          <p:cNvSpPr txBox="1"/>
          <p:nvPr userDrawn="1"/>
        </p:nvSpPr>
        <p:spPr>
          <a:xfrm rot="16200000">
            <a:off x="-967110" y="1970042"/>
            <a:ext cx="23342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1800" b="1" dirty="0" err="1">
                <a:solidFill>
                  <a:srgbClr val="0000CC"/>
                </a:solidFill>
              </a:rPr>
              <a:t>Inteligencia</a:t>
            </a:r>
            <a:r>
              <a:rPr lang="en-US" sz="1800" b="1" dirty="0">
                <a:solidFill>
                  <a:srgbClr val="0000CC"/>
                </a:solidFill>
              </a:rPr>
              <a:t> Artificial</a:t>
            </a:r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1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AR"/>
          </a:p>
        </p:txBody>
      </p:sp>
      <p:sp>
        <p:nvSpPr>
          <p:cNvPr id="6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AR"/>
          </a:p>
        </p:txBody>
      </p:sp>
      <p:sp>
        <p:nvSpPr>
          <p:cNvPr id="7" name="22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44DF40-C83A-4A3D-A8B8-728930FAA9D4}" type="slidenum">
              <a:rPr lang="es-AR"/>
              <a:pPr>
                <a:defRPr/>
              </a:pPr>
              <a:t>‹Nº›</a:t>
            </a:fld>
            <a:endParaRPr lang="es-AR"/>
          </a:p>
        </p:txBody>
      </p:sp>
      <p:sp>
        <p:nvSpPr>
          <p:cNvPr id="8" name="4 Marcador de pie de página"/>
          <p:cNvSpPr txBox="1">
            <a:spLocks/>
          </p:cNvSpPr>
          <p:nvPr userDrawn="1"/>
        </p:nvSpPr>
        <p:spPr>
          <a:xfrm>
            <a:off x="1" y="4869657"/>
            <a:ext cx="500063" cy="273844"/>
          </a:xfrm>
          <a:prstGeom prst="rect">
            <a:avLst/>
          </a:prstGeom>
        </p:spPr>
        <p:txBody>
          <a:bodyPr anchor="b"/>
          <a:lstStyle>
            <a:defPPr>
              <a:defRPr lang="es-E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fld id="{A3B21194-E6E8-47A2-BA69-E288D4D4BEB4}" type="slidenum">
              <a:rPr lang="es-AR" sz="1200" b="1" smtClean="0">
                <a:solidFill>
                  <a:schemeClr val="bg1"/>
                </a:solidFill>
                <a:latin typeface="+mn-lt"/>
                <a:cs typeface="Calibri" pitchFamily="34" charset="0"/>
              </a:rPr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‹Nº›</a:t>
            </a:fld>
            <a:endParaRPr lang="es-AR" sz="1200" b="1" dirty="0">
              <a:solidFill>
                <a:schemeClr val="bg1"/>
              </a:solidFill>
              <a:latin typeface="+mn-lt"/>
              <a:cs typeface="Calibri" pitchFamily="34" charset="0"/>
            </a:endParaRPr>
          </a:p>
        </p:txBody>
      </p:sp>
      <p:cxnSp>
        <p:nvCxnSpPr>
          <p:cNvPr id="9" name="8 Conector recto"/>
          <p:cNvCxnSpPr/>
          <p:nvPr userDrawn="1"/>
        </p:nvCxnSpPr>
        <p:spPr>
          <a:xfrm>
            <a:off x="571472" y="554335"/>
            <a:ext cx="8143932" cy="1191"/>
          </a:xfrm>
          <a:prstGeom prst="line">
            <a:avLst/>
          </a:prstGeom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split orient="vert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Forma libre"/>
          <p:cNvSpPr>
            <a:spLocks/>
          </p:cNvSpPr>
          <p:nvPr/>
        </p:nvSpPr>
        <p:spPr bwMode="auto">
          <a:xfrm>
            <a:off x="4829176" y="804863"/>
            <a:ext cx="4321175" cy="4343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3648"/>
              </a:cxn>
              <a:cxn ang="0">
                <a:pos x="720" y="2016"/>
              </a:cxn>
              <a:cxn ang="0">
                <a:pos x="2736" y="0"/>
              </a:cxn>
              <a:cxn ang="0">
                <a:pos x="2736" y="96"/>
              </a:cxn>
              <a:cxn ang="0">
                <a:pos x="744" y="2038"/>
              </a:cxn>
              <a:cxn ang="0">
                <a:pos x="48" y="3648"/>
              </a:cxn>
              <a:cxn ang="0">
                <a:pos x="0" y="3648"/>
              </a:cxn>
            </a:cxnLst>
            <a:rect l="0" t="0" r="0" b="0"/>
            <a:pathLst>
              <a:path w="2736" h="3648">
                <a:moveTo>
                  <a:pt x="0" y="3648"/>
                </a:moveTo>
                <a:lnTo>
                  <a:pt x="720" y="2016"/>
                </a:lnTo>
                <a:lnTo>
                  <a:pt x="2736" y="672"/>
                </a:lnTo>
                <a:lnTo>
                  <a:pt x="2736" y="720"/>
                </a:lnTo>
                <a:lnTo>
                  <a:pt x="744" y="2038"/>
                </a:lnTo>
                <a:lnTo>
                  <a:pt x="48" y="3648"/>
                </a:lnTo>
                <a:lnTo>
                  <a:pt x="48" y="3648"/>
                </a:lnTo>
                <a:close/>
              </a:path>
            </a:pathLst>
          </a:custGeom>
          <a:noFill/>
          <a:ln w="3175" cap="flat" cmpd="sng" algn="ctr">
            <a:solidFill>
              <a:schemeClr val="accent2">
                <a:alpha val="5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4 Forma libre"/>
          <p:cNvSpPr>
            <a:spLocks/>
          </p:cNvSpPr>
          <p:nvPr/>
        </p:nvSpPr>
        <p:spPr bwMode="auto">
          <a:xfrm>
            <a:off x="374650" y="0"/>
            <a:ext cx="5513388" cy="496133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4080"/>
              </a:cxn>
              <a:cxn ang="0">
                <a:pos x="0" y="4128"/>
              </a:cxn>
              <a:cxn ang="0">
                <a:pos x="3504" y="2640"/>
              </a:cxn>
              <a:cxn ang="0">
                <a:pos x="2880" y="0"/>
              </a:cxn>
              <a:cxn ang="0">
                <a:pos x="2832" y="0"/>
              </a:cxn>
              <a:cxn ang="0">
                <a:pos x="3465" y="2619"/>
              </a:cxn>
              <a:cxn ang="0">
                <a:pos x="0" y="4080"/>
              </a:cxn>
            </a:cxnLst>
            <a:rect l="0" t="0" r="0" b="0"/>
            <a:pathLst>
              <a:path w="3504" h="4128">
                <a:moveTo>
                  <a:pt x="0" y="4080"/>
                </a:moveTo>
                <a:lnTo>
                  <a:pt x="0" y="4128"/>
                </a:lnTo>
                <a:lnTo>
                  <a:pt x="3504" y="2640"/>
                </a:lnTo>
                <a:lnTo>
                  <a:pt x="2880" y="0"/>
                </a:lnTo>
                <a:lnTo>
                  <a:pt x="2832" y="0"/>
                </a:lnTo>
                <a:lnTo>
                  <a:pt x="3465" y="2619"/>
                </a:lnTo>
                <a:lnTo>
                  <a:pt x="0" y="4080"/>
                </a:lnTo>
                <a:close/>
              </a:path>
            </a:pathLst>
          </a:custGeom>
          <a:noFill/>
          <a:ln w="3175" cap="flat" cmpd="sng" algn="ctr">
            <a:solidFill>
              <a:schemeClr val="accent2">
                <a:alpha val="5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5 Forma libre"/>
          <p:cNvSpPr>
            <a:spLocks/>
          </p:cNvSpPr>
          <p:nvPr/>
        </p:nvSpPr>
        <p:spPr bwMode="auto">
          <a:xfrm rot="5236414">
            <a:off x="4976019" y="964010"/>
            <a:ext cx="3086100" cy="1189038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3552" y="1344"/>
              </a:cxn>
              <a:cxn ang="0">
                <a:pos x="0" y="48"/>
              </a:cxn>
              <a:cxn ang="0">
                <a:pos x="0" y="0"/>
              </a:cxn>
            </a:cxnLst>
            <a:rect l="0" t="0" r="0" b="0"/>
            <a:pathLst>
              <a:path w="3552" h="1344">
                <a:moveTo>
                  <a:pt x="0" y="0"/>
                </a:moveTo>
                <a:lnTo>
                  <a:pt x="3552" y="1344"/>
                </a:lnTo>
                <a:lnTo>
                  <a:pt x="0" y="48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tint val="95000"/>
              <a:satMod val="18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6 Forma libre"/>
          <p:cNvSpPr>
            <a:spLocks/>
          </p:cNvSpPr>
          <p:nvPr/>
        </p:nvSpPr>
        <p:spPr bwMode="auto">
          <a:xfrm>
            <a:off x="5943600" y="0"/>
            <a:ext cx="2743200" cy="3200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1104" y="0"/>
              </a:cxn>
              <a:cxn ang="0">
                <a:pos x="1728" y="0"/>
              </a:cxn>
              <a:cxn ang="0">
                <a:pos x="0" y="2688"/>
              </a:cxn>
              <a:cxn ang="0">
                <a:pos x="1104" y="0"/>
              </a:cxn>
            </a:cxnLst>
            <a:rect l="0" t="0" r="0" b="0"/>
            <a:pathLst>
              <a:path w="1728" h="2688">
                <a:moveTo>
                  <a:pt x="1104" y="0"/>
                </a:moveTo>
                <a:lnTo>
                  <a:pt x="1728" y="0"/>
                </a:lnTo>
                <a:lnTo>
                  <a:pt x="0" y="2688"/>
                </a:lnTo>
                <a:lnTo>
                  <a:pt x="1104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7 Forma libre"/>
          <p:cNvSpPr>
            <a:spLocks/>
          </p:cNvSpPr>
          <p:nvPr/>
        </p:nvSpPr>
        <p:spPr bwMode="auto">
          <a:xfrm>
            <a:off x="5943600" y="3200400"/>
            <a:ext cx="3200400" cy="8572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2016" y="240"/>
              </a:cxn>
              <a:cxn ang="0">
                <a:pos x="2016" y="720"/>
              </a:cxn>
              <a:cxn ang="0">
                <a:pos x="0" y="0"/>
              </a:cxn>
            </a:cxnLst>
            <a:rect l="0" t="0" r="0" b="0"/>
            <a:pathLst>
              <a:path w="2016" h="720">
                <a:moveTo>
                  <a:pt x="0" y="0"/>
                </a:moveTo>
                <a:lnTo>
                  <a:pt x="2016" y="240"/>
                </a:lnTo>
                <a:lnTo>
                  <a:pt x="2016" y="720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8 Forma libre"/>
          <p:cNvSpPr>
            <a:spLocks/>
          </p:cNvSpPr>
          <p:nvPr/>
        </p:nvSpPr>
        <p:spPr bwMode="auto">
          <a:xfrm>
            <a:off x="5943600" y="0"/>
            <a:ext cx="1371600" cy="3200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864" y="0"/>
              </a:cxn>
              <a:cxn ang="0">
                <a:pos x="0" y="2688"/>
              </a:cxn>
              <a:cxn ang="0">
                <a:pos x="768" y="0"/>
              </a:cxn>
              <a:cxn ang="0">
                <a:pos x="864" y="0"/>
              </a:cxn>
            </a:cxnLst>
            <a:rect l="0" t="0" r="0" b="0"/>
            <a:pathLst>
              <a:path w="864" h="2688">
                <a:moveTo>
                  <a:pt x="864" y="0"/>
                </a:moveTo>
                <a:lnTo>
                  <a:pt x="0" y="2688"/>
                </a:lnTo>
                <a:lnTo>
                  <a:pt x="768" y="0"/>
                </a:lnTo>
                <a:lnTo>
                  <a:pt x="864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" name="9 Forma libre"/>
          <p:cNvSpPr>
            <a:spLocks/>
          </p:cNvSpPr>
          <p:nvPr/>
        </p:nvSpPr>
        <p:spPr bwMode="auto">
          <a:xfrm>
            <a:off x="5948364" y="3184923"/>
            <a:ext cx="2090737" cy="1958578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1071" y="1645"/>
              </a:cxn>
              <a:cxn ang="0">
                <a:pos x="1317" y="1645"/>
              </a:cxn>
              <a:cxn ang="0">
                <a:pos x="0" y="0"/>
              </a:cxn>
              <a:cxn ang="0">
                <a:pos x="1071" y="1645"/>
              </a:cxn>
            </a:cxnLst>
            <a:rect l="0" t="0" r="0" b="0"/>
            <a:pathLst>
              <a:path w="1317" h="1645">
                <a:moveTo>
                  <a:pt x="1071" y="1645"/>
                </a:moveTo>
                <a:lnTo>
                  <a:pt x="1317" y="1645"/>
                </a:lnTo>
                <a:lnTo>
                  <a:pt x="0" y="0"/>
                </a:lnTo>
                <a:lnTo>
                  <a:pt x="1071" y="1645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" name="10 Forma libre"/>
          <p:cNvSpPr>
            <a:spLocks/>
          </p:cNvSpPr>
          <p:nvPr/>
        </p:nvSpPr>
        <p:spPr bwMode="auto">
          <a:xfrm>
            <a:off x="5943600" y="3200400"/>
            <a:ext cx="1600200" cy="19431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1008" y="1632"/>
              </a:cxn>
              <a:cxn ang="0">
                <a:pos x="0" y="0"/>
              </a:cxn>
              <a:cxn ang="0">
                <a:pos x="960" y="1632"/>
              </a:cxn>
              <a:cxn ang="0">
                <a:pos x="1008" y="1632"/>
              </a:cxn>
            </a:cxnLst>
            <a:rect l="0" t="0" r="0" b="0"/>
            <a:pathLst>
              <a:path w="1008" h="1632">
                <a:moveTo>
                  <a:pt x="1008" y="1632"/>
                </a:moveTo>
                <a:lnTo>
                  <a:pt x="0" y="0"/>
                </a:lnTo>
                <a:lnTo>
                  <a:pt x="960" y="1632"/>
                </a:lnTo>
                <a:lnTo>
                  <a:pt x="1008" y="1632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" name="11 Forma libre"/>
          <p:cNvSpPr>
            <a:spLocks/>
          </p:cNvSpPr>
          <p:nvPr/>
        </p:nvSpPr>
        <p:spPr bwMode="auto">
          <a:xfrm>
            <a:off x="5943600" y="1028700"/>
            <a:ext cx="3200400" cy="21717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2016" y="0"/>
              </a:cxn>
              <a:cxn ang="0">
                <a:pos x="2016" y="144"/>
              </a:cxn>
              <a:cxn ang="0">
                <a:pos x="0" y="1824"/>
              </a:cxn>
              <a:cxn ang="0">
                <a:pos x="2016" y="0"/>
              </a:cxn>
            </a:cxnLst>
            <a:rect l="0" t="0" r="0" b="0"/>
            <a:pathLst>
              <a:path w="2016" h="1824">
                <a:moveTo>
                  <a:pt x="2016" y="0"/>
                </a:moveTo>
                <a:lnTo>
                  <a:pt x="2016" y="144"/>
                </a:lnTo>
                <a:lnTo>
                  <a:pt x="0" y="1824"/>
                </a:lnTo>
                <a:lnTo>
                  <a:pt x="2016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" name="12 Forma libre"/>
          <p:cNvSpPr>
            <a:spLocks/>
          </p:cNvSpPr>
          <p:nvPr/>
        </p:nvSpPr>
        <p:spPr bwMode="auto">
          <a:xfrm>
            <a:off x="5943600" y="1314450"/>
            <a:ext cx="3200400" cy="18859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2016" y="0"/>
              </a:cxn>
              <a:cxn ang="0">
                <a:pos x="0" y="1584"/>
              </a:cxn>
              <a:cxn ang="0">
                <a:pos x="2016" y="48"/>
              </a:cxn>
              <a:cxn ang="0">
                <a:pos x="2016" y="0"/>
              </a:cxn>
            </a:cxnLst>
            <a:rect l="0" t="0" r="0" b="0"/>
            <a:pathLst>
              <a:path w="2016" h="1584">
                <a:moveTo>
                  <a:pt x="2016" y="0"/>
                </a:moveTo>
                <a:lnTo>
                  <a:pt x="0" y="1584"/>
                </a:lnTo>
                <a:lnTo>
                  <a:pt x="2016" y="48"/>
                </a:lnTo>
                <a:lnTo>
                  <a:pt x="2016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" name="13 Forma libre"/>
          <p:cNvSpPr>
            <a:spLocks/>
          </p:cNvSpPr>
          <p:nvPr/>
        </p:nvSpPr>
        <p:spPr bwMode="auto">
          <a:xfrm>
            <a:off x="990600" y="3200400"/>
            <a:ext cx="4953000" cy="19431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632"/>
              </a:cxn>
              <a:cxn ang="0">
                <a:pos x="3120" y="0"/>
              </a:cxn>
              <a:cxn ang="0">
                <a:pos x="1056" y="1632"/>
              </a:cxn>
              <a:cxn ang="0">
                <a:pos x="0" y="1632"/>
              </a:cxn>
            </a:cxnLst>
            <a:rect l="0" t="0" r="0" b="0"/>
            <a:pathLst>
              <a:path w="3120" h="1632">
                <a:moveTo>
                  <a:pt x="0" y="1632"/>
                </a:moveTo>
                <a:lnTo>
                  <a:pt x="3120" y="0"/>
                </a:lnTo>
                <a:lnTo>
                  <a:pt x="1056" y="1632"/>
                </a:lnTo>
                <a:lnTo>
                  <a:pt x="0" y="1632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" name="14 Forma libre"/>
          <p:cNvSpPr>
            <a:spLocks/>
          </p:cNvSpPr>
          <p:nvPr/>
        </p:nvSpPr>
        <p:spPr bwMode="auto">
          <a:xfrm>
            <a:off x="533400" y="3200400"/>
            <a:ext cx="5334000" cy="19431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632"/>
              </a:cxn>
              <a:cxn ang="0">
                <a:pos x="3360" y="0"/>
              </a:cxn>
              <a:cxn ang="0">
                <a:pos x="144" y="1632"/>
              </a:cxn>
              <a:cxn ang="0">
                <a:pos x="0" y="1632"/>
              </a:cxn>
            </a:cxnLst>
            <a:rect l="0" t="0" r="0" b="0"/>
            <a:pathLst>
              <a:path w="3360" h="1632">
                <a:moveTo>
                  <a:pt x="0" y="1632"/>
                </a:moveTo>
                <a:lnTo>
                  <a:pt x="3360" y="0"/>
                </a:lnTo>
                <a:lnTo>
                  <a:pt x="144" y="1632"/>
                </a:lnTo>
                <a:lnTo>
                  <a:pt x="0" y="1632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" name="15 Forma libre"/>
          <p:cNvSpPr>
            <a:spLocks/>
          </p:cNvSpPr>
          <p:nvPr/>
        </p:nvSpPr>
        <p:spPr bwMode="auto">
          <a:xfrm>
            <a:off x="366713" y="1828800"/>
            <a:ext cx="5638800" cy="13716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3552" y="1152"/>
              </a:cxn>
              <a:cxn ang="0">
                <a:pos x="0" y="384"/>
              </a:cxn>
              <a:cxn ang="0">
                <a:pos x="0" y="0"/>
              </a:cxn>
            </a:cxnLst>
            <a:rect l="0" t="0" r="0" b="0"/>
            <a:pathLst>
              <a:path w="3552" h="1152">
                <a:moveTo>
                  <a:pt x="0" y="0"/>
                </a:moveTo>
                <a:lnTo>
                  <a:pt x="3504" y="1152"/>
                </a:lnTo>
                <a:lnTo>
                  <a:pt x="0" y="384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" name="16 Forma libre"/>
          <p:cNvSpPr>
            <a:spLocks/>
          </p:cNvSpPr>
          <p:nvPr/>
        </p:nvSpPr>
        <p:spPr bwMode="auto">
          <a:xfrm>
            <a:off x="366713" y="1600200"/>
            <a:ext cx="5638800" cy="1600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3552" y="1344"/>
              </a:cxn>
              <a:cxn ang="0">
                <a:pos x="0" y="48"/>
              </a:cxn>
              <a:cxn ang="0">
                <a:pos x="0" y="0"/>
              </a:cxn>
            </a:cxnLst>
            <a:rect l="0" t="0" r="0" b="0"/>
            <a:pathLst>
              <a:path w="3552" h="1344">
                <a:moveTo>
                  <a:pt x="0" y="0"/>
                </a:moveTo>
                <a:lnTo>
                  <a:pt x="3552" y="1344"/>
                </a:lnTo>
                <a:lnTo>
                  <a:pt x="0" y="48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" name="17 Forma libre"/>
          <p:cNvSpPr>
            <a:spLocks/>
          </p:cNvSpPr>
          <p:nvPr/>
        </p:nvSpPr>
        <p:spPr bwMode="auto">
          <a:xfrm>
            <a:off x="4572000" y="3200400"/>
            <a:ext cx="1371600" cy="19431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632"/>
              </a:cxn>
              <a:cxn ang="0">
                <a:pos x="96" y="1632"/>
              </a:cxn>
              <a:cxn ang="0">
                <a:pos x="864" y="0"/>
              </a:cxn>
              <a:cxn ang="0">
                <a:pos x="0" y="1632"/>
              </a:cxn>
            </a:cxnLst>
            <a:rect l="0" t="0" r="0" b="0"/>
            <a:pathLst>
              <a:path w="864" h="1632">
                <a:moveTo>
                  <a:pt x="0" y="1632"/>
                </a:moveTo>
                <a:lnTo>
                  <a:pt x="96" y="1632"/>
                </a:lnTo>
                <a:lnTo>
                  <a:pt x="864" y="0"/>
                </a:lnTo>
                <a:lnTo>
                  <a:pt x="0" y="1632"/>
                </a:lnTo>
                <a:close/>
              </a:path>
            </a:pathLst>
          </a:custGeom>
          <a:solidFill>
            <a:schemeClr val="bg2">
              <a:tint val="95000"/>
              <a:satMod val="18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" name="18 Rectángulo"/>
          <p:cNvSpPr/>
          <p:nvPr/>
        </p:nvSpPr>
        <p:spPr>
          <a:xfrm>
            <a:off x="363539" y="301229"/>
            <a:ext cx="8504237" cy="665559"/>
          </a:xfrm>
          <a:prstGeom prst="rect">
            <a:avLst/>
          </a:prstGeom>
          <a:solidFill>
            <a:schemeClr val="bg2">
              <a:tint val="95000"/>
              <a:satMod val="180000"/>
              <a:alpha val="4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0" name="19 Rectángulo"/>
          <p:cNvSpPr/>
          <p:nvPr/>
        </p:nvSpPr>
        <p:spPr>
          <a:xfrm flipH="1">
            <a:off x="371475" y="510779"/>
            <a:ext cx="26988" cy="273844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21" name="20 Rectángulo"/>
          <p:cNvSpPr/>
          <p:nvPr/>
        </p:nvSpPr>
        <p:spPr>
          <a:xfrm flipH="1">
            <a:off x="411164" y="510779"/>
            <a:ext cx="26987" cy="273844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22" name="21 Rectángulo"/>
          <p:cNvSpPr/>
          <p:nvPr/>
        </p:nvSpPr>
        <p:spPr>
          <a:xfrm flipH="1">
            <a:off x="447676" y="510779"/>
            <a:ext cx="9525" cy="273844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3" name="22 Rectángulo"/>
          <p:cNvSpPr/>
          <p:nvPr/>
        </p:nvSpPr>
        <p:spPr>
          <a:xfrm flipH="1">
            <a:off x="476251" y="510779"/>
            <a:ext cx="9525" cy="273844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24" name="23 Rectángulo"/>
          <p:cNvSpPr/>
          <p:nvPr/>
        </p:nvSpPr>
        <p:spPr>
          <a:xfrm>
            <a:off x="500063" y="510779"/>
            <a:ext cx="36512" cy="273844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06902" y="1013754"/>
            <a:ext cx="5718048" cy="733115"/>
          </a:xfrm>
        </p:spPr>
        <p:txBody>
          <a:bodyPr lIns="82296" bIns="0"/>
          <a:lstStyle>
            <a:lvl1pPr marL="54864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06902" y="384048"/>
            <a:ext cx="8156448" cy="582930"/>
          </a:xfrm>
        </p:spPr>
        <p:txBody>
          <a:bodyPr tIns="64008"/>
          <a:lstStyle>
            <a:lvl1pPr algn="l">
              <a:buNone/>
              <a:defRPr sz="3800" b="0" cap="none" spc="-150" baseline="0"/>
            </a:lvl1pPr>
            <a:extLst/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25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es-AR"/>
          </a:p>
        </p:txBody>
      </p:sp>
      <p:sp>
        <p:nvSpPr>
          <p:cNvPr id="26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es-AR"/>
          </a:p>
        </p:txBody>
      </p:sp>
      <p:sp>
        <p:nvSpPr>
          <p:cNvPr id="27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AC2BDF1C-8834-416A-B0AB-1819CC9783EC}" type="slidenum">
              <a:rPr lang="es-AR"/>
              <a:pPr>
                <a:defRPr/>
              </a:pPr>
              <a:t>‹Nº›</a:t>
            </a:fld>
            <a:endParaRPr lang="es-AR"/>
          </a:p>
        </p:txBody>
      </p:sp>
    </p:spTree>
  </p:cSld>
  <p:clrMapOvr>
    <a:masterClrMapping/>
  </p:clrMapOvr>
  <p:transition>
    <p:split orient="vert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384048"/>
            <a:ext cx="8229600" cy="6858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64344" y="1327876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55344" y="1327876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es-AR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es-AR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D7FCDCC4-634C-4120-8467-B5FF7397DBC7}" type="slidenum">
              <a:rPr lang="es-AR"/>
              <a:pPr>
                <a:defRPr/>
              </a:pPr>
              <a:t>‹Nº›</a:t>
            </a:fld>
            <a:endParaRPr lang="es-AR"/>
          </a:p>
        </p:txBody>
      </p:sp>
    </p:spTree>
  </p:cSld>
  <p:clrMapOvr>
    <a:masterClrMapping/>
  </p:clrMapOvr>
  <p:transition>
    <p:split orient="vert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6 Rectángulo"/>
          <p:cNvSpPr/>
          <p:nvPr/>
        </p:nvSpPr>
        <p:spPr>
          <a:xfrm>
            <a:off x="1" y="301229"/>
            <a:ext cx="8867775" cy="665559"/>
          </a:xfrm>
          <a:prstGeom prst="rect">
            <a:avLst/>
          </a:prstGeom>
          <a:solidFill>
            <a:schemeClr val="bg2">
              <a:tint val="95000"/>
              <a:satMod val="180000"/>
              <a:alpha val="4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" name="7 Rectángulo"/>
          <p:cNvSpPr/>
          <p:nvPr/>
        </p:nvSpPr>
        <p:spPr>
          <a:xfrm>
            <a:off x="87314" y="510779"/>
            <a:ext cx="46037" cy="273844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9" name="8 Rectángulo"/>
          <p:cNvSpPr/>
          <p:nvPr/>
        </p:nvSpPr>
        <p:spPr>
          <a:xfrm>
            <a:off x="47625" y="510779"/>
            <a:ext cx="26988" cy="273844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10" name="9 Rectángulo"/>
          <p:cNvSpPr/>
          <p:nvPr/>
        </p:nvSpPr>
        <p:spPr>
          <a:xfrm>
            <a:off x="28576" y="510779"/>
            <a:ext cx="9525" cy="273844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1" name="10 Rectángulo"/>
          <p:cNvSpPr/>
          <p:nvPr/>
        </p:nvSpPr>
        <p:spPr>
          <a:xfrm>
            <a:off x="1" y="510779"/>
            <a:ext cx="9525" cy="273844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12" name="11 Rectángulo"/>
          <p:cNvSpPr/>
          <p:nvPr/>
        </p:nvSpPr>
        <p:spPr>
          <a:xfrm flipH="1">
            <a:off x="149226" y="510779"/>
            <a:ext cx="28575" cy="273844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13" name="12 Rectángulo"/>
          <p:cNvSpPr/>
          <p:nvPr/>
        </p:nvSpPr>
        <p:spPr>
          <a:xfrm flipH="1">
            <a:off x="188914" y="510779"/>
            <a:ext cx="28575" cy="273844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14" name="13 Rectángulo"/>
          <p:cNvSpPr/>
          <p:nvPr/>
        </p:nvSpPr>
        <p:spPr>
          <a:xfrm flipH="1">
            <a:off x="227014" y="510779"/>
            <a:ext cx="9525" cy="273844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5" name="14 Rectángulo"/>
          <p:cNvSpPr/>
          <p:nvPr/>
        </p:nvSpPr>
        <p:spPr>
          <a:xfrm flipH="1">
            <a:off x="255589" y="510779"/>
            <a:ext cx="7937" cy="273844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16" name="15 Rectángulo"/>
          <p:cNvSpPr/>
          <p:nvPr/>
        </p:nvSpPr>
        <p:spPr>
          <a:xfrm>
            <a:off x="279401" y="510779"/>
            <a:ext cx="36513" cy="273844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04824" y="384048"/>
            <a:ext cx="7772400" cy="685800"/>
          </a:xfrm>
        </p:spPr>
        <p:txBody>
          <a:bodyPr/>
          <a:lstStyle>
            <a:lvl1pPr>
              <a:defRPr sz="4000"/>
            </a:lvl1pPr>
            <a:extLst/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357312"/>
            <a:ext cx="4040188" cy="479822"/>
          </a:xfrm>
        </p:spPr>
        <p:txBody>
          <a:bodyPr anchor="ctr"/>
          <a:lstStyle>
            <a:lvl1pPr marL="73152" indent="0" algn="l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3"/>
          </p:nvPr>
        </p:nvSpPr>
        <p:spPr>
          <a:xfrm>
            <a:off x="4645026" y="1357312"/>
            <a:ext cx="4041775" cy="479822"/>
          </a:xfrm>
        </p:spPr>
        <p:txBody>
          <a:bodyPr anchor="ctr"/>
          <a:lstStyle>
            <a:lvl1pPr marL="73152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contenido"/>
          <p:cNvSpPr>
            <a:spLocks noGrp="1"/>
          </p:cNvSpPr>
          <p:nvPr>
            <p:ph sz="quarter" idx="2"/>
          </p:nvPr>
        </p:nvSpPr>
        <p:spPr>
          <a:xfrm>
            <a:off x="457200" y="1844278"/>
            <a:ext cx="4040188" cy="296951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6" y="1844278"/>
            <a:ext cx="4041775" cy="296951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1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es-AR"/>
          </a:p>
        </p:txBody>
      </p:sp>
      <p:sp>
        <p:nvSpPr>
          <p:cNvPr id="1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es-AR"/>
          </a:p>
        </p:txBody>
      </p:sp>
      <p:sp>
        <p:nvSpPr>
          <p:cNvPr id="1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28B66AB1-0AB0-47D5-9CFD-94192142684F}" type="slidenum">
              <a:rPr lang="es-AR"/>
              <a:pPr>
                <a:defRPr/>
              </a:pPr>
              <a:t>‹Nº›</a:t>
            </a:fld>
            <a:endParaRPr lang="es-AR"/>
          </a:p>
        </p:txBody>
      </p:sp>
    </p:spTree>
  </p:cSld>
  <p:clrMapOvr>
    <a:masterClrMapping/>
  </p:clrMapOvr>
  <p:transition>
    <p:split orient="vert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914400" y="384048"/>
            <a:ext cx="7772400" cy="685800"/>
          </a:xfrm>
        </p:spPr>
        <p:txBody>
          <a:bodyPr/>
          <a:lstStyle>
            <a:lvl1pPr>
              <a:defRPr sz="4000" cap="none" baseline="0"/>
            </a:lvl1pPr>
            <a:extLst/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1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AR"/>
          </a:p>
        </p:txBody>
      </p:sp>
      <p:sp>
        <p:nvSpPr>
          <p:cNvPr id="4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AR"/>
          </a:p>
        </p:txBody>
      </p:sp>
      <p:sp>
        <p:nvSpPr>
          <p:cNvPr id="5" name="22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1574FAA-8909-4C44-8049-29AF46ED8327}" type="slidenum">
              <a:rPr lang="es-AR"/>
              <a:pPr>
                <a:defRPr/>
              </a:pPr>
              <a:t>‹Nº›</a:t>
            </a:fld>
            <a:endParaRPr lang="es-AR"/>
          </a:p>
        </p:txBody>
      </p:sp>
    </p:spTree>
  </p:cSld>
  <p:clrMapOvr>
    <a:masterClrMapping/>
  </p:clrMapOvr>
  <p:transition>
    <p:split orient="vert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es-AR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es-AR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66C7759E-A3F2-496C-8CD5-29FD1F2956F3}" type="slidenum">
              <a:rPr lang="es-AR"/>
              <a:pPr>
                <a:defRPr/>
              </a:pPr>
              <a:t>‹Nº›</a:t>
            </a:fld>
            <a:endParaRPr lang="es-AR"/>
          </a:p>
        </p:txBody>
      </p:sp>
    </p:spTree>
  </p:cSld>
  <p:clrMapOvr>
    <a:masterClrMapping/>
  </p:clrMapOvr>
  <p:transition>
    <p:split orient="vert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5800" y="204787"/>
            <a:ext cx="8229600" cy="871538"/>
          </a:xfrm>
        </p:spPr>
        <p:txBody>
          <a:bodyPr anchor="ctr"/>
          <a:lstStyle>
            <a:lvl1pPr algn="l">
              <a:buNone/>
              <a:defRPr sz="3600" b="0"/>
            </a:lvl1pPr>
            <a:extLst/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2"/>
          </p:nvPr>
        </p:nvSpPr>
        <p:spPr>
          <a:xfrm>
            <a:off x="685800" y="1076325"/>
            <a:ext cx="2514600" cy="3429000"/>
          </a:xfrm>
        </p:spPr>
        <p:txBody>
          <a:bodyPr/>
          <a:lstStyle>
            <a:lvl1pPr marL="54864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1"/>
          </p:nvPr>
        </p:nvSpPr>
        <p:spPr>
          <a:xfrm>
            <a:off x="3429000" y="1076325"/>
            <a:ext cx="5486400" cy="3429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1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AR"/>
          </a:p>
        </p:txBody>
      </p:sp>
      <p:sp>
        <p:nvSpPr>
          <p:cNvPr id="6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AR"/>
          </a:p>
        </p:txBody>
      </p:sp>
      <p:sp>
        <p:nvSpPr>
          <p:cNvPr id="7" name="22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81AB539-2F97-4D69-941F-75F2C2E5543F}" type="slidenum">
              <a:rPr lang="es-AR"/>
              <a:pPr>
                <a:defRPr/>
              </a:pPr>
              <a:t>‹Nº›</a:t>
            </a:fld>
            <a:endParaRPr lang="es-AR"/>
          </a:p>
        </p:txBody>
      </p:sp>
    </p:spTree>
  </p:cSld>
  <p:clrMapOvr>
    <a:masterClrMapping/>
  </p:clrMapOvr>
  <p:transition>
    <p:split orient="vert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Rectángulo"/>
          <p:cNvSpPr/>
          <p:nvPr/>
        </p:nvSpPr>
        <p:spPr>
          <a:xfrm>
            <a:off x="368300" y="0"/>
            <a:ext cx="8777288" cy="1408510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6" name="5 Conector recto"/>
          <p:cNvCxnSpPr/>
          <p:nvPr/>
        </p:nvCxnSpPr>
        <p:spPr>
          <a:xfrm flipV="1">
            <a:off x="363538" y="1413272"/>
            <a:ext cx="8782050" cy="0"/>
          </a:xfrm>
          <a:prstGeom prst="line">
            <a:avLst/>
          </a:prstGeom>
          <a:noFill/>
          <a:ln w="19050" cap="flat" cmpd="sng" algn="ctr">
            <a:solidFill>
              <a:srgbClr val="FFFFFF">
                <a:alpha val="100000"/>
              </a:srgbClr>
            </a:soli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7" name="19 Grupo"/>
          <p:cNvGrpSpPr>
            <a:grpSpLocks/>
          </p:cNvGrpSpPr>
          <p:nvPr/>
        </p:nvGrpSpPr>
        <p:grpSpPr bwMode="auto">
          <a:xfrm rot="5400000">
            <a:off x="8531821" y="898327"/>
            <a:ext cx="98822" cy="128587"/>
            <a:chOff x="6668087" y="1297746"/>
            <a:chExt cx="161840" cy="156602"/>
          </a:xfrm>
        </p:grpSpPr>
        <p:cxnSp>
          <p:nvCxnSpPr>
            <p:cNvPr id="8" name="7 Conector recto"/>
            <p:cNvCxnSpPr/>
            <p:nvPr/>
          </p:nvCxnSpPr>
          <p:spPr>
            <a:xfrm rot="16200000">
              <a:off x="6663593" y="1298375"/>
              <a:ext cx="88935" cy="79945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8 Conector recto"/>
            <p:cNvCxnSpPr/>
            <p:nvPr/>
          </p:nvCxnSpPr>
          <p:spPr>
            <a:xfrm rot="16200000" flipV="1">
              <a:off x="6685198" y="1391515"/>
              <a:ext cx="125668" cy="0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9 Conector recto"/>
            <p:cNvCxnSpPr/>
            <p:nvPr/>
          </p:nvCxnSpPr>
          <p:spPr>
            <a:xfrm rot="5400000" flipH="1">
              <a:off x="6744513" y="1297400"/>
              <a:ext cx="88935" cy="81895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25 Grupo"/>
          <p:cNvGrpSpPr>
            <a:grpSpLocks/>
          </p:cNvGrpSpPr>
          <p:nvPr/>
        </p:nvGrpSpPr>
        <p:grpSpPr bwMode="auto">
          <a:xfrm rot="5400000">
            <a:off x="8684221" y="1012627"/>
            <a:ext cx="98822" cy="128587"/>
            <a:chOff x="6668087" y="1297746"/>
            <a:chExt cx="161840" cy="156602"/>
          </a:xfrm>
        </p:grpSpPr>
        <p:cxnSp>
          <p:nvCxnSpPr>
            <p:cNvPr id="12" name="11 Conector recto"/>
            <p:cNvCxnSpPr/>
            <p:nvPr/>
          </p:nvCxnSpPr>
          <p:spPr>
            <a:xfrm rot="16200000">
              <a:off x="6663593" y="1298375"/>
              <a:ext cx="88935" cy="79945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12 Conector recto"/>
            <p:cNvCxnSpPr/>
            <p:nvPr/>
          </p:nvCxnSpPr>
          <p:spPr>
            <a:xfrm rot="16200000" flipV="1">
              <a:off x="6685198" y="1391515"/>
              <a:ext cx="125668" cy="0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13 Conector recto"/>
            <p:cNvCxnSpPr/>
            <p:nvPr/>
          </p:nvCxnSpPr>
          <p:spPr>
            <a:xfrm rot="5400000" flipH="1">
              <a:off x="6744513" y="1297400"/>
              <a:ext cx="88935" cy="81895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29 Grupo"/>
          <p:cNvGrpSpPr>
            <a:grpSpLocks/>
          </p:cNvGrpSpPr>
          <p:nvPr/>
        </p:nvGrpSpPr>
        <p:grpSpPr bwMode="auto">
          <a:xfrm rot="5400000">
            <a:off x="8336558" y="1090018"/>
            <a:ext cx="98822" cy="128588"/>
            <a:chOff x="6668087" y="1297746"/>
            <a:chExt cx="161840" cy="156602"/>
          </a:xfrm>
        </p:grpSpPr>
        <p:cxnSp>
          <p:nvCxnSpPr>
            <p:cNvPr id="16" name="15 Conector recto"/>
            <p:cNvCxnSpPr/>
            <p:nvPr/>
          </p:nvCxnSpPr>
          <p:spPr>
            <a:xfrm rot="16200000">
              <a:off x="6663592" y="1298373"/>
              <a:ext cx="88934" cy="79945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16 Conector recto"/>
            <p:cNvCxnSpPr/>
            <p:nvPr/>
          </p:nvCxnSpPr>
          <p:spPr>
            <a:xfrm rot="16200000" flipV="1">
              <a:off x="6685198" y="1391513"/>
              <a:ext cx="125668" cy="0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17 Conector recto"/>
            <p:cNvCxnSpPr/>
            <p:nvPr/>
          </p:nvCxnSpPr>
          <p:spPr>
            <a:xfrm rot="5400000" flipH="1">
              <a:off x="6744512" y="1297398"/>
              <a:ext cx="88934" cy="81895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1 Título"/>
          <p:cNvSpPr>
            <a:spLocks noGrp="1"/>
          </p:cNvSpPr>
          <p:nvPr>
            <p:ph type="title"/>
          </p:nvPr>
        </p:nvSpPr>
        <p:spPr bwMode="grayWhite">
          <a:xfrm>
            <a:off x="914400" y="330939"/>
            <a:ext cx="6858000" cy="526312"/>
          </a:xfrm>
        </p:spPr>
        <p:txBody>
          <a:bodyPr anchor="b"/>
          <a:lstStyle>
            <a:lvl1pPr algn="l">
              <a:buNone/>
              <a:defRPr sz="2100" b="0"/>
            </a:lvl1pPr>
            <a:extLst/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368032" y="1420336"/>
            <a:ext cx="8778240" cy="3720108"/>
          </a:xfrm>
          <a:solidFill>
            <a:schemeClr val="bg2"/>
          </a:solidFill>
        </p:spPr>
        <p:txBody>
          <a:bodyPr>
            <a:normAutofit/>
          </a:bodyPr>
          <a:lstStyle>
            <a:lvl1pPr marL="0" indent="0">
              <a:buNone/>
              <a:defRPr sz="3200"/>
            </a:lvl1pPr>
            <a:extLst/>
          </a:lstStyle>
          <a:p>
            <a:pPr lvl="0"/>
            <a:r>
              <a:rPr lang="es-ES" noProof="0"/>
              <a:t>Haga clic en el icono para agregar una imagen</a:t>
            </a:r>
            <a:endParaRPr lang="en-US" noProof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 bwMode="grayWhite">
          <a:xfrm>
            <a:off x="914400" y="862608"/>
            <a:ext cx="6858000" cy="514350"/>
          </a:xfrm>
        </p:spPr>
        <p:txBody>
          <a:bodyPr/>
          <a:lstStyle>
            <a:lvl1pPr marL="27432" indent="0">
              <a:spcBef>
                <a:spcPts val="0"/>
              </a:spcBef>
              <a:buNone/>
              <a:defRPr sz="1400">
                <a:solidFill>
                  <a:srgbClr val="FFFFFF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19" name="4 Marcador de fecha"/>
          <p:cNvSpPr>
            <a:spLocks noGrp="1"/>
          </p:cNvSpPr>
          <p:nvPr>
            <p:ph type="dt" sz="half" idx="10"/>
          </p:nvPr>
        </p:nvSpPr>
        <p:spPr>
          <a:xfrm>
            <a:off x="6477000" y="41673"/>
            <a:ext cx="2133600" cy="273844"/>
          </a:xfrm>
        </p:spPr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es-AR"/>
          </a:p>
        </p:txBody>
      </p:sp>
      <p:sp>
        <p:nvSpPr>
          <p:cNvPr id="20" name="5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914400" y="41673"/>
            <a:ext cx="5562600" cy="273844"/>
          </a:xfrm>
        </p:spPr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es-AR"/>
          </a:p>
        </p:txBody>
      </p:sp>
      <p:sp>
        <p:nvSpPr>
          <p:cNvPr id="21" name="6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8610600" y="41673"/>
            <a:ext cx="457200" cy="273844"/>
          </a:xfrm>
        </p:spPr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F4A88294-6744-4162-850F-326BDD3129A5}" type="slidenum">
              <a:rPr lang="es-AR"/>
              <a:pPr>
                <a:defRPr/>
              </a:pPr>
              <a:t>‹Nº›</a:t>
            </a:fld>
            <a:endParaRPr lang="es-AR"/>
          </a:p>
        </p:txBody>
      </p:sp>
    </p:spTree>
  </p:cSld>
  <p:clrMapOvr>
    <a:masterClrMapping/>
  </p:clrMapOvr>
  <p:transition>
    <p:split orient="vert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1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AR"/>
          </a:p>
        </p:txBody>
      </p:sp>
      <p:sp>
        <p:nvSpPr>
          <p:cNvPr id="5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AR"/>
          </a:p>
        </p:txBody>
      </p:sp>
      <p:sp>
        <p:nvSpPr>
          <p:cNvPr id="6" name="22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BB3F3B0-1089-49B5-988D-B96939D8CE5A}" type="slidenum">
              <a:rPr lang="es-AR"/>
              <a:pPr>
                <a:defRPr/>
              </a:pPr>
              <a:t>‹Nº›</a:t>
            </a:fld>
            <a:endParaRPr lang="es-AR"/>
          </a:p>
        </p:txBody>
      </p:sp>
    </p:spTree>
  </p:cSld>
  <p:clrMapOvr>
    <a:masterClrMapping/>
  </p:clrMapOvr>
  <p:transition>
    <p:split orient="vert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1981200" cy="4388644"/>
          </a:xfrm>
        </p:spPr>
        <p:txBody>
          <a:bodyPr vert="eaVert" anchor="ctr"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609600" y="205980"/>
            <a:ext cx="5867400" cy="4388644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1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AR"/>
          </a:p>
        </p:txBody>
      </p:sp>
      <p:sp>
        <p:nvSpPr>
          <p:cNvPr id="5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AR"/>
          </a:p>
        </p:txBody>
      </p:sp>
      <p:sp>
        <p:nvSpPr>
          <p:cNvPr id="6" name="22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61C97E8-41CD-420C-9D22-CC91DC5EAEFE}" type="slidenum">
              <a:rPr lang="es-AR"/>
              <a:pPr>
                <a:defRPr/>
              </a:pPr>
              <a:t>‹Nº›</a:t>
            </a:fld>
            <a:endParaRPr lang="es-AR"/>
          </a:p>
        </p:txBody>
      </p:sp>
    </p:spTree>
  </p:cSld>
  <p:clrMapOvr>
    <a:masterClrMapping/>
  </p:clrMapOvr>
  <p:transition>
    <p:split orient="vert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ítulo, text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CuadroTexto"/>
          <p:cNvSpPr txBox="1"/>
          <p:nvPr userDrawn="1"/>
        </p:nvSpPr>
        <p:spPr>
          <a:xfrm rot="16200000">
            <a:off x="-931106" y="2006046"/>
            <a:ext cx="22622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1800" b="1" dirty="0" err="1">
                <a:solidFill>
                  <a:srgbClr val="0000CC"/>
                </a:solidFill>
              </a:rPr>
              <a:t>Inteligencia</a:t>
            </a:r>
            <a:r>
              <a:rPr lang="en-US" sz="1800" b="1" baseline="0" dirty="0">
                <a:solidFill>
                  <a:srgbClr val="0000CC"/>
                </a:solidFill>
              </a:rPr>
              <a:t> Artificial</a:t>
            </a:r>
            <a:endParaRPr lang="en-US" sz="1800" b="1" dirty="0">
              <a:solidFill>
                <a:srgbClr val="0000CC"/>
              </a:solidFill>
            </a:endParaRPr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"/>
          <p:cNvSpPr>
            <a:spLocks noGrp="1"/>
          </p:cNvSpPr>
          <p:nvPr>
            <p:ph type="body"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4 Marcador de fecha"/>
          <p:cNvSpPr>
            <a:spLocks noGrp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AR"/>
          </a:p>
        </p:txBody>
      </p:sp>
      <p:sp>
        <p:nvSpPr>
          <p:cNvPr id="7" name="5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AR"/>
          </a:p>
        </p:txBody>
      </p:sp>
      <p:sp>
        <p:nvSpPr>
          <p:cNvPr id="8" name="6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B6E95C-1AA3-45AB-8D9F-1479F7DC8E53}" type="slidenum">
              <a:rPr lang="es-AR"/>
              <a:pPr>
                <a:defRPr/>
              </a:pPr>
              <a:t>‹Nº›</a:t>
            </a:fld>
            <a:endParaRPr lang="es-AR"/>
          </a:p>
        </p:txBody>
      </p:sp>
    </p:spTree>
  </p:cSld>
  <p:clrMapOvr>
    <a:masterClrMapping/>
  </p:clrMapOvr>
  <p:transition>
    <p:split orient="vert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6 Rectángulo"/>
          <p:cNvSpPr/>
          <p:nvPr/>
        </p:nvSpPr>
        <p:spPr>
          <a:xfrm>
            <a:off x="1" y="0"/>
            <a:ext cx="365125" cy="5141119"/>
          </a:xfrm>
          <a:prstGeom prst="rect">
            <a:avLst/>
          </a:prstGeom>
          <a:solidFill>
            <a:srgbClr val="FFFFFF">
              <a:alpha val="100000"/>
            </a:srgb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" name="7 Rectángulo"/>
          <p:cNvSpPr/>
          <p:nvPr/>
        </p:nvSpPr>
        <p:spPr>
          <a:xfrm>
            <a:off x="255589" y="3784998"/>
            <a:ext cx="73025" cy="1269206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9" name="8 Rectángulo"/>
          <p:cNvSpPr/>
          <p:nvPr/>
        </p:nvSpPr>
        <p:spPr>
          <a:xfrm>
            <a:off x="255589" y="3598069"/>
            <a:ext cx="73025" cy="171450"/>
          </a:xfrm>
          <a:prstGeom prst="rect">
            <a:avLst/>
          </a:prstGeom>
          <a:solidFill>
            <a:schemeClr val="accent3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0" name="9 Rectángulo"/>
          <p:cNvSpPr/>
          <p:nvPr/>
        </p:nvSpPr>
        <p:spPr>
          <a:xfrm>
            <a:off x="255589" y="3477816"/>
            <a:ext cx="73025" cy="103584"/>
          </a:xfrm>
          <a:prstGeom prst="rect">
            <a:avLst/>
          </a:prstGeom>
          <a:solidFill>
            <a:schemeClr val="bg2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1" name="10 Rectángulo"/>
          <p:cNvSpPr/>
          <p:nvPr/>
        </p:nvSpPr>
        <p:spPr>
          <a:xfrm>
            <a:off x="255589" y="3406379"/>
            <a:ext cx="73025" cy="55959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12" name="11 Rectángulo"/>
          <p:cNvSpPr/>
          <p:nvPr/>
        </p:nvSpPr>
        <p:spPr>
          <a:xfrm>
            <a:off x="309564" y="510779"/>
            <a:ext cx="46037" cy="273844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15" name="14 Rectángulo"/>
          <p:cNvSpPr/>
          <p:nvPr/>
        </p:nvSpPr>
        <p:spPr>
          <a:xfrm>
            <a:off x="268289" y="510779"/>
            <a:ext cx="28575" cy="273844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16" name="15 Rectángulo"/>
          <p:cNvSpPr/>
          <p:nvPr/>
        </p:nvSpPr>
        <p:spPr>
          <a:xfrm>
            <a:off x="249239" y="510779"/>
            <a:ext cx="9525" cy="273844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7" name="16 Rectángulo"/>
          <p:cNvSpPr/>
          <p:nvPr/>
        </p:nvSpPr>
        <p:spPr>
          <a:xfrm>
            <a:off x="222250" y="510779"/>
            <a:ext cx="7938" cy="273844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22" name="21 Marcador de título"/>
          <p:cNvSpPr>
            <a:spLocks noGrp="1"/>
          </p:cNvSpPr>
          <p:nvPr>
            <p:ph type="title"/>
          </p:nvPr>
        </p:nvSpPr>
        <p:spPr>
          <a:xfrm>
            <a:off x="914400" y="384572"/>
            <a:ext cx="7772400" cy="685800"/>
          </a:xfrm>
          <a:prstGeom prst="rect">
            <a:avLst/>
          </a:prstGeom>
        </p:spPr>
        <p:txBody>
          <a:bodyPr vert="horz" anchor="t">
            <a:noAutofit/>
          </a:bodyPr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4108" name="12 Marcador de texto"/>
          <p:cNvSpPr>
            <a:spLocks noGrp="1"/>
          </p:cNvSpPr>
          <p:nvPr>
            <p:ph type="body" idx="1"/>
          </p:nvPr>
        </p:nvSpPr>
        <p:spPr bwMode="auto">
          <a:xfrm>
            <a:off x="914400" y="1338263"/>
            <a:ext cx="7772400" cy="342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14" name="13 Marcador de fecha"/>
          <p:cNvSpPr>
            <a:spLocks noGrp="1"/>
          </p:cNvSpPr>
          <p:nvPr>
            <p:ph type="dt" sz="half" idx="2"/>
          </p:nvPr>
        </p:nvSpPr>
        <p:spPr>
          <a:xfrm>
            <a:off x="6477000" y="4812507"/>
            <a:ext cx="2133600" cy="273844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100">
                <a:solidFill>
                  <a:schemeClr val="tx2"/>
                </a:solidFill>
              </a:defRPr>
            </a:lvl1pPr>
            <a:extLst/>
          </a:lstStyle>
          <a:p>
            <a:pPr>
              <a:defRPr/>
            </a:pPr>
            <a:endParaRPr lang="es-AR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914400" y="4812507"/>
            <a:ext cx="5562600" cy="273844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100">
                <a:solidFill>
                  <a:schemeClr val="tx2"/>
                </a:solidFill>
              </a:defRPr>
            </a:lvl1pPr>
            <a:extLst/>
          </a:lstStyle>
          <a:p>
            <a:pPr>
              <a:defRPr/>
            </a:pPr>
            <a:endParaRPr lang="es-AR"/>
          </a:p>
        </p:txBody>
      </p:sp>
      <p:sp>
        <p:nvSpPr>
          <p:cNvPr id="23" name="22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8610600" y="4812507"/>
            <a:ext cx="457200" cy="273844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  <a:extLst/>
          </a:lstStyle>
          <a:p>
            <a:pPr>
              <a:defRPr/>
            </a:pPr>
            <a:fld id="{A0223DCD-9376-4613-B8D5-25DAA8B3E403}" type="slidenum">
              <a:rPr lang="es-AR"/>
              <a:pPr>
                <a:defRPr/>
              </a:pPr>
              <a:t>‹Nº›</a:t>
            </a:fld>
            <a:endParaRPr lang="es-AR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4042" r:id="rId1"/>
    <p:sldLayoutId id="2147484043" r:id="rId2"/>
    <p:sldLayoutId id="2147484044" r:id="rId3"/>
    <p:sldLayoutId id="2147484045" r:id="rId4"/>
    <p:sldLayoutId id="2147484046" r:id="rId5"/>
    <p:sldLayoutId id="2147484041" r:id="rId6"/>
    <p:sldLayoutId id="2147484047" r:id="rId7"/>
    <p:sldLayoutId id="2147484040" r:id="rId8"/>
    <p:sldLayoutId id="2147484048" r:id="rId9"/>
    <p:sldLayoutId id="2147484039" r:id="rId10"/>
    <p:sldLayoutId id="2147484038" r:id="rId11"/>
    <p:sldLayoutId id="2147484049" r:id="rId12"/>
  </p:sldLayoutIdLst>
  <p:transition>
    <p:split orient="vert"/>
  </p:transition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kern="1200" spc="-100">
          <a:solidFill>
            <a:srgbClr val="C1EEFF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C1EEFF"/>
          </a:solidFill>
          <a:latin typeface="Consolas" pitchFamily="49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C1EEFF"/>
          </a:solidFill>
          <a:latin typeface="Consolas" pitchFamily="49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C1EEFF"/>
          </a:solidFill>
          <a:latin typeface="Consolas" pitchFamily="49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C1EEFF"/>
          </a:solidFill>
          <a:latin typeface="Consolas" pitchFamily="49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rgbClr val="C1EEFF"/>
          </a:solidFill>
          <a:latin typeface="Consolas" pitchFamily="49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rgbClr val="C1EEFF"/>
          </a:solidFill>
          <a:latin typeface="Consolas" pitchFamily="49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rgbClr val="C1EEFF"/>
          </a:solidFill>
          <a:latin typeface="Consolas" pitchFamily="49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rgbClr val="C1EEFF"/>
          </a:solidFill>
          <a:latin typeface="Consolas" pitchFamily="49" charset="0"/>
        </a:defRPr>
      </a:lvl9pPr>
      <a:extLst/>
    </p:titleStyle>
    <p:bodyStyle>
      <a:lvl1pPr marL="411163" indent="-342900" algn="l" rtl="0" eaLnBrk="0" fontAlgn="base" hangingPunct="0">
        <a:spcBef>
          <a:spcPts val="700"/>
        </a:spcBef>
        <a:spcAft>
          <a:spcPct val="0"/>
        </a:spcAft>
        <a:buClr>
          <a:schemeClr val="tx2"/>
        </a:buClr>
        <a:buSzPct val="95000"/>
        <a:buFont typeface="Wingdings" pitchFamily="2" charset="2"/>
        <a:buChar char=""/>
        <a:defRPr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739775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90000"/>
        <a:buFont typeface="Wingdings" pitchFamily="2" charset="2"/>
        <a:buChar char="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95363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 2" pitchFamily="18" charset="2"/>
        <a:buChar char="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260475" indent="-228600" algn="l" rtl="0" eaLnBrk="0" fontAlgn="base" hangingPunct="0">
        <a:spcBef>
          <a:spcPct val="20000"/>
        </a:spcBef>
        <a:spcAft>
          <a:spcPct val="0"/>
        </a:spcAft>
        <a:buClr>
          <a:srgbClr val="FEB80A"/>
        </a:buClr>
        <a:buFont typeface="Wingdings 3" pitchFamily="18" charset="2"/>
        <a:buChar char=""/>
        <a:defRPr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1481138" indent="-209550" algn="l" rtl="0" eaLnBrk="0" fontAlgn="base" hangingPunct="0">
        <a:spcBef>
          <a:spcPct val="20000"/>
        </a:spcBef>
        <a:spcAft>
          <a:spcPct val="0"/>
        </a:spcAft>
        <a:buClr>
          <a:srgbClr val="FEB80A"/>
        </a:buClr>
        <a:buFont typeface="Wingdings 2" pitchFamily="18" charset="2"/>
        <a:buChar char="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09928" indent="-210312" algn="l" rtl="0" eaLnBrk="1" latinLnBrk="0" hangingPunct="1">
        <a:spcBef>
          <a:spcPct val="20000"/>
        </a:spcBef>
        <a:buClr>
          <a:schemeClr val="accent3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01952" indent="-182880" algn="l" rtl="0" eaLnBrk="1" latinLnBrk="0" hangingPunct="1">
        <a:spcBef>
          <a:spcPct val="20000"/>
        </a:spcBef>
        <a:buClr>
          <a:schemeClr val="accent4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93976" indent="-182880" algn="l" rtl="0" eaLnBrk="1" latinLnBrk="0" hangingPunct="1">
        <a:spcBef>
          <a:spcPct val="20000"/>
        </a:spcBef>
        <a:buClr>
          <a:schemeClr val="accent4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182880" algn="l" rtl="0" eaLnBrk="1" latinLnBrk="0" hangingPunct="1">
        <a:spcBef>
          <a:spcPct val="20000"/>
        </a:spcBef>
        <a:buClr>
          <a:schemeClr val="accent4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w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6 Imagen" descr="tapa1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39552" y="75016"/>
            <a:ext cx="8461604" cy="4872998"/>
          </a:xfrm>
          <a:prstGeom prst="rect">
            <a:avLst/>
          </a:prstGeom>
        </p:spPr>
      </p:pic>
      <p:sp>
        <p:nvSpPr>
          <p:cNvPr id="14342" name="10 CuadroTexto"/>
          <p:cNvSpPr txBox="1">
            <a:spLocks noChangeArrowheads="1"/>
          </p:cNvSpPr>
          <p:nvPr/>
        </p:nvSpPr>
        <p:spPr bwMode="auto">
          <a:xfrm>
            <a:off x="1152128" y="702444"/>
            <a:ext cx="3275856" cy="1077218"/>
          </a:xfrm>
          <a:prstGeom prst="rect">
            <a:avLst/>
          </a:prstGeom>
          <a:solidFill>
            <a:schemeClr val="accent5">
              <a:lumMod val="75000"/>
            </a:schemeClr>
          </a:solidFill>
          <a:ln w="9525">
            <a:noFill/>
            <a:miter lim="800000"/>
            <a:headEnd/>
            <a:tailEnd/>
          </a:ln>
          <a:effectLst>
            <a:softEdge rad="127000"/>
          </a:effectLst>
        </p:spPr>
        <p:txBody>
          <a:bodyPr wrap="square">
            <a:sp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pPr algn="r"/>
            <a:r>
              <a:rPr lang="en-US" b="1" dirty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K-Nearest Neighbor (KNN)</a:t>
            </a:r>
          </a:p>
        </p:txBody>
      </p:sp>
      <p:sp>
        <p:nvSpPr>
          <p:cNvPr id="4" name="Rectángulo 3"/>
          <p:cNvSpPr/>
          <p:nvPr/>
        </p:nvSpPr>
        <p:spPr>
          <a:xfrm>
            <a:off x="917880" y="4578830"/>
            <a:ext cx="7704912" cy="322354"/>
          </a:xfrm>
          <a:prstGeom prst="rect">
            <a:avLst/>
          </a:prstGeom>
          <a:solidFill>
            <a:srgbClr val="0000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ransition>
    <p:split orient="vert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3"/>
          <p:cNvSpPr>
            <a:spLocks noGrp="1" noChangeArrowheads="1"/>
          </p:cNvSpPr>
          <p:nvPr>
            <p:ph idx="1"/>
          </p:nvPr>
        </p:nvSpPr>
        <p:spPr>
          <a:xfrm>
            <a:off x="628680" y="1797903"/>
            <a:ext cx="8229600" cy="1997983"/>
          </a:xfrm>
        </p:spPr>
        <p:txBody>
          <a:bodyPr>
            <a:spAutoFit/>
          </a:bodyPr>
          <a:lstStyle/>
          <a:p>
            <a:pPr marL="0" indent="0" eaLnBrk="1" fontAlgn="auto" hangingPunct="1">
              <a:lnSpc>
                <a:spcPct val="90000"/>
              </a:lnSpc>
              <a:spcAft>
                <a:spcPts val="1200"/>
              </a:spcAft>
              <a:buFontTx/>
              <a:buNone/>
              <a:defRPr/>
            </a:pPr>
            <a:r>
              <a:rPr lang="es-AR" sz="2400" dirty="0">
                <a:ln w="11430"/>
                <a:solidFill>
                  <a:srgbClr val="FFFF00"/>
                </a:solidFill>
                <a:latin typeface="Times New Roman" pitchFamily="18" charset="0"/>
              </a:rPr>
              <a:t>En contraste con los métodos de aprendizaje que realizan el proceso previo de entrenamiento, existen métodos que tratan de lograr clasificar utilizando los datos, solamente cuando llega una nueva instancia.</a:t>
            </a:r>
          </a:p>
          <a:p>
            <a:pPr marL="0" indent="0" eaLnBrk="1" fontAlgn="auto" hangingPunct="1">
              <a:lnSpc>
                <a:spcPct val="90000"/>
              </a:lnSpc>
              <a:spcAft>
                <a:spcPts val="1200"/>
              </a:spcAft>
              <a:buFontTx/>
              <a:buNone/>
              <a:defRPr/>
            </a:pPr>
            <a:r>
              <a:rPr lang="es-AR" sz="2400" dirty="0">
                <a:ln w="11430"/>
                <a:solidFill>
                  <a:srgbClr val="FFFF00"/>
                </a:solidFill>
                <a:latin typeface="Times New Roman" pitchFamily="18" charset="0"/>
              </a:rPr>
              <a:t>Este tipo de estrategia se conoce como </a:t>
            </a:r>
            <a:r>
              <a:rPr lang="es-AR" sz="2400" dirty="0" err="1">
                <a:ln w="11430"/>
                <a:solidFill>
                  <a:srgbClr val="00FF00"/>
                </a:solidFill>
                <a:latin typeface="Times New Roman" pitchFamily="18" charset="0"/>
              </a:rPr>
              <a:t>lazy</a:t>
            </a:r>
            <a:r>
              <a:rPr lang="es-AR" sz="2400" dirty="0">
                <a:ln w="11430"/>
                <a:solidFill>
                  <a:srgbClr val="00FF00"/>
                </a:solidFill>
                <a:latin typeface="Times New Roman" pitchFamily="18" charset="0"/>
              </a:rPr>
              <a:t> </a:t>
            </a:r>
            <a:r>
              <a:rPr lang="es-AR" sz="2400" dirty="0" err="1">
                <a:ln w="11430"/>
                <a:solidFill>
                  <a:srgbClr val="00FF00"/>
                </a:solidFill>
                <a:latin typeface="Times New Roman" pitchFamily="18" charset="0"/>
              </a:rPr>
              <a:t>evaluation</a:t>
            </a:r>
            <a:r>
              <a:rPr lang="es-AR" sz="2400" dirty="0">
                <a:ln w="11430"/>
                <a:solidFill>
                  <a:srgbClr val="FFFF00"/>
                </a:solidFill>
                <a:latin typeface="Times New Roman" pitchFamily="18" charset="0"/>
              </a:rPr>
              <a:t>. </a:t>
            </a:r>
          </a:p>
        </p:txBody>
      </p:sp>
      <p:sp>
        <p:nvSpPr>
          <p:cNvPr id="7" name="6 CuadroTexto"/>
          <p:cNvSpPr txBox="1"/>
          <p:nvPr/>
        </p:nvSpPr>
        <p:spPr>
          <a:xfrm>
            <a:off x="785814" y="107157"/>
            <a:ext cx="8072437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s-AR" sz="2400" b="1" cap="small" dirty="0">
                <a:solidFill>
                  <a:srgbClr val="00FF00"/>
                </a:solidFill>
              </a:rPr>
              <a:t>k – </a:t>
            </a:r>
            <a:r>
              <a:rPr lang="es-AR" sz="2400" b="1" cap="small" dirty="0" err="1">
                <a:solidFill>
                  <a:srgbClr val="00FF00"/>
                </a:solidFill>
              </a:rPr>
              <a:t>Nearest</a:t>
            </a:r>
            <a:r>
              <a:rPr lang="es-AR" sz="2400" b="1" cap="small" dirty="0">
                <a:solidFill>
                  <a:srgbClr val="00FF00"/>
                </a:solidFill>
              </a:rPr>
              <a:t> </a:t>
            </a:r>
            <a:r>
              <a:rPr lang="es-AR" sz="2400" b="1" cap="small" dirty="0" err="1">
                <a:solidFill>
                  <a:srgbClr val="00FF00"/>
                </a:solidFill>
              </a:rPr>
              <a:t>Neighbor</a:t>
            </a:r>
            <a:endParaRPr lang="es-AR" sz="2400" b="1" cap="small" dirty="0">
              <a:solidFill>
                <a:srgbClr val="00FF00"/>
              </a:solidFill>
            </a:endParaRPr>
          </a:p>
        </p:txBody>
      </p:sp>
    </p:spTree>
  </p:cSld>
  <p:clrMapOvr>
    <a:masterClrMapping/>
  </p:clrMapOvr>
  <p:transition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8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5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3"/>
          <p:cNvSpPr>
            <a:spLocks noGrp="1" noChangeArrowheads="1"/>
          </p:cNvSpPr>
          <p:nvPr>
            <p:ph idx="1"/>
          </p:nvPr>
        </p:nvSpPr>
        <p:spPr>
          <a:xfrm>
            <a:off x="628680" y="1277489"/>
            <a:ext cx="8229600" cy="2485296"/>
          </a:xfrm>
        </p:spPr>
        <p:txBody>
          <a:bodyPr>
            <a:spAutoFit/>
          </a:bodyPr>
          <a:lstStyle/>
          <a:p>
            <a:pPr marL="0" indent="0" eaLnBrk="1" fontAlgn="auto" hangingPunct="1">
              <a:lnSpc>
                <a:spcPct val="90000"/>
              </a:lnSpc>
              <a:spcAft>
                <a:spcPts val="1200"/>
              </a:spcAft>
              <a:buFontTx/>
              <a:buNone/>
              <a:defRPr/>
            </a:pPr>
            <a:r>
              <a:rPr lang="es-AR" sz="2400" dirty="0">
                <a:ln w="11430"/>
                <a:solidFill>
                  <a:srgbClr val="FFFF00"/>
                </a:solidFill>
                <a:latin typeface="Times New Roman" pitchFamily="18" charset="0"/>
              </a:rPr>
              <a:t>Los métodos </a:t>
            </a:r>
            <a:r>
              <a:rPr lang="es-AR" sz="2400" dirty="0" err="1">
                <a:ln w="11430"/>
                <a:solidFill>
                  <a:srgbClr val="FFFF00"/>
                </a:solidFill>
                <a:latin typeface="Times New Roman" pitchFamily="18" charset="0"/>
              </a:rPr>
              <a:t>lazy</a:t>
            </a:r>
            <a:r>
              <a:rPr lang="es-AR" sz="2400" dirty="0">
                <a:ln w="11430"/>
                <a:solidFill>
                  <a:srgbClr val="FFFF00"/>
                </a:solidFill>
                <a:latin typeface="Times New Roman" pitchFamily="18" charset="0"/>
              </a:rPr>
              <a:t> se caracterizan por tres propiedades:</a:t>
            </a:r>
          </a:p>
          <a:p>
            <a:pPr marL="514350" indent="-514350" eaLnBrk="1" fontAlgn="auto" hangingPunct="1">
              <a:lnSpc>
                <a:spcPct val="90000"/>
              </a:lnSpc>
              <a:spcAft>
                <a:spcPts val="1200"/>
              </a:spcAft>
              <a:buFont typeface="+mj-lt"/>
              <a:buAutoNum type="arabicPeriod"/>
              <a:defRPr/>
            </a:pPr>
            <a:r>
              <a:rPr lang="es-AR" sz="2400" dirty="0">
                <a:ln w="11430"/>
                <a:solidFill>
                  <a:srgbClr val="FFFF00"/>
                </a:solidFill>
                <a:latin typeface="Times New Roman" pitchFamily="18" charset="0"/>
              </a:rPr>
              <a:t>Evaluación posterior a la llegada de una instancia.</a:t>
            </a:r>
          </a:p>
          <a:p>
            <a:pPr marL="514350" indent="-514350" eaLnBrk="1" fontAlgn="auto" hangingPunct="1">
              <a:lnSpc>
                <a:spcPct val="90000"/>
              </a:lnSpc>
              <a:spcAft>
                <a:spcPts val="1200"/>
              </a:spcAft>
              <a:buFont typeface="+mj-lt"/>
              <a:buAutoNum type="arabicPeriod"/>
              <a:defRPr/>
            </a:pPr>
            <a:r>
              <a:rPr lang="es-AR" sz="2400" dirty="0">
                <a:ln w="11430"/>
                <a:solidFill>
                  <a:srgbClr val="FFFF00"/>
                </a:solidFill>
                <a:latin typeface="Times New Roman" pitchFamily="18" charset="0"/>
              </a:rPr>
              <a:t>Clasificación de acuerdo a instancias similares.</a:t>
            </a:r>
          </a:p>
          <a:p>
            <a:pPr marL="514350" indent="-514350" eaLnBrk="1" fontAlgn="auto" hangingPunct="1">
              <a:lnSpc>
                <a:spcPct val="90000"/>
              </a:lnSpc>
              <a:spcAft>
                <a:spcPts val="1200"/>
              </a:spcAft>
              <a:buFont typeface="+mj-lt"/>
              <a:buAutoNum type="arabicPeriod"/>
              <a:defRPr/>
            </a:pPr>
            <a:r>
              <a:rPr lang="es-AR" sz="2400" dirty="0">
                <a:ln w="11430"/>
                <a:solidFill>
                  <a:srgbClr val="FFFF00"/>
                </a:solidFill>
                <a:latin typeface="Times New Roman" pitchFamily="18" charset="0"/>
              </a:rPr>
              <a:t>Necesitan representación de las instancias en espacios n-dimensionales.</a:t>
            </a:r>
          </a:p>
        </p:txBody>
      </p:sp>
      <p:sp>
        <p:nvSpPr>
          <p:cNvPr id="7" name="6 CuadroTexto"/>
          <p:cNvSpPr txBox="1"/>
          <p:nvPr/>
        </p:nvSpPr>
        <p:spPr>
          <a:xfrm>
            <a:off x="785814" y="107157"/>
            <a:ext cx="8072437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s-AR" sz="2400" b="1" cap="small" dirty="0">
                <a:solidFill>
                  <a:srgbClr val="00FF00"/>
                </a:solidFill>
              </a:rPr>
              <a:t>k – </a:t>
            </a:r>
            <a:r>
              <a:rPr lang="es-AR" sz="2400" b="1" cap="small" dirty="0" err="1">
                <a:solidFill>
                  <a:srgbClr val="00FF00"/>
                </a:solidFill>
              </a:rPr>
              <a:t>Nearest</a:t>
            </a:r>
            <a:r>
              <a:rPr lang="es-AR" sz="2400" b="1" cap="small" dirty="0">
                <a:solidFill>
                  <a:srgbClr val="00FF00"/>
                </a:solidFill>
              </a:rPr>
              <a:t> </a:t>
            </a:r>
            <a:r>
              <a:rPr lang="es-AR" sz="2400" b="1" cap="small" dirty="0" err="1">
                <a:solidFill>
                  <a:srgbClr val="00FF00"/>
                </a:solidFill>
              </a:rPr>
              <a:t>Neighbor</a:t>
            </a:r>
            <a:endParaRPr lang="es-AR" sz="2400" b="1" cap="small" dirty="0">
              <a:solidFill>
                <a:srgbClr val="00FF00"/>
              </a:solidFill>
            </a:endParaRPr>
          </a:p>
        </p:txBody>
      </p:sp>
    </p:spTree>
  </p:cSld>
  <p:clrMapOvr>
    <a:masterClrMapping/>
  </p:clrMapOvr>
  <p:transition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8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8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5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6 CuadroTexto"/>
          <p:cNvSpPr txBox="1"/>
          <p:nvPr/>
        </p:nvSpPr>
        <p:spPr>
          <a:xfrm>
            <a:off x="785814" y="107157"/>
            <a:ext cx="8072437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s-AR" sz="2400" b="1" cap="small" dirty="0">
                <a:solidFill>
                  <a:srgbClr val="00FF00"/>
                </a:solidFill>
              </a:rPr>
              <a:t>k – </a:t>
            </a:r>
            <a:r>
              <a:rPr lang="es-AR" sz="2400" b="1" cap="small" dirty="0" err="1">
                <a:solidFill>
                  <a:srgbClr val="00FF00"/>
                </a:solidFill>
              </a:rPr>
              <a:t>Nearest</a:t>
            </a:r>
            <a:r>
              <a:rPr lang="es-AR" sz="2400" b="1" cap="small" dirty="0">
                <a:solidFill>
                  <a:srgbClr val="00FF00"/>
                </a:solidFill>
              </a:rPr>
              <a:t> </a:t>
            </a:r>
            <a:r>
              <a:rPr lang="es-AR" sz="2400" b="1" cap="small" dirty="0" err="1">
                <a:solidFill>
                  <a:srgbClr val="00FF00"/>
                </a:solidFill>
              </a:rPr>
              <a:t>Neighbor</a:t>
            </a:r>
            <a:endParaRPr lang="es-AR" sz="2400" b="1" cap="small" dirty="0">
              <a:solidFill>
                <a:srgbClr val="00FF00"/>
              </a:solidFill>
            </a:endParaRPr>
          </a:p>
        </p:txBody>
      </p:sp>
      <p:sp>
        <p:nvSpPr>
          <p:cNvPr id="8" name="Text Box 3"/>
          <p:cNvSpPr txBox="1">
            <a:spLocks noChangeArrowheads="1"/>
          </p:cNvSpPr>
          <p:nvPr/>
        </p:nvSpPr>
        <p:spPr bwMode="auto">
          <a:xfrm>
            <a:off x="466756" y="929034"/>
            <a:ext cx="8534400" cy="46166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just"/>
            <a:r>
              <a:rPr lang="es-AR" sz="2400" dirty="0">
                <a:ln w="11430"/>
                <a:solidFill>
                  <a:srgbClr val="FFFF00"/>
                </a:solidFill>
              </a:rPr>
              <a:t>Dado al conjunto de datos:</a:t>
            </a:r>
            <a:endParaRPr lang="es-ES_tradnl" sz="2400" dirty="0">
              <a:ln w="11430"/>
              <a:solidFill>
                <a:srgbClr val="FFFF00"/>
              </a:solidFill>
            </a:endParaRPr>
          </a:p>
        </p:txBody>
      </p:sp>
      <p:pic>
        <p:nvPicPr>
          <p:cNvPr id="9" name="Picture 5"/>
          <p:cNvPicPr>
            <a:picLocks noChangeAspect="1" noChangeArrowheads="1"/>
          </p:cNvPicPr>
          <p:nvPr/>
        </p:nvPicPr>
        <p:blipFill rotWithShape="1">
          <a:blip r:embed="rId2" cstate="print"/>
          <a:srcRect l="-396" t="1411" r="3219" b="1"/>
          <a:stretch/>
        </p:blipFill>
        <p:spPr bwMode="auto">
          <a:xfrm>
            <a:off x="955673" y="1750911"/>
            <a:ext cx="7000703" cy="26208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Text Box 6"/>
          <p:cNvSpPr txBox="1">
            <a:spLocks noChangeArrowheads="1"/>
          </p:cNvSpPr>
          <p:nvPr/>
        </p:nvSpPr>
        <p:spPr bwMode="auto">
          <a:xfrm>
            <a:off x="466756" y="4414341"/>
            <a:ext cx="8534400" cy="46166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just"/>
            <a:r>
              <a:rPr lang="es-AR" sz="2400" dirty="0">
                <a:ln w="11430"/>
                <a:solidFill>
                  <a:srgbClr val="FFFF00"/>
                </a:solidFill>
              </a:rPr>
              <a:t>Qué alternativas hay para clasificar una nueva instancia?</a:t>
            </a:r>
            <a:endParaRPr lang="es-ES_tradnl" sz="2400" dirty="0">
              <a:ln w="11430"/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>
    <p:split orient="vert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3"/>
          <p:cNvSpPr>
            <a:spLocks noGrp="1" noChangeArrowheads="1"/>
          </p:cNvSpPr>
          <p:nvPr>
            <p:ph idx="1"/>
          </p:nvPr>
        </p:nvSpPr>
        <p:spPr>
          <a:xfrm>
            <a:off x="628680" y="1439587"/>
            <a:ext cx="8229600" cy="2330382"/>
          </a:xfrm>
        </p:spPr>
        <p:txBody>
          <a:bodyPr>
            <a:spAutoFit/>
          </a:bodyPr>
          <a:lstStyle/>
          <a:p>
            <a:pPr marL="0" indent="0" eaLnBrk="1" fontAlgn="auto" hangingPunct="1">
              <a:lnSpc>
                <a:spcPct val="90000"/>
              </a:lnSpc>
              <a:spcAft>
                <a:spcPts val="1200"/>
              </a:spcAft>
              <a:buFontTx/>
              <a:buNone/>
              <a:defRPr/>
            </a:pPr>
            <a:r>
              <a:rPr lang="es-AR" sz="2400" dirty="0">
                <a:ln w="11430"/>
                <a:solidFill>
                  <a:srgbClr val="FFFF00"/>
                </a:solidFill>
                <a:latin typeface="Times New Roman" pitchFamily="18" charset="0"/>
              </a:rPr>
              <a:t>Podríamos imaginar crear un conjunto de reglas que determinen las características de cada clase, o establecer las probabilidades asociadas a cada clase, o diseñar una red neuronal de tipo BPN o </a:t>
            </a:r>
            <a:r>
              <a:rPr lang="es-AR" sz="2400" dirty="0" smtClean="0">
                <a:ln w="11430"/>
                <a:solidFill>
                  <a:srgbClr val="FFFF00"/>
                </a:solidFill>
                <a:latin typeface="Times New Roman" pitchFamily="18" charset="0"/>
              </a:rPr>
              <a:t> </a:t>
            </a:r>
            <a:r>
              <a:rPr lang="es-AR" sz="2400" dirty="0">
                <a:ln w="11430"/>
                <a:solidFill>
                  <a:srgbClr val="FFFF00"/>
                </a:solidFill>
                <a:latin typeface="Times New Roman" pitchFamily="18" charset="0"/>
              </a:rPr>
              <a:t>utilizar </a:t>
            </a:r>
            <a:r>
              <a:rPr lang="es-AR" sz="2400" dirty="0" smtClean="0">
                <a:ln w="11430"/>
                <a:solidFill>
                  <a:srgbClr val="FFFF00"/>
                </a:solidFill>
                <a:latin typeface="Times New Roman" pitchFamily="18" charset="0"/>
              </a:rPr>
              <a:t>una red SOM.</a:t>
            </a:r>
            <a:endParaRPr lang="es-AR" sz="2400" dirty="0">
              <a:ln w="11430"/>
              <a:solidFill>
                <a:srgbClr val="FFFF00"/>
              </a:solidFill>
              <a:latin typeface="Times New Roman" pitchFamily="18" charset="0"/>
            </a:endParaRPr>
          </a:p>
          <a:p>
            <a:pPr marL="0" indent="0" eaLnBrk="1" fontAlgn="auto" hangingPunct="1">
              <a:lnSpc>
                <a:spcPct val="90000"/>
              </a:lnSpc>
              <a:spcAft>
                <a:spcPts val="1200"/>
              </a:spcAft>
              <a:buFontTx/>
              <a:buNone/>
              <a:defRPr/>
            </a:pPr>
            <a:r>
              <a:rPr lang="es-AR" sz="2400" dirty="0">
                <a:ln w="11430"/>
                <a:solidFill>
                  <a:srgbClr val="FFFF00"/>
                </a:solidFill>
                <a:latin typeface="Times New Roman" pitchFamily="18" charset="0"/>
              </a:rPr>
              <a:t>Todos estos métodos demandarían una serie de actividades previas que involucran el </a:t>
            </a:r>
            <a:r>
              <a:rPr lang="es-AR" sz="2400" dirty="0">
                <a:ln w="11430"/>
                <a:solidFill>
                  <a:srgbClr val="00FF00"/>
                </a:solidFill>
                <a:latin typeface="Times New Roman" pitchFamily="18" charset="0"/>
              </a:rPr>
              <a:t>proceso de aprendizaje</a:t>
            </a:r>
            <a:r>
              <a:rPr lang="es-AR" sz="2400" dirty="0">
                <a:ln w="11430"/>
                <a:solidFill>
                  <a:srgbClr val="FFFF00"/>
                </a:solidFill>
                <a:latin typeface="Times New Roman" pitchFamily="18" charset="0"/>
              </a:rPr>
              <a:t>.</a:t>
            </a:r>
          </a:p>
        </p:txBody>
      </p:sp>
      <p:sp>
        <p:nvSpPr>
          <p:cNvPr id="7" name="6 CuadroTexto"/>
          <p:cNvSpPr txBox="1"/>
          <p:nvPr/>
        </p:nvSpPr>
        <p:spPr>
          <a:xfrm>
            <a:off x="785814" y="107157"/>
            <a:ext cx="8072437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s-AR" sz="2400" b="1" cap="small" dirty="0">
                <a:solidFill>
                  <a:srgbClr val="00FF00"/>
                </a:solidFill>
              </a:rPr>
              <a:t>k – </a:t>
            </a:r>
            <a:r>
              <a:rPr lang="es-AR" sz="2400" b="1" cap="small" dirty="0" err="1">
                <a:solidFill>
                  <a:srgbClr val="00FF00"/>
                </a:solidFill>
              </a:rPr>
              <a:t>Nearest</a:t>
            </a:r>
            <a:r>
              <a:rPr lang="es-AR" sz="2400" b="1" cap="small" dirty="0">
                <a:solidFill>
                  <a:srgbClr val="00FF00"/>
                </a:solidFill>
              </a:rPr>
              <a:t> </a:t>
            </a:r>
            <a:r>
              <a:rPr lang="es-AR" sz="2400" b="1" cap="small" dirty="0" err="1">
                <a:solidFill>
                  <a:srgbClr val="00FF00"/>
                </a:solidFill>
              </a:rPr>
              <a:t>Neighbor</a:t>
            </a:r>
            <a:endParaRPr lang="es-AR" sz="2400" b="1" cap="small" dirty="0">
              <a:solidFill>
                <a:srgbClr val="00FF00"/>
              </a:solidFill>
            </a:endParaRPr>
          </a:p>
        </p:txBody>
      </p:sp>
    </p:spTree>
  </p:cSld>
  <p:clrMapOvr>
    <a:masterClrMapping/>
  </p:clrMapOvr>
  <p:transition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8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5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3"/>
          <p:cNvSpPr>
            <a:spLocks noGrp="1" noChangeArrowheads="1"/>
          </p:cNvSpPr>
          <p:nvPr>
            <p:ph idx="1"/>
          </p:nvPr>
        </p:nvSpPr>
        <p:spPr>
          <a:xfrm>
            <a:off x="628680" y="1267924"/>
            <a:ext cx="8229600" cy="2330382"/>
          </a:xfrm>
        </p:spPr>
        <p:txBody>
          <a:bodyPr>
            <a:spAutoFit/>
          </a:bodyPr>
          <a:lstStyle/>
          <a:p>
            <a:pPr marL="0" indent="0" eaLnBrk="1" fontAlgn="auto" hangingPunct="1">
              <a:lnSpc>
                <a:spcPct val="90000"/>
              </a:lnSpc>
              <a:spcAft>
                <a:spcPts val="1200"/>
              </a:spcAft>
              <a:buFontTx/>
              <a:buNone/>
              <a:defRPr/>
            </a:pPr>
            <a:r>
              <a:rPr lang="es-AR" sz="2400" dirty="0">
                <a:ln w="11430"/>
                <a:solidFill>
                  <a:srgbClr val="FFFF00"/>
                </a:solidFill>
                <a:latin typeface="Times New Roman" pitchFamily="18" charset="0"/>
              </a:rPr>
              <a:t>Un método alternativo para poder clasificar los datos es el conocido como KNN (k-</a:t>
            </a:r>
            <a:r>
              <a:rPr lang="es-AR" sz="2400" dirty="0" err="1">
                <a:ln w="11430"/>
                <a:solidFill>
                  <a:srgbClr val="FFFF00"/>
                </a:solidFill>
                <a:latin typeface="Times New Roman" pitchFamily="18" charset="0"/>
              </a:rPr>
              <a:t>Nearest</a:t>
            </a:r>
            <a:r>
              <a:rPr lang="es-AR" sz="2400" dirty="0">
                <a:ln w="11430"/>
                <a:solidFill>
                  <a:srgbClr val="FFFF00"/>
                </a:solidFill>
                <a:latin typeface="Times New Roman" pitchFamily="18" charset="0"/>
              </a:rPr>
              <a:t> </a:t>
            </a:r>
            <a:r>
              <a:rPr lang="es-AR" sz="2400" dirty="0" err="1">
                <a:ln w="11430"/>
                <a:solidFill>
                  <a:srgbClr val="FFFF00"/>
                </a:solidFill>
                <a:latin typeface="Times New Roman" pitchFamily="18" charset="0"/>
              </a:rPr>
              <a:t>Neighbor</a:t>
            </a:r>
            <a:r>
              <a:rPr lang="es-AR" sz="2400" dirty="0">
                <a:ln w="11430"/>
                <a:solidFill>
                  <a:srgbClr val="FFFF00"/>
                </a:solidFill>
                <a:latin typeface="Times New Roman" pitchFamily="18" charset="0"/>
              </a:rPr>
              <a:t>), que simplemente establece que hay que determinar </a:t>
            </a:r>
            <a:r>
              <a:rPr lang="es-AR" sz="2400" dirty="0">
                <a:ln w="11430"/>
                <a:solidFill>
                  <a:srgbClr val="00FF00"/>
                </a:solidFill>
                <a:latin typeface="Times New Roman" pitchFamily="18" charset="0"/>
              </a:rPr>
              <a:t>qué cantidad de vecinos de la nueva instancia pertenece a una clase en particular</a:t>
            </a:r>
            <a:r>
              <a:rPr lang="es-AR" sz="2400" dirty="0">
                <a:ln w="11430"/>
                <a:solidFill>
                  <a:srgbClr val="FFFF00"/>
                </a:solidFill>
                <a:latin typeface="Times New Roman" pitchFamily="18" charset="0"/>
              </a:rPr>
              <a:t>.</a:t>
            </a:r>
          </a:p>
          <a:p>
            <a:pPr marL="0" indent="0" eaLnBrk="1" fontAlgn="auto" hangingPunct="1">
              <a:lnSpc>
                <a:spcPct val="90000"/>
              </a:lnSpc>
              <a:spcAft>
                <a:spcPts val="1200"/>
              </a:spcAft>
              <a:buFontTx/>
              <a:buNone/>
              <a:defRPr/>
            </a:pPr>
            <a:r>
              <a:rPr lang="es-AR" sz="2400" dirty="0">
                <a:ln w="11430"/>
                <a:solidFill>
                  <a:srgbClr val="FFFF00"/>
                </a:solidFill>
                <a:latin typeface="Times New Roman" pitchFamily="18" charset="0"/>
              </a:rPr>
              <a:t>Es decir, se establece k como el valor de vecinos que se utilizarán para determinar a qué clase corresponde la nueva instancia.</a:t>
            </a:r>
          </a:p>
        </p:txBody>
      </p:sp>
      <p:sp>
        <p:nvSpPr>
          <p:cNvPr id="7" name="6 CuadroTexto"/>
          <p:cNvSpPr txBox="1"/>
          <p:nvPr/>
        </p:nvSpPr>
        <p:spPr>
          <a:xfrm>
            <a:off x="785814" y="107157"/>
            <a:ext cx="8072437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s-AR" sz="2400" b="1" cap="small" dirty="0">
                <a:solidFill>
                  <a:srgbClr val="00FF00"/>
                </a:solidFill>
              </a:rPr>
              <a:t>k – </a:t>
            </a:r>
            <a:r>
              <a:rPr lang="es-AR" sz="2400" b="1" cap="small" dirty="0" err="1">
                <a:solidFill>
                  <a:srgbClr val="00FF00"/>
                </a:solidFill>
              </a:rPr>
              <a:t>Nearest</a:t>
            </a:r>
            <a:r>
              <a:rPr lang="es-AR" sz="2400" b="1" cap="small" dirty="0">
                <a:solidFill>
                  <a:srgbClr val="00FF00"/>
                </a:solidFill>
              </a:rPr>
              <a:t> </a:t>
            </a:r>
            <a:r>
              <a:rPr lang="es-AR" sz="2400" b="1" cap="small" dirty="0" err="1">
                <a:solidFill>
                  <a:srgbClr val="00FF00"/>
                </a:solidFill>
              </a:rPr>
              <a:t>Neighbor</a:t>
            </a:r>
            <a:endParaRPr lang="es-AR" sz="2400" b="1" cap="small" dirty="0">
              <a:solidFill>
                <a:srgbClr val="00FF00"/>
              </a:solidFill>
            </a:endParaRPr>
          </a:p>
        </p:txBody>
      </p:sp>
    </p:spTree>
  </p:cSld>
  <p:clrMapOvr>
    <a:masterClrMapping/>
  </p:clrMapOvr>
  <p:transition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8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5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3"/>
          <p:cNvSpPr>
            <a:spLocks noGrp="1" noChangeArrowheads="1"/>
          </p:cNvSpPr>
          <p:nvPr>
            <p:ph idx="1"/>
          </p:nvPr>
        </p:nvSpPr>
        <p:spPr>
          <a:xfrm>
            <a:off x="628680" y="696503"/>
            <a:ext cx="8229600" cy="424732"/>
          </a:xfrm>
        </p:spPr>
        <p:txBody>
          <a:bodyPr>
            <a:spAutoFit/>
          </a:bodyPr>
          <a:lstStyle/>
          <a:p>
            <a:pPr marL="0" indent="0" eaLnBrk="1" fontAlgn="auto" hangingPunct="1">
              <a:lnSpc>
                <a:spcPct val="90000"/>
              </a:lnSpc>
              <a:spcAft>
                <a:spcPts val="1200"/>
              </a:spcAft>
              <a:buFontTx/>
              <a:buNone/>
              <a:defRPr/>
            </a:pPr>
            <a:r>
              <a:rPr lang="es-AR" sz="2400" dirty="0">
                <a:ln w="11430"/>
                <a:solidFill>
                  <a:srgbClr val="FFFF00"/>
                </a:solidFill>
                <a:latin typeface="Times New Roman" pitchFamily="18" charset="0"/>
              </a:rPr>
              <a:t>Gráficamente:</a:t>
            </a:r>
          </a:p>
        </p:txBody>
      </p:sp>
      <p:sp>
        <p:nvSpPr>
          <p:cNvPr id="7" name="6 CuadroTexto"/>
          <p:cNvSpPr txBox="1"/>
          <p:nvPr/>
        </p:nvSpPr>
        <p:spPr>
          <a:xfrm>
            <a:off x="785814" y="107157"/>
            <a:ext cx="8072437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s-AR" sz="2400" b="1" cap="small" dirty="0">
                <a:solidFill>
                  <a:srgbClr val="00FF00"/>
                </a:solidFill>
              </a:rPr>
              <a:t>k – </a:t>
            </a:r>
            <a:r>
              <a:rPr lang="es-AR" sz="2400" b="1" cap="small" dirty="0" err="1">
                <a:solidFill>
                  <a:srgbClr val="00FF00"/>
                </a:solidFill>
              </a:rPr>
              <a:t>Nearest</a:t>
            </a:r>
            <a:r>
              <a:rPr lang="es-AR" sz="2400" b="1" cap="small" dirty="0">
                <a:solidFill>
                  <a:srgbClr val="00FF00"/>
                </a:solidFill>
              </a:rPr>
              <a:t> </a:t>
            </a:r>
            <a:r>
              <a:rPr lang="es-AR" sz="2400" b="1" cap="small" dirty="0" err="1">
                <a:solidFill>
                  <a:srgbClr val="00FF00"/>
                </a:solidFill>
              </a:rPr>
              <a:t>Neighbor</a:t>
            </a:r>
            <a:endParaRPr lang="es-AR" sz="2400" b="1" cap="small" dirty="0">
              <a:solidFill>
                <a:srgbClr val="00FF00"/>
              </a:solidFill>
            </a:endParaRPr>
          </a:p>
        </p:txBody>
      </p:sp>
      <p:pic>
        <p:nvPicPr>
          <p:cNvPr id="6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91680" y="1203598"/>
            <a:ext cx="6077820" cy="3384131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</p:pic>
      <p:sp>
        <p:nvSpPr>
          <p:cNvPr id="2" name="Elipse 1">
            <a:extLst>
              <a:ext uri="{FF2B5EF4-FFF2-40B4-BE49-F238E27FC236}">
                <a16:creationId xmlns:a16="http://schemas.microsoft.com/office/drawing/2014/main" id="{CC528FB3-92D5-D76C-F027-CBF080EBB0EB}"/>
              </a:ext>
            </a:extLst>
          </p:cNvPr>
          <p:cNvSpPr/>
          <p:nvPr/>
        </p:nvSpPr>
        <p:spPr>
          <a:xfrm>
            <a:off x="4372824" y="2283718"/>
            <a:ext cx="1204111" cy="864096"/>
          </a:xfrm>
          <a:prstGeom prst="ellipse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3" name="Elipse 2"/>
          <p:cNvSpPr/>
          <p:nvPr/>
        </p:nvSpPr>
        <p:spPr>
          <a:xfrm>
            <a:off x="4866867" y="2607754"/>
            <a:ext cx="216024" cy="2160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ransition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3"/>
          <p:cNvSpPr>
            <a:spLocks noGrp="1" noChangeArrowheads="1"/>
          </p:cNvSpPr>
          <p:nvPr>
            <p:ph idx="1"/>
          </p:nvPr>
        </p:nvSpPr>
        <p:spPr>
          <a:xfrm>
            <a:off x="467544" y="696503"/>
            <a:ext cx="8568952" cy="1498872"/>
          </a:xfrm>
        </p:spPr>
        <p:txBody>
          <a:bodyPr wrap="square">
            <a:spAutoFit/>
          </a:bodyPr>
          <a:lstStyle/>
          <a:p>
            <a:pPr marL="0" indent="0" eaLnBrk="1" fontAlgn="auto" hangingPunct="1">
              <a:lnSpc>
                <a:spcPct val="90000"/>
              </a:lnSpc>
              <a:spcAft>
                <a:spcPts val="600"/>
              </a:spcAft>
              <a:buFontTx/>
              <a:buNone/>
              <a:defRPr/>
            </a:pPr>
            <a:r>
              <a:rPr lang="es-AR" sz="2400" dirty="0">
                <a:ln w="11430"/>
                <a:solidFill>
                  <a:srgbClr val="FFFF00"/>
                </a:solidFill>
                <a:latin typeface="Times New Roman" pitchFamily="18" charset="0"/>
              </a:rPr>
              <a:t>La cuestión planteada aquí es como determinar la proximidad de los vecinos.</a:t>
            </a:r>
          </a:p>
          <a:p>
            <a:pPr marL="0" indent="0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Tx/>
              <a:buNone/>
              <a:defRPr/>
            </a:pPr>
            <a:r>
              <a:rPr lang="es-AR" sz="2400" dirty="0">
                <a:ln w="11430"/>
                <a:solidFill>
                  <a:srgbClr val="FFFF00"/>
                </a:solidFill>
                <a:latin typeface="Times New Roman" pitchFamily="18" charset="0"/>
              </a:rPr>
              <a:t>La forma más simple es calcular la distancia </a:t>
            </a:r>
            <a:r>
              <a:rPr lang="es-AR" sz="2400" dirty="0" err="1">
                <a:ln w="11430"/>
                <a:solidFill>
                  <a:srgbClr val="FFFF00"/>
                </a:solidFill>
                <a:latin typeface="Times New Roman" pitchFamily="18" charset="0"/>
              </a:rPr>
              <a:t>euclídea</a:t>
            </a:r>
            <a:r>
              <a:rPr lang="es-AR" sz="2400" dirty="0">
                <a:ln w="11430"/>
                <a:solidFill>
                  <a:srgbClr val="FFFF00"/>
                </a:solidFill>
                <a:latin typeface="Times New Roman" pitchFamily="18" charset="0"/>
              </a:rPr>
              <a:t> de la instancia a clasificar respecto del conjunto de entrenamiento. Es decir:</a:t>
            </a:r>
          </a:p>
        </p:txBody>
      </p:sp>
      <p:sp>
        <p:nvSpPr>
          <p:cNvPr id="7" name="6 CuadroTexto"/>
          <p:cNvSpPr txBox="1"/>
          <p:nvPr/>
        </p:nvSpPr>
        <p:spPr>
          <a:xfrm>
            <a:off x="785814" y="107157"/>
            <a:ext cx="8072437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s-AR" sz="2400" b="1" cap="small" dirty="0">
                <a:solidFill>
                  <a:srgbClr val="00FF00"/>
                </a:solidFill>
              </a:rPr>
              <a:t>k – </a:t>
            </a:r>
            <a:r>
              <a:rPr lang="es-AR" sz="2400" b="1" cap="small" dirty="0" err="1">
                <a:solidFill>
                  <a:srgbClr val="00FF00"/>
                </a:solidFill>
              </a:rPr>
              <a:t>Nearest</a:t>
            </a:r>
            <a:r>
              <a:rPr lang="es-AR" sz="2400" b="1" cap="small" dirty="0">
                <a:solidFill>
                  <a:srgbClr val="00FF00"/>
                </a:solidFill>
              </a:rPr>
              <a:t> </a:t>
            </a:r>
            <a:r>
              <a:rPr lang="es-AR" sz="2400" b="1" cap="small" dirty="0" err="1">
                <a:solidFill>
                  <a:srgbClr val="00FF00"/>
                </a:solidFill>
              </a:rPr>
              <a:t>Neighbor</a:t>
            </a:r>
            <a:endParaRPr lang="es-AR" sz="2400" b="1" cap="small" dirty="0">
              <a:solidFill>
                <a:srgbClr val="00FF00"/>
              </a:solidFill>
            </a:endParaRPr>
          </a:p>
        </p:txBody>
      </p:sp>
      <p:pic>
        <p:nvPicPr>
          <p:cNvPr id="112642" name="Picture 2"/>
          <p:cNvPicPr>
            <a:picLocks noChangeAspect="1" noChangeArrowheads="1"/>
          </p:cNvPicPr>
          <p:nvPr/>
        </p:nvPicPr>
        <p:blipFill>
          <a:blip r:embed="rId2" cstate="print"/>
          <a:srcRect l="30560" r="31239"/>
          <a:stretch>
            <a:fillRect/>
          </a:stretch>
        </p:blipFill>
        <p:spPr bwMode="auto">
          <a:xfrm>
            <a:off x="611560" y="2174873"/>
            <a:ext cx="3960440" cy="957101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</p:pic>
      <p:pic>
        <p:nvPicPr>
          <p:cNvPr id="2" name="Imagen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11670" y="2174873"/>
            <a:ext cx="3924826" cy="2928982"/>
          </a:xfrm>
          <a:prstGeom prst="rect">
            <a:avLst/>
          </a:prstGeom>
        </p:spPr>
      </p:pic>
    </p:spTree>
  </p:cSld>
  <p:clrMapOvr>
    <a:masterClrMapping/>
  </p:clrMapOvr>
  <p:transition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8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5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3"/>
          <p:cNvSpPr>
            <a:spLocks noGrp="1" noChangeArrowheads="1"/>
          </p:cNvSpPr>
          <p:nvPr>
            <p:ph idx="1"/>
          </p:nvPr>
        </p:nvSpPr>
        <p:spPr>
          <a:xfrm>
            <a:off x="628680" y="696503"/>
            <a:ext cx="8229600" cy="424732"/>
          </a:xfrm>
        </p:spPr>
        <p:txBody>
          <a:bodyPr>
            <a:spAutoFit/>
          </a:bodyPr>
          <a:lstStyle/>
          <a:p>
            <a:pPr marL="0" indent="0" eaLnBrk="1" fontAlgn="auto" hangingPunct="1">
              <a:lnSpc>
                <a:spcPct val="90000"/>
              </a:lnSpc>
              <a:spcAft>
                <a:spcPts val="1200"/>
              </a:spcAft>
              <a:buFontTx/>
              <a:buNone/>
              <a:defRPr/>
            </a:pPr>
            <a:r>
              <a:rPr lang="es-AR" sz="2400" dirty="0">
                <a:ln w="11430"/>
                <a:solidFill>
                  <a:srgbClr val="FFFF00"/>
                </a:solidFill>
                <a:latin typeface="Times New Roman" pitchFamily="18" charset="0"/>
              </a:rPr>
              <a:t>El algoritmo completo es:</a:t>
            </a:r>
          </a:p>
        </p:txBody>
      </p:sp>
      <p:sp>
        <p:nvSpPr>
          <p:cNvPr id="7" name="6 CuadroTexto"/>
          <p:cNvSpPr txBox="1"/>
          <p:nvPr/>
        </p:nvSpPr>
        <p:spPr>
          <a:xfrm>
            <a:off x="785814" y="107157"/>
            <a:ext cx="8072437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s-AR" sz="2400" b="1" cap="small" dirty="0">
                <a:solidFill>
                  <a:srgbClr val="00FF00"/>
                </a:solidFill>
              </a:rPr>
              <a:t>k – </a:t>
            </a:r>
            <a:r>
              <a:rPr lang="es-AR" sz="2400" b="1" cap="small" dirty="0" err="1">
                <a:solidFill>
                  <a:srgbClr val="00FF00"/>
                </a:solidFill>
              </a:rPr>
              <a:t>Nearest</a:t>
            </a:r>
            <a:r>
              <a:rPr lang="es-AR" sz="2400" b="1" cap="small" dirty="0">
                <a:solidFill>
                  <a:srgbClr val="00FF00"/>
                </a:solidFill>
              </a:rPr>
              <a:t> </a:t>
            </a:r>
            <a:r>
              <a:rPr lang="es-AR" sz="2400" b="1" cap="small" dirty="0" err="1">
                <a:solidFill>
                  <a:srgbClr val="00FF00"/>
                </a:solidFill>
              </a:rPr>
              <a:t>Neighbor</a:t>
            </a:r>
            <a:endParaRPr lang="es-AR" sz="2400" b="1" cap="small" dirty="0">
              <a:solidFill>
                <a:srgbClr val="00FF00"/>
              </a:solidFill>
            </a:endParaRPr>
          </a:p>
        </p:txBody>
      </p:sp>
      <p:pic>
        <p:nvPicPr>
          <p:cNvPr id="6" name="Picture 9"/>
          <p:cNvPicPr>
            <a:picLocks noChangeAspect="1" noChangeArrowheads="1"/>
          </p:cNvPicPr>
          <p:nvPr/>
        </p:nvPicPr>
        <p:blipFill>
          <a:blip r:embed="rId2" cstate="print"/>
          <a:srcRect l="1155" t="6961" r="2731" b="5284"/>
          <a:stretch>
            <a:fillRect/>
          </a:stretch>
        </p:blipFill>
        <p:spPr bwMode="auto">
          <a:xfrm>
            <a:off x="442888" y="1553759"/>
            <a:ext cx="8629706" cy="20359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>
    <p:split orient="vert"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3"/>
          <p:cNvSpPr>
            <a:spLocks noGrp="1" noChangeArrowheads="1"/>
          </p:cNvSpPr>
          <p:nvPr>
            <p:ph idx="1"/>
          </p:nvPr>
        </p:nvSpPr>
        <p:spPr>
          <a:xfrm>
            <a:off x="628680" y="696503"/>
            <a:ext cx="8229600" cy="757130"/>
          </a:xfrm>
        </p:spPr>
        <p:txBody>
          <a:bodyPr>
            <a:spAutoFit/>
          </a:bodyPr>
          <a:lstStyle/>
          <a:p>
            <a:pPr marL="0" indent="0" eaLnBrk="1" fontAlgn="auto" hangingPunct="1">
              <a:lnSpc>
                <a:spcPct val="90000"/>
              </a:lnSpc>
              <a:spcAft>
                <a:spcPts val="1200"/>
              </a:spcAft>
              <a:buFontTx/>
              <a:buNone/>
              <a:defRPr/>
            </a:pPr>
            <a:r>
              <a:rPr lang="es-AR" sz="2400" dirty="0">
                <a:ln w="11430"/>
                <a:solidFill>
                  <a:srgbClr val="FFFF00"/>
                </a:solidFill>
                <a:latin typeface="Times New Roman" pitchFamily="18" charset="0"/>
              </a:rPr>
              <a:t>Aplicando el método con 3 y 1 vecinos próximos se obtienen los siguientes resultados para el problema anterior:</a:t>
            </a:r>
          </a:p>
        </p:txBody>
      </p:sp>
      <p:sp>
        <p:nvSpPr>
          <p:cNvPr id="7" name="6 CuadroTexto"/>
          <p:cNvSpPr txBox="1"/>
          <p:nvPr/>
        </p:nvSpPr>
        <p:spPr>
          <a:xfrm>
            <a:off x="785814" y="107157"/>
            <a:ext cx="8072437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s-AR" sz="2400" b="1" cap="small" dirty="0">
                <a:solidFill>
                  <a:srgbClr val="00FF00"/>
                </a:solidFill>
              </a:rPr>
              <a:t>k – </a:t>
            </a:r>
            <a:r>
              <a:rPr lang="es-AR" sz="2400" b="1" cap="small" dirty="0" err="1">
                <a:solidFill>
                  <a:srgbClr val="00FF00"/>
                </a:solidFill>
              </a:rPr>
              <a:t>Nearest</a:t>
            </a:r>
            <a:r>
              <a:rPr lang="es-AR" sz="2400" b="1" cap="small" dirty="0">
                <a:solidFill>
                  <a:srgbClr val="00FF00"/>
                </a:solidFill>
              </a:rPr>
              <a:t> </a:t>
            </a:r>
            <a:r>
              <a:rPr lang="es-AR" sz="2400" b="1" cap="small" dirty="0" err="1">
                <a:solidFill>
                  <a:srgbClr val="00FF00"/>
                </a:solidFill>
              </a:rPr>
              <a:t>Neighbor</a:t>
            </a:r>
            <a:endParaRPr lang="es-AR" sz="2400" b="1" cap="small" dirty="0">
              <a:solidFill>
                <a:srgbClr val="00FF00"/>
              </a:solidFill>
            </a:endParaRPr>
          </a:p>
        </p:txBody>
      </p:sp>
      <p:pic>
        <p:nvPicPr>
          <p:cNvPr id="8" name="Picture 5"/>
          <p:cNvPicPr>
            <a:picLocks noChangeAspect="1" noChangeArrowheads="1"/>
          </p:cNvPicPr>
          <p:nvPr/>
        </p:nvPicPr>
        <p:blipFill rotWithShape="1">
          <a:blip r:embed="rId2" cstate="print"/>
          <a:srcRect l="-561" t="318" r="-361" b="983"/>
          <a:stretch/>
        </p:blipFill>
        <p:spPr bwMode="auto">
          <a:xfrm>
            <a:off x="755576" y="1491630"/>
            <a:ext cx="8021622" cy="31683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>
    <p:split orient="vert"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3"/>
          <p:cNvSpPr>
            <a:spLocks noGrp="1" noChangeArrowheads="1"/>
          </p:cNvSpPr>
          <p:nvPr>
            <p:ph idx="1"/>
          </p:nvPr>
        </p:nvSpPr>
        <p:spPr>
          <a:xfrm>
            <a:off x="628680" y="1059582"/>
            <a:ext cx="8229600" cy="2906437"/>
          </a:xfrm>
        </p:spPr>
        <p:txBody>
          <a:bodyPr>
            <a:spAutoFit/>
          </a:bodyPr>
          <a:lstStyle/>
          <a:p>
            <a:pPr marL="0" indent="0" eaLnBrk="1" fontAlgn="auto" hangingPunct="1">
              <a:lnSpc>
                <a:spcPct val="90000"/>
              </a:lnSpc>
              <a:spcAft>
                <a:spcPts val="1200"/>
              </a:spcAft>
              <a:buFontTx/>
              <a:buNone/>
              <a:defRPr/>
            </a:pPr>
            <a:r>
              <a:rPr lang="es-AR" sz="2400" dirty="0">
                <a:ln w="11430"/>
                <a:solidFill>
                  <a:srgbClr val="FFFF00"/>
                </a:solidFill>
                <a:latin typeface="Times New Roman" pitchFamily="18" charset="0"/>
              </a:rPr>
              <a:t>Ahora bien, como elegir el k adecuado?</a:t>
            </a:r>
          </a:p>
          <a:p>
            <a:pPr marL="0" indent="0" eaLnBrk="1" fontAlgn="auto" hangingPunct="1">
              <a:lnSpc>
                <a:spcPct val="90000"/>
              </a:lnSpc>
              <a:spcAft>
                <a:spcPts val="1200"/>
              </a:spcAft>
              <a:buFontTx/>
              <a:buNone/>
              <a:defRPr/>
            </a:pPr>
            <a:r>
              <a:rPr lang="es-AR" sz="2400" dirty="0">
                <a:ln w="11430"/>
                <a:solidFill>
                  <a:srgbClr val="FFFF00"/>
                </a:solidFill>
                <a:latin typeface="Times New Roman" pitchFamily="18" charset="0"/>
              </a:rPr>
              <a:t>Existen varios métodos que pueden ser utilizados para estimar el valor ideal para k teniendo en cuenta los datos que se tienen del problema.</a:t>
            </a:r>
          </a:p>
          <a:p>
            <a:pPr marL="0" indent="0" eaLnBrk="1" fontAlgn="auto" hangingPunct="1">
              <a:lnSpc>
                <a:spcPct val="90000"/>
              </a:lnSpc>
              <a:spcAft>
                <a:spcPts val="1200"/>
              </a:spcAft>
              <a:buFontTx/>
              <a:buNone/>
              <a:defRPr/>
            </a:pPr>
            <a:r>
              <a:rPr lang="es-AR" sz="2400" dirty="0">
                <a:ln w="11430"/>
                <a:solidFill>
                  <a:srgbClr val="FFFF00"/>
                </a:solidFill>
                <a:latin typeface="Times New Roman" pitchFamily="18" charset="0"/>
              </a:rPr>
              <a:t>Una alternativa es la aplicación del método k-</a:t>
            </a:r>
            <a:r>
              <a:rPr lang="es-AR" sz="2400" dirty="0" err="1">
                <a:ln w="11430"/>
                <a:solidFill>
                  <a:srgbClr val="FFFF00"/>
                </a:solidFill>
                <a:latin typeface="Times New Roman" pitchFamily="18" charset="0"/>
              </a:rPr>
              <a:t>fold</a:t>
            </a:r>
            <a:r>
              <a:rPr lang="es-AR" sz="2400" dirty="0">
                <a:ln w="11430"/>
                <a:solidFill>
                  <a:srgbClr val="FFFF00"/>
                </a:solidFill>
                <a:latin typeface="Times New Roman" pitchFamily="18" charset="0"/>
              </a:rPr>
              <a:t> </a:t>
            </a:r>
            <a:r>
              <a:rPr lang="es-AR" sz="2400" dirty="0" err="1">
                <a:ln w="11430"/>
                <a:solidFill>
                  <a:srgbClr val="FFFF00"/>
                </a:solidFill>
                <a:latin typeface="Times New Roman" pitchFamily="18" charset="0"/>
              </a:rPr>
              <a:t>cross-validation</a:t>
            </a:r>
            <a:r>
              <a:rPr lang="es-AR" sz="2400" dirty="0">
                <a:ln w="11430"/>
                <a:solidFill>
                  <a:srgbClr val="FFFF00"/>
                </a:solidFill>
                <a:latin typeface="Times New Roman" pitchFamily="18" charset="0"/>
              </a:rPr>
              <a:t>, que consiste en dividir el conjunto de entrenamiento en k subconjuntos.</a:t>
            </a:r>
          </a:p>
        </p:txBody>
      </p:sp>
      <p:sp>
        <p:nvSpPr>
          <p:cNvPr id="7" name="6 CuadroTexto"/>
          <p:cNvSpPr txBox="1"/>
          <p:nvPr/>
        </p:nvSpPr>
        <p:spPr>
          <a:xfrm>
            <a:off x="785814" y="107157"/>
            <a:ext cx="8072437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s-AR" sz="2400" b="1" cap="small" dirty="0">
                <a:solidFill>
                  <a:srgbClr val="00FF00"/>
                </a:solidFill>
              </a:rPr>
              <a:t>k – </a:t>
            </a:r>
            <a:r>
              <a:rPr lang="es-AR" sz="2400" b="1" cap="small" dirty="0" err="1">
                <a:solidFill>
                  <a:srgbClr val="00FF00"/>
                </a:solidFill>
              </a:rPr>
              <a:t>Nearest</a:t>
            </a:r>
            <a:r>
              <a:rPr lang="es-AR" sz="2400" b="1" cap="small" dirty="0">
                <a:solidFill>
                  <a:srgbClr val="00FF00"/>
                </a:solidFill>
              </a:rPr>
              <a:t> </a:t>
            </a:r>
            <a:r>
              <a:rPr lang="es-AR" sz="2400" b="1" cap="small" dirty="0" err="1">
                <a:solidFill>
                  <a:srgbClr val="00FF00"/>
                </a:solidFill>
              </a:rPr>
              <a:t>Neighbor</a:t>
            </a:r>
            <a:endParaRPr lang="es-AR" sz="2400" b="1" cap="small" dirty="0">
              <a:solidFill>
                <a:srgbClr val="00FF00"/>
              </a:solidFill>
            </a:endParaRPr>
          </a:p>
        </p:txBody>
      </p:sp>
    </p:spTree>
  </p:cSld>
  <p:clrMapOvr>
    <a:masterClrMapping/>
  </p:clrMapOvr>
  <p:transition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8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8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5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3"/>
          <p:cNvSpPr>
            <a:spLocks noGrp="1" noChangeArrowheads="1"/>
          </p:cNvSpPr>
          <p:nvPr>
            <p:ph idx="1"/>
          </p:nvPr>
        </p:nvSpPr>
        <p:spPr>
          <a:xfrm>
            <a:off x="628680" y="1589244"/>
            <a:ext cx="8229600" cy="2241639"/>
          </a:xfrm>
        </p:spPr>
        <p:txBody>
          <a:bodyPr>
            <a:spAutoFit/>
          </a:bodyPr>
          <a:lstStyle/>
          <a:p>
            <a:pPr marL="0" indent="0" eaLnBrk="1" fontAlgn="auto" hangingPunct="1">
              <a:lnSpc>
                <a:spcPct val="90000"/>
              </a:lnSpc>
              <a:spcAft>
                <a:spcPts val="1200"/>
              </a:spcAft>
              <a:buFontTx/>
              <a:buNone/>
              <a:defRPr/>
            </a:pPr>
            <a:r>
              <a:rPr lang="es-AR" sz="2400" dirty="0">
                <a:ln w="11430"/>
                <a:solidFill>
                  <a:srgbClr val="FFFF00"/>
                </a:solidFill>
                <a:latin typeface="Times New Roman" pitchFamily="18" charset="0"/>
              </a:rPr>
              <a:t>Ejemplo:</a:t>
            </a:r>
          </a:p>
          <a:p>
            <a:pPr marL="0" indent="0" eaLnBrk="1" fontAlgn="auto" hangingPunct="1">
              <a:lnSpc>
                <a:spcPct val="90000"/>
              </a:lnSpc>
              <a:spcAft>
                <a:spcPts val="1200"/>
              </a:spcAft>
              <a:buFontTx/>
              <a:buNone/>
              <a:defRPr/>
            </a:pPr>
            <a:r>
              <a:rPr lang="es-AR" sz="2400" dirty="0">
                <a:ln w="11430"/>
                <a:solidFill>
                  <a:srgbClr val="FFFF00"/>
                </a:solidFill>
                <a:latin typeface="Times New Roman" pitchFamily="18" charset="0"/>
              </a:rPr>
              <a:t>Supongamos que existen 6 ejemplos de entrenamiento </a:t>
            </a:r>
            <a:r>
              <a:rPr lang="es-AR" sz="2400" dirty="0" err="1">
                <a:ln w="11430"/>
                <a:solidFill>
                  <a:srgbClr val="FFFF00"/>
                </a:solidFill>
                <a:latin typeface="Times New Roman" pitchFamily="18" charset="0"/>
              </a:rPr>
              <a:t>e</a:t>
            </a:r>
            <a:r>
              <a:rPr lang="es-AR" sz="2400" baseline="-25000" dirty="0" err="1">
                <a:ln w="11430"/>
                <a:solidFill>
                  <a:srgbClr val="FFFF00"/>
                </a:solidFill>
                <a:latin typeface="Times New Roman" pitchFamily="18" charset="0"/>
              </a:rPr>
              <a:t>i</a:t>
            </a:r>
            <a:r>
              <a:rPr lang="es-AR" sz="2400" dirty="0">
                <a:ln w="11430"/>
                <a:solidFill>
                  <a:srgbClr val="FFFF00"/>
                </a:solidFill>
                <a:latin typeface="Times New Roman" pitchFamily="18" charset="0"/>
              </a:rPr>
              <a:t> (3 de clase A y 3 de clase B)</a:t>
            </a:r>
          </a:p>
          <a:p>
            <a:pPr marL="0" indent="0" eaLnBrk="1" fontAlgn="auto" hangingPunct="1">
              <a:lnSpc>
                <a:spcPct val="90000"/>
              </a:lnSpc>
              <a:spcAft>
                <a:spcPts val="1200"/>
              </a:spcAft>
              <a:buFontTx/>
              <a:buNone/>
              <a:defRPr/>
            </a:pPr>
            <a:r>
              <a:rPr lang="es-AR" sz="2400" dirty="0">
                <a:ln w="11430"/>
                <a:solidFill>
                  <a:srgbClr val="FFFF00"/>
                </a:solidFill>
                <a:latin typeface="Times New Roman" pitchFamily="18" charset="0"/>
              </a:rPr>
              <a:t>Se toma cada ejemplo de entrenamiento y se lo clasifica como si se tratara de la aplicación del método k-</a:t>
            </a:r>
            <a:r>
              <a:rPr lang="es-AR" sz="2400" dirty="0" err="1">
                <a:ln w="11430"/>
                <a:solidFill>
                  <a:srgbClr val="FFFF00"/>
                </a:solidFill>
                <a:latin typeface="Times New Roman" pitchFamily="18" charset="0"/>
              </a:rPr>
              <a:t>nearest</a:t>
            </a:r>
            <a:r>
              <a:rPr lang="es-AR" sz="2400" dirty="0">
                <a:ln w="11430"/>
                <a:solidFill>
                  <a:srgbClr val="FFFF00"/>
                </a:solidFill>
                <a:latin typeface="Times New Roman" pitchFamily="18" charset="0"/>
              </a:rPr>
              <a:t> </a:t>
            </a:r>
            <a:r>
              <a:rPr lang="es-AR" sz="2400" dirty="0" err="1">
                <a:ln w="11430"/>
                <a:solidFill>
                  <a:srgbClr val="FFFF00"/>
                </a:solidFill>
                <a:latin typeface="Times New Roman" pitchFamily="18" charset="0"/>
              </a:rPr>
              <a:t>neighbor</a:t>
            </a:r>
            <a:r>
              <a:rPr lang="es-AR" sz="2400" dirty="0">
                <a:ln w="11430"/>
                <a:solidFill>
                  <a:srgbClr val="FFFF00"/>
                </a:solidFill>
                <a:latin typeface="Times New Roman" pitchFamily="18" charset="0"/>
              </a:rPr>
              <a:t>.</a:t>
            </a:r>
          </a:p>
        </p:txBody>
      </p:sp>
      <p:sp>
        <p:nvSpPr>
          <p:cNvPr id="7" name="6 CuadroTexto"/>
          <p:cNvSpPr txBox="1"/>
          <p:nvPr/>
        </p:nvSpPr>
        <p:spPr>
          <a:xfrm>
            <a:off x="785814" y="107157"/>
            <a:ext cx="8072437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s-AR" sz="2400" b="1" cap="small" dirty="0">
                <a:solidFill>
                  <a:srgbClr val="00FF00"/>
                </a:solidFill>
              </a:rPr>
              <a:t>k – </a:t>
            </a:r>
            <a:r>
              <a:rPr lang="es-AR" sz="2400" b="1" cap="small" dirty="0" err="1">
                <a:solidFill>
                  <a:srgbClr val="00FF00"/>
                </a:solidFill>
              </a:rPr>
              <a:t>Nearest</a:t>
            </a:r>
            <a:r>
              <a:rPr lang="es-AR" sz="2400" b="1" cap="small" dirty="0">
                <a:solidFill>
                  <a:srgbClr val="00FF00"/>
                </a:solidFill>
              </a:rPr>
              <a:t> </a:t>
            </a:r>
            <a:r>
              <a:rPr lang="es-AR" sz="2400" b="1" cap="small" dirty="0" err="1">
                <a:solidFill>
                  <a:srgbClr val="00FF00"/>
                </a:solidFill>
              </a:rPr>
              <a:t>Neighbor</a:t>
            </a:r>
            <a:endParaRPr lang="es-AR" sz="2400" b="1" cap="small" dirty="0">
              <a:solidFill>
                <a:srgbClr val="00FF00"/>
              </a:solidFill>
            </a:endParaRPr>
          </a:p>
        </p:txBody>
      </p:sp>
    </p:spTree>
  </p:cSld>
  <p:clrMapOvr>
    <a:masterClrMapping/>
  </p:clrMapOvr>
  <p:transition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5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6 CuadroTexto"/>
          <p:cNvSpPr txBox="1"/>
          <p:nvPr/>
        </p:nvSpPr>
        <p:spPr>
          <a:xfrm>
            <a:off x="785814" y="107157"/>
            <a:ext cx="8072437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s-AR" sz="2400" b="1" cap="small" dirty="0">
                <a:solidFill>
                  <a:srgbClr val="00FF00"/>
                </a:solidFill>
              </a:rPr>
              <a:t>k – </a:t>
            </a:r>
            <a:r>
              <a:rPr lang="es-AR" sz="2400" b="1" cap="small" dirty="0" err="1">
                <a:solidFill>
                  <a:srgbClr val="00FF00"/>
                </a:solidFill>
              </a:rPr>
              <a:t>Nearest</a:t>
            </a:r>
            <a:r>
              <a:rPr lang="es-AR" sz="2400" b="1" cap="small" dirty="0">
                <a:solidFill>
                  <a:srgbClr val="00FF00"/>
                </a:solidFill>
              </a:rPr>
              <a:t> </a:t>
            </a:r>
            <a:r>
              <a:rPr lang="es-AR" sz="2400" b="1" cap="small" dirty="0" err="1">
                <a:solidFill>
                  <a:srgbClr val="00FF00"/>
                </a:solidFill>
              </a:rPr>
              <a:t>Neighbor</a:t>
            </a:r>
            <a:endParaRPr lang="es-AR" sz="2400" b="1" cap="small" dirty="0">
              <a:solidFill>
                <a:srgbClr val="00FF00"/>
              </a:solidFill>
            </a:endParaRPr>
          </a:p>
        </p:txBody>
      </p:sp>
      <p:sp>
        <p:nvSpPr>
          <p:cNvPr id="8" name="Text Box 3"/>
          <p:cNvSpPr txBox="1">
            <a:spLocks noChangeArrowheads="1"/>
          </p:cNvSpPr>
          <p:nvPr/>
        </p:nvSpPr>
        <p:spPr bwMode="auto">
          <a:xfrm>
            <a:off x="571472" y="803660"/>
            <a:ext cx="7280296" cy="156966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r>
              <a:rPr lang="es-ES_tradnl" sz="2400" b="1" dirty="0">
                <a:solidFill>
                  <a:srgbClr val="FFFF00"/>
                </a:solidFill>
              </a:rPr>
              <a:t>Suponiendo las siguientes clases:</a:t>
            </a:r>
          </a:p>
          <a:p>
            <a:r>
              <a:rPr lang="es-ES_tradnl" sz="2400" b="1" dirty="0">
                <a:solidFill>
                  <a:srgbClr val="FFFF00"/>
                </a:solidFill>
              </a:rPr>
              <a:t>Clase A: e</a:t>
            </a:r>
            <a:r>
              <a:rPr lang="es-ES_tradnl" sz="2400" b="1" baseline="-25000" dirty="0">
                <a:solidFill>
                  <a:srgbClr val="FFFF00"/>
                </a:solidFill>
              </a:rPr>
              <a:t>1</a:t>
            </a:r>
            <a:r>
              <a:rPr lang="es-ES_tradnl" sz="2400" b="1" dirty="0">
                <a:solidFill>
                  <a:srgbClr val="FFFF00"/>
                </a:solidFill>
              </a:rPr>
              <a:t>, e</a:t>
            </a:r>
            <a:r>
              <a:rPr lang="es-ES_tradnl" sz="2400" b="1" baseline="-25000" dirty="0">
                <a:solidFill>
                  <a:srgbClr val="FFFF00"/>
                </a:solidFill>
              </a:rPr>
              <a:t>2</a:t>
            </a:r>
            <a:r>
              <a:rPr lang="es-ES_tradnl" sz="2400" b="1" dirty="0">
                <a:solidFill>
                  <a:srgbClr val="FFFF00"/>
                </a:solidFill>
              </a:rPr>
              <a:t>, e</a:t>
            </a:r>
            <a:r>
              <a:rPr lang="es-ES_tradnl" sz="2400" b="1" baseline="-25000" dirty="0">
                <a:solidFill>
                  <a:srgbClr val="FFFF00"/>
                </a:solidFill>
              </a:rPr>
              <a:t>3</a:t>
            </a:r>
            <a:r>
              <a:rPr lang="es-ES_tradnl" sz="2400" b="1" dirty="0">
                <a:solidFill>
                  <a:srgbClr val="FFFF00"/>
                </a:solidFill>
              </a:rPr>
              <a:t>. </a:t>
            </a:r>
          </a:p>
          <a:p>
            <a:r>
              <a:rPr lang="es-ES_tradnl" sz="2400" b="1" dirty="0">
                <a:solidFill>
                  <a:srgbClr val="FFFF00"/>
                </a:solidFill>
              </a:rPr>
              <a:t>Clase B: e</a:t>
            </a:r>
            <a:r>
              <a:rPr lang="es-ES_tradnl" sz="2400" b="1" baseline="-25000" dirty="0">
                <a:solidFill>
                  <a:srgbClr val="FFFF00"/>
                </a:solidFill>
              </a:rPr>
              <a:t>4</a:t>
            </a:r>
            <a:r>
              <a:rPr lang="es-ES_tradnl" sz="2400" b="1" dirty="0">
                <a:solidFill>
                  <a:srgbClr val="FFFF00"/>
                </a:solidFill>
              </a:rPr>
              <a:t>, e</a:t>
            </a:r>
            <a:r>
              <a:rPr lang="es-ES_tradnl" sz="2400" b="1" baseline="-25000" dirty="0">
                <a:solidFill>
                  <a:srgbClr val="FFFF00"/>
                </a:solidFill>
              </a:rPr>
              <a:t>5</a:t>
            </a:r>
            <a:r>
              <a:rPr lang="es-ES_tradnl" sz="2400" b="1" dirty="0">
                <a:solidFill>
                  <a:srgbClr val="FFFF00"/>
                </a:solidFill>
              </a:rPr>
              <a:t>, e</a:t>
            </a:r>
            <a:r>
              <a:rPr lang="es-ES_tradnl" sz="2400" b="1" baseline="-25000" dirty="0">
                <a:solidFill>
                  <a:srgbClr val="FFFF00"/>
                </a:solidFill>
              </a:rPr>
              <a:t>6</a:t>
            </a:r>
            <a:r>
              <a:rPr lang="es-ES_tradnl" sz="2400" b="1" dirty="0">
                <a:solidFill>
                  <a:srgbClr val="FFFF00"/>
                </a:solidFill>
              </a:rPr>
              <a:t>.</a:t>
            </a:r>
          </a:p>
          <a:p>
            <a:r>
              <a:rPr lang="es-AR" sz="2400" b="1" dirty="0">
                <a:solidFill>
                  <a:srgbClr val="FFFF00"/>
                </a:solidFill>
              </a:rPr>
              <a:t>se tendrían 6 clasificaciones:</a:t>
            </a:r>
            <a:endParaRPr lang="es-ES_tradnl" sz="2400" b="1" dirty="0">
              <a:solidFill>
                <a:srgbClr val="FFFF00"/>
              </a:solidFill>
            </a:endParaRPr>
          </a:p>
        </p:txBody>
      </p:sp>
      <p:pic>
        <p:nvPicPr>
          <p:cNvPr id="9" name="Picture 37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98500" y="2617267"/>
            <a:ext cx="7880350" cy="2060972"/>
          </a:xfrm>
          <a:prstGeom prst="rect">
            <a:avLst/>
          </a:prstGeom>
          <a:noFill/>
        </p:spPr>
      </p:pic>
      <p:sp>
        <p:nvSpPr>
          <p:cNvPr id="3" name="Rectángulo 2"/>
          <p:cNvSpPr/>
          <p:nvPr/>
        </p:nvSpPr>
        <p:spPr>
          <a:xfrm>
            <a:off x="698500" y="3337560"/>
            <a:ext cx="7880350" cy="1340679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ángulo 5"/>
          <p:cNvSpPr/>
          <p:nvPr/>
        </p:nvSpPr>
        <p:spPr>
          <a:xfrm>
            <a:off x="698500" y="3651870"/>
            <a:ext cx="7880350" cy="1026368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ransition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" grpId="1" animBg="1"/>
      <p:bldP spid="6" grpId="0" animBg="1"/>
      <p:bldP spid="6" grpId="1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3"/>
          <p:cNvSpPr>
            <a:spLocks noGrp="1" noChangeArrowheads="1"/>
          </p:cNvSpPr>
          <p:nvPr>
            <p:ph idx="1"/>
          </p:nvPr>
        </p:nvSpPr>
        <p:spPr>
          <a:xfrm>
            <a:off x="628680" y="1386009"/>
            <a:ext cx="8229600" cy="1997983"/>
          </a:xfrm>
        </p:spPr>
        <p:txBody>
          <a:bodyPr>
            <a:spAutoFit/>
          </a:bodyPr>
          <a:lstStyle/>
          <a:p>
            <a:pPr marL="0" indent="0" eaLnBrk="1" fontAlgn="auto" hangingPunct="1">
              <a:lnSpc>
                <a:spcPct val="90000"/>
              </a:lnSpc>
              <a:spcAft>
                <a:spcPts val="1200"/>
              </a:spcAft>
              <a:buFontTx/>
              <a:buNone/>
              <a:defRPr/>
            </a:pPr>
            <a:r>
              <a:rPr lang="es-AR" sz="2400" dirty="0">
                <a:ln w="11430"/>
                <a:solidFill>
                  <a:srgbClr val="FFFF00"/>
                </a:solidFill>
                <a:latin typeface="Times New Roman" pitchFamily="18" charset="0"/>
              </a:rPr>
              <a:t>Se pueden utilizar otros estimadores en función a mediciones locales de concentración de datos y establecer un k variable.</a:t>
            </a:r>
          </a:p>
          <a:p>
            <a:pPr marL="0" indent="0" eaLnBrk="1" fontAlgn="auto" hangingPunct="1">
              <a:lnSpc>
                <a:spcPct val="90000"/>
              </a:lnSpc>
              <a:spcAft>
                <a:spcPts val="1200"/>
              </a:spcAft>
              <a:buFontTx/>
              <a:buNone/>
              <a:defRPr/>
            </a:pPr>
            <a:r>
              <a:rPr lang="es-AR" sz="2400" dirty="0">
                <a:ln w="11430"/>
                <a:solidFill>
                  <a:srgbClr val="FFFF00"/>
                </a:solidFill>
                <a:latin typeface="Times New Roman" pitchFamily="18" charset="0"/>
              </a:rPr>
              <a:t>Ahora bien, una cuestión interesante es si todas los ejemplos tienen la misma importancia. Es decir, los vecinos próximos deben tener más importancia que los vecinos distantes?</a:t>
            </a:r>
          </a:p>
        </p:txBody>
      </p:sp>
      <p:sp>
        <p:nvSpPr>
          <p:cNvPr id="7" name="6 CuadroTexto"/>
          <p:cNvSpPr txBox="1"/>
          <p:nvPr/>
        </p:nvSpPr>
        <p:spPr>
          <a:xfrm>
            <a:off x="785814" y="107157"/>
            <a:ext cx="8072437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s-AR" sz="2400" b="1" cap="small" dirty="0">
                <a:solidFill>
                  <a:srgbClr val="00FF00"/>
                </a:solidFill>
              </a:rPr>
              <a:t>k – </a:t>
            </a:r>
            <a:r>
              <a:rPr lang="es-AR" sz="2400" b="1" cap="small" dirty="0" err="1">
                <a:solidFill>
                  <a:srgbClr val="00FF00"/>
                </a:solidFill>
              </a:rPr>
              <a:t>Nearest</a:t>
            </a:r>
            <a:r>
              <a:rPr lang="es-AR" sz="2400" b="1" cap="small" dirty="0">
                <a:solidFill>
                  <a:srgbClr val="00FF00"/>
                </a:solidFill>
              </a:rPr>
              <a:t> </a:t>
            </a:r>
            <a:r>
              <a:rPr lang="es-AR" sz="2400" b="1" cap="small" dirty="0" err="1">
                <a:solidFill>
                  <a:srgbClr val="00FF00"/>
                </a:solidFill>
              </a:rPr>
              <a:t>Neighbor</a:t>
            </a:r>
            <a:endParaRPr lang="es-AR" sz="2400" b="1" cap="small" dirty="0">
              <a:solidFill>
                <a:srgbClr val="00FF00"/>
              </a:solidFill>
            </a:endParaRPr>
          </a:p>
        </p:txBody>
      </p:sp>
    </p:spTree>
  </p:cSld>
  <p:clrMapOvr>
    <a:masterClrMapping/>
  </p:clrMapOvr>
  <p:transition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8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5" grpId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3"/>
          <p:cNvSpPr>
            <a:spLocks noGrp="1" noChangeArrowheads="1"/>
          </p:cNvSpPr>
          <p:nvPr>
            <p:ph idx="1"/>
          </p:nvPr>
        </p:nvSpPr>
        <p:spPr>
          <a:xfrm>
            <a:off x="628680" y="998668"/>
            <a:ext cx="8229600" cy="3150093"/>
          </a:xfrm>
        </p:spPr>
        <p:txBody>
          <a:bodyPr>
            <a:spAutoFit/>
          </a:bodyPr>
          <a:lstStyle/>
          <a:p>
            <a:pPr marL="0" indent="0" eaLnBrk="1" fontAlgn="auto" hangingPunct="1">
              <a:lnSpc>
                <a:spcPct val="90000"/>
              </a:lnSpc>
              <a:spcAft>
                <a:spcPts val="1200"/>
              </a:spcAft>
              <a:buFontTx/>
              <a:buNone/>
              <a:defRPr/>
            </a:pPr>
            <a:r>
              <a:rPr lang="es-AR" sz="2400" dirty="0">
                <a:ln w="11430"/>
                <a:solidFill>
                  <a:srgbClr val="FFFF00"/>
                </a:solidFill>
                <a:latin typeface="Times New Roman" pitchFamily="18" charset="0"/>
              </a:rPr>
              <a:t>Evidentemente la respuesta es que sí, debería ser así. </a:t>
            </a:r>
          </a:p>
          <a:p>
            <a:pPr marL="0" indent="0" eaLnBrk="1" fontAlgn="auto" hangingPunct="1">
              <a:lnSpc>
                <a:spcPct val="90000"/>
              </a:lnSpc>
              <a:spcAft>
                <a:spcPts val="1200"/>
              </a:spcAft>
              <a:buFontTx/>
              <a:buNone/>
              <a:defRPr/>
            </a:pPr>
            <a:r>
              <a:rPr lang="es-AR" sz="2400" dirty="0">
                <a:ln w="11430"/>
                <a:solidFill>
                  <a:srgbClr val="FFFF00"/>
                </a:solidFill>
                <a:latin typeface="Times New Roman" pitchFamily="18" charset="0"/>
              </a:rPr>
              <a:t>Es decir, los vecinos más cercanos deberían ser más importantes que los que están alejados. </a:t>
            </a:r>
          </a:p>
          <a:p>
            <a:pPr marL="0" indent="0" eaLnBrk="1" fontAlgn="auto" hangingPunct="1">
              <a:lnSpc>
                <a:spcPct val="90000"/>
              </a:lnSpc>
              <a:spcAft>
                <a:spcPts val="1200"/>
              </a:spcAft>
              <a:buFontTx/>
              <a:buNone/>
              <a:defRPr/>
            </a:pPr>
            <a:r>
              <a:rPr lang="es-AR" sz="2400" dirty="0">
                <a:ln w="11430"/>
                <a:solidFill>
                  <a:srgbClr val="FFFF00"/>
                </a:solidFill>
                <a:latin typeface="Times New Roman" pitchFamily="18" charset="0"/>
              </a:rPr>
              <a:t>Para ello se introduce una variación en el cálculo de la clase a la que pertenece el ejemplo a evaluar. </a:t>
            </a:r>
          </a:p>
          <a:p>
            <a:pPr marL="0" indent="0" eaLnBrk="1" fontAlgn="auto" hangingPunct="1">
              <a:lnSpc>
                <a:spcPct val="90000"/>
              </a:lnSpc>
              <a:spcAft>
                <a:spcPts val="1200"/>
              </a:spcAft>
              <a:buFontTx/>
              <a:buNone/>
              <a:defRPr/>
            </a:pPr>
            <a:r>
              <a:rPr lang="es-AR" sz="2400" dirty="0">
                <a:ln w="11430"/>
                <a:solidFill>
                  <a:srgbClr val="FFFF00"/>
                </a:solidFill>
                <a:latin typeface="Times New Roman" pitchFamily="18" charset="0"/>
              </a:rPr>
              <a:t>Esta variación corresponde a una ponderación inversamente proporcional a la distancia.</a:t>
            </a:r>
          </a:p>
        </p:txBody>
      </p:sp>
      <p:sp>
        <p:nvSpPr>
          <p:cNvPr id="7" name="6 CuadroTexto"/>
          <p:cNvSpPr txBox="1"/>
          <p:nvPr/>
        </p:nvSpPr>
        <p:spPr>
          <a:xfrm>
            <a:off x="785814" y="107157"/>
            <a:ext cx="8072437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s-AR" sz="2400" b="1" cap="small" dirty="0">
                <a:solidFill>
                  <a:srgbClr val="00FF00"/>
                </a:solidFill>
              </a:rPr>
              <a:t>k – </a:t>
            </a:r>
            <a:r>
              <a:rPr lang="es-AR" sz="2400" b="1" cap="small" dirty="0" err="1">
                <a:solidFill>
                  <a:srgbClr val="00FF00"/>
                </a:solidFill>
              </a:rPr>
              <a:t>Nearest</a:t>
            </a:r>
            <a:r>
              <a:rPr lang="es-AR" sz="2400" b="1" cap="small" dirty="0">
                <a:solidFill>
                  <a:srgbClr val="00FF00"/>
                </a:solidFill>
              </a:rPr>
              <a:t> </a:t>
            </a:r>
            <a:r>
              <a:rPr lang="es-AR" sz="2400" b="1" cap="small" dirty="0" err="1">
                <a:solidFill>
                  <a:srgbClr val="00FF00"/>
                </a:solidFill>
              </a:rPr>
              <a:t>Neighbor</a:t>
            </a:r>
            <a:endParaRPr lang="es-AR" sz="2400" b="1" cap="small" dirty="0">
              <a:solidFill>
                <a:srgbClr val="00FF00"/>
              </a:solidFill>
            </a:endParaRPr>
          </a:p>
        </p:txBody>
      </p:sp>
    </p:spTree>
  </p:cSld>
  <p:clrMapOvr>
    <a:masterClrMapping/>
  </p:clrMapOvr>
  <p:transition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8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8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8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5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3"/>
          <p:cNvSpPr>
            <a:spLocks noGrp="1" noChangeArrowheads="1"/>
          </p:cNvSpPr>
          <p:nvPr>
            <p:ph idx="1"/>
          </p:nvPr>
        </p:nvSpPr>
        <p:spPr>
          <a:xfrm>
            <a:off x="628680" y="696503"/>
            <a:ext cx="8229600" cy="424732"/>
          </a:xfrm>
        </p:spPr>
        <p:txBody>
          <a:bodyPr>
            <a:spAutoFit/>
          </a:bodyPr>
          <a:lstStyle/>
          <a:p>
            <a:pPr marL="0" indent="0" eaLnBrk="1" fontAlgn="auto" hangingPunct="1">
              <a:lnSpc>
                <a:spcPct val="90000"/>
              </a:lnSpc>
              <a:spcAft>
                <a:spcPts val="1200"/>
              </a:spcAft>
              <a:buFontTx/>
              <a:buNone/>
              <a:defRPr/>
            </a:pPr>
            <a:r>
              <a:rPr lang="es-AR" sz="2400" dirty="0">
                <a:ln w="11430"/>
                <a:solidFill>
                  <a:srgbClr val="FFFF00"/>
                </a:solidFill>
                <a:latin typeface="Times New Roman" pitchFamily="18" charset="0"/>
              </a:rPr>
              <a:t>La forma más práctica es implementar:</a:t>
            </a:r>
          </a:p>
        </p:txBody>
      </p:sp>
      <p:sp>
        <p:nvSpPr>
          <p:cNvPr id="7" name="6 CuadroTexto"/>
          <p:cNvSpPr txBox="1"/>
          <p:nvPr/>
        </p:nvSpPr>
        <p:spPr>
          <a:xfrm>
            <a:off x="785814" y="107157"/>
            <a:ext cx="8072437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s-AR" sz="2400" b="1" cap="small" dirty="0">
                <a:solidFill>
                  <a:srgbClr val="00FF00"/>
                </a:solidFill>
              </a:rPr>
              <a:t>k – </a:t>
            </a:r>
            <a:r>
              <a:rPr lang="es-AR" sz="2400" b="1" cap="small" dirty="0" err="1">
                <a:solidFill>
                  <a:srgbClr val="00FF00"/>
                </a:solidFill>
              </a:rPr>
              <a:t>Nearest</a:t>
            </a:r>
            <a:r>
              <a:rPr lang="es-AR" sz="2400" b="1" cap="small" dirty="0">
                <a:solidFill>
                  <a:srgbClr val="00FF00"/>
                </a:solidFill>
              </a:rPr>
              <a:t> </a:t>
            </a:r>
            <a:r>
              <a:rPr lang="es-AR" sz="2400" b="1" cap="small" dirty="0" err="1">
                <a:solidFill>
                  <a:srgbClr val="00FF00"/>
                </a:solidFill>
              </a:rPr>
              <a:t>Neighbor</a:t>
            </a:r>
            <a:endParaRPr lang="es-AR" sz="2400" b="1" cap="small" dirty="0">
              <a:solidFill>
                <a:srgbClr val="00FF00"/>
              </a:solidFill>
            </a:endParaRPr>
          </a:p>
        </p:txBody>
      </p:sp>
      <p:pic>
        <p:nvPicPr>
          <p:cNvPr id="113666" name="Picture 2"/>
          <p:cNvPicPr>
            <a:picLocks noChangeAspect="1" noChangeArrowheads="1"/>
          </p:cNvPicPr>
          <p:nvPr/>
        </p:nvPicPr>
        <p:blipFill>
          <a:blip r:embed="rId2" cstate="print"/>
          <a:srcRect l="30900" t="-6173" r="32173"/>
          <a:stretch>
            <a:fillRect/>
          </a:stretch>
        </p:blipFill>
        <p:spPr bwMode="auto">
          <a:xfrm>
            <a:off x="1071538" y="1178709"/>
            <a:ext cx="7317228" cy="144662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</p:pic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628680" y="2946800"/>
            <a:ext cx="8229600" cy="4247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700"/>
              </a:spcBef>
              <a:spcAft>
                <a:spcPts val="1200"/>
              </a:spcAft>
              <a:buClr>
                <a:schemeClr val="tx2"/>
              </a:buClr>
              <a:buSzPct val="95000"/>
              <a:buFontTx/>
              <a:buNone/>
              <a:tabLst/>
              <a:defRPr/>
            </a:pPr>
            <a:r>
              <a:rPr kumimoji="0" lang="es-AR" sz="2400" b="0" i="0" u="none" strike="noStrike" kern="1200" cap="none" spc="0" normalizeH="0" baseline="0" noProof="0" dirty="0">
                <a:ln w="11430"/>
                <a:solidFill>
                  <a:srgbClr val="FFFF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Donde:</a:t>
            </a:r>
          </a:p>
        </p:txBody>
      </p:sp>
      <p:pic>
        <p:nvPicPr>
          <p:cNvPr id="113667" name="Picture 3"/>
          <p:cNvPicPr>
            <a:picLocks noChangeAspect="1" noChangeArrowheads="1"/>
          </p:cNvPicPr>
          <p:nvPr/>
        </p:nvPicPr>
        <p:blipFill>
          <a:blip r:embed="rId3" cstate="print"/>
          <a:srcRect l="40747" r="41426" b="-7143"/>
          <a:stretch>
            <a:fillRect/>
          </a:stretch>
        </p:blipFill>
        <p:spPr bwMode="auto">
          <a:xfrm>
            <a:off x="2729888" y="3643320"/>
            <a:ext cx="4000528" cy="1285884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5" grpId="0" build="p"/>
      <p:bldP spid="6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3"/>
          <p:cNvSpPr>
            <a:spLocks noGrp="1" noChangeArrowheads="1"/>
          </p:cNvSpPr>
          <p:nvPr>
            <p:ph idx="1"/>
          </p:nvPr>
        </p:nvSpPr>
        <p:spPr>
          <a:xfrm>
            <a:off x="628680" y="589345"/>
            <a:ext cx="8229600" cy="2817694"/>
          </a:xfrm>
        </p:spPr>
        <p:txBody>
          <a:bodyPr>
            <a:spAutoFit/>
          </a:bodyPr>
          <a:lstStyle/>
          <a:p>
            <a:pPr marL="0" indent="0" eaLnBrk="1" fontAlgn="auto" hangingPunct="1">
              <a:lnSpc>
                <a:spcPct val="90000"/>
              </a:lnSpc>
              <a:spcAft>
                <a:spcPts val="1200"/>
              </a:spcAft>
              <a:buFontTx/>
              <a:buNone/>
              <a:defRPr/>
            </a:pPr>
            <a:r>
              <a:rPr lang="es-AR" sz="2400" dirty="0">
                <a:ln w="11430"/>
                <a:solidFill>
                  <a:srgbClr val="FFFF00"/>
                </a:solidFill>
                <a:latin typeface="Times New Roman" pitchFamily="18" charset="0"/>
              </a:rPr>
              <a:t>Puntos interesantes del método:</a:t>
            </a:r>
          </a:p>
          <a:p>
            <a:pPr marL="0" indent="0" eaLnBrk="1" fontAlgn="auto" hangingPunct="1">
              <a:lnSpc>
                <a:spcPct val="90000"/>
              </a:lnSpc>
              <a:spcAft>
                <a:spcPts val="1200"/>
              </a:spcAft>
              <a:buFontTx/>
              <a:buNone/>
              <a:defRPr/>
            </a:pPr>
            <a:r>
              <a:rPr lang="es-AR" sz="2400" dirty="0">
                <a:ln w="11430"/>
                <a:solidFill>
                  <a:srgbClr val="FFFF00"/>
                </a:solidFill>
                <a:latin typeface="Times New Roman" pitchFamily="18" charset="0"/>
              </a:rPr>
              <a:t>1.- Es un método de aprendizaje inductivo eficiente.</a:t>
            </a:r>
          </a:p>
          <a:p>
            <a:pPr marL="0" indent="0" eaLnBrk="1" fontAlgn="auto" hangingPunct="1">
              <a:lnSpc>
                <a:spcPct val="90000"/>
              </a:lnSpc>
              <a:spcAft>
                <a:spcPts val="1200"/>
              </a:spcAft>
              <a:buFontTx/>
              <a:buNone/>
              <a:defRPr/>
            </a:pPr>
            <a:r>
              <a:rPr lang="es-AR" sz="2400" dirty="0">
                <a:ln w="11430"/>
                <a:solidFill>
                  <a:srgbClr val="FFFF00"/>
                </a:solidFill>
                <a:latin typeface="Times New Roman" pitchFamily="18" charset="0"/>
              </a:rPr>
              <a:t>2.- Es un método robusto que no se ve afectado por los errores en algunos datos del conjunto de entrenamiento.</a:t>
            </a:r>
          </a:p>
          <a:p>
            <a:pPr marL="0" indent="0" eaLnBrk="1" fontAlgn="auto" hangingPunct="1">
              <a:lnSpc>
                <a:spcPct val="90000"/>
              </a:lnSpc>
              <a:spcAft>
                <a:spcPts val="1200"/>
              </a:spcAft>
              <a:buFontTx/>
              <a:buNone/>
              <a:defRPr/>
            </a:pPr>
            <a:r>
              <a:rPr lang="es-AR" sz="2400" dirty="0">
                <a:ln w="11430"/>
                <a:solidFill>
                  <a:srgbClr val="FFFF00"/>
                </a:solidFill>
                <a:latin typeface="Times New Roman" pitchFamily="18" charset="0"/>
              </a:rPr>
              <a:t>3.- Se tienen en cuenta todas las características de los datos, no solamente un subconjunto de ellas.</a:t>
            </a:r>
          </a:p>
        </p:txBody>
      </p:sp>
      <p:sp>
        <p:nvSpPr>
          <p:cNvPr id="7" name="6 CuadroTexto"/>
          <p:cNvSpPr txBox="1"/>
          <p:nvPr/>
        </p:nvSpPr>
        <p:spPr>
          <a:xfrm>
            <a:off x="785814" y="107157"/>
            <a:ext cx="8072437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s-AR" sz="2400" b="1" cap="small" dirty="0">
                <a:solidFill>
                  <a:srgbClr val="00FF00"/>
                </a:solidFill>
              </a:rPr>
              <a:t>k – </a:t>
            </a:r>
            <a:r>
              <a:rPr lang="es-AR" sz="2400" b="1" cap="small" dirty="0" err="1">
                <a:solidFill>
                  <a:srgbClr val="00FF00"/>
                </a:solidFill>
              </a:rPr>
              <a:t>Nearest</a:t>
            </a:r>
            <a:r>
              <a:rPr lang="es-AR" sz="2400" b="1" cap="small" dirty="0">
                <a:solidFill>
                  <a:srgbClr val="00FF00"/>
                </a:solidFill>
              </a:rPr>
              <a:t> </a:t>
            </a:r>
            <a:r>
              <a:rPr lang="es-AR" sz="2400" b="1" cap="small" dirty="0" err="1">
                <a:solidFill>
                  <a:srgbClr val="00FF00"/>
                </a:solidFill>
              </a:rPr>
              <a:t>Neighbor</a:t>
            </a:r>
            <a:endParaRPr lang="es-AR" sz="2400" b="1" cap="small" dirty="0">
              <a:solidFill>
                <a:srgbClr val="00FF00"/>
              </a:solidFill>
            </a:endParaRPr>
          </a:p>
        </p:txBody>
      </p:sp>
    </p:spTree>
  </p:cSld>
  <p:clrMapOvr>
    <a:masterClrMapping/>
  </p:clrMapOvr>
  <p:transition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8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8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8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5" grpId="0" uiExpand="1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3"/>
          <p:cNvSpPr>
            <a:spLocks noGrp="1" noChangeArrowheads="1"/>
          </p:cNvSpPr>
          <p:nvPr>
            <p:ph idx="1"/>
          </p:nvPr>
        </p:nvSpPr>
        <p:spPr>
          <a:xfrm>
            <a:off x="467544" y="771550"/>
            <a:ext cx="8496944" cy="3061351"/>
          </a:xfrm>
        </p:spPr>
        <p:txBody>
          <a:bodyPr wrap="square">
            <a:spAutoFit/>
          </a:bodyPr>
          <a:lstStyle/>
          <a:p>
            <a:pPr marL="0" indent="0" eaLnBrk="1" fontAlgn="auto" hangingPunct="1">
              <a:lnSpc>
                <a:spcPct val="90000"/>
              </a:lnSpc>
              <a:spcAft>
                <a:spcPts val="1200"/>
              </a:spcAft>
              <a:buFontTx/>
              <a:buNone/>
              <a:defRPr/>
            </a:pPr>
            <a:r>
              <a:rPr lang="es-AR" sz="2400" dirty="0">
                <a:ln w="11430"/>
                <a:solidFill>
                  <a:srgbClr val="FFFF00"/>
                </a:solidFill>
                <a:latin typeface="Times New Roman" pitchFamily="18" charset="0"/>
              </a:rPr>
              <a:t>Puntos interesantes del método:</a:t>
            </a:r>
          </a:p>
          <a:p>
            <a:pPr marL="0" indent="0" eaLnBrk="1" fontAlgn="auto" hangingPunct="1">
              <a:lnSpc>
                <a:spcPct val="90000"/>
              </a:lnSpc>
              <a:spcAft>
                <a:spcPts val="1200"/>
              </a:spcAft>
              <a:buNone/>
              <a:defRPr/>
            </a:pPr>
            <a:r>
              <a:rPr lang="es-AR" sz="2400" dirty="0">
                <a:ln w="11430"/>
                <a:solidFill>
                  <a:srgbClr val="FFFF00"/>
                </a:solidFill>
                <a:latin typeface="Times New Roman" pitchFamily="18" charset="0"/>
              </a:rPr>
              <a:t>4.- Este método es afectado por la maldición de la dimensionalidad.</a:t>
            </a:r>
          </a:p>
          <a:p>
            <a:pPr marL="0" indent="0" eaLnBrk="1" fontAlgn="auto" hangingPunct="1">
              <a:lnSpc>
                <a:spcPct val="90000"/>
              </a:lnSpc>
              <a:spcAft>
                <a:spcPts val="1200"/>
              </a:spcAft>
              <a:buFontTx/>
              <a:buNone/>
              <a:defRPr/>
            </a:pPr>
            <a:r>
              <a:rPr lang="es-AR" sz="2400" dirty="0">
                <a:ln w="11430"/>
                <a:solidFill>
                  <a:srgbClr val="FFFF00"/>
                </a:solidFill>
                <a:latin typeface="Times New Roman" pitchFamily="18" charset="0"/>
              </a:rPr>
              <a:t>5.- Es un método de implementación simple.</a:t>
            </a:r>
          </a:p>
          <a:p>
            <a:pPr marL="0" indent="0" eaLnBrk="1" fontAlgn="auto" hangingPunct="1">
              <a:lnSpc>
                <a:spcPct val="90000"/>
              </a:lnSpc>
              <a:spcAft>
                <a:spcPts val="1200"/>
              </a:spcAft>
              <a:buFontTx/>
              <a:buNone/>
              <a:defRPr/>
            </a:pPr>
            <a:r>
              <a:rPr lang="es-AR" sz="2400" dirty="0">
                <a:ln w="11430"/>
                <a:solidFill>
                  <a:srgbClr val="FFFF00"/>
                </a:solidFill>
                <a:latin typeface="Times New Roman" pitchFamily="18" charset="0"/>
              </a:rPr>
              <a:t>6.- El costo computacional es relativamente bajo, excepto en el cálculo del número de vecinos óptimo.</a:t>
            </a:r>
          </a:p>
          <a:p>
            <a:pPr marL="0" indent="0" eaLnBrk="1" fontAlgn="auto" hangingPunct="1">
              <a:lnSpc>
                <a:spcPct val="90000"/>
              </a:lnSpc>
              <a:spcAft>
                <a:spcPts val="1200"/>
              </a:spcAft>
              <a:buFontTx/>
              <a:buNone/>
              <a:defRPr/>
            </a:pPr>
            <a:r>
              <a:rPr lang="es-AR" sz="2400" dirty="0">
                <a:ln w="11430"/>
                <a:solidFill>
                  <a:srgbClr val="FFFF00"/>
                </a:solidFill>
                <a:latin typeface="Times New Roman" pitchFamily="18" charset="0"/>
              </a:rPr>
              <a:t>7.- No requiere fase de entrenamiento.</a:t>
            </a:r>
          </a:p>
        </p:txBody>
      </p:sp>
      <p:sp>
        <p:nvSpPr>
          <p:cNvPr id="7" name="6 CuadroTexto"/>
          <p:cNvSpPr txBox="1"/>
          <p:nvPr/>
        </p:nvSpPr>
        <p:spPr>
          <a:xfrm>
            <a:off x="785814" y="107157"/>
            <a:ext cx="8072437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s-AR" sz="2400" b="1" cap="small" dirty="0">
                <a:solidFill>
                  <a:srgbClr val="00FF00"/>
                </a:solidFill>
              </a:rPr>
              <a:t>k – </a:t>
            </a:r>
            <a:r>
              <a:rPr lang="es-AR" sz="2400" b="1" cap="small" dirty="0" err="1">
                <a:solidFill>
                  <a:srgbClr val="00FF00"/>
                </a:solidFill>
              </a:rPr>
              <a:t>Nearest</a:t>
            </a:r>
            <a:r>
              <a:rPr lang="es-AR" sz="2400" b="1" cap="small" dirty="0">
                <a:solidFill>
                  <a:srgbClr val="00FF00"/>
                </a:solidFill>
              </a:rPr>
              <a:t> </a:t>
            </a:r>
            <a:r>
              <a:rPr lang="es-AR" sz="2400" b="1" cap="small" dirty="0" err="1">
                <a:solidFill>
                  <a:srgbClr val="00FF00"/>
                </a:solidFill>
              </a:rPr>
              <a:t>Neighbor</a:t>
            </a:r>
            <a:endParaRPr lang="es-AR" sz="2400" b="1" cap="small" dirty="0">
              <a:solidFill>
                <a:srgbClr val="00FF00"/>
              </a:solidFill>
            </a:endParaRPr>
          </a:p>
        </p:txBody>
      </p:sp>
    </p:spTree>
  </p:cSld>
  <p:clrMapOvr>
    <a:masterClrMapping/>
  </p:clrMapOvr>
  <p:transition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5" grpId="0" uiExpand="1" build="p"/>
      <p:bldP spid="18435" grpId="1" uiExpand="1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6"/>
          <p:cNvSpPr>
            <a:spLocks noChangeArrowheads="1"/>
          </p:cNvSpPr>
          <p:nvPr/>
        </p:nvSpPr>
        <p:spPr bwMode="auto">
          <a:xfrm>
            <a:off x="428626" y="214313"/>
            <a:ext cx="8501063" cy="76944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20000"/>
              </a:spcBef>
            </a:pPr>
            <a:r>
              <a:rPr lang="en-US" sz="2000" b="1" dirty="0"/>
              <a:t>Universidad </a:t>
            </a:r>
            <a:r>
              <a:rPr lang="en-US" sz="2000" b="1" dirty="0" err="1"/>
              <a:t>Tecnológica</a:t>
            </a:r>
            <a:r>
              <a:rPr lang="en-US" sz="2000" b="1" dirty="0"/>
              <a:t> </a:t>
            </a:r>
            <a:r>
              <a:rPr lang="en-US" sz="2000" b="1" dirty="0" err="1"/>
              <a:t>Nacional</a:t>
            </a:r>
            <a:endParaRPr lang="en-US" sz="2000" b="1" dirty="0"/>
          </a:p>
          <a:p>
            <a:pPr algn="ctr">
              <a:spcBef>
                <a:spcPct val="20000"/>
              </a:spcBef>
            </a:pPr>
            <a:r>
              <a:rPr lang="en-US" sz="2000" b="1" dirty="0" err="1"/>
              <a:t>Facultad</a:t>
            </a:r>
            <a:r>
              <a:rPr lang="en-US" sz="2000" b="1" dirty="0"/>
              <a:t> Regional Resistencia</a:t>
            </a:r>
          </a:p>
        </p:txBody>
      </p:sp>
      <p:sp>
        <p:nvSpPr>
          <p:cNvPr id="4" name="Rectangle 7"/>
          <p:cNvSpPr>
            <a:spLocks noChangeArrowheads="1"/>
          </p:cNvSpPr>
          <p:nvPr/>
        </p:nvSpPr>
        <p:spPr bwMode="auto">
          <a:xfrm>
            <a:off x="1042988" y="2196700"/>
            <a:ext cx="7351712" cy="707886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pPr algn="ctr">
              <a:defRPr/>
            </a:pPr>
            <a:r>
              <a:rPr lang="en-US" sz="4000" b="1" dirty="0">
                <a:ln w="50800"/>
                <a:solidFill>
                  <a:schemeClr val="bg1">
                    <a:shade val="50000"/>
                  </a:schemeClr>
                </a:solidFill>
              </a:rPr>
              <a:t>Fin </a:t>
            </a:r>
            <a:r>
              <a:rPr lang="en-US" sz="4000" b="1" dirty="0" err="1">
                <a:ln w="50800"/>
                <a:solidFill>
                  <a:schemeClr val="bg1">
                    <a:shade val="50000"/>
                  </a:schemeClr>
                </a:solidFill>
              </a:rPr>
              <a:t>Presentación</a:t>
            </a:r>
            <a:endParaRPr lang="en-US" sz="4000" b="1" dirty="0">
              <a:ln w="50800"/>
              <a:solidFill>
                <a:schemeClr val="bg1">
                  <a:shade val="50000"/>
                </a:schemeClr>
              </a:solidFill>
            </a:endParaRPr>
          </a:p>
        </p:txBody>
      </p:sp>
    </p:spTree>
  </p:cSld>
  <p:clrMapOvr>
    <a:masterClrMapping/>
  </p:clrMapOvr>
  <p:transition>
    <p:split orient="vert"/>
  </p:transition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tro">
  <a:themeElements>
    <a:clrScheme name="Metro">
      <a:dk1>
        <a:sysClr val="windowText" lastClr="000000"/>
      </a:dk1>
      <a:lt1>
        <a:sysClr val="window" lastClr="FFFFFF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EB80A"/>
      </a:accent3>
      <a:accent4>
        <a:srgbClr val="00ADDC"/>
      </a:accent4>
      <a:accent5>
        <a:srgbClr val="738AC8"/>
      </a:accent5>
      <a:accent6>
        <a:srgbClr val="1AB39F"/>
      </a:accent6>
      <a:hlink>
        <a:srgbClr val="EB8803"/>
      </a:hlink>
      <a:folHlink>
        <a:srgbClr val="5F7791"/>
      </a:folHlink>
    </a:clrScheme>
    <a:fontScheme name="Metro">
      <a:majorFont>
        <a:latin typeface="Consolas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Corbel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tro">
      <a:fillStyleLst>
        <a:solidFill>
          <a:schemeClr val="phClr"/>
        </a:solidFill>
        <a:gradFill rotWithShape="1">
          <a:gsLst>
            <a:gs pos="0">
              <a:schemeClr val="phClr">
                <a:tint val="25000"/>
                <a:satMod val="125000"/>
              </a:schemeClr>
            </a:gs>
            <a:gs pos="40000">
              <a:schemeClr val="phClr">
                <a:tint val="55000"/>
                <a:satMod val="130000"/>
              </a:schemeClr>
            </a:gs>
            <a:gs pos="50000">
              <a:schemeClr val="phClr">
                <a:tint val="59000"/>
                <a:satMod val="130000"/>
              </a:schemeClr>
            </a:gs>
            <a:gs pos="65000">
              <a:schemeClr val="phClr">
                <a:tint val="55000"/>
                <a:satMod val="130000"/>
              </a:schemeClr>
            </a:gs>
            <a:gs pos="100000">
              <a:schemeClr val="phClr">
                <a:tint val="20000"/>
                <a:satMod val="12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48000"/>
                <a:satMod val="138000"/>
              </a:schemeClr>
            </a:gs>
            <a:gs pos="25000">
              <a:schemeClr val="phClr">
                <a:tint val="85000"/>
              </a:schemeClr>
            </a:gs>
            <a:gs pos="40000">
              <a:schemeClr val="phClr">
                <a:tint val="92000"/>
              </a:schemeClr>
            </a:gs>
            <a:gs pos="50000">
              <a:schemeClr val="phClr">
                <a:tint val="93000"/>
              </a:schemeClr>
            </a:gs>
            <a:gs pos="60000">
              <a:schemeClr val="phClr">
                <a:tint val="92000"/>
              </a:schemeClr>
            </a:gs>
            <a:gs pos="75000">
              <a:schemeClr val="phClr">
                <a:tint val="83000"/>
                <a:satMod val="108000"/>
              </a:schemeClr>
            </a:gs>
            <a:gs pos="100000">
              <a:schemeClr val="phClr">
                <a:tint val="48000"/>
                <a:satMod val="150000"/>
              </a:schemeClr>
            </a:gs>
          </a:gsLst>
          <a:lin ang="5400000" scaled="0"/>
        </a:gradFill>
      </a:fillStyleLst>
      <a:lnStyleLst>
        <a:ln w="12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alpha val="45000"/>
                <a:satMod val="120000"/>
              </a:schemeClr>
            </a:glow>
          </a:effectLst>
        </a:effectStyle>
        <a:effectStyle>
          <a:effectLst>
            <a:glow rad="63500">
              <a:schemeClr val="phClr">
                <a:alpha val="45000"/>
                <a:satMod val="120000"/>
              </a:schemeClr>
            </a:glo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>
            <a:bevelT w="0" h="0"/>
            <a:contourClr>
              <a:schemeClr val="phClr">
                <a:tint val="70000"/>
              </a:schemeClr>
            </a:contourClr>
          </a:sp3d>
        </a:effectStyle>
        <a:effectStyle>
          <a:effectLst>
            <a:glow rad="101500">
              <a:schemeClr val="phClr">
                <a:alpha val="42000"/>
                <a:satMod val="120000"/>
              </a:schemeClr>
            </a:glow>
          </a:effectLst>
          <a:scene3d>
            <a:camera prst="orthographicFront" fov="0">
              <a:rot lat="0" lon="0" rev="0"/>
            </a:camera>
            <a:lightRig rig="glow" dir="t">
              <a:rot lat="0" lon="0" rev="4800000"/>
            </a:lightRig>
          </a:scene3d>
          <a:sp3d prstMaterial="powder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bg1">
                <a:shade val="100000"/>
                <a:satMod val="150000"/>
              </a:schemeClr>
            </a:gs>
            <a:gs pos="65000">
              <a:schemeClr val="bg1">
                <a:shade val="90000"/>
                <a:satMod val="375000"/>
              </a:schemeClr>
            </a:gs>
            <a:gs pos="100000">
              <a:schemeClr val="phClr">
                <a:tint val="88000"/>
                <a:satMod val="400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0000"/>
                <a:satMod val="180000"/>
              </a:schemeClr>
              <a:schemeClr val="phClr">
                <a:tint val="90000"/>
                <a:satMod val="20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Metro</Template>
  <TotalTime>11462</TotalTime>
  <Words>711</Words>
  <Application>Microsoft Office PowerPoint</Application>
  <PresentationFormat>Presentación en pantalla (16:9)</PresentationFormat>
  <Paragraphs>65</Paragraphs>
  <Slides>19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19</vt:i4>
      </vt:variant>
    </vt:vector>
  </HeadingPairs>
  <TitlesOfParts>
    <vt:vector size="27" baseType="lpstr">
      <vt:lpstr>Calibri</vt:lpstr>
      <vt:lpstr>Consolas</vt:lpstr>
      <vt:lpstr>Corbel</vt:lpstr>
      <vt:lpstr>Times New Roman</vt:lpstr>
      <vt:lpstr>Wingdings</vt:lpstr>
      <vt:lpstr>Wingdings 2</vt:lpstr>
      <vt:lpstr>Wingdings 3</vt:lpstr>
      <vt:lpstr>Metro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marcelo</dc:creator>
  <cp:lastModifiedBy>Usuario de Windows</cp:lastModifiedBy>
  <cp:revision>482</cp:revision>
  <dcterms:created xsi:type="dcterms:W3CDTF">2008-06-30T14:40:25Z</dcterms:created>
  <dcterms:modified xsi:type="dcterms:W3CDTF">2025-11-01T13:03:54Z</dcterms:modified>
</cp:coreProperties>
</file>