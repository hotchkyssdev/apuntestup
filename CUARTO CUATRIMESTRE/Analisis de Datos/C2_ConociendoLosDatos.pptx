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5" r:id="rId5"/>
    <p:sldId id="259" r:id="rId6"/>
    <p:sldId id="260" r:id="rId7"/>
    <p:sldId id="261" r:id="rId8"/>
    <p:sldId id="262" r:id="rId9"/>
    <p:sldId id="263" r:id="rId10"/>
    <p:sldId id="264"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Inter Bold" panose="020B0604020202020204" charset="0"/>
      <p:regular r:id="rId16"/>
    </p:embeddedFont>
    <p:embeddedFont>
      <p:font typeface="Poppins Medium" panose="020B0604020202020204" charset="0"/>
      <p:regular r:id="rId17"/>
    </p:embeddedFont>
    <p:embeddedFont>
      <p:font typeface="Poppins" panose="020B0604020202020204" charset="0"/>
      <p:regular r:id="rId18"/>
    </p:embeddedFont>
    <p:embeddedFont>
      <p:font typeface="Inter Extra-Light"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39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827108"/>
            <a:ext cx="18288000" cy="1459892"/>
            <a:chOff x="0" y="0"/>
            <a:chExt cx="4816593" cy="384498"/>
          </a:xfrm>
        </p:grpSpPr>
        <p:sp>
          <p:nvSpPr>
            <p:cNvPr id="3" name="Freeform 3"/>
            <p:cNvSpPr/>
            <p:nvPr/>
          </p:nvSpPr>
          <p:spPr>
            <a:xfrm>
              <a:off x="0" y="0"/>
              <a:ext cx="4816592" cy="384498"/>
            </a:xfrm>
            <a:custGeom>
              <a:avLst/>
              <a:gdLst/>
              <a:ahLst/>
              <a:cxnLst/>
              <a:rect l="l" t="t" r="r" b="b"/>
              <a:pathLst>
                <a:path w="4816592" h="384498">
                  <a:moveTo>
                    <a:pt x="0" y="0"/>
                  </a:moveTo>
                  <a:lnTo>
                    <a:pt x="4816592" y="0"/>
                  </a:lnTo>
                  <a:lnTo>
                    <a:pt x="4816592" y="384498"/>
                  </a:lnTo>
                  <a:lnTo>
                    <a:pt x="0" y="384498"/>
                  </a:lnTo>
                  <a:close/>
                </a:path>
              </a:pathLst>
            </a:custGeom>
            <a:solidFill>
              <a:srgbClr val="FFFFFF"/>
            </a:solidFill>
          </p:spPr>
        </p:sp>
        <p:sp>
          <p:nvSpPr>
            <p:cNvPr id="4" name="TextBox 4"/>
            <p:cNvSpPr txBox="1"/>
            <p:nvPr/>
          </p:nvSpPr>
          <p:spPr>
            <a:xfrm>
              <a:off x="0" y="-76200"/>
              <a:ext cx="4816593" cy="460698"/>
            </a:xfrm>
            <a:prstGeom prst="rect">
              <a:avLst/>
            </a:prstGeom>
          </p:spPr>
          <p:txBody>
            <a:bodyPr lIns="50800" tIns="50800" rIns="50800" bIns="50800" rtlCol="0" anchor="ctr"/>
            <a:lstStyle/>
            <a:p>
              <a:pPr algn="ctr">
                <a:lnSpc>
                  <a:spcPts val="3530"/>
                </a:lnSpc>
              </a:pPr>
              <a:endParaRPr/>
            </a:p>
          </p:txBody>
        </p:sp>
      </p:grpSp>
      <p:sp>
        <p:nvSpPr>
          <p:cNvPr id="5" name="AutoShape 5"/>
          <p:cNvSpPr/>
          <p:nvPr/>
        </p:nvSpPr>
        <p:spPr>
          <a:xfrm flipV="1">
            <a:off x="0" y="8827108"/>
            <a:ext cx="18288000" cy="0"/>
          </a:xfrm>
          <a:prstGeom prst="line">
            <a:avLst/>
          </a:prstGeom>
          <a:ln w="9525" cap="rnd">
            <a:solidFill>
              <a:srgbClr val="F4F4F4"/>
            </a:solidFill>
            <a:prstDash val="solid"/>
            <a:headEnd type="none" w="sm" len="sm"/>
            <a:tailEnd type="none" w="sm" len="sm"/>
          </a:ln>
        </p:spPr>
      </p:sp>
      <p:sp>
        <p:nvSpPr>
          <p:cNvPr id="6" name="Freeform 6"/>
          <p:cNvSpPr/>
          <p:nvPr/>
        </p:nvSpPr>
        <p:spPr>
          <a:xfrm>
            <a:off x="285750" y="9258300"/>
            <a:ext cx="4334346" cy="828625"/>
          </a:xfrm>
          <a:custGeom>
            <a:avLst/>
            <a:gdLst/>
            <a:ahLst/>
            <a:cxnLst/>
            <a:rect l="l" t="t" r="r" b="b"/>
            <a:pathLst>
              <a:path w="4334346" h="828625">
                <a:moveTo>
                  <a:pt x="0" y="0"/>
                </a:moveTo>
                <a:lnTo>
                  <a:pt x="4334346" y="0"/>
                </a:lnTo>
                <a:lnTo>
                  <a:pt x="4334346" y="828625"/>
                </a:lnTo>
                <a:lnTo>
                  <a:pt x="0" y="828625"/>
                </a:lnTo>
                <a:lnTo>
                  <a:pt x="0" y="0"/>
                </a:lnTo>
                <a:close/>
              </a:path>
            </a:pathLst>
          </a:custGeom>
          <a:blipFill>
            <a:blip r:embed="rId2"/>
            <a:stretch>
              <a:fillRect/>
            </a:stretch>
          </a:blipFill>
        </p:spPr>
      </p:sp>
      <p:sp>
        <p:nvSpPr>
          <p:cNvPr id="7" name="TextBox 7"/>
          <p:cNvSpPr txBox="1"/>
          <p:nvPr/>
        </p:nvSpPr>
        <p:spPr>
          <a:xfrm>
            <a:off x="2766702" y="2574403"/>
            <a:ext cx="13611846" cy="1165786"/>
          </a:xfrm>
          <a:prstGeom prst="rect">
            <a:avLst/>
          </a:prstGeom>
        </p:spPr>
        <p:txBody>
          <a:bodyPr lIns="0" tIns="0" rIns="0" bIns="0" rtlCol="0" anchor="t">
            <a:spAutoFit/>
          </a:bodyPr>
          <a:lstStyle/>
          <a:p>
            <a:pPr algn="ctr">
              <a:lnSpc>
                <a:spcPts val="8091"/>
              </a:lnSpc>
            </a:pPr>
            <a:r>
              <a:rPr lang="en-US" sz="8517" b="1" spc="-357">
                <a:solidFill>
                  <a:srgbClr val="F4F4F4"/>
                </a:solidFill>
                <a:latin typeface="Poppins Medium"/>
                <a:ea typeface="Poppins Medium"/>
                <a:cs typeface="Poppins Medium"/>
                <a:sym typeface="Poppins Medium"/>
              </a:rPr>
              <a:t>La Anatomía de los Datos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028700" y="1273665"/>
            <a:ext cx="8115300" cy="2466051"/>
          </a:xfrm>
          <a:prstGeom prst="rect">
            <a:avLst/>
          </a:prstGeom>
        </p:spPr>
        <p:txBody>
          <a:bodyPr lIns="0" tIns="0" rIns="0" bIns="0" rtlCol="0" anchor="t">
            <a:spAutoFit/>
          </a:bodyPr>
          <a:lstStyle/>
          <a:p>
            <a:pPr algn="l">
              <a:lnSpc>
                <a:spcPts val="9348"/>
              </a:lnSpc>
            </a:pPr>
            <a:r>
              <a:rPr lang="en-US" sz="8346" b="1">
                <a:solidFill>
                  <a:srgbClr val="F4F4F4"/>
                </a:solidFill>
                <a:latin typeface="Poppins Medium"/>
                <a:ea typeface="Poppins Medium"/>
                <a:cs typeface="Poppins Medium"/>
                <a:sym typeface="Poppins Medium"/>
              </a:rPr>
              <a:t>Agenda de Clase</a:t>
            </a:r>
          </a:p>
        </p:txBody>
      </p:sp>
      <p:sp>
        <p:nvSpPr>
          <p:cNvPr id="4" name="TextBox 4"/>
          <p:cNvSpPr txBox="1"/>
          <p:nvPr/>
        </p:nvSpPr>
        <p:spPr>
          <a:xfrm>
            <a:off x="239833" y="5301401"/>
            <a:ext cx="9110147" cy="1738175"/>
          </a:xfrm>
          <a:prstGeom prst="rect">
            <a:avLst/>
          </a:prstGeom>
        </p:spPr>
        <p:txBody>
          <a:bodyPr lIns="0" tIns="0" rIns="0" bIns="0" rtlCol="0" anchor="t">
            <a:spAutoFit/>
          </a:bodyPr>
          <a:lstStyle/>
          <a:p>
            <a:pPr marL="529634" lvl="1" indent="-264817" algn="just">
              <a:lnSpc>
                <a:spcPts val="3434"/>
              </a:lnSpc>
              <a:buFont typeface="Arial"/>
              <a:buChar char="•"/>
            </a:pPr>
            <a:r>
              <a:rPr lang="en-US" sz="2453">
                <a:solidFill>
                  <a:srgbClr val="F4F4F4"/>
                </a:solidFill>
                <a:latin typeface="Inter Extra-Light"/>
                <a:ea typeface="Inter Extra-Light"/>
                <a:cs typeface="Inter Extra-Light"/>
                <a:sym typeface="Inter Extra-Light"/>
              </a:rPr>
              <a:t>Clasificación de los Datos según su Estructura.</a:t>
            </a:r>
          </a:p>
          <a:p>
            <a:pPr marL="529634" lvl="1" indent="-264817" algn="just">
              <a:lnSpc>
                <a:spcPts val="3434"/>
              </a:lnSpc>
              <a:buFont typeface="Arial"/>
              <a:buChar char="•"/>
            </a:pPr>
            <a:r>
              <a:rPr lang="en-US" sz="2453">
                <a:solidFill>
                  <a:srgbClr val="F4F4F4"/>
                </a:solidFill>
                <a:latin typeface="Inter Extra-Light"/>
                <a:ea typeface="Inter Extra-Light"/>
                <a:cs typeface="Inter Extra-Light"/>
                <a:sym typeface="Inter Extra-Light"/>
              </a:rPr>
              <a:t>Tipos de Variables.</a:t>
            </a:r>
          </a:p>
          <a:p>
            <a:pPr marL="529634" lvl="1" indent="-264817" algn="just">
              <a:lnSpc>
                <a:spcPts val="3434"/>
              </a:lnSpc>
              <a:buFont typeface="Arial"/>
              <a:buChar char="•"/>
            </a:pPr>
            <a:r>
              <a:rPr lang="en-US" sz="2453">
                <a:solidFill>
                  <a:srgbClr val="F4F4F4"/>
                </a:solidFill>
                <a:latin typeface="Inter Extra-Light"/>
                <a:ea typeface="Inter Extra-Light"/>
                <a:cs typeface="Inter Extra-Light"/>
                <a:sym typeface="Inter Extra-Light"/>
              </a:rPr>
              <a:t>Organización para el Análisis: El Modelo Tabular, Series y DataFrames.</a:t>
            </a:r>
          </a:p>
        </p:txBody>
      </p:sp>
      <p:grpSp>
        <p:nvGrpSpPr>
          <p:cNvPr id="5" name="Group 5"/>
          <p:cNvGrpSpPr/>
          <p:nvPr/>
        </p:nvGrpSpPr>
        <p:grpSpPr>
          <a:xfrm>
            <a:off x="9586997" y="1028700"/>
            <a:ext cx="9297103" cy="8229600"/>
            <a:chOff x="0" y="0"/>
            <a:chExt cx="1440365" cy="1274980"/>
          </a:xfrm>
        </p:grpSpPr>
        <p:sp>
          <p:nvSpPr>
            <p:cNvPr id="6" name="Freeform 6"/>
            <p:cNvSpPr/>
            <p:nvPr/>
          </p:nvSpPr>
          <p:spPr>
            <a:xfrm>
              <a:off x="0" y="0"/>
              <a:ext cx="1440365" cy="1274980"/>
            </a:xfrm>
            <a:custGeom>
              <a:avLst/>
              <a:gdLst/>
              <a:ahLst/>
              <a:cxnLst/>
              <a:rect l="l" t="t" r="r" b="b"/>
              <a:pathLst>
                <a:path w="1440365" h="1274980">
                  <a:moveTo>
                    <a:pt x="50796" y="0"/>
                  </a:moveTo>
                  <a:lnTo>
                    <a:pt x="1389568" y="0"/>
                  </a:lnTo>
                  <a:cubicBezTo>
                    <a:pt x="1417622" y="0"/>
                    <a:pt x="1440365" y="22742"/>
                    <a:pt x="1440365" y="50796"/>
                  </a:cubicBezTo>
                  <a:lnTo>
                    <a:pt x="1440365" y="1224184"/>
                  </a:lnTo>
                  <a:cubicBezTo>
                    <a:pt x="1440365" y="1237656"/>
                    <a:pt x="1435013" y="1250576"/>
                    <a:pt x="1425487" y="1260103"/>
                  </a:cubicBezTo>
                  <a:cubicBezTo>
                    <a:pt x="1415961" y="1269629"/>
                    <a:pt x="1403040" y="1274980"/>
                    <a:pt x="1389568" y="1274980"/>
                  </a:cubicBezTo>
                  <a:lnTo>
                    <a:pt x="50796" y="1274980"/>
                  </a:lnTo>
                  <a:cubicBezTo>
                    <a:pt x="22742" y="1274980"/>
                    <a:pt x="0" y="1252238"/>
                    <a:pt x="0" y="1224184"/>
                  </a:cubicBezTo>
                  <a:lnTo>
                    <a:pt x="0" y="50796"/>
                  </a:lnTo>
                  <a:cubicBezTo>
                    <a:pt x="0" y="37324"/>
                    <a:pt x="5352" y="24404"/>
                    <a:pt x="14878" y="14878"/>
                  </a:cubicBezTo>
                  <a:cubicBezTo>
                    <a:pt x="24404" y="5352"/>
                    <a:pt x="37324" y="0"/>
                    <a:pt x="50796" y="0"/>
                  </a:cubicBezTo>
                  <a:close/>
                </a:path>
              </a:pathLst>
            </a:custGeom>
            <a:blipFill>
              <a:blip r:embed="rId2"/>
              <a:stretch>
                <a:fillRect t="-34781" b="-34781"/>
              </a:stretch>
            </a:blipFill>
            <a:ln w="9525" cap="rnd">
              <a:solidFill>
                <a:srgbClr val="FFFFFF"/>
              </a:solidFill>
              <a:prstDash val="solid"/>
              <a:round/>
            </a:ln>
          </p:spPr>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85775" y="288077"/>
            <a:ext cx="16773525" cy="1066318"/>
          </a:xfrm>
          <a:prstGeom prst="rect">
            <a:avLst/>
          </a:prstGeom>
        </p:spPr>
        <p:txBody>
          <a:bodyPr lIns="0" tIns="0" rIns="0" bIns="0" rtlCol="0" anchor="t">
            <a:spAutoFit/>
          </a:bodyPr>
          <a:lstStyle/>
          <a:p>
            <a:pPr algn="l">
              <a:lnSpc>
                <a:spcPts val="8122"/>
              </a:lnSpc>
            </a:pPr>
            <a:r>
              <a:rPr lang="en-US" sz="8000" b="1" spc="-359" dirty="0" err="1" smtClean="0">
                <a:solidFill>
                  <a:srgbClr val="F4F4F4"/>
                </a:solidFill>
                <a:latin typeface="Poppins Medium"/>
                <a:ea typeface="Poppins Medium"/>
                <a:cs typeface="Poppins Medium"/>
                <a:sym typeface="Poppins Medium"/>
              </a:rPr>
              <a:t>Ciclo</a:t>
            </a:r>
            <a:r>
              <a:rPr lang="en-US" sz="8000" b="1" spc="-359" dirty="0" smtClean="0">
                <a:solidFill>
                  <a:srgbClr val="F4F4F4"/>
                </a:solidFill>
                <a:latin typeface="Poppins Medium"/>
                <a:ea typeface="Poppins Medium"/>
                <a:cs typeface="Poppins Medium"/>
                <a:sym typeface="Poppins Medium"/>
              </a:rPr>
              <a:t> de </a:t>
            </a:r>
            <a:r>
              <a:rPr lang="en-US" sz="8000" b="1" spc="-359" dirty="0" err="1" smtClean="0">
                <a:solidFill>
                  <a:srgbClr val="F4F4F4"/>
                </a:solidFill>
                <a:latin typeface="Poppins Medium"/>
                <a:ea typeface="Poppins Medium"/>
                <a:cs typeface="Poppins Medium"/>
                <a:sym typeface="Poppins Medium"/>
              </a:rPr>
              <a:t>vida</a:t>
            </a:r>
            <a:r>
              <a:rPr lang="en-US" sz="8000" b="1" spc="-359" dirty="0" smtClean="0">
                <a:solidFill>
                  <a:srgbClr val="F4F4F4"/>
                </a:solidFill>
                <a:latin typeface="Poppins Medium"/>
                <a:ea typeface="Poppins Medium"/>
                <a:cs typeface="Poppins Medium"/>
                <a:sym typeface="Poppins Medium"/>
              </a:rPr>
              <a:t> del </a:t>
            </a:r>
            <a:r>
              <a:rPr lang="en-US" sz="8000" b="1" spc="-359" dirty="0" err="1" smtClean="0">
                <a:solidFill>
                  <a:srgbClr val="F4F4F4"/>
                </a:solidFill>
                <a:latin typeface="Poppins Medium"/>
                <a:ea typeface="Poppins Medium"/>
                <a:cs typeface="Poppins Medium"/>
                <a:sym typeface="Poppins Medium"/>
              </a:rPr>
              <a:t>Análisis</a:t>
            </a:r>
            <a:r>
              <a:rPr lang="en-US" sz="8000" b="1" spc="-359" dirty="0" smtClean="0">
                <a:solidFill>
                  <a:srgbClr val="F4F4F4"/>
                </a:solidFill>
                <a:latin typeface="Poppins Medium"/>
                <a:ea typeface="Poppins Medium"/>
                <a:cs typeface="Poppins Medium"/>
                <a:sym typeface="Poppins Medium"/>
              </a:rPr>
              <a:t> de </a:t>
            </a:r>
            <a:r>
              <a:rPr lang="en-US" sz="8000" b="1" spc="-359" dirty="0" err="1" smtClean="0">
                <a:solidFill>
                  <a:srgbClr val="F4F4F4"/>
                </a:solidFill>
                <a:latin typeface="Poppins Medium"/>
                <a:ea typeface="Poppins Medium"/>
                <a:cs typeface="Poppins Medium"/>
                <a:sym typeface="Poppins Medium"/>
              </a:rPr>
              <a:t>datos</a:t>
            </a:r>
            <a:endParaRPr lang="en-US" sz="8000" b="1" spc="-359" dirty="0">
              <a:solidFill>
                <a:srgbClr val="F4F4F4"/>
              </a:solidFill>
              <a:latin typeface="Poppins Medium"/>
              <a:ea typeface="Poppins Medium"/>
              <a:cs typeface="Poppins Medium"/>
              <a:sym typeface="Poppins Medium"/>
            </a:endParaRPr>
          </a:p>
        </p:txBody>
      </p:sp>
      <p:sp>
        <p:nvSpPr>
          <p:cNvPr id="5" name="AutoShape 5"/>
          <p:cNvSpPr/>
          <p:nvPr/>
        </p:nvSpPr>
        <p:spPr>
          <a:xfrm flipV="1">
            <a:off x="-22150" y="2507402"/>
            <a:ext cx="18288000" cy="0"/>
          </a:xfrm>
          <a:prstGeom prst="line">
            <a:avLst/>
          </a:prstGeom>
          <a:ln w="9525" cap="rnd">
            <a:solidFill>
              <a:srgbClr val="F4F4F4"/>
            </a:solidFill>
            <a:prstDash val="solid"/>
            <a:headEnd type="none" w="sm" len="sm"/>
            <a:tailEnd type="none" w="sm" len="sm"/>
          </a:ln>
        </p:spPr>
      </p:sp>
      <p:sp>
        <p:nvSpPr>
          <p:cNvPr id="6" name="Freeform 5"/>
          <p:cNvSpPr/>
          <p:nvPr/>
        </p:nvSpPr>
        <p:spPr>
          <a:xfrm>
            <a:off x="3184245" y="3062005"/>
            <a:ext cx="13195511" cy="5367041"/>
          </a:xfrm>
          <a:custGeom>
            <a:avLst/>
            <a:gdLst/>
            <a:ahLst/>
            <a:cxnLst/>
            <a:rect l="l" t="t" r="r" b="b"/>
            <a:pathLst>
              <a:path w="13195511" h="5367041">
                <a:moveTo>
                  <a:pt x="0" y="0"/>
                </a:moveTo>
                <a:lnTo>
                  <a:pt x="13195511" y="0"/>
                </a:lnTo>
                <a:lnTo>
                  <a:pt x="13195511" y="5367041"/>
                </a:lnTo>
                <a:lnTo>
                  <a:pt x="0" y="5367041"/>
                </a:lnTo>
                <a:lnTo>
                  <a:pt x="0" y="0"/>
                </a:lnTo>
                <a:close/>
              </a:path>
            </a:pathLst>
          </a:custGeom>
          <a:blipFill>
            <a:blip r:embed="rId2"/>
            <a:stretch>
              <a:fillRect t="-98784" b="-47077"/>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85775" y="288077"/>
            <a:ext cx="16773525" cy="2105063"/>
          </a:xfrm>
          <a:prstGeom prst="rect">
            <a:avLst/>
          </a:prstGeom>
        </p:spPr>
        <p:txBody>
          <a:bodyPr lIns="0" tIns="0" rIns="0" bIns="0" rtlCol="0" anchor="t">
            <a:spAutoFit/>
          </a:bodyPr>
          <a:lstStyle/>
          <a:p>
            <a:pPr algn="l">
              <a:lnSpc>
                <a:spcPts val="8122"/>
              </a:lnSpc>
            </a:pPr>
            <a:r>
              <a:rPr lang="en-US" sz="8000" b="1" spc="-359" dirty="0" err="1">
                <a:solidFill>
                  <a:srgbClr val="F4F4F4"/>
                </a:solidFill>
                <a:latin typeface="Poppins Medium"/>
                <a:ea typeface="Poppins Medium"/>
                <a:cs typeface="Poppins Medium"/>
                <a:sym typeface="Poppins Medium"/>
              </a:rPr>
              <a:t>Clasificación</a:t>
            </a:r>
            <a:r>
              <a:rPr lang="en-US" sz="8000" b="1" spc="-359" dirty="0">
                <a:solidFill>
                  <a:srgbClr val="F4F4F4"/>
                </a:solidFill>
                <a:latin typeface="Poppins Medium"/>
                <a:ea typeface="Poppins Medium"/>
                <a:cs typeface="Poppins Medium"/>
                <a:sym typeface="Poppins Medium"/>
              </a:rPr>
              <a:t> de </a:t>
            </a:r>
            <a:r>
              <a:rPr lang="en-US" sz="8000" b="1" spc="-359" dirty="0" err="1">
                <a:solidFill>
                  <a:srgbClr val="F4F4F4"/>
                </a:solidFill>
                <a:latin typeface="Poppins Medium"/>
                <a:ea typeface="Poppins Medium"/>
                <a:cs typeface="Poppins Medium"/>
                <a:sym typeface="Poppins Medium"/>
              </a:rPr>
              <a:t>los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Datos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según</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su</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Estructura</a:t>
            </a:r>
            <a:endParaRPr lang="en-US" sz="8000" b="1" spc="-359" dirty="0">
              <a:solidFill>
                <a:srgbClr val="F4F4F4"/>
              </a:solidFill>
              <a:latin typeface="Poppins Medium"/>
              <a:ea typeface="Poppins Medium"/>
              <a:cs typeface="Poppins Medium"/>
              <a:sym typeface="Poppins Medium"/>
            </a:endParaRPr>
          </a:p>
        </p:txBody>
      </p:sp>
      <p:sp>
        <p:nvSpPr>
          <p:cNvPr id="3" name="TextBox 3"/>
          <p:cNvSpPr txBox="1"/>
          <p:nvPr/>
        </p:nvSpPr>
        <p:spPr>
          <a:xfrm>
            <a:off x="685800" y="2757650"/>
            <a:ext cx="69670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Datos Estructurados</a:t>
            </a:r>
          </a:p>
        </p:txBody>
      </p:sp>
      <p:sp>
        <p:nvSpPr>
          <p:cNvPr id="4" name="TextBox 4"/>
          <p:cNvSpPr txBox="1"/>
          <p:nvPr/>
        </p:nvSpPr>
        <p:spPr>
          <a:xfrm>
            <a:off x="685800" y="3952810"/>
            <a:ext cx="16391011" cy="2904623"/>
          </a:xfrm>
          <a:prstGeom prst="rect">
            <a:avLst/>
          </a:prstGeom>
        </p:spPr>
        <p:txBody>
          <a:bodyPr lIns="0" tIns="0" rIns="0" bIns="0" rtlCol="0" anchor="t">
            <a:spAutoFit/>
          </a:bodyPr>
          <a:lstStyle/>
          <a:p>
            <a:pPr algn="just">
              <a:lnSpc>
                <a:spcPts val="3945"/>
              </a:lnSpc>
            </a:pPr>
            <a:r>
              <a:rPr lang="en-US" sz="2818">
                <a:solidFill>
                  <a:srgbClr val="F4F4F4"/>
                </a:solidFill>
                <a:latin typeface="Inter Extra-Light"/>
                <a:ea typeface="Inter Extra-Light"/>
                <a:cs typeface="Inter Extra-Light"/>
                <a:sym typeface="Inter Extra-Light"/>
              </a:rPr>
              <a:t>Son datos que se amoldan a un modelo predefinido, organizados en filas y columnas. </a:t>
            </a:r>
          </a:p>
          <a:p>
            <a:pPr algn="just">
              <a:lnSpc>
                <a:spcPts val="3945"/>
              </a:lnSpc>
            </a:pPr>
            <a:r>
              <a:rPr lang="en-US" sz="2818">
                <a:solidFill>
                  <a:srgbClr val="F4F4F4"/>
                </a:solidFill>
                <a:latin typeface="Inter Extra-Light"/>
                <a:ea typeface="Inter Extra-Light"/>
                <a:cs typeface="Inter Extra-Light"/>
                <a:sym typeface="Inter Extra-Light"/>
              </a:rPr>
              <a:t>Son los tipos de datos más fáciles de analizar.</a:t>
            </a:r>
          </a:p>
          <a:p>
            <a:pPr algn="just">
              <a:lnSpc>
                <a:spcPts val="3945"/>
              </a:lnSpc>
            </a:pPr>
            <a:endParaRPr lang="en-US" sz="2818">
              <a:solidFill>
                <a:srgbClr val="F4F4F4"/>
              </a:solidFill>
              <a:latin typeface="Inter Extra-Light"/>
              <a:ea typeface="Inter Extra-Light"/>
              <a:cs typeface="Inter Extra-Light"/>
              <a:sym typeface="Inter Extra-Light"/>
            </a:endParaRPr>
          </a:p>
          <a:p>
            <a:pPr algn="just">
              <a:lnSpc>
                <a:spcPts val="3945"/>
              </a:lnSpc>
            </a:pPr>
            <a:r>
              <a:rPr lang="en-US" sz="2818">
                <a:solidFill>
                  <a:srgbClr val="F4F4F4"/>
                </a:solidFill>
                <a:latin typeface="Inter Extra-Light"/>
                <a:ea typeface="Inter Extra-Light"/>
                <a:cs typeface="Inter Extra-Light"/>
                <a:sym typeface="Inter Extra-Light"/>
              </a:rPr>
              <a:t>Ejemplo Práctico: Una tabla de Clientes en una base de datos SQL, con columnas fijas</a:t>
            </a:r>
          </a:p>
          <a:p>
            <a:pPr algn="just">
              <a:lnSpc>
                <a:spcPts val="3945"/>
              </a:lnSpc>
              <a:spcBef>
                <a:spcPct val="0"/>
              </a:spcBef>
            </a:pPr>
            <a:r>
              <a:rPr lang="en-US" sz="2818">
                <a:solidFill>
                  <a:srgbClr val="F4F4F4"/>
                </a:solidFill>
                <a:latin typeface="Inter Extra-Light"/>
                <a:ea typeface="Inter Extra-Light"/>
                <a:cs typeface="Inter Extra-Light"/>
                <a:sym typeface="Inter Extra-Light"/>
              </a:rPr>
              <a:t>como ID_Cliente, Nombre, Apellido, Email y Fecha_Registro. Donde cada fila es un registro de cliente y cada columna una característica o atributo de ese cliente.</a:t>
            </a:r>
          </a:p>
        </p:txBody>
      </p:sp>
      <p:sp>
        <p:nvSpPr>
          <p:cNvPr id="5" name="AutoShape 5"/>
          <p:cNvSpPr/>
          <p:nvPr/>
        </p:nvSpPr>
        <p:spPr>
          <a:xfrm flipV="1">
            <a:off x="-22150" y="2507402"/>
            <a:ext cx="18288000" cy="0"/>
          </a:xfrm>
          <a:prstGeom prst="line">
            <a:avLst/>
          </a:prstGeom>
          <a:ln w="9525" cap="rnd">
            <a:solidFill>
              <a:srgbClr val="F4F4F4"/>
            </a:solidFill>
            <a:prstDash val="solid"/>
            <a:headEnd type="none" w="sm" len="sm"/>
            <a:tailEnd type="none" w="sm" len="sm"/>
          </a:ln>
        </p:spPr>
      </p:sp>
    </p:spTree>
    <p:extLst>
      <p:ext uri="{BB962C8B-B14F-4D97-AF65-F5344CB8AC3E}">
        <p14:creationId xmlns:p14="http://schemas.microsoft.com/office/powerpoint/2010/main" val="1082247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85775" y="288077"/>
            <a:ext cx="16600561" cy="2105063"/>
          </a:xfrm>
          <a:prstGeom prst="rect">
            <a:avLst/>
          </a:prstGeom>
        </p:spPr>
        <p:txBody>
          <a:bodyPr lIns="0" tIns="0" rIns="0" bIns="0" rtlCol="0" anchor="t">
            <a:spAutoFit/>
          </a:bodyPr>
          <a:lstStyle/>
          <a:p>
            <a:pPr algn="l">
              <a:lnSpc>
                <a:spcPts val="8122"/>
              </a:lnSpc>
            </a:pPr>
            <a:r>
              <a:rPr lang="en-US" sz="8000" b="1" spc="-359" dirty="0" err="1">
                <a:solidFill>
                  <a:srgbClr val="F4F4F4"/>
                </a:solidFill>
                <a:latin typeface="Poppins Medium"/>
                <a:ea typeface="Poppins Medium"/>
                <a:cs typeface="Poppins Medium"/>
                <a:sym typeface="Poppins Medium"/>
              </a:rPr>
              <a:t>Clasificación</a:t>
            </a:r>
            <a:r>
              <a:rPr lang="en-US" sz="8000" b="1" spc="-359" dirty="0">
                <a:solidFill>
                  <a:srgbClr val="F4F4F4"/>
                </a:solidFill>
                <a:latin typeface="Poppins Medium"/>
                <a:ea typeface="Poppins Medium"/>
                <a:cs typeface="Poppins Medium"/>
                <a:sym typeface="Poppins Medium"/>
              </a:rPr>
              <a:t> de </a:t>
            </a:r>
            <a:r>
              <a:rPr lang="en-US" sz="8000" b="1" spc="-359" dirty="0" err="1">
                <a:solidFill>
                  <a:srgbClr val="F4F4F4"/>
                </a:solidFill>
                <a:latin typeface="Poppins Medium"/>
                <a:ea typeface="Poppins Medium"/>
                <a:cs typeface="Poppins Medium"/>
                <a:sym typeface="Poppins Medium"/>
              </a:rPr>
              <a:t>los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Datos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según</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su</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Estructura</a:t>
            </a:r>
            <a:endParaRPr lang="en-US" sz="8000" b="1" spc="-359" dirty="0">
              <a:solidFill>
                <a:srgbClr val="F4F4F4"/>
              </a:solidFill>
              <a:latin typeface="Poppins Medium"/>
              <a:ea typeface="Poppins Medium"/>
              <a:cs typeface="Poppins Medium"/>
              <a:sym typeface="Poppins Medium"/>
            </a:endParaRPr>
          </a:p>
        </p:txBody>
      </p:sp>
      <p:sp>
        <p:nvSpPr>
          <p:cNvPr id="3" name="TextBox 3"/>
          <p:cNvSpPr txBox="1"/>
          <p:nvPr/>
        </p:nvSpPr>
        <p:spPr>
          <a:xfrm>
            <a:off x="695325" y="2843375"/>
            <a:ext cx="69670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Datos Semi-estructurados</a:t>
            </a:r>
          </a:p>
        </p:txBody>
      </p:sp>
      <p:sp>
        <p:nvSpPr>
          <p:cNvPr id="4" name="TextBox 4"/>
          <p:cNvSpPr txBox="1"/>
          <p:nvPr/>
        </p:nvSpPr>
        <p:spPr>
          <a:xfrm>
            <a:off x="695325" y="3982720"/>
            <a:ext cx="16391011" cy="3877639"/>
          </a:xfrm>
          <a:prstGeom prst="rect">
            <a:avLst/>
          </a:prstGeom>
        </p:spPr>
        <p:txBody>
          <a:bodyPr lIns="0" tIns="0" rIns="0" bIns="0" rtlCol="0" anchor="t">
            <a:spAutoFit/>
          </a:bodyPr>
          <a:lstStyle/>
          <a:p>
            <a:pPr algn="just">
              <a:lnSpc>
                <a:spcPts val="3945"/>
              </a:lnSpc>
            </a:pPr>
            <a:r>
              <a:rPr lang="en-US" sz="2818">
                <a:solidFill>
                  <a:srgbClr val="F4F4F4"/>
                </a:solidFill>
                <a:latin typeface="Inter Extra-Light"/>
                <a:ea typeface="Inter Extra-Light"/>
                <a:cs typeface="Inter Extra-Light"/>
                <a:sym typeface="Inter Extra-Light"/>
              </a:rPr>
              <a:t>En este caso los datos no se ajustan a una estructura tabular rígida, pero contienen etiquetas o</a:t>
            </a:r>
          </a:p>
          <a:p>
            <a:pPr algn="just">
              <a:lnSpc>
                <a:spcPts val="3945"/>
              </a:lnSpc>
            </a:pPr>
            <a:r>
              <a:rPr lang="en-US" sz="2818">
                <a:solidFill>
                  <a:srgbClr val="F4F4F4"/>
                </a:solidFill>
                <a:latin typeface="Inter Extra-Light"/>
                <a:ea typeface="Inter Extra-Light"/>
                <a:cs typeface="Inter Extra-Light"/>
                <a:sym typeface="Inter Extra-Light"/>
              </a:rPr>
              <a:t>marcadores para separar elementos y jerarquías.</a:t>
            </a:r>
          </a:p>
          <a:p>
            <a:pPr algn="just">
              <a:lnSpc>
                <a:spcPts val="3945"/>
              </a:lnSpc>
              <a:spcBef>
                <a:spcPct val="0"/>
              </a:spcBef>
            </a:pPr>
            <a:r>
              <a:rPr lang="en-US" sz="2818">
                <a:solidFill>
                  <a:srgbClr val="F4F4F4"/>
                </a:solidFill>
                <a:latin typeface="Inter Extra-Light"/>
                <a:ea typeface="Inter Extra-Light"/>
                <a:cs typeface="Inter Extra-Light"/>
                <a:sym typeface="Inter Extra-Light"/>
              </a:rPr>
              <a:t>Ejemplo Práctico: Un archivo JSON devuelto por una API. Por ejemplo, la información de un producto podría tener campos fijos como nombre y precio, pero un campo caracteristicas que es un objeto con un número variable de atributos (algunos productos tendrán “color” y “talle”, otros tendrán “resolución”  y “memoria”).</a:t>
            </a:r>
          </a:p>
          <a:p>
            <a:pPr algn="just">
              <a:lnSpc>
                <a:spcPts val="3945"/>
              </a:lnSpc>
              <a:spcBef>
                <a:spcPct val="0"/>
              </a:spcBef>
            </a:pPr>
            <a:r>
              <a:rPr lang="en-US" sz="2818">
                <a:solidFill>
                  <a:srgbClr val="F4F4F4"/>
                </a:solidFill>
                <a:latin typeface="Inter Extra-Light"/>
                <a:ea typeface="Inter Extra-Light"/>
                <a:cs typeface="Inter Extra-Light"/>
                <a:sym typeface="Inter Extra-Light"/>
              </a:rPr>
              <a:t>¿Qué otro ejemplo de formato de archivo de intercambio de datos puede considerarse semi-estructurado?</a:t>
            </a:r>
          </a:p>
        </p:txBody>
      </p:sp>
      <p:sp>
        <p:nvSpPr>
          <p:cNvPr id="5" name="AutoShape 5"/>
          <p:cNvSpPr/>
          <p:nvPr/>
        </p:nvSpPr>
        <p:spPr>
          <a:xfrm flipV="1">
            <a:off x="-22150" y="2488352"/>
            <a:ext cx="18288000" cy="0"/>
          </a:xfrm>
          <a:prstGeom prst="line">
            <a:avLst/>
          </a:prstGeom>
          <a:ln w="9525" cap="rnd">
            <a:solidFill>
              <a:srgbClr val="F4F4F4"/>
            </a:solidFill>
            <a:prstDash val="solid"/>
            <a:headEnd type="none" w="sm" len="sm"/>
            <a:tailEnd type="none" w="sm" len="sm"/>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85775" y="288077"/>
            <a:ext cx="16773525" cy="2105063"/>
          </a:xfrm>
          <a:prstGeom prst="rect">
            <a:avLst/>
          </a:prstGeom>
        </p:spPr>
        <p:txBody>
          <a:bodyPr lIns="0" tIns="0" rIns="0" bIns="0" rtlCol="0" anchor="t">
            <a:spAutoFit/>
          </a:bodyPr>
          <a:lstStyle/>
          <a:p>
            <a:pPr algn="l">
              <a:lnSpc>
                <a:spcPts val="8122"/>
              </a:lnSpc>
            </a:pPr>
            <a:r>
              <a:rPr lang="en-US" sz="8000" b="1" spc="-359" dirty="0" err="1">
                <a:solidFill>
                  <a:srgbClr val="F4F4F4"/>
                </a:solidFill>
                <a:latin typeface="Poppins Medium"/>
                <a:ea typeface="Poppins Medium"/>
                <a:cs typeface="Poppins Medium"/>
                <a:sym typeface="Poppins Medium"/>
              </a:rPr>
              <a:t>Clasificación</a:t>
            </a:r>
            <a:r>
              <a:rPr lang="en-US" sz="8000" b="1" spc="-359" dirty="0">
                <a:solidFill>
                  <a:srgbClr val="F4F4F4"/>
                </a:solidFill>
                <a:latin typeface="Poppins Medium"/>
                <a:ea typeface="Poppins Medium"/>
                <a:cs typeface="Poppins Medium"/>
                <a:sym typeface="Poppins Medium"/>
              </a:rPr>
              <a:t> de </a:t>
            </a:r>
            <a:r>
              <a:rPr lang="en-US" sz="8000" b="1" spc="-359" dirty="0" err="1">
                <a:solidFill>
                  <a:srgbClr val="F4F4F4"/>
                </a:solidFill>
                <a:latin typeface="Poppins Medium"/>
                <a:ea typeface="Poppins Medium"/>
                <a:cs typeface="Poppins Medium"/>
                <a:sym typeface="Poppins Medium"/>
              </a:rPr>
              <a:t>los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Datos</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según</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su</a:t>
            </a:r>
            <a:r>
              <a:rPr lang="en-US" sz="8000" b="1" spc="-359" dirty="0">
                <a:solidFill>
                  <a:srgbClr val="F4F4F4"/>
                </a:solidFill>
                <a:latin typeface="Poppins Medium"/>
                <a:ea typeface="Poppins Medium"/>
                <a:cs typeface="Poppins Medium"/>
                <a:sym typeface="Poppins Medium"/>
              </a:rPr>
              <a:t> </a:t>
            </a:r>
            <a:r>
              <a:rPr lang="en-US" sz="8000" b="1" spc="-359" dirty="0" err="1">
                <a:solidFill>
                  <a:srgbClr val="F4F4F4"/>
                </a:solidFill>
                <a:latin typeface="Poppins Medium"/>
                <a:ea typeface="Poppins Medium"/>
                <a:cs typeface="Poppins Medium"/>
                <a:sym typeface="Poppins Medium"/>
              </a:rPr>
              <a:t>Estructura</a:t>
            </a:r>
            <a:endParaRPr lang="en-US" sz="8000" b="1" spc="-359" dirty="0">
              <a:solidFill>
                <a:srgbClr val="F4F4F4"/>
              </a:solidFill>
              <a:latin typeface="Poppins Medium"/>
              <a:ea typeface="Poppins Medium"/>
              <a:cs typeface="Poppins Medium"/>
              <a:sym typeface="Poppins Medium"/>
            </a:endParaRPr>
          </a:p>
        </p:txBody>
      </p:sp>
      <p:sp>
        <p:nvSpPr>
          <p:cNvPr id="3" name="TextBox 3"/>
          <p:cNvSpPr txBox="1"/>
          <p:nvPr/>
        </p:nvSpPr>
        <p:spPr>
          <a:xfrm>
            <a:off x="695325" y="2671925"/>
            <a:ext cx="69670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Datos No estructurados</a:t>
            </a:r>
          </a:p>
        </p:txBody>
      </p:sp>
      <p:sp>
        <p:nvSpPr>
          <p:cNvPr id="4" name="TextBox 4"/>
          <p:cNvSpPr txBox="1"/>
          <p:nvPr/>
        </p:nvSpPr>
        <p:spPr>
          <a:xfrm>
            <a:off x="677032" y="3381310"/>
            <a:ext cx="17105386" cy="1881047"/>
          </a:xfrm>
          <a:prstGeom prst="rect">
            <a:avLst/>
          </a:prstGeom>
        </p:spPr>
        <p:txBody>
          <a:bodyPr lIns="0" tIns="0" rIns="0" bIns="0" rtlCol="0" anchor="t">
            <a:spAutoFit/>
          </a:bodyPr>
          <a:lstStyle/>
          <a:p>
            <a:pPr algn="just">
              <a:lnSpc>
                <a:spcPts val="3945"/>
              </a:lnSpc>
            </a:pPr>
            <a:r>
              <a:rPr lang="en-US" sz="2818">
                <a:solidFill>
                  <a:srgbClr val="F4F4F4"/>
                </a:solidFill>
                <a:latin typeface="Inter Extra-Light"/>
                <a:ea typeface="Inter Extra-Light"/>
                <a:cs typeface="Inter Extra-Light"/>
                <a:sym typeface="Inter Extra-Light"/>
              </a:rPr>
              <a:t>Datos sin una estructura interna predefinida. Constituyen la mayor parte de los datos en la vida diaria.</a:t>
            </a:r>
          </a:p>
          <a:p>
            <a:pPr algn="just">
              <a:lnSpc>
                <a:spcPts val="3245"/>
              </a:lnSpc>
            </a:pPr>
            <a:endParaRPr lang="en-US" sz="2818">
              <a:solidFill>
                <a:srgbClr val="F4F4F4"/>
              </a:solidFill>
              <a:latin typeface="Inter Extra-Light"/>
              <a:ea typeface="Inter Extra-Light"/>
              <a:cs typeface="Inter Extra-Light"/>
              <a:sym typeface="Inter Extra-Light"/>
            </a:endParaRPr>
          </a:p>
          <a:p>
            <a:pPr algn="just">
              <a:lnSpc>
                <a:spcPts val="3945"/>
              </a:lnSpc>
              <a:spcBef>
                <a:spcPct val="0"/>
              </a:spcBef>
            </a:pPr>
            <a:r>
              <a:rPr lang="en-US" sz="2818">
                <a:solidFill>
                  <a:srgbClr val="F4F4F4"/>
                </a:solidFill>
                <a:latin typeface="Inter Extra-Light"/>
                <a:ea typeface="Inter Extra-Light"/>
                <a:cs typeface="Inter Extra-Light"/>
                <a:sym typeface="Inter Extra-Light"/>
              </a:rPr>
              <a:t>Ejemplo Práctico: El contenido de los correos electrónicos, los comentarios en una publicación de red social, una imagen JPG, un video MP4, un archivo de audio MP3 de una llamada de atención al cliente. </a:t>
            </a:r>
          </a:p>
        </p:txBody>
      </p:sp>
      <p:sp>
        <p:nvSpPr>
          <p:cNvPr id="5" name="TextBox 5"/>
          <p:cNvSpPr txBox="1"/>
          <p:nvPr/>
        </p:nvSpPr>
        <p:spPr>
          <a:xfrm>
            <a:off x="695325" y="4862307"/>
            <a:ext cx="17105386" cy="4938572"/>
          </a:xfrm>
          <a:prstGeom prst="rect">
            <a:avLst/>
          </a:prstGeom>
        </p:spPr>
        <p:txBody>
          <a:bodyPr lIns="0" tIns="0" rIns="0" bIns="0" rtlCol="0" anchor="t">
            <a:spAutoFit/>
          </a:bodyPr>
          <a:lstStyle/>
          <a:p>
            <a:pPr algn="just">
              <a:lnSpc>
                <a:spcPts val="3945"/>
              </a:lnSpc>
            </a:pPr>
            <a:endParaRPr/>
          </a:p>
          <a:p>
            <a:pPr algn="just">
              <a:lnSpc>
                <a:spcPts val="3945"/>
              </a:lnSpc>
            </a:pPr>
            <a:r>
              <a:rPr lang="en-US" sz="2818">
                <a:solidFill>
                  <a:srgbClr val="F4F4F4"/>
                </a:solidFill>
                <a:latin typeface="Inter Extra-Light"/>
                <a:ea typeface="Inter Extra-Light"/>
                <a:cs typeface="Inter Extra-Light"/>
                <a:sym typeface="Inter Extra-Light"/>
              </a:rPr>
              <a:t>Su análisis requiere técnicas más avanzadas como: </a:t>
            </a:r>
          </a:p>
          <a:p>
            <a:pPr marL="608414" lvl="1" indent="-304207" algn="just">
              <a:lnSpc>
                <a:spcPts val="3945"/>
              </a:lnSpc>
              <a:buFont typeface="Arial"/>
              <a:buChar char="•"/>
            </a:pPr>
            <a:r>
              <a:rPr lang="en-US" sz="2818" b="1">
                <a:solidFill>
                  <a:srgbClr val="F4F4F4"/>
                </a:solidFill>
                <a:latin typeface="Inter Bold"/>
                <a:ea typeface="Inter Bold"/>
                <a:cs typeface="Inter Bold"/>
                <a:sym typeface="Inter Bold"/>
              </a:rPr>
              <a:t>Reconocimiento de Entidades Nombradas (NER, por sus siglas en inglés): </a:t>
            </a:r>
            <a:r>
              <a:rPr lang="en-US" sz="2818">
                <a:solidFill>
                  <a:srgbClr val="F4F4F4"/>
                </a:solidFill>
                <a:latin typeface="Inter Extra-Light"/>
                <a:ea typeface="Inter Extra-Light"/>
                <a:cs typeface="Inter Extra-Light"/>
                <a:sym typeface="Inter Extra-Light"/>
              </a:rPr>
              <a:t>es una técnica de PLN que identifica y clasifica información clave (o "entidades") en un texto.</a:t>
            </a:r>
          </a:p>
          <a:p>
            <a:pPr marL="608414" lvl="1" indent="-304207" algn="just">
              <a:lnSpc>
                <a:spcPts val="3945"/>
              </a:lnSpc>
              <a:buFont typeface="Arial"/>
              <a:buChar char="•"/>
            </a:pPr>
            <a:r>
              <a:rPr lang="en-US" sz="2818" b="1">
                <a:solidFill>
                  <a:srgbClr val="F4F4F4"/>
                </a:solidFill>
                <a:latin typeface="Inter Bold"/>
                <a:ea typeface="Inter Bold"/>
                <a:cs typeface="Inter Bold"/>
                <a:sym typeface="Inter Bold"/>
              </a:rPr>
              <a:t>Análisis de Sentimiento:</a:t>
            </a:r>
            <a:r>
              <a:rPr lang="en-US" sz="2818">
                <a:solidFill>
                  <a:srgbClr val="F4F4F4"/>
                </a:solidFill>
                <a:latin typeface="Inter Extra-Light"/>
                <a:ea typeface="Inter Extra-Light"/>
                <a:cs typeface="Inter Extra-Light"/>
                <a:sym typeface="Inter Extra-Light"/>
              </a:rPr>
              <a:t> También conocido como minería de opiniones, el análisis de sentimiento es otra técnica de PLN que se enfoca en determinar el tono emocional contenido en un texto.</a:t>
            </a:r>
          </a:p>
          <a:p>
            <a:pPr marL="608414" lvl="1" indent="-304207" algn="just">
              <a:lnSpc>
                <a:spcPts val="3945"/>
              </a:lnSpc>
              <a:buFont typeface="Arial"/>
              <a:buChar char="•"/>
            </a:pPr>
            <a:r>
              <a:rPr lang="en-US" sz="2818" b="1">
                <a:solidFill>
                  <a:srgbClr val="F4F4F4"/>
                </a:solidFill>
                <a:latin typeface="Inter Bold"/>
                <a:ea typeface="Inter Bold"/>
                <a:cs typeface="Inter Bold"/>
                <a:sym typeface="Inter Bold"/>
              </a:rPr>
              <a:t>Modelado de Temas (Topic Modeling):</a:t>
            </a:r>
            <a:r>
              <a:rPr lang="en-US" sz="2818">
                <a:solidFill>
                  <a:srgbClr val="F4F4F4"/>
                </a:solidFill>
                <a:latin typeface="Inter Extra-Light"/>
                <a:ea typeface="Inter Extra-Light"/>
                <a:cs typeface="Inter Extra-Light"/>
                <a:sym typeface="Inter Extra-Light"/>
              </a:rPr>
              <a:t>  es una técnica de ML no supervisada que se utiliza para escanear un conjunto de documentos y descubrir los temas abstractos o asuntos principales que se tratan en ellos.</a:t>
            </a:r>
          </a:p>
          <a:p>
            <a:pPr algn="just">
              <a:lnSpc>
                <a:spcPts val="3945"/>
              </a:lnSpc>
              <a:spcBef>
                <a:spcPct val="0"/>
              </a:spcBef>
            </a:pPr>
            <a:endParaRPr lang="en-US" sz="2818">
              <a:solidFill>
                <a:srgbClr val="F4F4F4"/>
              </a:solidFill>
              <a:latin typeface="Inter Extra-Light"/>
              <a:ea typeface="Inter Extra-Light"/>
              <a:cs typeface="Inter Extra-Light"/>
              <a:sym typeface="Inter Extra-Light"/>
            </a:endParaRPr>
          </a:p>
        </p:txBody>
      </p:sp>
      <p:sp>
        <p:nvSpPr>
          <p:cNvPr id="6" name="AutoShape 6"/>
          <p:cNvSpPr/>
          <p:nvPr/>
        </p:nvSpPr>
        <p:spPr>
          <a:xfrm flipV="1">
            <a:off x="-22150" y="2507402"/>
            <a:ext cx="18288000" cy="0"/>
          </a:xfrm>
          <a:prstGeom prst="line">
            <a:avLst/>
          </a:prstGeom>
          <a:ln w="9525" cap="rnd">
            <a:solidFill>
              <a:srgbClr val="F4F4F4"/>
            </a:solidFill>
            <a:prstDash val="solid"/>
            <a:headEnd type="none" w="sm" len="sm"/>
            <a:tailEnd type="none" w="sm" len="sm"/>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22150" y="1858147"/>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193971" y="524467"/>
            <a:ext cx="16065329" cy="1066318"/>
          </a:xfrm>
          <a:prstGeom prst="rect">
            <a:avLst/>
          </a:prstGeom>
        </p:spPr>
        <p:txBody>
          <a:bodyPr lIns="0" tIns="0" rIns="0" bIns="0" rtlCol="0" anchor="t">
            <a:spAutoFit/>
          </a:bodyPr>
          <a:lstStyle/>
          <a:p>
            <a:pPr algn="ctr">
              <a:lnSpc>
                <a:spcPts val="8122"/>
              </a:lnSpc>
            </a:pPr>
            <a:r>
              <a:rPr lang="en-US" sz="8000" b="1" spc="-359" dirty="0" err="1">
                <a:solidFill>
                  <a:srgbClr val="F4F4F4"/>
                </a:solidFill>
                <a:latin typeface="Poppins Medium"/>
                <a:ea typeface="Poppins Medium"/>
                <a:cs typeface="Poppins Medium"/>
                <a:sym typeface="Poppins Medium"/>
              </a:rPr>
              <a:t>Tipos</a:t>
            </a:r>
            <a:r>
              <a:rPr lang="en-US" sz="8000" b="1" spc="-359" dirty="0">
                <a:solidFill>
                  <a:srgbClr val="F4F4F4"/>
                </a:solidFill>
                <a:latin typeface="Poppins Medium"/>
                <a:ea typeface="Poppins Medium"/>
                <a:cs typeface="Poppins Medium"/>
                <a:sym typeface="Poppins Medium"/>
              </a:rPr>
              <a:t> de Variables (</a:t>
            </a:r>
            <a:r>
              <a:rPr lang="en-US" sz="8000" b="1" spc="-359" dirty="0" err="1">
                <a:solidFill>
                  <a:srgbClr val="F4F4F4"/>
                </a:solidFill>
                <a:latin typeface="Poppins Medium"/>
                <a:ea typeface="Poppins Medium"/>
                <a:cs typeface="Poppins Medium"/>
                <a:sym typeface="Poppins Medium"/>
              </a:rPr>
              <a:t>Atributos</a:t>
            </a:r>
            <a:r>
              <a:rPr lang="en-US" sz="8000" b="1" spc="-359" dirty="0">
                <a:solidFill>
                  <a:srgbClr val="F4F4F4"/>
                </a:solidFill>
                <a:latin typeface="Poppins Medium"/>
                <a:ea typeface="Poppins Medium"/>
                <a:cs typeface="Poppins Medium"/>
                <a:sym typeface="Poppins Medium"/>
              </a:rPr>
              <a:t>)</a:t>
            </a:r>
          </a:p>
        </p:txBody>
      </p:sp>
      <p:sp>
        <p:nvSpPr>
          <p:cNvPr id="4" name="TextBox 4"/>
          <p:cNvSpPr txBox="1"/>
          <p:nvPr/>
        </p:nvSpPr>
        <p:spPr>
          <a:xfrm>
            <a:off x="1028700" y="1853384"/>
            <a:ext cx="16230600" cy="1004660"/>
          </a:xfrm>
          <a:prstGeom prst="rect">
            <a:avLst/>
          </a:prstGeom>
        </p:spPr>
        <p:txBody>
          <a:bodyPr lIns="0" tIns="0" rIns="0" bIns="0" rtlCol="0" anchor="t">
            <a:spAutoFit/>
          </a:bodyPr>
          <a:lstStyle/>
          <a:p>
            <a:pPr algn="ctr">
              <a:lnSpc>
                <a:spcPts val="3950"/>
              </a:lnSpc>
              <a:spcBef>
                <a:spcPct val="0"/>
              </a:spcBef>
            </a:pPr>
            <a:r>
              <a:rPr lang="en-US" sz="2821" spc="-118">
                <a:solidFill>
                  <a:srgbClr val="F4F4F4"/>
                </a:solidFill>
                <a:latin typeface="Poppins"/>
                <a:ea typeface="Poppins"/>
                <a:cs typeface="Poppins"/>
                <a:sym typeface="Poppins"/>
              </a:rPr>
              <a:t>Para realizar el análisis de datos estructurados, es fundamental entender los tipos de variables (columnas/atributos) que contienen.</a:t>
            </a:r>
          </a:p>
        </p:txBody>
      </p:sp>
      <p:sp>
        <p:nvSpPr>
          <p:cNvPr id="5" name="TextBox 5"/>
          <p:cNvSpPr txBox="1"/>
          <p:nvPr/>
        </p:nvSpPr>
        <p:spPr>
          <a:xfrm>
            <a:off x="374079" y="3187065"/>
            <a:ext cx="17513871" cy="6179362"/>
          </a:xfrm>
          <a:prstGeom prst="rect">
            <a:avLst/>
          </a:prstGeom>
        </p:spPr>
        <p:txBody>
          <a:bodyPr lIns="0" tIns="0" rIns="0" bIns="0" rtlCol="0" anchor="t">
            <a:spAutoFit/>
          </a:bodyPr>
          <a:lstStyle/>
          <a:p>
            <a:pPr marL="0" lvl="0" indent="0" algn="just">
              <a:lnSpc>
                <a:spcPts val="3805"/>
              </a:lnSpc>
              <a:spcBef>
                <a:spcPct val="0"/>
              </a:spcBef>
            </a:pPr>
            <a:r>
              <a:rPr lang="en-US" sz="2718" u="none" strike="noStrike">
                <a:solidFill>
                  <a:srgbClr val="F4F4F4"/>
                </a:solidFill>
                <a:latin typeface="Inter Extra-Light"/>
                <a:ea typeface="Inter Extra-Light"/>
                <a:cs typeface="Inter Extra-Light"/>
                <a:sym typeface="Inter Extra-Light"/>
              </a:rPr>
              <a:t>Categóricas (Cualitativas): Describen una cualidad o característica.</a:t>
            </a:r>
          </a:p>
          <a:p>
            <a:pPr marL="586824" lvl="1" indent="-293412" algn="just">
              <a:lnSpc>
                <a:spcPts val="3805"/>
              </a:lnSpc>
              <a:buFont typeface="Arial"/>
              <a:buChar char="•"/>
            </a:pPr>
            <a:r>
              <a:rPr lang="en-US" sz="2718" u="none" strike="noStrike">
                <a:solidFill>
                  <a:srgbClr val="F4F4F4"/>
                </a:solidFill>
                <a:latin typeface="Inter Extra-Light"/>
                <a:ea typeface="Inter Extra-Light"/>
                <a:cs typeface="Inter Extra-Light"/>
                <a:sym typeface="Inter Extra-Light"/>
              </a:rPr>
              <a:t>Nominales: Categorías sin un orden intrínseco. Ejemplo Práctico: En un dataset de ventas, la columna Provincia (“Chaco”,  “Corrientes”, ”Formosa”) es nominal. No hay una provincia que sea “mayor” o “menor” que otra.</a:t>
            </a:r>
          </a:p>
          <a:p>
            <a:pPr marL="586824" lvl="1" indent="-293412" algn="just">
              <a:lnSpc>
                <a:spcPts val="3805"/>
              </a:lnSpc>
              <a:buFont typeface="Arial"/>
              <a:buChar char="•"/>
            </a:pPr>
            <a:r>
              <a:rPr lang="en-US" sz="2718" u="none" strike="noStrike">
                <a:solidFill>
                  <a:srgbClr val="F4F4F4"/>
                </a:solidFill>
                <a:latin typeface="Inter Extra-Light"/>
                <a:ea typeface="Inter Extra-Light"/>
                <a:cs typeface="Inter Extra-Light"/>
                <a:sym typeface="Inter Extra-Light"/>
              </a:rPr>
              <a:t>Ordinales: Categorías que tienen un orden o jerarquía clara. Ejemplo Práctico: Una columna Nivel_Satisfaccion con valores como “Malo”,  “Regular”,  “Bueno”.  En este caso hay un claro orden de jerarquía entre los conceptos.</a:t>
            </a:r>
          </a:p>
          <a:p>
            <a:pPr marL="0" lvl="0" indent="0" algn="just">
              <a:lnSpc>
                <a:spcPts val="3805"/>
              </a:lnSpc>
              <a:spcBef>
                <a:spcPct val="0"/>
              </a:spcBef>
            </a:pPr>
            <a:r>
              <a:rPr lang="en-US" sz="2718" u="none" strike="noStrike">
                <a:solidFill>
                  <a:srgbClr val="F4F4F4"/>
                </a:solidFill>
                <a:latin typeface="Inter Extra-Light"/>
                <a:ea typeface="Inter Extra-Light"/>
                <a:cs typeface="Inter Extra-Light"/>
                <a:sym typeface="Inter Extra-Light"/>
              </a:rPr>
              <a:t>Numéricas (Cuantitativas): Describen una cantidad medible.</a:t>
            </a:r>
          </a:p>
          <a:p>
            <a:pPr marL="586824" lvl="1" indent="-293412" algn="just">
              <a:lnSpc>
                <a:spcPts val="3805"/>
              </a:lnSpc>
              <a:buFont typeface="Arial"/>
              <a:buChar char="•"/>
            </a:pPr>
            <a:r>
              <a:rPr lang="en-US" sz="2718" u="none" strike="noStrike">
                <a:solidFill>
                  <a:srgbClr val="F4F4F4"/>
                </a:solidFill>
                <a:latin typeface="Inter Extra-Light"/>
                <a:ea typeface="Inter Extra-Light"/>
                <a:cs typeface="Inter Extra-Light"/>
                <a:sym typeface="Inter Extra-Light"/>
              </a:rPr>
              <a:t>Discretas: Valores enteros que se pueden contar. Ejemplo Práctico: La columna Cantidad_Productos_Carrito en un sistema de e-commerce. Un cliente puede tener 2, 3 o 5 productos, pero no 2.5.</a:t>
            </a:r>
          </a:p>
          <a:p>
            <a:pPr marL="586824" lvl="1" indent="-293412" algn="just">
              <a:lnSpc>
                <a:spcPts val="3805"/>
              </a:lnSpc>
              <a:buFont typeface="Arial"/>
              <a:buChar char="•"/>
            </a:pPr>
            <a:r>
              <a:rPr lang="en-US" sz="2718" u="none" strike="noStrike">
                <a:solidFill>
                  <a:srgbClr val="F4F4F4"/>
                </a:solidFill>
                <a:latin typeface="Inter Extra-Light"/>
                <a:ea typeface="Inter Extra-Light"/>
                <a:cs typeface="Inter Extra-Light"/>
                <a:sym typeface="Inter Extra-Light"/>
              </a:rPr>
              <a:t>Continuas: Valores que pueden tomar cualquier valor numérico dentro de un rango. Ejemplo Práctico: La columna Precio_Producto puede ser $1500.50, $2310.75, etc.</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143000" y="86049"/>
            <a:ext cx="14859000" cy="1846659"/>
          </a:xfrm>
          <a:prstGeom prst="rect">
            <a:avLst/>
          </a:prstGeom>
        </p:spPr>
        <p:txBody>
          <a:bodyPr wrap="square" lIns="0" tIns="0" rIns="0" bIns="0" rtlCol="0" anchor="t">
            <a:spAutoFit/>
          </a:bodyPr>
          <a:lstStyle/>
          <a:p>
            <a:pPr algn="l">
              <a:lnSpc>
                <a:spcPts val="7172"/>
              </a:lnSpc>
            </a:pPr>
            <a:r>
              <a:rPr lang="en-US" sz="8000" b="1" spc="-317" dirty="0" err="1">
                <a:solidFill>
                  <a:srgbClr val="F4F4F4"/>
                </a:solidFill>
                <a:latin typeface="Poppins Medium"/>
                <a:ea typeface="Poppins Medium"/>
                <a:cs typeface="Poppins Medium"/>
                <a:sym typeface="Poppins Medium"/>
              </a:rPr>
              <a:t>Organización</a:t>
            </a:r>
            <a:r>
              <a:rPr lang="en-US" sz="8000" b="1" spc="-317" dirty="0">
                <a:solidFill>
                  <a:srgbClr val="F4F4F4"/>
                </a:solidFill>
                <a:latin typeface="Poppins Medium"/>
                <a:ea typeface="Poppins Medium"/>
                <a:cs typeface="Poppins Medium"/>
                <a:sym typeface="Poppins Medium"/>
              </a:rPr>
              <a:t> para el </a:t>
            </a:r>
            <a:r>
              <a:rPr lang="en-US" sz="8000" b="1" spc="-317" dirty="0" err="1">
                <a:solidFill>
                  <a:srgbClr val="F4F4F4"/>
                </a:solidFill>
                <a:latin typeface="Poppins Medium"/>
                <a:ea typeface="Poppins Medium"/>
                <a:cs typeface="Poppins Medium"/>
                <a:sym typeface="Poppins Medium"/>
              </a:rPr>
              <a:t>Análisis</a:t>
            </a:r>
            <a:r>
              <a:rPr lang="en-US" sz="8000" b="1" spc="-317" dirty="0">
                <a:solidFill>
                  <a:srgbClr val="F4F4F4"/>
                </a:solidFill>
                <a:latin typeface="Poppins Medium"/>
                <a:ea typeface="Poppins Medium"/>
                <a:cs typeface="Poppins Medium"/>
                <a:sym typeface="Poppins Medium"/>
              </a:rPr>
              <a:t>: El </a:t>
            </a:r>
            <a:r>
              <a:rPr lang="en-US" sz="8000" b="1" spc="-317" dirty="0" err="1">
                <a:solidFill>
                  <a:srgbClr val="F4F4F4"/>
                </a:solidFill>
                <a:latin typeface="Poppins Medium"/>
                <a:ea typeface="Poppins Medium"/>
                <a:cs typeface="Poppins Medium"/>
                <a:sym typeface="Poppins Medium"/>
              </a:rPr>
              <a:t>Modelo</a:t>
            </a:r>
            <a:r>
              <a:rPr lang="en-US" sz="8000" b="1" spc="-317" dirty="0">
                <a:solidFill>
                  <a:srgbClr val="F4F4F4"/>
                </a:solidFill>
                <a:latin typeface="Poppins Medium"/>
                <a:ea typeface="Poppins Medium"/>
                <a:cs typeface="Poppins Medium"/>
                <a:sym typeface="Poppins Medium"/>
              </a:rPr>
              <a:t> Tabular</a:t>
            </a:r>
          </a:p>
        </p:txBody>
      </p:sp>
      <p:sp>
        <p:nvSpPr>
          <p:cNvPr id="3" name="TextBox 3"/>
          <p:cNvSpPr txBox="1"/>
          <p:nvPr/>
        </p:nvSpPr>
        <p:spPr>
          <a:xfrm>
            <a:off x="207632" y="6499428"/>
            <a:ext cx="14240723" cy="2901316"/>
          </a:xfrm>
          <a:prstGeom prst="rect">
            <a:avLst/>
          </a:prstGeom>
        </p:spPr>
        <p:txBody>
          <a:bodyPr lIns="0" tIns="0" rIns="0" bIns="0" rtlCol="0" anchor="t">
            <a:spAutoFit/>
          </a:bodyPr>
          <a:lstStyle/>
          <a:p>
            <a:pPr marL="0" lvl="0" indent="0" algn="just">
              <a:lnSpc>
                <a:spcPts val="3884"/>
              </a:lnSpc>
              <a:spcBef>
                <a:spcPct val="0"/>
              </a:spcBef>
            </a:pPr>
            <a:r>
              <a:rPr lang="en-US" sz="2774" b="1">
                <a:solidFill>
                  <a:srgbClr val="F4F4F4"/>
                </a:solidFill>
                <a:latin typeface="Inter Bold"/>
                <a:ea typeface="Inter Bold"/>
                <a:cs typeface="Inter Bold"/>
                <a:sym typeface="Inter Bold"/>
              </a:rPr>
              <a:t>Dataset o </a:t>
            </a:r>
            <a:r>
              <a:rPr lang="en-US" sz="2774" b="1" u="none" strike="noStrike">
                <a:solidFill>
                  <a:srgbClr val="F4F4F4"/>
                </a:solidFill>
                <a:latin typeface="Inter Bold"/>
                <a:ea typeface="Inter Bold"/>
                <a:cs typeface="Inter Bold"/>
                <a:sym typeface="Inter Bold"/>
              </a:rPr>
              <a:t>DataFrame:</a:t>
            </a:r>
          </a:p>
          <a:p>
            <a:pPr marL="0" lvl="0" indent="0" algn="just">
              <a:lnSpc>
                <a:spcPts val="3884"/>
              </a:lnSpc>
              <a:spcBef>
                <a:spcPct val="0"/>
              </a:spcBef>
            </a:pPr>
            <a:r>
              <a:rPr lang="en-US" sz="2774" u="none" strike="noStrike">
                <a:solidFill>
                  <a:srgbClr val="F4F4F4"/>
                </a:solidFill>
                <a:latin typeface="Inter Extra-Light"/>
                <a:ea typeface="Inter Extra-Light"/>
                <a:cs typeface="Inter Extra-Light"/>
                <a:sym typeface="Inter Extra-Light"/>
              </a:rPr>
              <a:t>Es la estructura que representa la tabla completa. Es un conjunto de Series (arreglo </a:t>
            </a:r>
            <a:r>
              <a:rPr lang="en-US" sz="2774" b="1" u="none" strike="noStrike">
                <a:solidFill>
                  <a:srgbClr val="F4F4F4"/>
                </a:solidFill>
                <a:latin typeface="Inter Bold"/>
                <a:ea typeface="Inter Bold"/>
                <a:cs typeface="Inter Bold"/>
                <a:sym typeface="Inter Bold"/>
              </a:rPr>
              <a:t>multidimensional</a:t>
            </a:r>
            <a:r>
              <a:rPr lang="en-US" sz="2774" u="none" strike="noStrike">
                <a:solidFill>
                  <a:srgbClr val="F4F4F4"/>
                </a:solidFill>
                <a:latin typeface="Inter Extra-Light"/>
                <a:ea typeface="Inter Extra-Light"/>
                <a:cs typeface="Inter Extra-Light"/>
                <a:sym typeface="Inter Extra-Light"/>
              </a:rPr>
              <a:t>) que comparten el mismo índice (las filas). Es la estructura de datos más utilizada en el análisis de datos.</a:t>
            </a:r>
          </a:p>
          <a:p>
            <a:pPr marL="0" lvl="0" indent="0" algn="just">
              <a:lnSpc>
                <a:spcPts val="3884"/>
              </a:lnSpc>
              <a:spcBef>
                <a:spcPct val="0"/>
              </a:spcBef>
            </a:pPr>
            <a:r>
              <a:rPr lang="en-US" sz="2774" u="none" strike="noStrike">
                <a:solidFill>
                  <a:srgbClr val="F4F4F4"/>
                </a:solidFill>
                <a:latin typeface="Inter Extra-Light"/>
                <a:ea typeface="Inter Extra-Light"/>
                <a:cs typeface="Inter Extra-Light"/>
                <a:sym typeface="Inter Extra-Light"/>
              </a:rPr>
              <a:t>Ejemplo Práctico: La tabla entera de Ventas, con sus columnas ID_Venta, Fecha, ID_Cliente, Provincia, Precio_Producto, etc., es un DataFrame.</a:t>
            </a:r>
          </a:p>
        </p:txBody>
      </p:sp>
      <p:grpSp>
        <p:nvGrpSpPr>
          <p:cNvPr id="4" name="Group 4"/>
          <p:cNvGrpSpPr/>
          <p:nvPr/>
        </p:nvGrpSpPr>
        <p:grpSpPr>
          <a:xfrm>
            <a:off x="14716875" y="6832372"/>
            <a:ext cx="4018702" cy="3454628"/>
            <a:chOff x="0" y="0"/>
            <a:chExt cx="1483160" cy="1274980"/>
          </a:xfrm>
        </p:grpSpPr>
        <p:sp>
          <p:nvSpPr>
            <p:cNvPr id="5" name="Freeform 5"/>
            <p:cNvSpPr/>
            <p:nvPr/>
          </p:nvSpPr>
          <p:spPr>
            <a:xfrm>
              <a:off x="0" y="0"/>
              <a:ext cx="1483160" cy="1274980"/>
            </a:xfrm>
            <a:custGeom>
              <a:avLst/>
              <a:gdLst/>
              <a:ahLst/>
              <a:cxnLst/>
              <a:rect l="l" t="t" r="r" b="b"/>
              <a:pathLst>
                <a:path w="1483160" h="1274980">
                  <a:moveTo>
                    <a:pt x="117515" y="0"/>
                  </a:moveTo>
                  <a:lnTo>
                    <a:pt x="1365645" y="0"/>
                  </a:lnTo>
                  <a:cubicBezTo>
                    <a:pt x="1430547" y="0"/>
                    <a:pt x="1483160" y="52613"/>
                    <a:pt x="1483160" y="117515"/>
                  </a:cubicBezTo>
                  <a:lnTo>
                    <a:pt x="1483160" y="1157466"/>
                  </a:lnTo>
                  <a:cubicBezTo>
                    <a:pt x="1483160" y="1188632"/>
                    <a:pt x="1470779" y="1218523"/>
                    <a:pt x="1448741" y="1240561"/>
                  </a:cubicBezTo>
                  <a:cubicBezTo>
                    <a:pt x="1426702" y="1262599"/>
                    <a:pt x="1396812" y="1274980"/>
                    <a:pt x="1365645" y="1274980"/>
                  </a:cubicBezTo>
                  <a:lnTo>
                    <a:pt x="117515" y="1274980"/>
                  </a:lnTo>
                  <a:cubicBezTo>
                    <a:pt x="52613" y="1274980"/>
                    <a:pt x="0" y="1222367"/>
                    <a:pt x="0" y="1157466"/>
                  </a:cubicBezTo>
                  <a:lnTo>
                    <a:pt x="0" y="117515"/>
                  </a:lnTo>
                  <a:cubicBezTo>
                    <a:pt x="0" y="86348"/>
                    <a:pt x="12381" y="56458"/>
                    <a:pt x="34419" y="34419"/>
                  </a:cubicBezTo>
                  <a:cubicBezTo>
                    <a:pt x="56458" y="12381"/>
                    <a:pt x="86348" y="0"/>
                    <a:pt x="117515" y="0"/>
                  </a:cubicBezTo>
                  <a:close/>
                </a:path>
              </a:pathLst>
            </a:custGeom>
            <a:blipFill>
              <a:blip r:embed="rId2"/>
              <a:stretch>
                <a:fillRect l="-30473" t="-71608" b="-56057"/>
              </a:stretch>
            </a:blipFill>
            <a:ln w="9525" cap="rnd">
              <a:solidFill>
                <a:srgbClr val="FFFFFF"/>
              </a:solidFill>
              <a:prstDash val="solid"/>
              <a:round/>
            </a:ln>
          </p:spPr>
        </p:sp>
      </p:grpSp>
      <p:sp>
        <p:nvSpPr>
          <p:cNvPr id="6" name="TextBox 6"/>
          <p:cNvSpPr txBox="1"/>
          <p:nvPr/>
        </p:nvSpPr>
        <p:spPr>
          <a:xfrm>
            <a:off x="207632" y="1997406"/>
            <a:ext cx="17051668" cy="4234816"/>
          </a:xfrm>
          <a:prstGeom prst="rect">
            <a:avLst/>
          </a:prstGeom>
        </p:spPr>
        <p:txBody>
          <a:bodyPr lIns="0" tIns="0" rIns="0" bIns="0" rtlCol="0" anchor="t">
            <a:spAutoFit/>
          </a:bodyPr>
          <a:lstStyle/>
          <a:p>
            <a:pPr marL="0" lvl="0" indent="0" algn="just">
              <a:lnSpc>
                <a:spcPts val="3884"/>
              </a:lnSpc>
              <a:spcBef>
                <a:spcPct val="0"/>
              </a:spcBef>
            </a:pPr>
            <a:r>
              <a:rPr lang="en-US" sz="2774" u="none" strike="noStrike" dirty="0" err="1">
                <a:solidFill>
                  <a:srgbClr val="F4F4F4"/>
                </a:solidFill>
                <a:latin typeface="Inter Extra-Light"/>
                <a:ea typeface="Inter Extra-Light"/>
                <a:cs typeface="Inter Extra-Light"/>
                <a:sym typeface="Inter Extra-Light"/>
              </a:rPr>
              <a:t>Es</a:t>
            </a:r>
            <a:r>
              <a:rPr lang="en-US" sz="2774" u="none" strike="noStrike" dirty="0">
                <a:solidFill>
                  <a:srgbClr val="F4F4F4"/>
                </a:solidFill>
                <a:latin typeface="Inter Extra-Light"/>
                <a:ea typeface="Inter Extra-Light"/>
                <a:cs typeface="Inter Extra-Light"/>
                <a:sym typeface="Inter Extra-Light"/>
              </a:rPr>
              <a:t> la </a:t>
            </a:r>
            <a:r>
              <a:rPr lang="en-US" sz="2774" u="none" strike="noStrike" dirty="0" err="1">
                <a:solidFill>
                  <a:srgbClr val="F4F4F4"/>
                </a:solidFill>
                <a:latin typeface="Inter Extra-Light"/>
                <a:ea typeface="Inter Extra-Light"/>
                <a:cs typeface="Inter Extra-Light"/>
                <a:sym typeface="Inter Extra-Light"/>
              </a:rPr>
              <a:t>estructura</a:t>
            </a:r>
            <a:r>
              <a:rPr lang="en-US" sz="2774" u="none" strike="noStrike" dirty="0">
                <a:solidFill>
                  <a:srgbClr val="F4F4F4"/>
                </a:solidFill>
                <a:latin typeface="Inter Extra-Light"/>
                <a:ea typeface="Inter Extra-Light"/>
                <a:cs typeface="Inter Extra-Light"/>
                <a:sym typeface="Inter Extra-Light"/>
              </a:rPr>
              <a:t> de </a:t>
            </a:r>
            <a:r>
              <a:rPr lang="en-US" sz="2774" u="none" strike="noStrike" dirty="0" err="1">
                <a:solidFill>
                  <a:srgbClr val="F4F4F4"/>
                </a:solidFill>
                <a:latin typeface="Inter Extra-Light"/>
                <a:ea typeface="Inter Extra-Light"/>
                <a:cs typeface="Inter Extra-Light"/>
                <a:sym typeface="Inter Extra-Light"/>
              </a:rPr>
              <a:t>filas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registros</a:t>
            </a:r>
            <a:r>
              <a:rPr lang="en-US" sz="2774" u="none" strike="noStrike" dirty="0">
                <a:solidFill>
                  <a:srgbClr val="F4F4F4"/>
                </a:solidFill>
                <a:latin typeface="Inter Extra-Light"/>
                <a:ea typeface="Inter Extra-Light"/>
                <a:cs typeface="Inter Extra-Light"/>
                <a:sym typeface="Inter Extra-Light"/>
              </a:rPr>
              <a:t> o </a:t>
            </a:r>
            <a:r>
              <a:rPr lang="en-US" sz="2774" u="none" strike="noStrike" dirty="0" err="1">
                <a:solidFill>
                  <a:srgbClr val="F4F4F4"/>
                </a:solidFill>
                <a:latin typeface="Inter Extra-Light"/>
                <a:ea typeface="Inter Extra-Light"/>
                <a:cs typeface="Inter Extra-Light"/>
                <a:sym typeface="Inter Extra-Light"/>
              </a:rPr>
              <a:t>ejemplos</a:t>
            </a:r>
            <a:r>
              <a:rPr lang="en-US" sz="2774" u="none" strike="noStrike" dirty="0">
                <a:solidFill>
                  <a:srgbClr val="F4F4F4"/>
                </a:solidFill>
                <a:latin typeface="Inter Extra-Light"/>
                <a:ea typeface="Inter Extra-Light"/>
                <a:cs typeface="Inter Extra-Light"/>
                <a:sym typeface="Inter Extra-Light"/>
              </a:rPr>
              <a:t>) y </a:t>
            </a:r>
            <a:r>
              <a:rPr lang="en-US" sz="2774" u="none" strike="noStrike" dirty="0" err="1">
                <a:solidFill>
                  <a:srgbClr val="F4F4F4"/>
                </a:solidFill>
                <a:latin typeface="Inter Extra-Light"/>
                <a:ea typeface="Inter Extra-Light"/>
                <a:cs typeface="Inter Extra-Light"/>
                <a:sym typeface="Inter Extra-Light"/>
              </a:rPr>
              <a:t>columnas</a:t>
            </a:r>
            <a:r>
              <a:rPr lang="en-US" sz="2774" u="none" strike="noStrike" dirty="0">
                <a:solidFill>
                  <a:srgbClr val="F4F4F4"/>
                </a:solidFill>
                <a:latin typeface="Inter Extra-Light"/>
                <a:ea typeface="Inter Extra-Light"/>
                <a:cs typeface="Inter Extra-Light"/>
                <a:sym typeface="Inter Extra-Light"/>
              </a:rPr>
              <a:t> (variables) vistas </a:t>
            </a:r>
            <a:r>
              <a:rPr lang="en-US" sz="2774" u="none" strike="noStrike" dirty="0" err="1">
                <a:solidFill>
                  <a:srgbClr val="F4F4F4"/>
                </a:solidFill>
                <a:latin typeface="Inter Extra-Light"/>
                <a:ea typeface="Inter Extra-Light"/>
                <a:cs typeface="Inter Extra-Light"/>
                <a:sym typeface="Inter Extra-Light"/>
              </a:rPr>
              <a:t>en</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los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datos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estructurados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Es</a:t>
            </a:r>
            <a:r>
              <a:rPr lang="en-US" sz="2774" u="none" strike="noStrike" dirty="0">
                <a:solidFill>
                  <a:srgbClr val="F4F4F4"/>
                </a:solidFill>
                <a:latin typeface="Inter Extra-Light"/>
                <a:ea typeface="Inter Extra-Light"/>
                <a:cs typeface="Inter Extra-Light"/>
                <a:sym typeface="Inter Extra-Light"/>
              </a:rPr>
              <a:t> la base para </a:t>
            </a:r>
            <a:r>
              <a:rPr lang="en-US" sz="2774" u="none" strike="noStrike" dirty="0" err="1">
                <a:solidFill>
                  <a:srgbClr val="F4F4F4"/>
                </a:solidFill>
                <a:latin typeface="Inter Extra-Light"/>
                <a:ea typeface="Inter Extra-Light"/>
                <a:cs typeface="Inter Extra-Light"/>
                <a:sym typeface="Inter Extra-Light"/>
              </a:rPr>
              <a:t>trabajar</a:t>
            </a:r>
            <a:r>
              <a:rPr lang="en-US" sz="2774" u="none" strike="noStrike" dirty="0">
                <a:solidFill>
                  <a:srgbClr val="F4F4F4"/>
                </a:solidFill>
                <a:latin typeface="Inter Extra-Light"/>
                <a:ea typeface="Inter Extra-Light"/>
                <a:cs typeface="Inter Extra-Light"/>
                <a:sym typeface="Inter Extra-Light"/>
              </a:rPr>
              <a:t> con </a:t>
            </a:r>
            <a:r>
              <a:rPr lang="en-US" sz="2774" u="none" strike="noStrike" dirty="0" err="1">
                <a:solidFill>
                  <a:srgbClr val="F4F4F4"/>
                </a:solidFill>
                <a:latin typeface="Inter Extra-Light"/>
                <a:ea typeface="Inter Extra-Light"/>
                <a:cs typeface="Inter Extra-Light"/>
                <a:sym typeface="Inter Extra-Light"/>
              </a:rPr>
              <a:t>librerías</a:t>
            </a:r>
            <a:r>
              <a:rPr lang="en-US" sz="2774" u="none" strike="noStrike" dirty="0">
                <a:solidFill>
                  <a:srgbClr val="F4F4F4"/>
                </a:solidFill>
                <a:latin typeface="Inter Extra-Light"/>
                <a:ea typeface="Inter Extra-Light"/>
                <a:cs typeface="Inter Extra-Light"/>
                <a:sym typeface="Inter Extra-Light"/>
              </a:rPr>
              <a:t> de </a:t>
            </a:r>
            <a:r>
              <a:rPr lang="en-US" sz="2774" u="none" strike="noStrike" dirty="0" err="1">
                <a:solidFill>
                  <a:srgbClr val="F4F4F4"/>
                </a:solidFill>
                <a:latin typeface="Inter Extra-Light"/>
                <a:ea typeface="Inter Extra-Light"/>
                <a:cs typeface="Inter Extra-Light"/>
                <a:sym typeface="Inter Extra-Light"/>
              </a:rPr>
              <a:t>tratamiento</a:t>
            </a:r>
            <a:r>
              <a:rPr lang="en-US" sz="2774" u="none" strike="noStrike" dirty="0">
                <a:solidFill>
                  <a:srgbClr val="F4F4F4"/>
                </a:solidFill>
                <a:latin typeface="Inter Extra-Light"/>
                <a:ea typeface="Inter Extra-Light"/>
                <a:cs typeface="Inter Extra-Light"/>
                <a:sym typeface="Inter Extra-Light"/>
              </a:rPr>
              <a:t> de </a:t>
            </a:r>
            <a:r>
              <a:rPr lang="en-US" sz="2774" u="none" strike="noStrike" dirty="0" err="1">
                <a:solidFill>
                  <a:srgbClr val="F4F4F4"/>
                </a:solidFill>
                <a:latin typeface="Inter Extra-Light"/>
                <a:ea typeface="Inter Extra-Light"/>
                <a:cs typeface="Inter Extra-Light"/>
                <a:sym typeface="Inter Extra-Light"/>
              </a:rPr>
              <a:t>datos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como</a:t>
            </a:r>
            <a:r>
              <a:rPr lang="en-US" sz="2774" u="none" strike="noStrike" dirty="0">
                <a:solidFill>
                  <a:srgbClr val="F4F4F4"/>
                </a:solidFill>
                <a:latin typeface="Inter Extra-Light"/>
                <a:ea typeface="Inter Extra-Light"/>
                <a:cs typeface="Inter Extra-Light"/>
                <a:sym typeface="Inter Extra-Light"/>
              </a:rPr>
              <a:t> Pandas</a:t>
            </a:r>
          </a:p>
          <a:p>
            <a:pPr marL="0" lvl="0" indent="0" algn="just">
              <a:lnSpc>
                <a:spcPts val="2904"/>
              </a:lnSpc>
              <a:spcBef>
                <a:spcPct val="0"/>
              </a:spcBef>
            </a:pPr>
            <a:endParaRPr lang="en-US" sz="2774" u="none" strike="noStrike" dirty="0">
              <a:solidFill>
                <a:srgbClr val="F4F4F4"/>
              </a:solidFill>
              <a:latin typeface="Inter Extra-Light"/>
              <a:ea typeface="Inter Extra-Light"/>
              <a:cs typeface="Inter Extra-Light"/>
              <a:sym typeface="Inter Extra-Light"/>
            </a:endParaRPr>
          </a:p>
          <a:p>
            <a:pPr marL="0" lvl="0" indent="0" algn="just">
              <a:lnSpc>
                <a:spcPts val="3884"/>
              </a:lnSpc>
              <a:spcBef>
                <a:spcPct val="0"/>
              </a:spcBef>
            </a:pPr>
            <a:r>
              <a:rPr lang="en-US" sz="2774" b="1" u="none" strike="noStrike" dirty="0">
                <a:solidFill>
                  <a:srgbClr val="F4F4F4"/>
                </a:solidFill>
                <a:latin typeface="Inter Bold"/>
                <a:ea typeface="Inter Bold"/>
                <a:cs typeface="Inter Bold"/>
                <a:sym typeface="Inter Bold"/>
              </a:rPr>
              <a:t>Series:</a:t>
            </a:r>
          </a:p>
          <a:p>
            <a:pPr marL="0" lvl="0" indent="0" algn="just">
              <a:lnSpc>
                <a:spcPts val="3884"/>
              </a:lnSpc>
              <a:spcBef>
                <a:spcPct val="0"/>
              </a:spcBef>
            </a:pPr>
            <a:r>
              <a:rPr lang="en-US" sz="2774" u="none" strike="noStrike" dirty="0" err="1">
                <a:solidFill>
                  <a:srgbClr val="F4F4F4"/>
                </a:solidFill>
                <a:latin typeface="Inter Extra-Light"/>
                <a:ea typeface="Inter Extra-Light"/>
                <a:cs typeface="Inter Extra-Light"/>
                <a:sym typeface="Inter Extra-Light"/>
              </a:rPr>
              <a:t>Conjunto</a:t>
            </a:r>
            <a:r>
              <a:rPr lang="en-US" sz="2774" u="none" strike="noStrike" dirty="0">
                <a:solidFill>
                  <a:srgbClr val="F4F4F4"/>
                </a:solidFill>
                <a:latin typeface="Inter Extra-Light"/>
                <a:ea typeface="Inter Extra-Light"/>
                <a:cs typeface="Inter Extra-Light"/>
                <a:sym typeface="Inter Extra-Light"/>
              </a:rPr>
              <a:t> de </a:t>
            </a:r>
            <a:r>
              <a:rPr lang="en-US" sz="2774" u="none" strike="noStrike" dirty="0" err="1">
                <a:solidFill>
                  <a:srgbClr val="F4F4F4"/>
                </a:solidFill>
                <a:latin typeface="Inter Extra-Light"/>
                <a:ea typeface="Inter Extra-Light"/>
                <a:cs typeface="Inter Extra-Light"/>
                <a:sym typeface="Inter Extra-Light"/>
              </a:rPr>
              <a:t>valores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numéricos</a:t>
            </a:r>
            <a:r>
              <a:rPr lang="en-US" sz="2774" u="none" strike="noStrike" dirty="0">
                <a:solidFill>
                  <a:srgbClr val="F4F4F4"/>
                </a:solidFill>
                <a:latin typeface="Inter Extra-Light"/>
                <a:ea typeface="Inter Extra-Light"/>
                <a:cs typeface="Inter Extra-Light"/>
                <a:sym typeface="Inter Extra-Light"/>
              </a:rPr>
              <a:t> o no </a:t>
            </a:r>
            <a:r>
              <a:rPr lang="en-US" sz="2774" u="none" strike="noStrike" dirty="0" err="1">
                <a:solidFill>
                  <a:srgbClr val="F4F4F4"/>
                </a:solidFill>
                <a:latin typeface="Inter Extra-Light"/>
                <a:ea typeface="Inter Extra-Light"/>
                <a:cs typeface="Inter Extra-Light"/>
                <a:sym typeface="Inter Extra-Light"/>
              </a:rPr>
              <a:t>numéricos</a:t>
            </a:r>
            <a:r>
              <a:rPr lang="en-US" sz="2774" u="none" strike="noStrike" dirty="0">
                <a:solidFill>
                  <a:srgbClr val="F4F4F4"/>
                </a:solidFill>
                <a:latin typeface="Inter Extra-Light"/>
                <a:ea typeface="Inter Extra-Light"/>
                <a:cs typeface="Inter Extra-Light"/>
                <a:sym typeface="Inter Extra-Light"/>
              </a:rPr>
              <a:t> que </a:t>
            </a:r>
            <a:r>
              <a:rPr lang="en-US" sz="2774" u="none" strike="noStrike" dirty="0" err="1">
                <a:solidFill>
                  <a:srgbClr val="F4F4F4"/>
                </a:solidFill>
                <a:latin typeface="Inter Extra-Light"/>
                <a:ea typeface="Inter Extra-Light"/>
                <a:cs typeface="Inter Extra-Light"/>
                <a:sym typeface="Inter Extra-Light"/>
              </a:rPr>
              <a:t>están</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relacionados</a:t>
            </a:r>
            <a:r>
              <a:rPr lang="en-US" sz="2774" u="none" strike="noStrike" dirty="0">
                <a:solidFill>
                  <a:srgbClr val="F4F4F4"/>
                </a:solidFill>
                <a:latin typeface="Inter Extra-Light"/>
                <a:ea typeface="Inter Extra-Light"/>
                <a:cs typeface="Inter Extra-Light"/>
                <a:sym typeface="Inter Extra-Light"/>
              </a:rPr>
              <a:t> entre </a:t>
            </a:r>
            <a:r>
              <a:rPr lang="en-US" sz="2774" u="none" strike="noStrike" dirty="0" err="1">
                <a:solidFill>
                  <a:srgbClr val="F4F4F4"/>
                </a:solidFill>
                <a:latin typeface="Inter Extra-Light"/>
                <a:ea typeface="Inter Extra-Light"/>
                <a:cs typeface="Inter Extra-Light"/>
                <a:sym typeface="Inter Extra-Light"/>
              </a:rPr>
              <a:t>sí</a:t>
            </a:r>
            <a:r>
              <a:rPr lang="en-US" sz="2774" u="none" strike="noStrike" dirty="0">
                <a:solidFill>
                  <a:srgbClr val="F4F4F4"/>
                </a:solidFill>
                <a:latin typeface="Inter Extra-Light"/>
                <a:ea typeface="Inter Extra-Light"/>
                <a:cs typeface="Inter Extra-Light"/>
                <a:sym typeface="Inter Extra-Light"/>
              </a:rPr>
              <a:t> y se </a:t>
            </a:r>
            <a:r>
              <a:rPr lang="en-US" sz="2774" u="none" strike="noStrike" dirty="0" err="1">
                <a:solidFill>
                  <a:srgbClr val="F4F4F4"/>
                </a:solidFill>
                <a:latin typeface="Inter Extra-Light"/>
                <a:ea typeface="Inter Extra-Light"/>
                <a:cs typeface="Inter Extra-Light"/>
                <a:sym typeface="Inter Extra-Light"/>
              </a:rPr>
              <a:t>organizan</a:t>
            </a:r>
            <a:r>
              <a:rPr lang="en-US" sz="2774" u="none" strike="noStrike" dirty="0">
                <a:solidFill>
                  <a:srgbClr val="F4F4F4"/>
                </a:solidFill>
                <a:latin typeface="Inter Extra-Light"/>
                <a:ea typeface="Inter Extra-Light"/>
                <a:cs typeface="Inter Extra-Light"/>
                <a:sym typeface="Inter Extra-Light"/>
              </a:rPr>
              <a:t> de forma </a:t>
            </a:r>
            <a:r>
              <a:rPr lang="en-US" sz="2774" u="none" strike="noStrike" dirty="0" err="1">
                <a:solidFill>
                  <a:srgbClr val="F4F4F4"/>
                </a:solidFill>
                <a:latin typeface="Inter Extra-Light"/>
                <a:ea typeface="Inter Extra-Light"/>
                <a:cs typeface="Inter Extra-Light"/>
                <a:sym typeface="Inter Extra-Light"/>
              </a:rPr>
              <a:t>secuencial</a:t>
            </a:r>
            <a:r>
              <a:rPr lang="en-US" sz="2774" u="none" strike="noStrike" dirty="0">
                <a:solidFill>
                  <a:srgbClr val="F4F4F4"/>
                </a:solidFill>
                <a:latin typeface="Inter Extra-Light"/>
                <a:ea typeface="Inter Extra-Light"/>
                <a:cs typeface="Inter Extra-Light"/>
                <a:sym typeface="Inter Extra-Light"/>
              </a:rPr>
              <a:t> o temporal.</a:t>
            </a:r>
          </a:p>
          <a:p>
            <a:pPr marL="0" lvl="0" indent="0" algn="just">
              <a:lnSpc>
                <a:spcPts val="3884"/>
              </a:lnSpc>
              <a:spcBef>
                <a:spcPct val="0"/>
              </a:spcBef>
            </a:pPr>
            <a:r>
              <a:rPr lang="en-US" sz="2774" u="none" strike="noStrike" dirty="0" err="1">
                <a:solidFill>
                  <a:srgbClr val="F4F4F4"/>
                </a:solidFill>
                <a:latin typeface="Inter Extra-Light"/>
                <a:ea typeface="Inter Extra-Light"/>
                <a:cs typeface="Inter Extra-Light"/>
                <a:sym typeface="Inter Extra-Light"/>
              </a:rPr>
              <a:t>Es</a:t>
            </a:r>
            <a:r>
              <a:rPr lang="en-US" sz="2774" u="none" strike="noStrike" dirty="0">
                <a:solidFill>
                  <a:srgbClr val="F4F4F4"/>
                </a:solidFill>
                <a:latin typeface="Inter Extra-Light"/>
                <a:ea typeface="Inter Extra-Light"/>
                <a:cs typeface="Inter Extra-Light"/>
                <a:sym typeface="Inter Extra-Light"/>
              </a:rPr>
              <a:t> la </a:t>
            </a:r>
            <a:r>
              <a:rPr lang="en-US" sz="2774" u="none" strike="noStrike" dirty="0" err="1">
                <a:solidFill>
                  <a:srgbClr val="F4F4F4"/>
                </a:solidFill>
                <a:latin typeface="Inter Extra-Light"/>
                <a:ea typeface="Inter Extra-Light"/>
                <a:cs typeface="Inter Extra-Light"/>
                <a:sym typeface="Inter Extra-Light"/>
              </a:rPr>
              <a:t>estructura</a:t>
            </a:r>
            <a:r>
              <a:rPr lang="en-US" sz="2774" u="none" strike="noStrike" dirty="0">
                <a:solidFill>
                  <a:srgbClr val="F4F4F4"/>
                </a:solidFill>
                <a:latin typeface="Inter Extra-Light"/>
                <a:ea typeface="Inter Extra-Light"/>
                <a:cs typeface="Inter Extra-Light"/>
                <a:sym typeface="Inter Extra-Light"/>
              </a:rPr>
              <a:t> que </a:t>
            </a:r>
            <a:r>
              <a:rPr lang="en-US" sz="2774" u="none" strike="noStrike" dirty="0" err="1">
                <a:solidFill>
                  <a:srgbClr val="F4F4F4"/>
                </a:solidFill>
                <a:latin typeface="Inter Extra-Light"/>
                <a:ea typeface="Inter Extra-Light"/>
                <a:cs typeface="Inter Extra-Light"/>
                <a:sym typeface="Inter Extra-Light"/>
              </a:rPr>
              <a:t>representa</a:t>
            </a:r>
            <a:r>
              <a:rPr lang="en-US" sz="2774" u="none" strike="noStrike" dirty="0">
                <a:solidFill>
                  <a:srgbClr val="F4F4F4"/>
                </a:solidFill>
                <a:latin typeface="Inter Extra-Light"/>
                <a:ea typeface="Inter Extra-Light"/>
                <a:cs typeface="Inter Extra-Light"/>
                <a:sym typeface="Inter Extra-Light"/>
              </a:rPr>
              <a:t> a </a:t>
            </a:r>
            <a:r>
              <a:rPr lang="en-US" sz="2774" u="none" strike="noStrike" dirty="0" err="1">
                <a:solidFill>
                  <a:srgbClr val="F4F4F4"/>
                </a:solidFill>
                <a:latin typeface="Inter Extra-Light"/>
                <a:ea typeface="Inter Extra-Light"/>
                <a:cs typeface="Inter Extra-Light"/>
                <a:sym typeface="Inter Extra-Light"/>
              </a:rPr>
              <a:t>una</a:t>
            </a:r>
            <a:r>
              <a:rPr lang="en-US" sz="2774" u="none" strike="noStrike" dirty="0">
                <a:solidFill>
                  <a:srgbClr val="F4F4F4"/>
                </a:solidFill>
                <a:latin typeface="Inter Extra-Light"/>
                <a:ea typeface="Inter Extra-Light"/>
                <a:cs typeface="Inter Extra-Light"/>
                <a:sym typeface="Inter Extra-Light"/>
              </a:rPr>
              <a:t> sola </a:t>
            </a:r>
            <a:r>
              <a:rPr lang="en-US" sz="2774" u="none" strike="noStrike" dirty="0" err="1">
                <a:solidFill>
                  <a:srgbClr val="F4F4F4"/>
                </a:solidFill>
                <a:latin typeface="Inter Extra-Light"/>
                <a:ea typeface="Inter Extra-Light"/>
                <a:cs typeface="Inter Extra-Light"/>
                <a:sym typeface="Inter Extra-Light"/>
              </a:rPr>
              <a:t>columna</a:t>
            </a:r>
            <a:r>
              <a:rPr lang="en-US" sz="2774" u="none" strike="noStrike" dirty="0">
                <a:solidFill>
                  <a:srgbClr val="F4F4F4"/>
                </a:solidFill>
                <a:latin typeface="Inter Extra-Light"/>
                <a:ea typeface="Inter Extra-Light"/>
                <a:cs typeface="Inter Extra-Light"/>
                <a:sym typeface="Inter Extra-Light"/>
              </a:rPr>
              <a:t> de </a:t>
            </a:r>
            <a:r>
              <a:rPr lang="en-US" sz="2774" u="none" strike="noStrike" dirty="0" err="1">
                <a:solidFill>
                  <a:srgbClr val="F4F4F4"/>
                </a:solidFill>
                <a:latin typeface="Inter Extra-Light"/>
                <a:ea typeface="Inter Extra-Light"/>
                <a:cs typeface="Inter Extra-Light"/>
                <a:sym typeface="Inter Extra-Light"/>
              </a:rPr>
              <a:t>una</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tabla</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Es</a:t>
            </a:r>
            <a:r>
              <a:rPr lang="en-US" sz="2774" u="none" strike="noStrike" dirty="0">
                <a:solidFill>
                  <a:srgbClr val="F4F4F4"/>
                </a:solidFill>
                <a:latin typeface="Inter Extra-Light"/>
                <a:ea typeface="Inter Extra-Light"/>
                <a:cs typeface="Inter Extra-Light"/>
                <a:sym typeface="Inter Extra-Light"/>
              </a:rPr>
              <a:t> un </a:t>
            </a:r>
            <a:r>
              <a:rPr lang="en-US" sz="2774" u="none" strike="noStrike" dirty="0" err="1">
                <a:solidFill>
                  <a:srgbClr val="F4F4F4"/>
                </a:solidFill>
                <a:latin typeface="Inter Extra-Light"/>
                <a:ea typeface="Inter Extra-Light"/>
                <a:cs typeface="Inter Extra-Light"/>
                <a:sym typeface="Inter Extra-Light"/>
              </a:rPr>
              <a:t>arreglo</a:t>
            </a:r>
            <a:r>
              <a:rPr lang="en-US" sz="2774" u="none" strike="noStrike" dirty="0">
                <a:solidFill>
                  <a:srgbClr val="F4F4F4"/>
                </a:solidFill>
                <a:latin typeface="Inter Extra-Light"/>
                <a:ea typeface="Inter Extra-Light"/>
                <a:cs typeface="Inter Extra-Light"/>
                <a:sym typeface="Inter Extra-Light"/>
              </a:rPr>
              <a:t> </a:t>
            </a:r>
            <a:r>
              <a:rPr lang="en-US" sz="2774" b="1" u="none" strike="noStrike" dirty="0">
                <a:solidFill>
                  <a:srgbClr val="F4F4F4"/>
                </a:solidFill>
                <a:latin typeface="Inter Bold"/>
                <a:ea typeface="Inter Bold"/>
                <a:cs typeface="Inter Bold"/>
                <a:sym typeface="Inter Bold"/>
              </a:rPr>
              <a:t>unidimensional </a:t>
            </a:r>
            <a:r>
              <a:rPr lang="en-US" sz="2774" u="none" strike="noStrike" dirty="0">
                <a:solidFill>
                  <a:srgbClr val="F4F4F4"/>
                </a:solidFill>
                <a:latin typeface="Inter Extra-Light"/>
                <a:ea typeface="Inter Extra-Light"/>
                <a:cs typeface="Inter Extra-Light"/>
                <a:sym typeface="Inter Extra-Light"/>
              </a:rPr>
              <a:t>de </a:t>
            </a:r>
            <a:r>
              <a:rPr lang="en-US" sz="2774" u="none" strike="noStrike" dirty="0" err="1">
                <a:solidFill>
                  <a:srgbClr val="F4F4F4"/>
                </a:solidFill>
                <a:latin typeface="Inter Extra-Light"/>
                <a:ea typeface="Inter Extra-Light"/>
                <a:cs typeface="Inter Extra-Light"/>
                <a:sym typeface="Inter Extra-Light"/>
              </a:rPr>
              <a:t>datos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donde</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todos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los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valores</a:t>
            </a:r>
            <a:r>
              <a:rPr lang="en-US" sz="2774" u="none" strike="noStrike" dirty="0">
                <a:solidFill>
                  <a:srgbClr val="F4F4F4"/>
                </a:solidFill>
                <a:latin typeface="Inter Extra-Light"/>
                <a:ea typeface="Inter Extra-Light"/>
                <a:cs typeface="Inter Extra-Light"/>
                <a:sym typeface="Inter Extra-Light"/>
              </a:rPr>
              <a:t> son del </a:t>
            </a:r>
            <a:r>
              <a:rPr lang="en-US" sz="2774" u="none" strike="noStrike" dirty="0" err="1">
                <a:solidFill>
                  <a:srgbClr val="F4F4F4"/>
                </a:solidFill>
                <a:latin typeface="Inter Extra-Light"/>
                <a:ea typeface="Inter Extra-Light"/>
                <a:cs typeface="Inter Extra-Light"/>
                <a:sym typeface="Inter Extra-Light"/>
              </a:rPr>
              <a:t>mismo</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tipo</a:t>
            </a:r>
            <a:r>
              <a:rPr lang="en-US" sz="2774" u="none" strike="noStrike" dirty="0">
                <a:solidFill>
                  <a:srgbClr val="F4F4F4"/>
                </a:solidFill>
                <a:latin typeface="Inter Extra-Light"/>
                <a:ea typeface="Inter Extra-Light"/>
                <a:cs typeface="Inter Extra-Light"/>
                <a:sym typeface="Inter Extra-Light"/>
              </a:rPr>
              <a:t>.</a:t>
            </a:r>
          </a:p>
          <a:p>
            <a:pPr marL="0" lvl="0" indent="0" algn="just">
              <a:lnSpc>
                <a:spcPts val="3884"/>
              </a:lnSpc>
              <a:spcBef>
                <a:spcPct val="0"/>
              </a:spcBef>
            </a:pPr>
            <a:r>
              <a:rPr lang="en-US" sz="2774" u="none" strike="noStrike" dirty="0" err="1">
                <a:solidFill>
                  <a:srgbClr val="F4F4F4"/>
                </a:solidFill>
                <a:latin typeface="Inter Extra-Light"/>
                <a:ea typeface="Inter Extra-Light"/>
                <a:cs typeface="Inter Extra-Light"/>
                <a:sym typeface="Inter Extra-Light"/>
              </a:rPr>
              <a:t>Ejemplo</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Práctico</a:t>
            </a:r>
            <a:r>
              <a:rPr lang="en-US" sz="2774" u="none" strike="noStrike" dirty="0">
                <a:solidFill>
                  <a:srgbClr val="F4F4F4"/>
                </a:solidFill>
                <a:latin typeface="Inter Extra-Light"/>
                <a:ea typeface="Inter Extra-Light"/>
                <a:cs typeface="Inter Extra-Light"/>
                <a:sym typeface="Inter Extra-Light"/>
              </a:rPr>
              <a:t>: La </a:t>
            </a:r>
            <a:r>
              <a:rPr lang="en-US" sz="2774" u="none" strike="noStrike" dirty="0" err="1">
                <a:solidFill>
                  <a:srgbClr val="F4F4F4"/>
                </a:solidFill>
                <a:latin typeface="Inter Extra-Light"/>
                <a:ea typeface="Inter Extra-Light"/>
                <a:cs typeface="Inter Extra-Light"/>
                <a:sym typeface="Inter Extra-Light"/>
              </a:rPr>
              <a:t>columna</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Precio_Producto</a:t>
            </a:r>
            <a:r>
              <a:rPr lang="en-US" sz="2774" u="none" strike="noStrike" dirty="0">
                <a:solidFill>
                  <a:srgbClr val="F4F4F4"/>
                </a:solidFill>
                <a:latin typeface="Inter Extra-Light"/>
                <a:ea typeface="Inter Extra-Light"/>
                <a:cs typeface="Inter Extra-Light"/>
                <a:sym typeface="Inter Extra-Light"/>
              </a:rPr>
              <a:t> de un dataset de </a:t>
            </a:r>
            <a:r>
              <a:rPr lang="en-US" sz="2774" u="none" strike="noStrike" dirty="0" err="1">
                <a:solidFill>
                  <a:srgbClr val="F4F4F4"/>
                </a:solidFill>
                <a:latin typeface="Inter Extra-Light"/>
                <a:ea typeface="Inter Extra-Light"/>
                <a:cs typeface="Inter Extra-Light"/>
                <a:sym typeface="Inter Extra-Light"/>
              </a:rPr>
              <a:t>ventas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es</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una</a:t>
            </a:r>
            <a:r>
              <a:rPr lang="en-US" sz="2774" u="none" strike="noStrike" dirty="0">
                <a:solidFill>
                  <a:srgbClr val="F4F4F4"/>
                </a:solidFill>
                <a:latin typeface="Inter Extra-Light"/>
                <a:ea typeface="Inter Extra-Light"/>
                <a:cs typeface="Inter Extra-Light"/>
                <a:sym typeface="Inter Extra-Light"/>
              </a:rPr>
              <a:t> </a:t>
            </a:r>
            <a:r>
              <a:rPr lang="en-US" sz="2774" u="none" strike="noStrike" dirty="0" err="1">
                <a:solidFill>
                  <a:srgbClr val="F4F4F4"/>
                </a:solidFill>
                <a:latin typeface="Inter Extra-Light"/>
                <a:ea typeface="Inter Extra-Light"/>
                <a:cs typeface="Inter Extra-Light"/>
                <a:sym typeface="Inter Extra-Light"/>
              </a:rPr>
              <a:t>Serie</a:t>
            </a:r>
            <a:r>
              <a:rPr lang="en-US" sz="2774" u="none" strike="noStrike" dirty="0">
                <a:solidFill>
                  <a:srgbClr val="F4F4F4"/>
                </a:solidFill>
                <a:latin typeface="Inter Extra-Light"/>
                <a:ea typeface="Inter Extra-Light"/>
                <a:cs typeface="Inter Extra-Light"/>
                <a:sym typeface="Inter Extra-Light"/>
              </a:rPr>
              <a:t>.</a:t>
            </a:r>
          </a:p>
        </p:txBody>
      </p:sp>
      <p:sp>
        <p:nvSpPr>
          <p:cNvPr id="7" name="AutoShape 7"/>
          <p:cNvSpPr/>
          <p:nvPr/>
        </p:nvSpPr>
        <p:spPr>
          <a:xfrm flipV="1">
            <a:off x="-22150" y="2021219"/>
            <a:ext cx="18288000" cy="0"/>
          </a:xfrm>
          <a:prstGeom prst="line">
            <a:avLst/>
          </a:prstGeom>
          <a:ln w="9525" cap="rnd">
            <a:solidFill>
              <a:srgbClr val="F4F4F4"/>
            </a:solidFill>
            <a:prstDash val="solid"/>
            <a:headEnd type="none" w="sm" len="sm"/>
            <a:tailEnd type="none" w="sm" len="sm"/>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00075" y="370103"/>
            <a:ext cx="10096678" cy="1066318"/>
          </a:xfrm>
          <a:prstGeom prst="rect">
            <a:avLst/>
          </a:prstGeom>
        </p:spPr>
        <p:txBody>
          <a:bodyPr lIns="0" tIns="0" rIns="0" bIns="0" rtlCol="0" anchor="t">
            <a:spAutoFit/>
          </a:bodyPr>
          <a:lstStyle/>
          <a:p>
            <a:pPr algn="l">
              <a:lnSpc>
                <a:spcPts val="8122"/>
              </a:lnSpc>
            </a:pPr>
            <a:r>
              <a:rPr lang="en-US" sz="8000" b="1" spc="-359" dirty="0" err="1">
                <a:solidFill>
                  <a:srgbClr val="F4F4F4"/>
                </a:solidFill>
                <a:latin typeface="Poppins Medium"/>
                <a:ea typeface="Poppins Medium"/>
                <a:cs typeface="Poppins Medium"/>
                <a:sym typeface="Poppins Medium"/>
              </a:rPr>
              <a:t>Actividad</a:t>
            </a:r>
            <a:r>
              <a:rPr lang="en-US" sz="8000" b="1" spc="-359" dirty="0">
                <a:solidFill>
                  <a:srgbClr val="F4F4F4"/>
                </a:solidFill>
                <a:latin typeface="Poppins Medium"/>
                <a:ea typeface="Poppins Medium"/>
                <a:cs typeface="Poppins Medium"/>
                <a:sym typeface="Poppins Medium"/>
              </a:rPr>
              <a:t> de </a:t>
            </a:r>
            <a:r>
              <a:rPr lang="en-US" sz="8000" b="1" spc="-359" dirty="0" err="1">
                <a:solidFill>
                  <a:srgbClr val="F4F4F4"/>
                </a:solidFill>
                <a:latin typeface="Poppins Medium"/>
                <a:ea typeface="Poppins Medium"/>
                <a:cs typeface="Poppins Medium"/>
                <a:sym typeface="Poppins Medium"/>
              </a:rPr>
              <a:t>Cierre</a:t>
            </a:r>
            <a:endParaRPr lang="en-US" sz="8000" b="1" spc="-359" dirty="0">
              <a:solidFill>
                <a:srgbClr val="F4F4F4"/>
              </a:solidFill>
              <a:latin typeface="Poppins Medium"/>
              <a:ea typeface="Poppins Medium"/>
              <a:cs typeface="Poppins Medium"/>
              <a:sym typeface="Poppins Medium"/>
            </a:endParaRPr>
          </a:p>
        </p:txBody>
      </p:sp>
      <p:sp>
        <p:nvSpPr>
          <p:cNvPr id="3" name="TextBox 3"/>
          <p:cNvSpPr txBox="1"/>
          <p:nvPr/>
        </p:nvSpPr>
        <p:spPr>
          <a:xfrm>
            <a:off x="600075" y="1470240"/>
            <a:ext cx="116533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Caso de Estudio: NEA Suena Bien (Streaming de Música)</a:t>
            </a:r>
          </a:p>
        </p:txBody>
      </p:sp>
      <p:sp>
        <p:nvSpPr>
          <p:cNvPr id="4" name="TextBox 4"/>
          <p:cNvSpPr txBox="1"/>
          <p:nvPr/>
        </p:nvSpPr>
        <p:spPr>
          <a:xfrm>
            <a:off x="609600" y="2349987"/>
            <a:ext cx="16649700" cy="1189654"/>
          </a:xfrm>
          <a:prstGeom prst="rect">
            <a:avLst/>
          </a:prstGeom>
        </p:spPr>
        <p:txBody>
          <a:bodyPr lIns="0" tIns="0" rIns="0" bIns="0" rtlCol="0" anchor="t">
            <a:spAutoFit/>
          </a:bodyPr>
          <a:lstStyle/>
          <a:p>
            <a:pPr algn="just">
              <a:lnSpc>
                <a:spcPts val="3246"/>
              </a:lnSpc>
            </a:pPr>
            <a:r>
              <a:rPr lang="en-US" sz="2318">
                <a:solidFill>
                  <a:srgbClr val="F4F4F4"/>
                </a:solidFill>
                <a:latin typeface="Inter Extra-Light"/>
                <a:ea typeface="Inter Extra-Light"/>
                <a:cs typeface="Inter Extra-Light"/>
                <a:sym typeface="Inter Extra-Light"/>
              </a:rPr>
              <a:t>Somos el equipo fundador de NEA Suena Bien, una nueva app de streaming de música enfocada en artistas del NEA. Para diseñar la App  se debe definir la estrategia de datos. </a:t>
            </a:r>
          </a:p>
          <a:p>
            <a:pPr algn="just">
              <a:lnSpc>
                <a:spcPts val="3246"/>
              </a:lnSpc>
              <a:spcBef>
                <a:spcPct val="0"/>
              </a:spcBef>
            </a:pPr>
            <a:r>
              <a:rPr lang="en-US" sz="2318">
                <a:solidFill>
                  <a:srgbClr val="F4F4F4"/>
                </a:solidFill>
                <a:latin typeface="Inter Extra-Light"/>
                <a:ea typeface="Inter Extra-Light"/>
                <a:cs typeface="Inter Extra-Light"/>
                <a:sym typeface="Inter Extra-Light"/>
              </a:rPr>
              <a:t>Respondan las siguientes preguntas en equipo:</a:t>
            </a:r>
          </a:p>
        </p:txBody>
      </p:sp>
      <p:grpSp>
        <p:nvGrpSpPr>
          <p:cNvPr id="5" name="Group 5"/>
          <p:cNvGrpSpPr/>
          <p:nvPr/>
        </p:nvGrpSpPr>
        <p:grpSpPr>
          <a:xfrm>
            <a:off x="12253391" y="255803"/>
            <a:ext cx="5748859" cy="2008227"/>
            <a:chOff x="0" y="0"/>
            <a:chExt cx="1145094" cy="400011"/>
          </a:xfrm>
        </p:grpSpPr>
        <p:sp>
          <p:nvSpPr>
            <p:cNvPr id="6" name="Freeform 6"/>
            <p:cNvSpPr/>
            <p:nvPr/>
          </p:nvSpPr>
          <p:spPr>
            <a:xfrm>
              <a:off x="0" y="0"/>
              <a:ext cx="1145094" cy="400011"/>
            </a:xfrm>
            <a:custGeom>
              <a:avLst/>
              <a:gdLst/>
              <a:ahLst/>
              <a:cxnLst/>
              <a:rect l="l" t="t" r="r" b="b"/>
              <a:pathLst>
                <a:path w="1145094" h="400011">
                  <a:moveTo>
                    <a:pt x="82148" y="0"/>
                  </a:moveTo>
                  <a:lnTo>
                    <a:pt x="1062946" y="0"/>
                  </a:lnTo>
                  <a:cubicBezTo>
                    <a:pt x="1084733" y="0"/>
                    <a:pt x="1105627" y="8655"/>
                    <a:pt x="1121033" y="24061"/>
                  </a:cubicBezTo>
                  <a:cubicBezTo>
                    <a:pt x="1136439" y="39466"/>
                    <a:pt x="1145094" y="60361"/>
                    <a:pt x="1145094" y="82148"/>
                  </a:cubicBezTo>
                  <a:lnTo>
                    <a:pt x="1145094" y="317863"/>
                  </a:lnTo>
                  <a:cubicBezTo>
                    <a:pt x="1145094" y="363232"/>
                    <a:pt x="1108315" y="400011"/>
                    <a:pt x="1062946" y="400011"/>
                  </a:cubicBezTo>
                  <a:lnTo>
                    <a:pt x="82148" y="400011"/>
                  </a:lnTo>
                  <a:cubicBezTo>
                    <a:pt x="60361" y="400011"/>
                    <a:pt x="39466" y="391356"/>
                    <a:pt x="24061" y="375951"/>
                  </a:cubicBezTo>
                  <a:cubicBezTo>
                    <a:pt x="8655" y="360545"/>
                    <a:pt x="0" y="339650"/>
                    <a:pt x="0" y="317863"/>
                  </a:cubicBezTo>
                  <a:lnTo>
                    <a:pt x="0" y="82148"/>
                  </a:lnTo>
                  <a:cubicBezTo>
                    <a:pt x="0" y="60361"/>
                    <a:pt x="8655" y="39466"/>
                    <a:pt x="24061" y="24061"/>
                  </a:cubicBezTo>
                  <a:cubicBezTo>
                    <a:pt x="39466" y="8655"/>
                    <a:pt x="60361" y="0"/>
                    <a:pt x="82148" y="0"/>
                  </a:cubicBezTo>
                  <a:close/>
                </a:path>
              </a:pathLst>
            </a:custGeom>
            <a:blipFill>
              <a:blip r:embed="rId2"/>
              <a:stretch>
                <a:fillRect l="-12457" t="-47799" r="-4983" b="-76328"/>
              </a:stretch>
            </a:blipFill>
            <a:ln w="9525" cap="rnd">
              <a:solidFill>
                <a:srgbClr val="FFFFFF"/>
              </a:solidFill>
              <a:prstDash val="solid"/>
              <a:round/>
            </a:ln>
          </p:spPr>
        </p:sp>
      </p:grpSp>
      <p:grpSp>
        <p:nvGrpSpPr>
          <p:cNvPr id="7" name="Group 7"/>
          <p:cNvGrpSpPr/>
          <p:nvPr/>
        </p:nvGrpSpPr>
        <p:grpSpPr>
          <a:xfrm>
            <a:off x="12596338" y="8049047"/>
            <a:ext cx="5405912" cy="1888427"/>
            <a:chOff x="0" y="0"/>
            <a:chExt cx="1145094" cy="400011"/>
          </a:xfrm>
        </p:grpSpPr>
        <p:sp>
          <p:nvSpPr>
            <p:cNvPr id="8" name="Freeform 8"/>
            <p:cNvSpPr/>
            <p:nvPr/>
          </p:nvSpPr>
          <p:spPr>
            <a:xfrm>
              <a:off x="0" y="0"/>
              <a:ext cx="1145094" cy="400011"/>
            </a:xfrm>
            <a:custGeom>
              <a:avLst/>
              <a:gdLst/>
              <a:ahLst/>
              <a:cxnLst/>
              <a:rect l="l" t="t" r="r" b="b"/>
              <a:pathLst>
                <a:path w="1145094" h="400011">
                  <a:moveTo>
                    <a:pt x="87359" y="0"/>
                  </a:moveTo>
                  <a:lnTo>
                    <a:pt x="1057734" y="0"/>
                  </a:lnTo>
                  <a:cubicBezTo>
                    <a:pt x="1080903" y="0"/>
                    <a:pt x="1103124" y="9204"/>
                    <a:pt x="1119507" y="25587"/>
                  </a:cubicBezTo>
                  <a:cubicBezTo>
                    <a:pt x="1135890" y="41970"/>
                    <a:pt x="1145094" y="64190"/>
                    <a:pt x="1145094" y="87359"/>
                  </a:cubicBezTo>
                  <a:lnTo>
                    <a:pt x="1145094" y="312652"/>
                  </a:lnTo>
                  <a:cubicBezTo>
                    <a:pt x="1145094" y="360899"/>
                    <a:pt x="1105982" y="400011"/>
                    <a:pt x="1057734" y="400011"/>
                  </a:cubicBezTo>
                  <a:lnTo>
                    <a:pt x="87359" y="400011"/>
                  </a:lnTo>
                  <a:cubicBezTo>
                    <a:pt x="64190" y="400011"/>
                    <a:pt x="41970" y="390807"/>
                    <a:pt x="25587" y="374424"/>
                  </a:cubicBezTo>
                  <a:cubicBezTo>
                    <a:pt x="9204" y="358041"/>
                    <a:pt x="0" y="335821"/>
                    <a:pt x="0" y="312652"/>
                  </a:cubicBezTo>
                  <a:lnTo>
                    <a:pt x="0" y="87359"/>
                  </a:lnTo>
                  <a:cubicBezTo>
                    <a:pt x="0" y="39112"/>
                    <a:pt x="39112" y="0"/>
                    <a:pt x="87359" y="0"/>
                  </a:cubicBezTo>
                  <a:close/>
                </a:path>
              </a:pathLst>
            </a:custGeom>
            <a:blipFill>
              <a:blip r:embed="rId3"/>
              <a:stretch>
                <a:fillRect t="-45421" b="-45421"/>
              </a:stretch>
            </a:blipFill>
            <a:ln w="9525" cap="rnd">
              <a:solidFill>
                <a:srgbClr val="FFFFFF"/>
              </a:solidFill>
              <a:prstDash val="solid"/>
              <a:round/>
            </a:ln>
          </p:spPr>
        </p:sp>
      </p:grpSp>
      <p:sp>
        <p:nvSpPr>
          <p:cNvPr id="9" name="TextBox 9"/>
          <p:cNvSpPr txBox="1"/>
          <p:nvPr/>
        </p:nvSpPr>
        <p:spPr>
          <a:xfrm>
            <a:off x="609600" y="3632212"/>
            <a:ext cx="16649700" cy="1189654"/>
          </a:xfrm>
          <a:prstGeom prst="rect">
            <a:avLst/>
          </a:prstGeom>
        </p:spPr>
        <p:txBody>
          <a:bodyPr lIns="0" tIns="0" rIns="0" bIns="0" rtlCol="0" anchor="t">
            <a:spAutoFit/>
          </a:bodyPr>
          <a:lstStyle/>
          <a:p>
            <a:pPr algn="just">
              <a:lnSpc>
                <a:spcPts val="3246"/>
              </a:lnSpc>
              <a:spcBef>
                <a:spcPct val="0"/>
              </a:spcBef>
            </a:pPr>
            <a:r>
              <a:rPr lang="en-US" sz="2318">
                <a:solidFill>
                  <a:srgbClr val="F4F4F4"/>
                </a:solidFill>
                <a:latin typeface="Inter Extra-Light"/>
                <a:ea typeface="Inter Extra-Light"/>
                <a:cs typeface="Inter Extra-Light"/>
                <a:sym typeface="Inter Extra-Light"/>
              </a:rPr>
              <a:t>Mencione una pregunta de negocio clave que buscaríamos responder con datos (Ej: ¿Qué género musical debemos promocionar más para retener usuarios?</a:t>
            </a:r>
          </a:p>
          <a:p>
            <a:pPr algn="just">
              <a:lnSpc>
                <a:spcPts val="3246"/>
              </a:lnSpc>
              <a:spcBef>
                <a:spcPct val="0"/>
              </a:spcBef>
            </a:pPr>
            <a:endParaRPr lang="en-US" sz="2318">
              <a:solidFill>
                <a:srgbClr val="F4F4F4"/>
              </a:solidFill>
              <a:latin typeface="Inter Extra-Light"/>
              <a:ea typeface="Inter Extra-Light"/>
              <a:cs typeface="Inter Extra-Light"/>
              <a:sym typeface="Inter Extra-Light"/>
            </a:endParaRPr>
          </a:p>
        </p:txBody>
      </p:sp>
      <p:sp>
        <p:nvSpPr>
          <p:cNvPr id="10" name="TextBox 10"/>
          <p:cNvSpPr txBox="1"/>
          <p:nvPr/>
        </p:nvSpPr>
        <p:spPr>
          <a:xfrm>
            <a:off x="600075" y="4545641"/>
            <a:ext cx="16649700" cy="1589963"/>
          </a:xfrm>
          <a:prstGeom prst="rect">
            <a:avLst/>
          </a:prstGeom>
        </p:spPr>
        <p:txBody>
          <a:bodyPr lIns="0" tIns="0" rIns="0" bIns="0" rtlCol="0" anchor="t">
            <a:spAutoFit/>
          </a:bodyPr>
          <a:lstStyle/>
          <a:p>
            <a:pPr algn="just">
              <a:lnSpc>
                <a:spcPts val="3246"/>
              </a:lnSpc>
            </a:pPr>
            <a:r>
              <a:rPr lang="en-US" sz="2318">
                <a:solidFill>
                  <a:srgbClr val="F4F4F4"/>
                </a:solidFill>
                <a:latin typeface="Inter Extra-Light"/>
                <a:ea typeface="Inter Extra-Light"/>
                <a:cs typeface="Inter Extra-Light"/>
                <a:sym typeface="Inter Extra-Light"/>
              </a:rPr>
              <a:t>Fuentes de Datos:</a:t>
            </a:r>
          </a:p>
          <a:p>
            <a:pPr algn="just">
              <a:lnSpc>
                <a:spcPts val="3246"/>
              </a:lnSpc>
            </a:pPr>
            <a:r>
              <a:rPr lang="en-US" sz="2318">
                <a:solidFill>
                  <a:srgbClr val="F4F4F4"/>
                </a:solidFill>
                <a:latin typeface="Inter Extra-Light"/>
                <a:ea typeface="Inter Extra-Light"/>
                <a:cs typeface="Inter Extra-Light"/>
                <a:sym typeface="Inter Extra-Light"/>
              </a:rPr>
              <a:t>¿Cuáles serían 3 ejemplos de datos internos que generaríamos? (Ej: Canciones escuchadas).</a:t>
            </a:r>
          </a:p>
          <a:p>
            <a:pPr algn="just">
              <a:lnSpc>
                <a:spcPts val="3246"/>
              </a:lnSpc>
              <a:spcBef>
                <a:spcPct val="0"/>
              </a:spcBef>
            </a:pPr>
            <a:r>
              <a:rPr lang="en-US" sz="2318">
                <a:solidFill>
                  <a:srgbClr val="F4F4F4"/>
                </a:solidFill>
                <a:latin typeface="Inter Extra-Light"/>
                <a:ea typeface="Inter Extra-Light"/>
                <a:cs typeface="Inter Extra-Light"/>
                <a:sym typeface="Inter Extra-Light"/>
              </a:rPr>
              <a:t>¿Qué dato externo podríamos usar para enriquecer nuestro servicio? (Ej: Usar una API del clima para recomendar música acorde al día).</a:t>
            </a:r>
          </a:p>
        </p:txBody>
      </p:sp>
      <p:sp>
        <p:nvSpPr>
          <p:cNvPr id="11" name="TextBox 11"/>
          <p:cNvSpPr txBox="1"/>
          <p:nvPr/>
        </p:nvSpPr>
        <p:spPr>
          <a:xfrm>
            <a:off x="609600" y="6230854"/>
            <a:ext cx="17021175" cy="2036604"/>
          </a:xfrm>
          <a:prstGeom prst="rect">
            <a:avLst/>
          </a:prstGeom>
        </p:spPr>
        <p:txBody>
          <a:bodyPr lIns="0" tIns="0" rIns="0" bIns="0" rtlCol="0" anchor="t">
            <a:spAutoFit/>
          </a:bodyPr>
          <a:lstStyle/>
          <a:p>
            <a:pPr algn="l">
              <a:lnSpc>
                <a:spcPts val="3246"/>
              </a:lnSpc>
            </a:pPr>
            <a:r>
              <a:rPr lang="en-US" sz="2318">
                <a:solidFill>
                  <a:srgbClr val="F4F4F4"/>
                </a:solidFill>
                <a:latin typeface="Inter Extra-Light"/>
                <a:ea typeface="Inter Extra-Light"/>
                <a:cs typeface="Inter Extra-Light"/>
                <a:sym typeface="Inter Extra-Light"/>
              </a:rPr>
              <a:t>Estructura y Variables:</a:t>
            </a:r>
          </a:p>
          <a:p>
            <a:pPr algn="l">
              <a:lnSpc>
                <a:spcPts val="3246"/>
              </a:lnSpc>
            </a:pPr>
            <a:r>
              <a:rPr lang="en-US" sz="2318">
                <a:solidFill>
                  <a:srgbClr val="F4F4F4"/>
                </a:solidFill>
                <a:latin typeface="Inter Extra-Light"/>
                <a:ea typeface="Inter Extra-Light"/>
                <a:cs typeface="Inter Extra-Light"/>
                <a:sym typeface="Inter Extra-Light"/>
              </a:rPr>
              <a:t>Dado el siguiente ejemplo de JSON de un usuario: { ‘”id_usuario”: 101, “plan”: “Premium”, “edad”: 25, “canciones_escuchadas”: 150, “genero_favorito”: “Folklore” }. ¿Es un dato estructurado o semi-estructurado?.</a:t>
            </a:r>
          </a:p>
          <a:p>
            <a:pPr algn="l">
              <a:lnSpc>
                <a:spcPts val="3246"/>
              </a:lnSpc>
              <a:spcBef>
                <a:spcPct val="0"/>
              </a:spcBef>
            </a:pPr>
            <a:r>
              <a:rPr lang="en-US" sz="2318">
                <a:solidFill>
                  <a:srgbClr val="F4F4F4"/>
                </a:solidFill>
                <a:latin typeface="Inter Extra-Light"/>
                <a:ea typeface="Inter Extra-Light"/>
                <a:cs typeface="Inter Extra-Light"/>
                <a:sym typeface="Inter Extra-Light"/>
              </a:rPr>
              <a:t>Si convertimos esta información en un DataFrame, identifique cada variable y clasifíquenla como categórica nominal/ordinal o numérica discreta/continua.</a:t>
            </a:r>
          </a:p>
        </p:txBody>
      </p:sp>
      <p:sp>
        <p:nvSpPr>
          <p:cNvPr id="12" name="AutoShape 12"/>
          <p:cNvSpPr/>
          <p:nvPr/>
        </p:nvSpPr>
        <p:spPr>
          <a:xfrm flipV="1">
            <a:off x="-22150" y="2364275"/>
            <a:ext cx="18288000" cy="0"/>
          </a:xfrm>
          <a:prstGeom prst="line">
            <a:avLst/>
          </a:prstGeom>
          <a:ln w="9525" cap="rnd">
            <a:solidFill>
              <a:srgbClr val="F4F4F4"/>
            </a:solidFill>
            <a:prstDash val="solid"/>
            <a:headEnd type="none" w="sm" len="sm"/>
            <a:tailEnd type="none" w="sm" len="sm"/>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3624397"/>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028700" y="6913678"/>
            <a:ext cx="8612695" cy="1185862"/>
          </a:xfrm>
          <a:prstGeom prst="rect">
            <a:avLst/>
          </a:prstGeom>
        </p:spPr>
        <p:txBody>
          <a:bodyPr lIns="0" tIns="0" rIns="0" bIns="0" rtlCol="0" anchor="t">
            <a:spAutoFit/>
          </a:bodyPr>
          <a:lstStyle/>
          <a:p>
            <a:pPr algn="l">
              <a:lnSpc>
                <a:spcPts val="8122"/>
              </a:lnSpc>
            </a:pPr>
            <a:r>
              <a:rPr lang="en-US" sz="8550" b="1" spc="-359">
                <a:solidFill>
                  <a:srgbClr val="F4F4F4"/>
                </a:solidFill>
                <a:latin typeface="Poppins Medium"/>
                <a:ea typeface="Poppins Medium"/>
                <a:cs typeface="Poppins Medium"/>
                <a:sym typeface="Poppins Medium"/>
              </a:rPr>
              <a:t>FIN DE LA CLASE</a:t>
            </a:r>
          </a:p>
        </p:txBody>
      </p:sp>
      <p:grpSp>
        <p:nvGrpSpPr>
          <p:cNvPr id="4" name="Group 4"/>
          <p:cNvGrpSpPr/>
          <p:nvPr/>
        </p:nvGrpSpPr>
        <p:grpSpPr>
          <a:xfrm>
            <a:off x="1028700" y="1092278"/>
            <a:ext cx="16230600" cy="5073762"/>
            <a:chOff x="0" y="0"/>
            <a:chExt cx="2514545" cy="786059"/>
          </a:xfrm>
        </p:grpSpPr>
        <p:sp>
          <p:nvSpPr>
            <p:cNvPr id="5" name="Freeform 5"/>
            <p:cNvSpPr/>
            <p:nvPr/>
          </p:nvSpPr>
          <p:spPr>
            <a:xfrm>
              <a:off x="0" y="0"/>
              <a:ext cx="2514545" cy="786059"/>
            </a:xfrm>
            <a:custGeom>
              <a:avLst/>
              <a:gdLst/>
              <a:ahLst/>
              <a:cxnLst/>
              <a:rect l="l" t="t" r="r" b="b"/>
              <a:pathLst>
                <a:path w="2514545" h="786059">
                  <a:moveTo>
                    <a:pt x="29097" y="0"/>
                  </a:moveTo>
                  <a:lnTo>
                    <a:pt x="2485448" y="0"/>
                  </a:lnTo>
                  <a:cubicBezTo>
                    <a:pt x="2493165" y="0"/>
                    <a:pt x="2500566" y="3066"/>
                    <a:pt x="2506022" y="8522"/>
                  </a:cubicBezTo>
                  <a:cubicBezTo>
                    <a:pt x="2511479" y="13979"/>
                    <a:pt x="2514545" y="21380"/>
                    <a:pt x="2514545" y="29097"/>
                  </a:cubicBezTo>
                  <a:lnTo>
                    <a:pt x="2514545" y="756962"/>
                  </a:lnTo>
                  <a:cubicBezTo>
                    <a:pt x="2514545" y="764679"/>
                    <a:pt x="2511479" y="772080"/>
                    <a:pt x="2506022" y="777536"/>
                  </a:cubicBezTo>
                  <a:cubicBezTo>
                    <a:pt x="2500566" y="782993"/>
                    <a:pt x="2493165" y="786059"/>
                    <a:pt x="2485448" y="786059"/>
                  </a:cubicBezTo>
                  <a:lnTo>
                    <a:pt x="29097" y="786059"/>
                  </a:lnTo>
                  <a:cubicBezTo>
                    <a:pt x="21380" y="786059"/>
                    <a:pt x="13979" y="782993"/>
                    <a:pt x="8522" y="777536"/>
                  </a:cubicBezTo>
                  <a:cubicBezTo>
                    <a:pt x="3066" y="772080"/>
                    <a:pt x="0" y="764679"/>
                    <a:pt x="0" y="756962"/>
                  </a:cubicBezTo>
                  <a:lnTo>
                    <a:pt x="0" y="29097"/>
                  </a:lnTo>
                  <a:cubicBezTo>
                    <a:pt x="0" y="21380"/>
                    <a:pt x="3066" y="13979"/>
                    <a:pt x="8522" y="8522"/>
                  </a:cubicBezTo>
                  <a:cubicBezTo>
                    <a:pt x="13979" y="3066"/>
                    <a:pt x="21380" y="0"/>
                    <a:pt x="29097" y="0"/>
                  </a:cubicBezTo>
                  <a:close/>
                </a:path>
              </a:pathLst>
            </a:custGeom>
            <a:blipFill>
              <a:blip r:embed="rId2"/>
              <a:stretch>
                <a:fillRect l="-6797" t="-49383" b="-78374"/>
              </a:stretch>
            </a:blipFill>
            <a:ln w="9525" cap="rnd">
              <a:solidFill>
                <a:srgbClr val="FFFFFF"/>
              </a:solidFill>
              <a:prstDash val="solid"/>
              <a:round/>
            </a:ln>
          </p:spPr>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1000</Words>
  <Application>Microsoft Office PowerPoint</Application>
  <PresentationFormat>Personalizado</PresentationFormat>
  <Paragraphs>59</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Calibri</vt:lpstr>
      <vt:lpstr>Inter Bold</vt:lpstr>
      <vt:lpstr>Poppins Medium</vt:lpstr>
      <vt:lpstr>Poppins</vt:lpstr>
      <vt:lpstr>Arial</vt:lpstr>
      <vt:lpstr>Inter Extra-Light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Red Simple Modern Data Analysis Presentation</dc:title>
  <cp:lastModifiedBy>Usuario de Windows</cp:lastModifiedBy>
  <cp:revision>2</cp:revision>
  <dcterms:created xsi:type="dcterms:W3CDTF">2006-08-16T00:00:00Z</dcterms:created>
  <dcterms:modified xsi:type="dcterms:W3CDTF">2025-08-18T17:57:25Z</dcterms:modified>
  <dc:identifier>DAGwPlvaZRs</dc:identifier>
</cp:coreProperties>
</file>