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 Medium" charset="1" panose="00000600000000000000"/>
      <p:regular r:id="rId17"/>
    </p:embeddedFont>
    <p:embeddedFont>
      <p:font typeface="Inter Extra-Light" charset="1" panose="02000503000000020004"/>
      <p:regular r:id="rId18"/>
    </p:embeddedFont>
    <p:embeddedFont>
      <p:font typeface="Poppins" charset="1" panose="00000500000000000000"/>
      <p:regular r:id="rId19"/>
    </p:embeddedFont>
    <p:embeddedFont>
      <p:font typeface="Inter" charset="1" panose="020B05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827108"/>
            <a:ext cx="18288000" cy="1459892"/>
            <a:chOff x="0" y="0"/>
            <a:chExt cx="4816593" cy="3844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84498"/>
            </a:xfrm>
            <a:custGeom>
              <a:avLst/>
              <a:gdLst/>
              <a:ahLst/>
              <a:cxnLst/>
              <a:rect r="r" b="b" t="t" l="l"/>
              <a:pathLst>
                <a:path h="38449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84498"/>
                  </a:lnTo>
                  <a:lnTo>
                    <a:pt x="0" y="38449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4816593" cy="460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3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0" y="8827108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285750" y="9258300"/>
            <a:ext cx="4334346" cy="828625"/>
          </a:xfrm>
          <a:custGeom>
            <a:avLst/>
            <a:gdLst/>
            <a:ahLst/>
            <a:cxnLst/>
            <a:rect r="r" b="b" t="t" l="l"/>
            <a:pathLst>
              <a:path h="828625" w="4334346">
                <a:moveTo>
                  <a:pt x="0" y="0"/>
                </a:moveTo>
                <a:lnTo>
                  <a:pt x="4334346" y="0"/>
                </a:lnTo>
                <a:lnTo>
                  <a:pt x="4334346" y="828625"/>
                </a:lnTo>
                <a:lnTo>
                  <a:pt x="0" y="8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95165" y="1152525"/>
            <a:ext cx="14497671" cy="218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1"/>
              </a:lnSpc>
            </a:pPr>
            <a:r>
              <a:rPr lang="en-US" b="true" sz="8517" spc="-357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Tratamiento y Preparación de Datos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5143500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1273665"/>
            <a:ext cx="8115300" cy="246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48"/>
              </a:lnSpc>
            </a:pPr>
            <a:r>
              <a:rPr lang="en-US" sz="8346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 de Clase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9833" y="5301401"/>
            <a:ext cx="9110147" cy="17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9634" indent="-264817" lvl="1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El principio "Garbage In, Garbage Out".</a:t>
            </a:r>
          </a:p>
          <a:p>
            <a:pPr algn="just" marL="529634" indent="-264817" lvl="1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Qué son datos imprecisos, incompletos o de mala calidad. Tipos de Anomalías en los datos.</a:t>
            </a:r>
          </a:p>
          <a:p>
            <a:pPr algn="just" marL="529634" indent="-264817" lvl="1">
              <a:lnSpc>
                <a:spcPts val="3434"/>
              </a:lnSpc>
              <a:buFont typeface="Arial"/>
              <a:buChar char="•"/>
            </a:pPr>
            <a:r>
              <a:rPr lang="en-US" sz="2453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Actividad de cierre.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86997" y="1028700"/>
            <a:ext cx="9297103" cy="8229600"/>
            <a:chOff x="0" y="0"/>
            <a:chExt cx="1440365" cy="1274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40365" cy="1274980"/>
            </a:xfrm>
            <a:custGeom>
              <a:avLst/>
              <a:gdLst/>
              <a:ahLst/>
              <a:cxnLst/>
              <a:rect r="r" b="b" t="t" l="l"/>
              <a:pathLst>
                <a:path h="1274980" w="1440365">
                  <a:moveTo>
                    <a:pt x="50796" y="0"/>
                  </a:moveTo>
                  <a:lnTo>
                    <a:pt x="1389568" y="0"/>
                  </a:lnTo>
                  <a:cubicBezTo>
                    <a:pt x="1417622" y="0"/>
                    <a:pt x="1440365" y="22742"/>
                    <a:pt x="1440365" y="50796"/>
                  </a:cubicBezTo>
                  <a:lnTo>
                    <a:pt x="1440365" y="1224184"/>
                  </a:lnTo>
                  <a:cubicBezTo>
                    <a:pt x="1440365" y="1237656"/>
                    <a:pt x="1435013" y="1250576"/>
                    <a:pt x="1425487" y="1260103"/>
                  </a:cubicBezTo>
                  <a:cubicBezTo>
                    <a:pt x="1415961" y="1269629"/>
                    <a:pt x="1403040" y="1274980"/>
                    <a:pt x="1389568" y="1274980"/>
                  </a:cubicBezTo>
                  <a:lnTo>
                    <a:pt x="50796" y="1274980"/>
                  </a:lnTo>
                  <a:cubicBezTo>
                    <a:pt x="22742" y="1274980"/>
                    <a:pt x="0" y="1252238"/>
                    <a:pt x="0" y="1224184"/>
                  </a:cubicBezTo>
                  <a:lnTo>
                    <a:pt x="0" y="50796"/>
                  </a:lnTo>
                  <a:cubicBezTo>
                    <a:pt x="0" y="37324"/>
                    <a:pt x="5352" y="24404"/>
                    <a:pt x="14878" y="14878"/>
                  </a:cubicBezTo>
                  <a:cubicBezTo>
                    <a:pt x="24404" y="5352"/>
                    <a:pt x="37324" y="0"/>
                    <a:pt x="5079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4781" r="0" b="-34781"/>
              </a:stretch>
            </a:blipFill>
            <a:ln w="9525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8509" y="271453"/>
            <a:ext cx="16773525" cy="75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5550" spc="-233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Principio fundamental de la preparación de datos: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8509" y="3695929"/>
            <a:ext cx="15763225" cy="570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3"/>
              </a:lnSpc>
            </a:pPr>
            <a:r>
              <a:rPr lang="en-US" sz="2902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Concepto que afirma que la calidad de los resultados del procesamiento de datos es directamente proporcional a la calidad de los datos de entrada que se le proporcionan. Si los datos que ingresa es defectuosos, inexactos o de baja calidad ("basura"), la salida generada también será de baja calidad o incorrecta.</a:t>
            </a:r>
          </a:p>
          <a:p>
            <a:pPr algn="just">
              <a:lnSpc>
                <a:spcPts val="4063"/>
              </a:lnSpc>
            </a:pPr>
            <a:r>
              <a:rPr lang="en-US" sz="2902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Solución: Preparación de los datos antes de ingresarlos al sistema de procesamiento. Esto insume en general entre el 60 y 70% del tiempo de un proyecto de datos.</a:t>
            </a:r>
          </a:p>
          <a:p>
            <a:pPr algn="just">
              <a:lnSpc>
                <a:spcPts val="4063"/>
              </a:lnSpc>
            </a:pPr>
            <a:r>
              <a:rPr lang="en-US" sz="2902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¿Qué se busca? Que los datos a analizar tengan sentido.</a:t>
            </a:r>
          </a:p>
          <a:p>
            <a:pPr algn="just">
              <a:lnSpc>
                <a:spcPts val="4063"/>
              </a:lnSpc>
            </a:pPr>
          </a:p>
          <a:p>
            <a:pPr algn="just">
              <a:lnSpc>
                <a:spcPts val="4063"/>
              </a:lnSpc>
            </a:pPr>
            <a:r>
              <a:rPr lang="en-US" sz="2902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¿Son coherentes las cifras que tenemos? ¿Están dentro de un rango aceptable?</a:t>
            </a:r>
          </a:p>
          <a:p>
            <a:pPr algn="just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Al analizar las ventas de un comercio argentino ¿es normal que los precios aparezcan en Reales?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22150" y="2507402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3996407" y="885825"/>
            <a:ext cx="10295186" cy="909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70"/>
              </a:lnSpc>
              <a:spcBef>
                <a:spcPct val="0"/>
              </a:spcBef>
            </a:pPr>
            <a:r>
              <a:rPr lang="en-US" b="true" sz="5050" spc="-212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"Garbage In, Garbage Out  (GIGO)"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800" y="2427255"/>
            <a:ext cx="7004000" cy="81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b="true" sz="4550" spc="-191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Basura entra, basura sale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8509" y="271453"/>
            <a:ext cx="16773525" cy="75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5550" spc="-233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Anomalías en los datos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400" y="3952810"/>
            <a:ext cx="16391011" cy="377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593" indent="-325796" lvl="1">
              <a:lnSpc>
                <a:spcPts val="4225"/>
              </a:lnSpc>
              <a:buFont typeface="Arial"/>
              <a:buChar char="•"/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Datos duplicados, ocurren cuando se integran fuentes de datos diferentes o por fallas en el control de ingreso de datos. </a:t>
            </a:r>
          </a:p>
          <a:p>
            <a:pPr algn="just">
              <a:lnSpc>
                <a:spcPts val="4225"/>
              </a:lnSpc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     Ej. El campo No Aplicable puede presentarse como N/A, NA, No Aplica.</a:t>
            </a:r>
          </a:p>
          <a:p>
            <a:pPr algn="just">
              <a:lnSpc>
                <a:spcPts val="4225"/>
              </a:lnSpc>
            </a:pPr>
          </a:p>
          <a:p>
            <a:pPr algn="just" marL="651593" indent="-325796" lvl="1">
              <a:lnSpc>
                <a:spcPts val="4225"/>
              </a:lnSpc>
              <a:buFont typeface="Arial"/>
              <a:buChar char="•"/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Datos irrelevantes: Son aquellos que no influyen o impactan en el problema que se intenta resolver. Ej: Si se está analizando el PBI en países asiáticos ¿tiene sentido incorporar al análisis datos de países europeos o americanos?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22150" y="2507402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889397" y="2374052"/>
            <a:ext cx="8387507" cy="81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Datos duplicados o irrelevantes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8509" y="271453"/>
            <a:ext cx="16773525" cy="75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5550" spc="-233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Anomalías en los datos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3400" y="3952810"/>
            <a:ext cx="16391011" cy="5952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1593" indent="-325796" lvl="1">
              <a:lnSpc>
                <a:spcPts val="4225"/>
              </a:lnSpc>
              <a:buFont typeface="Arial"/>
              <a:buChar char="•"/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Completamente aleatorios (MCAR): La ausencia de datos es completamente al azar. La ausencia del dato es accidental e involuntaria. No depende de la variable misma.</a:t>
            </a:r>
          </a:p>
          <a:p>
            <a:pPr algn="just" marL="651593" indent="-325796" lvl="1">
              <a:lnSpc>
                <a:spcPts val="4225"/>
              </a:lnSpc>
              <a:buFont typeface="Arial"/>
              <a:buChar char="•"/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Aleatorios (MAR): La ausencia está relacionada con la presencia de otros datos observados en el dataset. Ej: El atributo incompleto profesión puede relacionarse con el dato  Edad: &lt; 18 años.</a:t>
            </a:r>
          </a:p>
          <a:p>
            <a:pPr algn="just" marL="651593" indent="-325796" lvl="1">
              <a:lnSpc>
                <a:spcPts val="4225"/>
              </a:lnSpc>
              <a:buFont typeface="Arial"/>
              <a:buChar char="•"/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No aleatorios (MNAR): La ausencia de los datos no es al azar. En este caso el dato faltante es voluntario. Ej: A quien votará en las próximas elecciones, N° de teléfono personal. Monto de una deuda. En general son datos que no se quieren revelar.</a:t>
            </a:r>
          </a:p>
          <a:p>
            <a:pPr algn="just" marL="651593" indent="-325796" lvl="1">
              <a:lnSpc>
                <a:spcPts val="4225"/>
              </a:lnSpc>
              <a:buFont typeface="Arial"/>
              <a:buChar char="•"/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Datos estructuralmente faltantes: La estructura de los datos no representa el negocio. Ej: Calificación del servicio de WiFi en lugares donde no hay WiFi. </a:t>
            </a:r>
          </a:p>
          <a:p>
            <a:pPr algn="just">
              <a:lnSpc>
                <a:spcPts val="4225"/>
              </a:lnSpc>
            </a:pPr>
            <a:r>
              <a:rPr lang="en-US" sz="3018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      Datos de ventas de productos en descuento si no hay productos en descuento.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-22150" y="2507402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79227" y="2427255"/>
            <a:ext cx="4035475" cy="81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Datos faltantes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22150" y="2507402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49340" y="1704566"/>
            <a:ext cx="6610120" cy="8229600"/>
          </a:xfrm>
          <a:custGeom>
            <a:avLst/>
            <a:gdLst/>
            <a:ahLst/>
            <a:cxnLst/>
            <a:rect r="r" b="b" t="t" l="l"/>
            <a:pathLst>
              <a:path h="8229600" w="6610120">
                <a:moveTo>
                  <a:pt x="0" y="0"/>
                </a:moveTo>
                <a:lnTo>
                  <a:pt x="6610120" y="0"/>
                </a:lnTo>
                <a:lnTo>
                  <a:pt x="6610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8509" y="271453"/>
            <a:ext cx="16773525" cy="75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5550" spc="-233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Anomalías en los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3400" y="3296108"/>
            <a:ext cx="10138308" cy="482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6292" indent="-363146" lvl="1">
              <a:lnSpc>
                <a:spcPts val="4709"/>
              </a:lnSpc>
              <a:buFont typeface="Arial"/>
              <a:buChar char="•"/>
            </a:pPr>
            <a:r>
              <a:rPr lang="en-US" sz="3364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Un valor atípico es aquel que «escapa» del rango normal de valores de la variable en estudio. Generalmente se producen por errores en las medidas o describen fenómenos que no representan el funcionamiento común de lo estudiado. Ej: Una persona cuyo valor en la característica altura es de 3 metros, claramente es un valor atípico.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74052"/>
            <a:ext cx="6908304" cy="81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Datos atípicos (Outliers)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22150" y="2507402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49340" y="1704566"/>
            <a:ext cx="6610120" cy="8229600"/>
          </a:xfrm>
          <a:custGeom>
            <a:avLst/>
            <a:gdLst/>
            <a:ahLst/>
            <a:cxnLst/>
            <a:rect r="r" b="b" t="t" l="l"/>
            <a:pathLst>
              <a:path h="8229600" w="6610120">
                <a:moveTo>
                  <a:pt x="0" y="0"/>
                </a:moveTo>
                <a:lnTo>
                  <a:pt x="6610120" y="0"/>
                </a:lnTo>
                <a:lnTo>
                  <a:pt x="6610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8509" y="271453"/>
            <a:ext cx="16773525" cy="75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5550" spc="-233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Anomalías en los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3400" y="3296108"/>
            <a:ext cx="10138308" cy="421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26292" indent="-363146" lvl="1">
              <a:lnSpc>
                <a:spcPts val="4709"/>
              </a:lnSpc>
              <a:buFont typeface="Arial"/>
              <a:buChar char="•"/>
            </a:pPr>
            <a:r>
              <a:rPr lang="en-US" sz="3364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Los valores atípicos deben ser analizados. En el ejemplo de la altura una persona de 18 metros tal vez es el producto de un mal ingreso (1,8 m)</a:t>
            </a:r>
          </a:p>
          <a:p>
            <a:pPr algn="just" marL="726292" indent="-363146" lvl="1">
              <a:lnSpc>
                <a:spcPts val="4709"/>
              </a:lnSpc>
              <a:buFont typeface="Arial"/>
              <a:buChar char="•"/>
            </a:pPr>
            <a:r>
              <a:rPr lang="en-US" sz="3364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Otro caso: un producto que tiene un pregio de $20000 y normalmente cuesta $35000 puede estar en descuento o puede ser un precio especial de mayorista.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74052"/>
            <a:ext cx="6908304" cy="81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Datos atípicos (Outliers)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-22150" y="2507402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49340" y="1704566"/>
            <a:ext cx="6610120" cy="8229600"/>
          </a:xfrm>
          <a:custGeom>
            <a:avLst/>
            <a:gdLst/>
            <a:ahLst/>
            <a:cxnLst/>
            <a:rect r="r" b="b" t="t" l="l"/>
            <a:pathLst>
              <a:path h="8229600" w="6610120">
                <a:moveTo>
                  <a:pt x="0" y="0"/>
                </a:moveTo>
                <a:lnTo>
                  <a:pt x="6610120" y="0"/>
                </a:lnTo>
                <a:lnTo>
                  <a:pt x="6610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8509" y="271453"/>
            <a:ext cx="16773525" cy="75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5550" spc="-233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Anomalías en los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3400" y="3305633"/>
            <a:ext cx="10421700" cy="595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1524" indent="-330762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Errores de medición: Fallos en los equipos o en la toma de datos. </a:t>
            </a:r>
          </a:p>
          <a:p>
            <a:pPr algn="l" marL="661524" indent="-330762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Errores de entrada: Errores humanos al  ingresar la información. </a:t>
            </a:r>
          </a:p>
          <a:p>
            <a:pPr algn="l" marL="661524" indent="-330762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Fenómenos naturales: Desviaciones inherentes a la población o fenómeno en estudio. </a:t>
            </a:r>
          </a:p>
          <a:p>
            <a:pPr algn="l" marL="661524" indent="-330762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Cambios en el comportamiento: Por ejemplo, picos excepcionales de actividad o errores en sistemas. </a:t>
            </a:r>
          </a:p>
          <a:p>
            <a:pPr algn="l" marL="661524" indent="-330762" lvl="1">
              <a:lnSpc>
                <a:spcPts val="4289"/>
              </a:lnSpc>
              <a:buFont typeface="Arial"/>
              <a:buChar char="•"/>
            </a:pPr>
            <a:r>
              <a:rPr lang="en-US" sz="3064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Información valiosa: A veces, un outlier puede ser una observación real que indica algo nuevo o inusual que debe ser investigado.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74052"/>
            <a:ext cx="8348879" cy="81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Causas de los valores atípicos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51271" y="1200991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349340" y="1704566"/>
            <a:ext cx="6610120" cy="8229600"/>
          </a:xfrm>
          <a:custGeom>
            <a:avLst/>
            <a:gdLst/>
            <a:ahLst/>
            <a:cxnLst/>
            <a:rect r="r" b="b" t="t" l="l"/>
            <a:pathLst>
              <a:path h="8229600" w="6610120">
                <a:moveTo>
                  <a:pt x="0" y="0"/>
                </a:moveTo>
                <a:lnTo>
                  <a:pt x="6610120" y="0"/>
                </a:lnTo>
                <a:lnTo>
                  <a:pt x="6610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8509" y="271453"/>
            <a:ext cx="16773525" cy="757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2"/>
              </a:lnSpc>
            </a:pPr>
            <a:r>
              <a:rPr lang="en-US" sz="5550" spc="-233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Anomalías en los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213198"/>
            <a:ext cx="11099332" cy="744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Gráficos: La forma más sencilla es visualizarlos mediante diagramas de dispersión o histogramas, ya que los outliers suelen aparecer aislados.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Ordenando los datos: Ordenar el conjunto de datos permite identificar rápidamente valores inusualmente altos o bajos. 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Métodos estadísticos: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Se pueden usar técnicas como las vallas basadas en el rango intercuartílico o para determinar formalmente qué puntos son atípicos. Los valores fueras de las vallas son valores atípicos.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4F4F4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Puntuación basada en la distribución normal y desvío estándar de los datos. Los valores más alejados de la media, tienen mayor puntaje.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4472" y="1228955"/>
            <a:ext cx="8348879" cy="81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70"/>
              </a:lnSpc>
              <a:spcBef>
                <a:spcPct val="0"/>
              </a:spcBef>
            </a:pPr>
            <a:r>
              <a:rPr lang="en-US" sz="4550" spc="-191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Detección de valores atípicos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0075" y="284378"/>
            <a:ext cx="10096678" cy="357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2550" spc="-107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Actividad de Cierre: Recursos Humanos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-22150" y="2364275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4" id="4"/>
          <p:cNvGraphicFramePr/>
          <p:nvPr/>
        </p:nvGraphicFramePr>
        <p:xfrm>
          <a:off x="344691" y="255803"/>
          <a:ext cx="10058400" cy="6705600"/>
        </p:xfrm>
        <a:graphic>
          <a:graphicData uri="http://schemas.openxmlformats.org/presentationml/2006/ole">
            <p:oleObj imgW="12065000" imgH="8712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3626239" y="189128"/>
            <a:ext cx="4639611" cy="8625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573" indent="-333787" lvl="1">
              <a:lnSpc>
                <a:spcPts val="4328"/>
              </a:lnSpc>
              <a:buFont typeface="Arial"/>
              <a:buChar char="•"/>
            </a:pPr>
            <a:r>
              <a:rPr lang="en-US" sz="309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Identifique los datos con problemas de limpieza que posee la tabla.</a:t>
            </a:r>
          </a:p>
          <a:p>
            <a:pPr algn="l" marL="667573" indent="-333787" lvl="1">
              <a:lnSpc>
                <a:spcPts val="4328"/>
              </a:lnSpc>
              <a:buFont typeface="Arial"/>
              <a:buChar char="•"/>
            </a:pPr>
            <a:r>
              <a:rPr lang="en-US" sz="309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Si los datos se utilizarán en el análisis de distribución de remuneraciones, ¿qué atributos serían irrelevantes?</a:t>
            </a:r>
          </a:p>
          <a:p>
            <a:pPr algn="l" marL="667573" indent="-333787" lvl="1">
              <a:lnSpc>
                <a:spcPts val="4328"/>
              </a:lnSpc>
              <a:buFont typeface="Arial"/>
              <a:buChar char="•"/>
            </a:pPr>
            <a:r>
              <a:rPr lang="en-US" sz="3092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Investigue que diferencia hay entre los valores NULL y NaN. ¿Cómo se originan?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6B1124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6B1124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3624397"/>
            <a:ext cx="18288000" cy="0"/>
          </a:xfrm>
          <a:prstGeom prst="line">
            <a:avLst/>
          </a:prstGeom>
          <a:ln cap="rnd" w="9525">
            <a:solidFill>
              <a:srgbClr val="F4F4F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6913678"/>
            <a:ext cx="8612695" cy="1185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2"/>
              </a:lnSpc>
            </a:pPr>
            <a:r>
              <a:rPr lang="en-US" sz="8550" spc="-359" b="true">
                <a:solidFill>
                  <a:srgbClr val="F4F4F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 DE LA CLASE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092278"/>
            <a:ext cx="16230600" cy="5073762"/>
            <a:chOff x="0" y="0"/>
            <a:chExt cx="2514545" cy="786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14545" cy="786059"/>
            </a:xfrm>
            <a:custGeom>
              <a:avLst/>
              <a:gdLst/>
              <a:ahLst/>
              <a:cxnLst/>
              <a:rect r="r" b="b" t="t" l="l"/>
              <a:pathLst>
                <a:path h="786059" w="2514545">
                  <a:moveTo>
                    <a:pt x="29097" y="0"/>
                  </a:moveTo>
                  <a:lnTo>
                    <a:pt x="2485448" y="0"/>
                  </a:lnTo>
                  <a:cubicBezTo>
                    <a:pt x="2493165" y="0"/>
                    <a:pt x="2500566" y="3066"/>
                    <a:pt x="2506022" y="8522"/>
                  </a:cubicBezTo>
                  <a:cubicBezTo>
                    <a:pt x="2511479" y="13979"/>
                    <a:pt x="2514545" y="21380"/>
                    <a:pt x="2514545" y="29097"/>
                  </a:cubicBezTo>
                  <a:lnTo>
                    <a:pt x="2514545" y="756962"/>
                  </a:lnTo>
                  <a:cubicBezTo>
                    <a:pt x="2514545" y="764679"/>
                    <a:pt x="2511479" y="772080"/>
                    <a:pt x="2506022" y="777536"/>
                  </a:cubicBezTo>
                  <a:cubicBezTo>
                    <a:pt x="2500566" y="782993"/>
                    <a:pt x="2493165" y="786059"/>
                    <a:pt x="2485448" y="786059"/>
                  </a:cubicBezTo>
                  <a:lnTo>
                    <a:pt x="29097" y="786059"/>
                  </a:lnTo>
                  <a:cubicBezTo>
                    <a:pt x="21380" y="786059"/>
                    <a:pt x="13979" y="782993"/>
                    <a:pt x="8522" y="777536"/>
                  </a:cubicBezTo>
                  <a:cubicBezTo>
                    <a:pt x="3066" y="772080"/>
                    <a:pt x="0" y="764679"/>
                    <a:pt x="0" y="756962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blipFill>
              <a:blip r:embed="rId2"/>
              <a:stretch>
                <a:fillRect l="-6797" t="-49383" r="0" b="-78374"/>
              </a:stretch>
            </a:blipFill>
            <a:ln w="9525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DAGxkIjrlpE</dc:identifier>
  <dcterms:modified xsi:type="dcterms:W3CDTF">2011-08-01T06:04:30Z</dcterms:modified>
  <cp:revision>1</cp:revision>
  <dc:title>Tratamiento y Preparación de Datos</dc:title>
</cp:coreProperties>
</file>