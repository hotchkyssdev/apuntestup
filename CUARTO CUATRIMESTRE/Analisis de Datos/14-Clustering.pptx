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_rels/presentation.xml.rels" ContentType="application/vnd.openxmlformats-package.relationships+xml"/>
  <Override PartName="/ppt/media/image1.jpeg" ContentType="image/jpeg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entation.xml" ContentType="application/vnd.openxmlformats-officedocument.presentationml.presentation.main+xml"/>
  <Override PartName="/ppt/theme/theme2.xml" ContentType="application/vnd.openxmlformats-officedocument.theme+xml"/>
  <Override PartName="/ppt/theme/theme1.xml" ContentType="application/vnd.openxmlformats-officedocument.theme+xml"/>
  <Override PartName="/ppt/slideLayouts/_rels/slideLayout2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6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0080625" cy="567055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04000" y="152280"/>
            <a:ext cx="9071280" cy="6253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152280"/>
            <a:ext cx="9071280" cy="6253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152280"/>
            <a:ext cx="9071280" cy="6253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152280"/>
            <a:ext cx="9071280" cy="6253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504000" y="225720"/>
            <a:ext cx="9071280" cy="22172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152280"/>
            <a:ext cx="9071280" cy="6253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152280"/>
            <a:ext cx="9071280" cy="6253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152280"/>
            <a:ext cx="9071280" cy="6253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152280"/>
            <a:ext cx="9071280" cy="6253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152280"/>
            <a:ext cx="9071280" cy="6253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152280"/>
            <a:ext cx="9071280" cy="6253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152280"/>
            <a:ext cx="9071280" cy="6253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152280"/>
            <a:ext cx="9071280" cy="6253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152280"/>
            <a:ext cx="9071280" cy="6253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152280"/>
            <a:ext cx="9071280" cy="6253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504000" y="225720"/>
            <a:ext cx="9071280" cy="22172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4000" y="152280"/>
            <a:ext cx="9071280" cy="6253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152280"/>
            <a:ext cx="9071280" cy="6253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4000" y="152280"/>
            <a:ext cx="9071280" cy="6253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152280"/>
            <a:ext cx="9071280" cy="6253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152280"/>
            <a:ext cx="9071280" cy="6253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152280"/>
            <a:ext cx="9071280" cy="6253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AR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AR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4354560"/>
            <a:ext cx="10079280" cy="1315440"/>
          </a:xfrm>
          <a:prstGeom prst="rect">
            <a:avLst/>
          </a:prstGeom>
          <a:ln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47808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s-AR" sz="1800" spc="-1" strike="noStrike">
                <a:latin typeface="Arial"/>
              </a:rPr>
              <a:t>Pulse </a:t>
            </a:r>
            <a:r>
              <a:rPr b="0" lang="es-AR" sz="1800" spc="-1" strike="noStrike">
                <a:latin typeface="Arial"/>
              </a:rPr>
              <a:t>para </a:t>
            </a:r>
            <a:r>
              <a:rPr b="0" lang="es-AR" sz="1800" spc="-1" strike="noStrike">
                <a:latin typeface="Arial"/>
              </a:rPr>
              <a:t>editar </a:t>
            </a:r>
            <a:r>
              <a:rPr b="0" lang="es-AR" sz="1800" spc="-1" strike="noStrike">
                <a:latin typeface="Arial"/>
              </a:rPr>
              <a:t>el </a:t>
            </a:r>
            <a:r>
              <a:rPr b="0" lang="es-AR" sz="1800" spc="-1" strike="noStrike">
                <a:latin typeface="Arial"/>
              </a:rPr>
              <a:t>forma</a:t>
            </a:r>
            <a:r>
              <a:rPr b="0" lang="es-AR" sz="1800" spc="-1" strike="noStrike">
                <a:latin typeface="Arial"/>
              </a:rPr>
              <a:t>to del </a:t>
            </a:r>
            <a:r>
              <a:rPr b="0" lang="es-AR" sz="1800" spc="-1" strike="noStrike">
                <a:latin typeface="Arial"/>
              </a:rPr>
              <a:t>texto </a:t>
            </a:r>
            <a:r>
              <a:rPr b="0" lang="es-AR" sz="1800" spc="-1" strike="noStrike">
                <a:latin typeface="Arial"/>
              </a:rPr>
              <a:t>de </a:t>
            </a:r>
            <a:r>
              <a:rPr b="0" lang="es-AR" sz="1800" spc="-1" strike="noStrike">
                <a:latin typeface="Arial"/>
              </a:rPr>
              <a:t>título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latin typeface="Arial"/>
              </a:rPr>
              <a:t>Pulse para editar el formato de esquema del texto</a:t>
            </a:r>
            <a:endParaRPr b="0" lang="es-A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latin typeface="Arial"/>
              </a:rPr>
              <a:t>Segundo nivel del esquema</a:t>
            </a:r>
            <a:endParaRPr b="0" lang="es-A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latin typeface="Arial"/>
              </a:rPr>
              <a:t>Tercer nivel del esquema</a:t>
            </a:r>
            <a:endParaRPr b="0" lang="es-A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latin typeface="Arial"/>
              </a:rPr>
              <a:t>Cuarto nivel del esquema</a:t>
            </a:r>
            <a:endParaRPr b="0" lang="es-A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latin typeface="Arial"/>
              </a:rPr>
              <a:t>Quinto nivel del esquema</a:t>
            </a:r>
            <a:endParaRPr b="0" lang="es-A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latin typeface="Arial"/>
              </a:rPr>
              <a:t>Sexto nivel del esquema</a:t>
            </a:r>
            <a:endParaRPr b="0" lang="es-A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latin typeface="Arial"/>
              </a:rPr>
              <a:t>Séptimo nivel del esquema</a:t>
            </a:r>
            <a:endParaRPr b="0" lang="es-A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CustomShape 1"/>
          <p:cNvSpPr/>
          <p:nvPr/>
        </p:nvSpPr>
        <p:spPr>
          <a:xfrm>
            <a:off x="0" y="0"/>
            <a:ext cx="10076400" cy="7059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" name="CustomShape 2"/>
          <p:cNvSpPr/>
          <p:nvPr/>
        </p:nvSpPr>
        <p:spPr>
          <a:xfrm>
            <a:off x="0" y="4965120"/>
            <a:ext cx="10076400" cy="70596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" name="PlaceHolder 3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47808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s-AR" sz="1800" spc="-1" strike="noStrike">
                <a:latin typeface="Arial"/>
              </a:rPr>
              <a:t>Pulse </a:t>
            </a:r>
            <a:r>
              <a:rPr b="0" lang="es-AR" sz="1800" spc="-1" strike="noStrike">
                <a:latin typeface="Arial"/>
              </a:rPr>
              <a:t>para </a:t>
            </a:r>
            <a:r>
              <a:rPr b="0" lang="es-AR" sz="1800" spc="-1" strike="noStrike">
                <a:latin typeface="Arial"/>
              </a:rPr>
              <a:t>editar </a:t>
            </a:r>
            <a:r>
              <a:rPr b="0" lang="es-AR" sz="1800" spc="-1" strike="noStrike">
                <a:latin typeface="Arial"/>
              </a:rPr>
              <a:t>el </a:t>
            </a:r>
            <a:r>
              <a:rPr b="0" lang="es-AR" sz="1800" spc="-1" strike="noStrike">
                <a:latin typeface="Arial"/>
              </a:rPr>
              <a:t>forma</a:t>
            </a:r>
            <a:r>
              <a:rPr b="0" lang="es-AR" sz="1800" spc="-1" strike="noStrike">
                <a:latin typeface="Arial"/>
              </a:rPr>
              <a:t>to del </a:t>
            </a:r>
            <a:r>
              <a:rPr b="0" lang="es-AR" sz="1800" spc="-1" strike="noStrike">
                <a:latin typeface="Arial"/>
              </a:rPr>
              <a:t>texto </a:t>
            </a:r>
            <a:r>
              <a:rPr b="0" lang="es-AR" sz="1800" spc="-1" strike="noStrike">
                <a:latin typeface="Arial"/>
              </a:rPr>
              <a:t>de </a:t>
            </a:r>
            <a:r>
              <a:rPr b="0" lang="es-AR" sz="1800" spc="-1" strike="noStrike">
                <a:latin typeface="Arial"/>
              </a:rPr>
              <a:t>título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</p:spPr>
        <p:txBody>
          <a:bodyPr lIns="0" rIns="0" tIns="0" bIns="0"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latin typeface="Arial"/>
              </a:rPr>
              <a:t>Pulse para editar el formato de esquema del texto</a:t>
            </a:r>
            <a:endParaRPr b="0" lang="es-AR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latin typeface="Arial"/>
              </a:rPr>
              <a:t>Segundo nivel del esquema</a:t>
            </a:r>
            <a:endParaRPr b="0" lang="es-AR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latin typeface="Arial"/>
              </a:rPr>
              <a:t>Tercer nivel del esquema</a:t>
            </a:r>
            <a:endParaRPr b="0" lang="es-AR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1800" spc="-1" strike="noStrike">
                <a:latin typeface="Arial"/>
              </a:rPr>
              <a:t>Cuarto nivel del esquema</a:t>
            </a:r>
            <a:endParaRPr b="0" lang="es-AR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latin typeface="Arial"/>
              </a:rPr>
              <a:t>Quinto nivel del esquema</a:t>
            </a:r>
            <a:endParaRPr b="0" lang="es-AR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latin typeface="Arial"/>
              </a:rPr>
              <a:t>Sexto nivel del esquema</a:t>
            </a:r>
            <a:endParaRPr b="0" lang="es-AR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800" spc="-1" strike="noStrike">
                <a:latin typeface="Arial"/>
              </a:rPr>
              <a:t>Séptimo nivel del esquema</a:t>
            </a:r>
            <a:endParaRPr b="0" lang="es-AR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540000" y="1755720"/>
            <a:ext cx="9071280" cy="946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AR" sz="3300" spc="-1" strike="noStrike">
                <a:solidFill>
                  <a:srgbClr val="006699"/>
                </a:solidFill>
                <a:latin typeface="Arial"/>
              </a:rPr>
              <a:t>CLUSTERING</a:t>
            </a:r>
            <a:br/>
            <a:endParaRPr b="0" lang="es-AR" sz="33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504000" y="225720"/>
            <a:ext cx="9071280" cy="47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AR" sz="3300" spc="-1" strike="noStrike">
                <a:solidFill>
                  <a:srgbClr val="ffffff"/>
                </a:solidFill>
                <a:latin typeface="Arial"/>
              </a:rPr>
              <a:t>K-means</a:t>
            </a:r>
            <a:endParaRPr b="0" lang="es-AR" sz="3300" spc="-1" strike="noStrike">
              <a:latin typeface="Arial"/>
            </a:endParaRPr>
          </a:p>
        </p:txBody>
      </p:sp>
      <p:sp>
        <p:nvSpPr>
          <p:cNvPr id="81" name="CustomShape 2"/>
          <p:cNvSpPr/>
          <p:nvPr/>
        </p:nvSpPr>
        <p:spPr>
          <a:xfrm>
            <a:off x="72000" y="869400"/>
            <a:ext cx="9719640" cy="642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800" spc="-1" strike="noStrike">
                <a:latin typeface="Arial"/>
              </a:rPr>
              <a:t>01.- Dados los siguientes ejemplos en un dominio R3, realice dos iteraciones del algoritmo </a:t>
            </a:r>
            <a:endParaRPr b="0" lang="es-AR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800" spc="-1" strike="noStrike">
                <a:latin typeface="Arial"/>
              </a:rPr>
              <a:t>K-means para las seis instancias. Suponga que hay 2 clases distintas.</a:t>
            </a:r>
            <a:endParaRPr b="0" lang="es-AR" sz="1800" spc="-1" strike="noStrike">
              <a:latin typeface="Arial"/>
            </a:endParaRPr>
          </a:p>
        </p:txBody>
      </p:sp>
      <p:graphicFrame>
        <p:nvGraphicFramePr>
          <p:cNvPr id="82" name="Table 3"/>
          <p:cNvGraphicFramePr/>
          <p:nvPr/>
        </p:nvGraphicFramePr>
        <p:xfrm>
          <a:off x="1681560" y="1546560"/>
          <a:ext cx="2543400" cy="2161080"/>
        </p:xfrm>
        <a:graphic>
          <a:graphicData uri="http://schemas.openxmlformats.org/drawingml/2006/table">
            <a:tbl>
              <a:tblPr/>
              <a:tblGrid>
                <a:gridCol w="636120"/>
                <a:gridCol w="636120"/>
                <a:gridCol w="636120"/>
                <a:gridCol w="635400"/>
              </a:tblGrid>
              <a:tr h="347760"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x1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x2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x3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347760"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I1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2.1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1.4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3.0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47760"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I2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2.5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2.0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4.0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47760"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I3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3.2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0.4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 </a:t>
                      </a:r>
                      <a:r>
                        <a:rPr b="0" lang="es-AR" sz="1800" spc="-1" strike="noStrike">
                          <a:latin typeface="Arial"/>
                        </a:rPr>
                        <a:t>5.0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47760"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I4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-1.5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-2.0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3.0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47760"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I5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-3.2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-0.3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1.2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47760"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I6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1.0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1.0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1.0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sp>
        <p:nvSpPr>
          <p:cNvPr id="83" name="CustomShape 4"/>
          <p:cNvSpPr/>
          <p:nvPr/>
        </p:nvSpPr>
        <p:spPr>
          <a:xfrm>
            <a:off x="4464000" y="1584000"/>
            <a:ext cx="1783440" cy="34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800" spc="-1" strike="noStrike">
                <a:latin typeface="Arial"/>
              </a:rPr>
              <a:t>Seeds: I2 , I3 .</a:t>
            </a:r>
            <a:endParaRPr b="0" lang="es-AR" sz="1800" spc="-1" strike="noStrike">
              <a:latin typeface="Arial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504000" y="225720"/>
            <a:ext cx="9071280" cy="47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AR" sz="3300" spc="-1" strike="noStrike">
                <a:solidFill>
                  <a:srgbClr val="ffffff"/>
                </a:solidFill>
                <a:latin typeface="Arial"/>
              </a:rPr>
              <a:t>K-means</a:t>
            </a:r>
            <a:endParaRPr b="0" lang="es-AR" sz="3300" spc="-1" strike="noStrike">
              <a:latin typeface="Arial"/>
            </a:endParaRPr>
          </a:p>
        </p:txBody>
      </p:sp>
      <p:sp>
        <p:nvSpPr>
          <p:cNvPr id="85" name="CustomShape 2"/>
          <p:cNvSpPr/>
          <p:nvPr/>
        </p:nvSpPr>
        <p:spPr>
          <a:xfrm>
            <a:off x="268920" y="926280"/>
            <a:ext cx="5346720" cy="369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Noto Sans CJK SC Regular"/>
              </a:rPr>
              <a:t>Calculo las distancias de cada punto a las semillas: 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86" name="CustomShape 3"/>
          <p:cNvSpPr/>
          <p:nvPr/>
        </p:nvSpPr>
        <p:spPr>
          <a:xfrm>
            <a:off x="1899000" y="1404720"/>
            <a:ext cx="3644640" cy="45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800" spc="-1" strike="noStrike">
                <a:latin typeface="Arial"/>
                <a:ea typeface="Noto Sans CJK SC Regular"/>
              </a:rPr>
              <a:t> </a:t>
            </a:r>
            <a:r>
              <a:rPr b="0" lang="es-AR" sz="2200" spc="-1" strike="noStrike">
                <a:latin typeface="Arial"/>
                <a:ea typeface="Arial"/>
              </a:rPr>
              <a:t>√</a:t>
            </a:r>
            <a:r>
              <a:rPr b="0" lang="es-AR" sz="1800" spc="-1" strike="noStrike">
                <a:latin typeface="Arial"/>
                <a:ea typeface="Arial"/>
              </a:rPr>
              <a:t>(x</a:t>
            </a:r>
            <a:r>
              <a:rPr b="0" lang="es-AR" sz="1800" spc="-1" strike="noStrike" baseline="-33000">
                <a:latin typeface="Arial"/>
                <a:ea typeface="Arial"/>
              </a:rPr>
              <a:t>11</a:t>
            </a:r>
            <a:r>
              <a:rPr b="0" lang="es-AR" sz="1800" spc="-1" strike="noStrike">
                <a:latin typeface="Arial"/>
                <a:ea typeface="Arial"/>
              </a:rPr>
              <a:t>-x</a:t>
            </a:r>
            <a:r>
              <a:rPr b="0" lang="es-AR" sz="1800" spc="-1" strike="noStrike" baseline="-33000">
                <a:latin typeface="Arial"/>
                <a:ea typeface="Arial"/>
              </a:rPr>
              <a:t>21</a:t>
            </a:r>
            <a:r>
              <a:rPr b="0" lang="es-AR" sz="1800" spc="-1" strike="noStrike">
                <a:latin typeface="Arial"/>
                <a:ea typeface="Arial"/>
              </a:rPr>
              <a:t>)</a:t>
            </a:r>
            <a:r>
              <a:rPr b="0" lang="es-AR" sz="1800" spc="-1" strike="noStrike" baseline="33000">
                <a:latin typeface="Arial"/>
                <a:ea typeface="Arial"/>
              </a:rPr>
              <a:t>2 </a:t>
            </a:r>
            <a:r>
              <a:rPr b="0" lang="es-AR" sz="1800" spc="-1" strike="noStrike">
                <a:latin typeface="Arial"/>
                <a:ea typeface="Arial"/>
              </a:rPr>
              <a:t>+ (x</a:t>
            </a:r>
            <a:r>
              <a:rPr b="0" lang="es-AR" sz="1800" spc="-1" strike="noStrike" baseline="-33000">
                <a:latin typeface="Arial"/>
                <a:ea typeface="Arial"/>
              </a:rPr>
              <a:t>12</a:t>
            </a:r>
            <a:r>
              <a:rPr b="0" lang="es-AR" sz="1800" spc="-1" strike="noStrike">
                <a:latin typeface="Arial"/>
                <a:ea typeface="Arial"/>
              </a:rPr>
              <a:t>-x</a:t>
            </a:r>
            <a:r>
              <a:rPr b="0" lang="es-AR" sz="1800" spc="-1" strike="noStrike" baseline="-33000">
                <a:latin typeface="Arial"/>
                <a:ea typeface="Arial"/>
              </a:rPr>
              <a:t>22</a:t>
            </a:r>
            <a:r>
              <a:rPr b="0" lang="es-AR" sz="1800" spc="-1" strike="noStrike">
                <a:latin typeface="Arial"/>
                <a:ea typeface="Arial"/>
              </a:rPr>
              <a:t>)</a:t>
            </a:r>
            <a:r>
              <a:rPr b="0" lang="es-AR" sz="1800" spc="-1" strike="noStrike" baseline="33000">
                <a:latin typeface="Arial"/>
                <a:ea typeface="Arial"/>
              </a:rPr>
              <a:t>2 +  </a:t>
            </a:r>
            <a:r>
              <a:rPr b="0" lang="es-AR" sz="1800" spc="-1" strike="noStrike">
                <a:latin typeface="Arial"/>
                <a:ea typeface="Arial"/>
              </a:rPr>
              <a:t>(x</a:t>
            </a:r>
            <a:r>
              <a:rPr b="0" lang="es-AR" sz="1800" spc="-1" strike="noStrike" baseline="-33000">
                <a:latin typeface="Arial"/>
                <a:ea typeface="Arial"/>
              </a:rPr>
              <a:t>13</a:t>
            </a:r>
            <a:r>
              <a:rPr b="0" lang="es-AR" sz="1800" spc="-1" strike="noStrike">
                <a:latin typeface="Arial"/>
                <a:ea typeface="Arial"/>
              </a:rPr>
              <a:t>-x</a:t>
            </a:r>
            <a:r>
              <a:rPr b="0" lang="es-AR" sz="1800" spc="-1" strike="noStrike" baseline="-33000">
                <a:latin typeface="Arial"/>
                <a:ea typeface="Arial"/>
              </a:rPr>
              <a:t>23</a:t>
            </a:r>
            <a:r>
              <a:rPr b="0" lang="es-AR" sz="1800" spc="-1" strike="noStrike">
                <a:latin typeface="Arial"/>
                <a:ea typeface="Arial"/>
              </a:rPr>
              <a:t>)</a:t>
            </a:r>
            <a:r>
              <a:rPr b="0" lang="es-AR" sz="1800" spc="-1" strike="noStrike" baseline="33000">
                <a:latin typeface="Arial"/>
                <a:ea typeface="Arial"/>
              </a:rPr>
              <a:t>2</a:t>
            </a:r>
            <a:r>
              <a:rPr b="0" lang="es-AR" sz="1800" spc="-1" strike="noStrike">
                <a:latin typeface="Arial"/>
                <a:ea typeface="Arial"/>
              </a:rPr>
              <a:t> =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87" name="CustomShape 4"/>
          <p:cNvSpPr/>
          <p:nvPr/>
        </p:nvSpPr>
        <p:spPr>
          <a:xfrm>
            <a:off x="144000" y="1440000"/>
            <a:ext cx="210348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Noto Sans CJK SC Regular"/>
              </a:rPr>
              <a:t>Entonces: 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1</a:t>
            </a:r>
            <a:r>
              <a:rPr b="0" lang="es-AR" sz="1600" spc="-1" strike="noStrike">
                <a:latin typeface="Arial"/>
                <a:ea typeface="Noto Sans CJK SC Regular"/>
              </a:rPr>
              <a:t>,I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2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88" name="Line 5"/>
          <p:cNvSpPr/>
          <p:nvPr/>
        </p:nvSpPr>
        <p:spPr>
          <a:xfrm>
            <a:off x="2232000" y="1456560"/>
            <a:ext cx="2736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CustomShape 6"/>
          <p:cNvSpPr/>
          <p:nvPr/>
        </p:nvSpPr>
        <p:spPr>
          <a:xfrm>
            <a:off x="5263920" y="1440000"/>
            <a:ext cx="4599720" cy="402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2200" spc="-1" strike="noStrike">
                <a:latin typeface="Arial"/>
                <a:ea typeface="Arial"/>
              </a:rPr>
              <a:t>√</a:t>
            </a:r>
            <a:r>
              <a:rPr b="0" lang="es-AR" sz="1600" spc="-1" strike="noStrike">
                <a:latin typeface="Arial"/>
                <a:ea typeface="Arial"/>
              </a:rPr>
              <a:t>(2,1– (2,5))</a:t>
            </a:r>
            <a:r>
              <a:rPr b="0" lang="es-AR" sz="1600" spc="-1" strike="noStrike" baseline="33000">
                <a:latin typeface="Arial"/>
                <a:ea typeface="Arial"/>
              </a:rPr>
              <a:t>2 </a:t>
            </a:r>
            <a:r>
              <a:rPr b="0" lang="es-AR" sz="1600" spc="-1" strike="noStrike">
                <a:latin typeface="Arial"/>
                <a:ea typeface="Arial"/>
              </a:rPr>
              <a:t>+ (1,4 – (2))</a:t>
            </a:r>
            <a:r>
              <a:rPr b="0" lang="es-AR" sz="1600" spc="-1" strike="noStrike" baseline="33000">
                <a:latin typeface="Arial"/>
                <a:ea typeface="Arial"/>
              </a:rPr>
              <a:t>2 + </a:t>
            </a:r>
            <a:r>
              <a:rPr b="0" lang="es-AR" sz="1600" spc="-1" strike="noStrike">
                <a:latin typeface="Arial"/>
                <a:ea typeface="Arial"/>
              </a:rPr>
              <a:t>(3 – (4))</a:t>
            </a:r>
            <a:r>
              <a:rPr b="0" lang="es-AR" sz="1600" spc="-1" strike="noStrike" baseline="33000">
                <a:latin typeface="Arial"/>
                <a:ea typeface="Arial"/>
              </a:rPr>
              <a:t>2 </a:t>
            </a:r>
            <a:r>
              <a:rPr b="0" lang="es-AR" sz="1600" spc="-1" strike="noStrike">
                <a:latin typeface="Arial"/>
                <a:ea typeface="Arial"/>
              </a:rPr>
              <a:t>= 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90" name="Line 7"/>
          <p:cNvSpPr/>
          <p:nvPr/>
        </p:nvSpPr>
        <p:spPr>
          <a:xfrm>
            <a:off x="5496480" y="1487160"/>
            <a:ext cx="3143520" cy="25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CustomShape 8"/>
          <p:cNvSpPr/>
          <p:nvPr/>
        </p:nvSpPr>
        <p:spPr>
          <a:xfrm>
            <a:off x="1080000" y="1805040"/>
            <a:ext cx="93564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Noto Sans CJK SC Regular"/>
              </a:rPr>
              <a:t>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1</a:t>
            </a:r>
            <a:r>
              <a:rPr b="0" lang="es-AR" sz="1600" spc="-1" strike="noStrike">
                <a:latin typeface="Arial"/>
                <a:ea typeface="Noto Sans CJK SC Regular"/>
              </a:rPr>
              <a:t>,I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3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92" name="CustomShape 9"/>
          <p:cNvSpPr/>
          <p:nvPr/>
        </p:nvSpPr>
        <p:spPr>
          <a:xfrm>
            <a:off x="1080000" y="2124000"/>
            <a:ext cx="93564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Noto Sans CJK SC Regular"/>
              </a:rPr>
              <a:t>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2</a:t>
            </a:r>
            <a:r>
              <a:rPr b="0" lang="es-AR" sz="1600" spc="-1" strike="noStrike">
                <a:latin typeface="Arial"/>
                <a:ea typeface="Noto Sans CJK SC Regular"/>
              </a:rPr>
              <a:t>,I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2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93" name="CustomShape 10"/>
          <p:cNvSpPr/>
          <p:nvPr/>
        </p:nvSpPr>
        <p:spPr>
          <a:xfrm>
            <a:off x="1080000" y="2406600"/>
            <a:ext cx="93564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Noto Sans CJK SC Regular"/>
              </a:rPr>
              <a:t>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2</a:t>
            </a:r>
            <a:r>
              <a:rPr b="0" lang="es-AR" sz="1600" spc="-1" strike="noStrike">
                <a:latin typeface="Arial"/>
                <a:ea typeface="Noto Sans CJK SC Regular"/>
              </a:rPr>
              <a:t>,I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3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94" name="CustomShape 11"/>
          <p:cNvSpPr/>
          <p:nvPr/>
        </p:nvSpPr>
        <p:spPr>
          <a:xfrm>
            <a:off x="1899360" y="1780560"/>
            <a:ext cx="3644640" cy="45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800" spc="-1" strike="noStrike">
                <a:latin typeface="Arial"/>
                <a:ea typeface="Noto Sans CJK SC Regular"/>
              </a:rPr>
              <a:t> </a:t>
            </a:r>
            <a:r>
              <a:rPr b="0" lang="es-AR" sz="2200" spc="-1" strike="noStrike">
                <a:latin typeface="Arial"/>
                <a:ea typeface="Arial"/>
              </a:rPr>
              <a:t>√</a:t>
            </a:r>
            <a:r>
              <a:rPr b="0" lang="es-AR" sz="1800" spc="-1" strike="noStrike">
                <a:latin typeface="Arial"/>
                <a:ea typeface="Arial"/>
              </a:rPr>
              <a:t>(x</a:t>
            </a:r>
            <a:r>
              <a:rPr b="0" lang="es-AR" sz="1800" spc="-1" strike="noStrike" baseline="-33000">
                <a:latin typeface="Arial"/>
                <a:ea typeface="Arial"/>
              </a:rPr>
              <a:t>11</a:t>
            </a:r>
            <a:r>
              <a:rPr b="0" lang="es-AR" sz="1800" spc="-1" strike="noStrike">
                <a:latin typeface="Arial"/>
                <a:ea typeface="Arial"/>
              </a:rPr>
              <a:t>-x</a:t>
            </a:r>
            <a:r>
              <a:rPr b="0" lang="es-AR" sz="1800" spc="-1" strike="noStrike" baseline="-33000">
                <a:latin typeface="Arial"/>
                <a:ea typeface="Arial"/>
              </a:rPr>
              <a:t>31</a:t>
            </a:r>
            <a:r>
              <a:rPr b="0" lang="es-AR" sz="1800" spc="-1" strike="noStrike">
                <a:latin typeface="Arial"/>
                <a:ea typeface="Arial"/>
              </a:rPr>
              <a:t>)</a:t>
            </a:r>
            <a:r>
              <a:rPr b="0" lang="es-AR" sz="1800" spc="-1" strike="noStrike" baseline="33000">
                <a:latin typeface="Arial"/>
                <a:ea typeface="Arial"/>
              </a:rPr>
              <a:t>2 </a:t>
            </a:r>
            <a:r>
              <a:rPr b="0" lang="es-AR" sz="1800" spc="-1" strike="noStrike">
                <a:latin typeface="Arial"/>
                <a:ea typeface="Arial"/>
              </a:rPr>
              <a:t>+ (x</a:t>
            </a:r>
            <a:r>
              <a:rPr b="0" lang="es-AR" sz="1800" spc="-1" strike="noStrike" baseline="-33000">
                <a:latin typeface="Arial"/>
                <a:ea typeface="Arial"/>
              </a:rPr>
              <a:t>12</a:t>
            </a:r>
            <a:r>
              <a:rPr b="0" lang="es-AR" sz="1800" spc="-1" strike="noStrike">
                <a:latin typeface="Arial"/>
                <a:ea typeface="Arial"/>
              </a:rPr>
              <a:t>-x</a:t>
            </a:r>
            <a:r>
              <a:rPr b="0" lang="es-AR" sz="1800" spc="-1" strike="noStrike" baseline="-33000">
                <a:latin typeface="Arial"/>
                <a:ea typeface="Arial"/>
              </a:rPr>
              <a:t>32</a:t>
            </a:r>
            <a:r>
              <a:rPr b="0" lang="es-AR" sz="1800" spc="-1" strike="noStrike">
                <a:latin typeface="Arial"/>
                <a:ea typeface="Arial"/>
              </a:rPr>
              <a:t>)</a:t>
            </a:r>
            <a:r>
              <a:rPr b="0" lang="es-AR" sz="1800" spc="-1" strike="noStrike" baseline="33000">
                <a:latin typeface="Arial"/>
                <a:ea typeface="Arial"/>
              </a:rPr>
              <a:t>2 +  </a:t>
            </a:r>
            <a:r>
              <a:rPr b="0" lang="es-AR" sz="1800" spc="-1" strike="noStrike">
                <a:latin typeface="Arial"/>
                <a:ea typeface="Arial"/>
              </a:rPr>
              <a:t>(x</a:t>
            </a:r>
            <a:r>
              <a:rPr b="0" lang="es-AR" sz="1800" spc="-1" strike="noStrike" baseline="-33000">
                <a:latin typeface="Arial"/>
                <a:ea typeface="Arial"/>
              </a:rPr>
              <a:t>13</a:t>
            </a:r>
            <a:r>
              <a:rPr b="0" lang="es-AR" sz="1800" spc="-1" strike="noStrike">
                <a:latin typeface="Arial"/>
                <a:ea typeface="Arial"/>
              </a:rPr>
              <a:t>-x</a:t>
            </a:r>
            <a:r>
              <a:rPr b="0" lang="es-AR" sz="1800" spc="-1" strike="noStrike" baseline="-33000">
                <a:latin typeface="Arial"/>
                <a:ea typeface="Arial"/>
              </a:rPr>
              <a:t>33</a:t>
            </a:r>
            <a:r>
              <a:rPr b="0" lang="es-AR" sz="1800" spc="-1" strike="noStrike">
                <a:latin typeface="Arial"/>
                <a:ea typeface="Arial"/>
              </a:rPr>
              <a:t>)</a:t>
            </a:r>
            <a:r>
              <a:rPr b="0" lang="es-AR" sz="1800" spc="-1" strike="noStrike" baseline="33000">
                <a:latin typeface="Arial"/>
                <a:ea typeface="Arial"/>
              </a:rPr>
              <a:t>2</a:t>
            </a:r>
            <a:r>
              <a:rPr b="0" lang="es-AR" sz="1800" spc="-1" strike="noStrike">
                <a:latin typeface="Arial"/>
                <a:ea typeface="Arial"/>
              </a:rPr>
              <a:t> =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95" name="Line 12"/>
          <p:cNvSpPr/>
          <p:nvPr/>
        </p:nvSpPr>
        <p:spPr>
          <a:xfrm>
            <a:off x="2232000" y="1826640"/>
            <a:ext cx="2736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CustomShape 13"/>
          <p:cNvSpPr/>
          <p:nvPr/>
        </p:nvSpPr>
        <p:spPr>
          <a:xfrm>
            <a:off x="5263920" y="1800360"/>
            <a:ext cx="4599720" cy="402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2200" spc="-1" strike="noStrike">
                <a:latin typeface="Arial"/>
                <a:ea typeface="Arial"/>
              </a:rPr>
              <a:t>√</a:t>
            </a:r>
            <a:r>
              <a:rPr b="0" lang="es-AR" sz="1600" spc="-1" strike="noStrike">
                <a:latin typeface="Arial"/>
                <a:ea typeface="Arial"/>
              </a:rPr>
              <a:t>(2,1– (3,2))</a:t>
            </a:r>
            <a:r>
              <a:rPr b="0" lang="es-AR" sz="1600" spc="-1" strike="noStrike" baseline="33000">
                <a:latin typeface="Arial"/>
                <a:ea typeface="Arial"/>
              </a:rPr>
              <a:t>2 </a:t>
            </a:r>
            <a:r>
              <a:rPr b="0" lang="es-AR" sz="1600" spc="-1" strike="noStrike">
                <a:latin typeface="Arial"/>
                <a:ea typeface="Arial"/>
              </a:rPr>
              <a:t>+ (1,4 – (0,4))</a:t>
            </a:r>
            <a:r>
              <a:rPr b="0" lang="es-AR" sz="1600" spc="-1" strike="noStrike" baseline="33000">
                <a:latin typeface="Arial"/>
                <a:ea typeface="Arial"/>
              </a:rPr>
              <a:t>2 + </a:t>
            </a:r>
            <a:r>
              <a:rPr b="0" lang="es-AR" sz="1600" spc="-1" strike="noStrike">
                <a:latin typeface="Arial"/>
                <a:ea typeface="Arial"/>
              </a:rPr>
              <a:t>(3 – (5))</a:t>
            </a:r>
            <a:r>
              <a:rPr b="0" lang="es-AR" sz="1600" spc="-1" strike="noStrike" baseline="33000">
                <a:latin typeface="Arial"/>
                <a:ea typeface="Arial"/>
              </a:rPr>
              <a:t>2 </a:t>
            </a:r>
            <a:r>
              <a:rPr b="0" lang="es-AR" sz="1600" spc="-1" strike="noStrike">
                <a:latin typeface="Arial"/>
                <a:ea typeface="Arial"/>
              </a:rPr>
              <a:t>= 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97" name="Line 14"/>
          <p:cNvSpPr/>
          <p:nvPr/>
        </p:nvSpPr>
        <p:spPr>
          <a:xfrm>
            <a:off x="5506560" y="1856160"/>
            <a:ext cx="3143520" cy="25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CustomShape 15"/>
          <p:cNvSpPr/>
          <p:nvPr/>
        </p:nvSpPr>
        <p:spPr>
          <a:xfrm>
            <a:off x="1080000" y="2730960"/>
            <a:ext cx="93564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Noto Sans CJK SC Regular"/>
              </a:rPr>
              <a:t>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3</a:t>
            </a:r>
            <a:r>
              <a:rPr b="0" lang="es-AR" sz="1600" spc="-1" strike="noStrike">
                <a:latin typeface="Arial"/>
                <a:ea typeface="Noto Sans CJK SC Regular"/>
              </a:rPr>
              <a:t>,I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3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99" name="CustomShape 16"/>
          <p:cNvSpPr/>
          <p:nvPr/>
        </p:nvSpPr>
        <p:spPr>
          <a:xfrm>
            <a:off x="1080000" y="3019320"/>
            <a:ext cx="93564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Noto Sans CJK SC Regular"/>
              </a:rPr>
              <a:t>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4</a:t>
            </a:r>
            <a:r>
              <a:rPr b="0" lang="es-AR" sz="1600" spc="-1" strike="noStrike">
                <a:latin typeface="Arial"/>
                <a:ea typeface="Noto Sans CJK SC Regular"/>
              </a:rPr>
              <a:t>,I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2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00" name="CustomShape 17"/>
          <p:cNvSpPr/>
          <p:nvPr/>
        </p:nvSpPr>
        <p:spPr>
          <a:xfrm>
            <a:off x="1080000" y="3307680"/>
            <a:ext cx="93564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Noto Sans CJK SC Regular"/>
              </a:rPr>
              <a:t>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4</a:t>
            </a:r>
            <a:r>
              <a:rPr b="0" lang="es-AR" sz="1600" spc="-1" strike="noStrike">
                <a:latin typeface="Arial"/>
                <a:ea typeface="Noto Sans CJK SC Regular"/>
              </a:rPr>
              <a:t>,I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3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01" name="CustomShape 18"/>
          <p:cNvSpPr/>
          <p:nvPr/>
        </p:nvSpPr>
        <p:spPr>
          <a:xfrm>
            <a:off x="1080000" y="3632040"/>
            <a:ext cx="93564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Noto Sans CJK SC Regular"/>
              </a:rPr>
              <a:t>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5</a:t>
            </a:r>
            <a:r>
              <a:rPr b="0" lang="es-AR" sz="1600" spc="-1" strike="noStrike">
                <a:latin typeface="Arial"/>
                <a:ea typeface="Noto Sans CJK SC Regular"/>
              </a:rPr>
              <a:t>,I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2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02" name="CustomShape 19"/>
          <p:cNvSpPr/>
          <p:nvPr/>
        </p:nvSpPr>
        <p:spPr>
          <a:xfrm>
            <a:off x="1080000" y="3920400"/>
            <a:ext cx="93564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Noto Sans CJK SC Regular"/>
              </a:rPr>
              <a:t>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5</a:t>
            </a:r>
            <a:r>
              <a:rPr b="0" lang="es-AR" sz="1600" spc="-1" strike="noStrike">
                <a:latin typeface="Arial"/>
                <a:ea typeface="Noto Sans CJK SC Regular"/>
              </a:rPr>
              <a:t>,I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3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03" name="CustomShape 20"/>
          <p:cNvSpPr/>
          <p:nvPr/>
        </p:nvSpPr>
        <p:spPr>
          <a:xfrm>
            <a:off x="1080000" y="4208760"/>
            <a:ext cx="93564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Noto Sans CJK SC Regular"/>
              </a:rPr>
              <a:t>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6</a:t>
            </a:r>
            <a:r>
              <a:rPr b="0" lang="es-AR" sz="1600" spc="-1" strike="noStrike">
                <a:latin typeface="Arial"/>
                <a:ea typeface="Noto Sans CJK SC Regular"/>
              </a:rPr>
              <a:t>,I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2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04" name="CustomShape 21"/>
          <p:cNvSpPr/>
          <p:nvPr/>
        </p:nvSpPr>
        <p:spPr>
          <a:xfrm>
            <a:off x="1080000" y="4461120"/>
            <a:ext cx="93564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Noto Sans CJK SC Regular"/>
              </a:rPr>
              <a:t>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6</a:t>
            </a:r>
            <a:r>
              <a:rPr b="0" lang="es-AR" sz="1600" spc="-1" strike="noStrike">
                <a:latin typeface="Arial"/>
                <a:ea typeface="Noto Sans CJK SC Regular"/>
              </a:rPr>
              <a:t>,I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3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05" name="CustomShape 22"/>
          <p:cNvSpPr/>
          <p:nvPr/>
        </p:nvSpPr>
        <p:spPr>
          <a:xfrm>
            <a:off x="2052000" y="2108160"/>
            <a:ext cx="611640" cy="34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Arial"/>
              </a:rPr>
              <a:t>0</a:t>
            </a:r>
            <a:r>
              <a:rPr b="0" lang="es-AR" sz="1800" spc="-1" strike="noStrike" baseline="33000">
                <a:latin typeface="Arial"/>
                <a:ea typeface="Arial"/>
              </a:rPr>
              <a:t> 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06" name="CustomShape 23"/>
          <p:cNvSpPr/>
          <p:nvPr/>
        </p:nvSpPr>
        <p:spPr>
          <a:xfrm>
            <a:off x="2052000" y="2395080"/>
            <a:ext cx="611640" cy="34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Arial"/>
              </a:rPr>
              <a:t>2,01</a:t>
            </a:r>
            <a:r>
              <a:rPr b="0" lang="es-AR" sz="1800" spc="-1" strike="noStrike" baseline="33000">
                <a:latin typeface="Arial"/>
                <a:ea typeface="Arial"/>
              </a:rPr>
              <a:t> 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07" name="CustomShape 24"/>
          <p:cNvSpPr/>
          <p:nvPr/>
        </p:nvSpPr>
        <p:spPr>
          <a:xfrm>
            <a:off x="2124000" y="2699280"/>
            <a:ext cx="611640" cy="34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Arial"/>
              </a:rPr>
              <a:t>0</a:t>
            </a:r>
            <a:r>
              <a:rPr b="0" lang="es-AR" sz="1800" spc="-1" strike="noStrike" baseline="33000">
                <a:latin typeface="Arial"/>
                <a:ea typeface="Arial"/>
              </a:rPr>
              <a:t> 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08" name="CustomShape 25"/>
          <p:cNvSpPr/>
          <p:nvPr/>
        </p:nvSpPr>
        <p:spPr>
          <a:xfrm>
            <a:off x="2054520" y="2971800"/>
            <a:ext cx="611640" cy="34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Arial"/>
              </a:rPr>
              <a:t>5,74</a:t>
            </a:r>
            <a:r>
              <a:rPr b="0" lang="es-AR" sz="1800" spc="-1" strike="noStrike" baseline="33000">
                <a:latin typeface="Arial"/>
                <a:ea typeface="Arial"/>
              </a:rPr>
              <a:t> 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09" name="CustomShape 26"/>
          <p:cNvSpPr/>
          <p:nvPr/>
        </p:nvSpPr>
        <p:spPr>
          <a:xfrm>
            <a:off x="2088000" y="3278520"/>
            <a:ext cx="611640" cy="34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Arial"/>
              </a:rPr>
              <a:t>5,64</a:t>
            </a:r>
            <a:r>
              <a:rPr b="0" lang="es-AR" sz="1800" spc="-1" strike="noStrike" baseline="33000">
                <a:latin typeface="Arial"/>
                <a:ea typeface="Arial"/>
              </a:rPr>
              <a:t> 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10" name="CustomShape 27"/>
          <p:cNvSpPr/>
          <p:nvPr/>
        </p:nvSpPr>
        <p:spPr>
          <a:xfrm>
            <a:off x="2035800" y="3606840"/>
            <a:ext cx="611640" cy="34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Arial"/>
              </a:rPr>
              <a:t>6,75</a:t>
            </a:r>
            <a:r>
              <a:rPr b="0" lang="es-AR" sz="1800" spc="-1" strike="noStrike" baseline="33000">
                <a:latin typeface="Arial"/>
                <a:ea typeface="Arial"/>
              </a:rPr>
              <a:t> 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11" name="CustomShape 28"/>
          <p:cNvSpPr/>
          <p:nvPr/>
        </p:nvSpPr>
        <p:spPr>
          <a:xfrm>
            <a:off x="2016000" y="3888000"/>
            <a:ext cx="611640" cy="34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Arial"/>
              </a:rPr>
              <a:t>7,47</a:t>
            </a:r>
            <a:r>
              <a:rPr b="0" lang="es-AR" sz="1800" spc="-1" strike="noStrike" baseline="33000">
                <a:latin typeface="Arial"/>
                <a:ea typeface="Arial"/>
              </a:rPr>
              <a:t> 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12" name="CustomShape 29"/>
          <p:cNvSpPr/>
          <p:nvPr/>
        </p:nvSpPr>
        <p:spPr>
          <a:xfrm>
            <a:off x="2052000" y="4161240"/>
            <a:ext cx="611640" cy="34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Arial"/>
              </a:rPr>
              <a:t>3,5</a:t>
            </a:r>
            <a:r>
              <a:rPr b="0" lang="es-AR" sz="1800" spc="-1" strike="noStrike" baseline="33000">
                <a:latin typeface="Arial"/>
                <a:ea typeface="Arial"/>
              </a:rPr>
              <a:t> 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13" name="CustomShape 30"/>
          <p:cNvSpPr/>
          <p:nvPr/>
        </p:nvSpPr>
        <p:spPr>
          <a:xfrm>
            <a:off x="2052000" y="4413600"/>
            <a:ext cx="611640" cy="34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Arial"/>
              </a:rPr>
              <a:t>4,6</a:t>
            </a:r>
            <a:r>
              <a:rPr b="0" lang="es-AR" sz="1800" spc="-1" strike="noStrike" baseline="33000">
                <a:latin typeface="Arial"/>
                <a:ea typeface="Arial"/>
              </a:rPr>
              <a:t> 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14" name="CustomShape 31"/>
          <p:cNvSpPr/>
          <p:nvPr/>
        </p:nvSpPr>
        <p:spPr>
          <a:xfrm>
            <a:off x="8784000" y="1476000"/>
            <a:ext cx="575640" cy="330480"/>
          </a:xfrm>
          <a:prstGeom prst="rect">
            <a:avLst/>
          </a:prstGeom>
          <a:noFill/>
          <a:ln w="36000">
            <a:solidFill>
              <a:srgbClr val="faa61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CustomShape 32"/>
          <p:cNvSpPr/>
          <p:nvPr/>
        </p:nvSpPr>
        <p:spPr>
          <a:xfrm>
            <a:off x="2052000" y="2124000"/>
            <a:ext cx="575640" cy="330480"/>
          </a:xfrm>
          <a:prstGeom prst="rect">
            <a:avLst/>
          </a:prstGeom>
          <a:noFill/>
          <a:ln w="36000">
            <a:solidFill>
              <a:srgbClr val="faa61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CustomShape 33"/>
          <p:cNvSpPr/>
          <p:nvPr/>
        </p:nvSpPr>
        <p:spPr>
          <a:xfrm>
            <a:off x="2052000" y="2699280"/>
            <a:ext cx="575640" cy="330480"/>
          </a:xfrm>
          <a:prstGeom prst="rect">
            <a:avLst/>
          </a:prstGeom>
          <a:noFill/>
          <a:ln w="36000">
            <a:solidFill>
              <a:srgbClr val="00a65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CustomShape 34"/>
          <p:cNvSpPr/>
          <p:nvPr/>
        </p:nvSpPr>
        <p:spPr>
          <a:xfrm>
            <a:off x="2054520" y="3318480"/>
            <a:ext cx="609120" cy="228600"/>
          </a:xfrm>
          <a:prstGeom prst="rect">
            <a:avLst/>
          </a:prstGeom>
          <a:noFill/>
          <a:ln w="36000">
            <a:solidFill>
              <a:srgbClr val="00a65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CustomShape 35"/>
          <p:cNvSpPr/>
          <p:nvPr/>
        </p:nvSpPr>
        <p:spPr>
          <a:xfrm>
            <a:off x="2016000" y="3625200"/>
            <a:ext cx="631440" cy="327600"/>
          </a:xfrm>
          <a:prstGeom prst="rect">
            <a:avLst/>
          </a:prstGeom>
          <a:noFill/>
          <a:ln w="36000">
            <a:solidFill>
              <a:srgbClr val="faa61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CustomShape 36"/>
          <p:cNvSpPr/>
          <p:nvPr/>
        </p:nvSpPr>
        <p:spPr>
          <a:xfrm>
            <a:off x="2016000" y="4177080"/>
            <a:ext cx="575640" cy="330480"/>
          </a:xfrm>
          <a:prstGeom prst="rect">
            <a:avLst/>
          </a:prstGeom>
          <a:noFill/>
          <a:ln w="36000">
            <a:solidFill>
              <a:srgbClr val="faa61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CustomShape 37"/>
          <p:cNvSpPr/>
          <p:nvPr/>
        </p:nvSpPr>
        <p:spPr>
          <a:xfrm>
            <a:off x="2592000" y="2395080"/>
            <a:ext cx="93564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Noto Sans CJK SC Regular"/>
              </a:rPr>
              <a:t>= 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3</a:t>
            </a:r>
            <a:r>
              <a:rPr b="0" lang="es-AR" sz="1600" spc="-1" strike="noStrike">
                <a:latin typeface="Arial"/>
                <a:ea typeface="Noto Sans CJK SC Regular"/>
              </a:rPr>
              <a:t>,I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2</a:t>
            </a:r>
            <a:r>
              <a:rPr b="0" lang="es-AR" sz="1600" spc="-1" strike="noStrike">
                <a:latin typeface="Arial"/>
                <a:ea typeface="Noto Sans CJK SC Regular"/>
              </a:rPr>
              <a:t>) 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21" name="CustomShape 38"/>
          <p:cNvSpPr/>
          <p:nvPr/>
        </p:nvSpPr>
        <p:spPr>
          <a:xfrm>
            <a:off x="8748000" y="1440000"/>
            <a:ext cx="611640" cy="34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Arial"/>
              </a:rPr>
              <a:t>1,23</a:t>
            </a:r>
            <a:r>
              <a:rPr b="0" lang="es-AR" sz="1800" spc="-1" strike="noStrike" baseline="33000">
                <a:latin typeface="Arial"/>
                <a:ea typeface="Arial"/>
              </a:rPr>
              <a:t> 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22" name="CustomShape 39"/>
          <p:cNvSpPr/>
          <p:nvPr/>
        </p:nvSpPr>
        <p:spPr>
          <a:xfrm>
            <a:off x="9000000" y="1806840"/>
            <a:ext cx="611640" cy="34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Arial"/>
              </a:rPr>
              <a:t>2,49</a:t>
            </a:r>
            <a:r>
              <a:rPr b="0" lang="es-AR" sz="1800" spc="-1" strike="noStrike" baseline="33000">
                <a:latin typeface="Arial"/>
                <a:ea typeface="Arial"/>
              </a:rPr>
              <a:t> </a:t>
            </a:r>
            <a:endParaRPr b="0" lang="es-AR" sz="1800" spc="-1" strike="noStrike">
              <a:latin typeface="Arial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504000" y="225720"/>
            <a:ext cx="9071280" cy="47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AR" sz="3300" spc="-1" strike="noStrike">
                <a:solidFill>
                  <a:srgbClr val="ffffff"/>
                </a:solidFill>
                <a:latin typeface="Arial"/>
              </a:rPr>
              <a:t>K-means</a:t>
            </a:r>
            <a:endParaRPr b="0" lang="es-AR" sz="3300" spc="-1" strike="noStrike">
              <a:latin typeface="Arial"/>
            </a:endParaRPr>
          </a:p>
        </p:txBody>
      </p:sp>
      <p:sp>
        <p:nvSpPr>
          <p:cNvPr id="124" name="CustomShape 2"/>
          <p:cNvSpPr/>
          <p:nvPr/>
        </p:nvSpPr>
        <p:spPr>
          <a:xfrm>
            <a:off x="455400" y="919440"/>
            <a:ext cx="3432240" cy="301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500" spc="-1" strike="noStrike">
                <a:latin typeface="Arial"/>
                <a:ea typeface="Noto Sans CJK SC"/>
              </a:rPr>
              <a:t>Determino los nuevos Centroides</a:t>
            </a:r>
            <a:endParaRPr b="0" lang="es-AR" sz="1500" spc="-1" strike="noStrike">
              <a:latin typeface="Arial"/>
            </a:endParaRPr>
          </a:p>
        </p:txBody>
      </p:sp>
      <p:graphicFrame>
        <p:nvGraphicFramePr>
          <p:cNvPr id="125" name="Table 3"/>
          <p:cNvGraphicFramePr/>
          <p:nvPr/>
        </p:nvGraphicFramePr>
        <p:xfrm>
          <a:off x="2573640" y="3670920"/>
          <a:ext cx="2437920" cy="1051560"/>
        </p:xfrm>
        <a:graphic>
          <a:graphicData uri="http://schemas.openxmlformats.org/drawingml/2006/table">
            <a:tbl>
              <a:tblPr/>
              <a:tblGrid>
                <a:gridCol w="812880"/>
                <a:gridCol w="812880"/>
                <a:gridCol w="812520"/>
              </a:tblGrid>
              <a:tr h="350640"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C2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350640"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x1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x2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x3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50280">
                <a:tc>
                  <a:txBody>
                    <a:bodyPr lIns="90000" rIns="90000"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0,85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-0,8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4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6" name="Table 4"/>
          <p:cNvGraphicFramePr/>
          <p:nvPr/>
        </p:nvGraphicFramePr>
        <p:xfrm>
          <a:off x="2580120" y="1807920"/>
          <a:ext cx="2437920" cy="1051560"/>
        </p:xfrm>
        <a:graphic>
          <a:graphicData uri="http://schemas.openxmlformats.org/drawingml/2006/table">
            <a:tbl>
              <a:tblPr/>
              <a:tblGrid>
                <a:gridCol w="812880"/>
                <a:gridCol w="812880"/>
                <a:gridCol w="812520"/>
              </a:tblGrid>
              <a:tr h="350640"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C1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350640"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x1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x2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x3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50280">
                <a:tc>
                  <a:txBody>
                    <a:bodyPr lIns="90000" rIns="90000"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0,6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1,025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2,3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sp>
        <p:nvSpPr>
          <p:cNvPr id="127" name="CustomShape 5"/>
          <p:cNvSpPr/>
          <p:nvPr/>
        </p:nvSpPr>
        <p:spPr>
          <a:xfrm>
            <a:off x="449280" y="1250640"/>
            <a:ext cx="948636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Noto Sans CJK SC Regular"/>
              </a:rPr>
              <a:t>Para C1 determino los valores de x1, x2, x3 mediante el promedio de las instancias más cercanas a I2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28" name="CustomShape 6"/>
          <p:cNvSpPr/>
          <p:nvPr/>
        </p:nvSpPr>
        <p:spPr>
          <a:xfrm>
            <a:off x="449280" y="3194640"/>
            <a:ext cx="9486360" cy="333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Noto Sans CJK SC Regular"/>
              </a:rPr>
              <a:t>Para C2 determino los valores de x1, x2, x3 mediante el promedio de las instancias más cercanas a I3</a:t>
            </a:r>
            <a:endParaRPr b="0" lang="es-AR" sz="1600" spc="-1" strike="noStrike">
              <a:latin typeface="Arial"/>
            </a:endParaRPr>
          </a:p>
        </p:txBody>
      </p:sp>
    </p:spTree>
  </p:cSld>
  <p:timing>
    <p:tnLst>
      <p:par>
        <p:cTn id="59" dur="indefinite" restart="never" nodeType="tmRoot">
          <p:childTnLst>
            <p:seq>
              <p:cTn id="60" dur="indefinite" nodeType="mainSeq">
                <p:childTnLst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ustomShape 1"/>
          <p:cNvSpPr/>
          <p:nvPr/>
        </p:nvSpPr>
        <p:spPr>
          <a:xfrm>
            <a:off x="504000" y="225720"/>
            <a:ext cx="9071280" cy="47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AR" sz="3300" spc="-1" strike="noStrike">
                <a:solidFill>
                  <a:srgbClr val="ffffff"/>
                </a:solidFill>
                <a:latin typeface="Arial"/>
              </a:rPr>
              <a:t>K-means</a:t>
            </a:r>
            <a:endParaRPr b="0" lang="es-AR" sz="3300" spc="-1" strike="noStrike">
              <a:latin typeface="Arial"/>
            </a:endParaRPr>
          </a:p>
        </p:txBody>
      </p:sp>
      <p:sp>
        <p:nvSpPr>
          <p:cNvPr id="130" name="CustomShape 2"/>
          <p:cNvSpPr/>
          <p:nvPr/>
        </p:nvSpPr>
        <p:spPr>
          <a:xfrm>
            <a:off x="144000" y="826200"/>
            <a:ext cx="9162720" cy="541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Noto Sans CJK SC Regular"/>
              </a:rPr>
              <a:t>Para la segunda iteración calculo las distancias de cada punto a los centroides hallados en la primera iteración: 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31" name="CustomShape 3"/>
          <p:cNvSpPr/>
          <p:nvPr/>
        </p:nvSpPr>
        <p:spPr>
          <a:xfrm>
            <a:off x="1863000" y="1404720"/>
            <a:ext cx="3752640" cy="446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800" spc="-1" strike="noStrike">
                <a:latin typeface="Arial"/>
                <a:ea typeface="Noto Sans CJK SC Regular"/>
              </a:rPr>
              <a:t> </a:t>
            </a:r>
            <a:r>
              <a:rPr b="0" lang="es-AR" sz="2200" spc="-1" strike="noStrike">
                <a:latin typeface="Arial"/>
                <a:ea typeface="Arial"/>
              </a:rPr>
              <a:t>√</a:t>
            </a:r>
            <a:r>
              <a:rPr b="0" lang="es-AR" sz="1800" spc="-1" strike="noStrike">
                <a:latin typeface="Arial"/>
                <a:ea typeface="Arial"/>
              </a:rPr>
              <a:t>(x</a:t>
            </a:r>
            <a:r>
              <a:rPr b="0" lang="es-AR" sz="1800" spc="-1" strike="noStrike" baseline="-33000">
                <a:latin typeface="Arial"/>
                <a:ea typeface="Arial"/>
              </a:rPr>
              <a:t>11</a:t>
            </a:r>
            <a:r>
              <a:rPr b="0" lang="es-AR" sz="1800" spc="-1" strike="noStrike">
                <a:latin typeface="Arial"/>
                <a:ea typeface="Arial"/>
              </a:rPr>
              <a:t>-x</a:t>
            </a:r>
            <a:r>
              <a:rPr b="0" lang="es-AR" sz="1800" spc="-1" strike="noStrike" baseline="-33000">
                <a:latin typeface="Arial"/>
                <a:ea typeface="Arial"/>
              </a:rPr>
              <a:t>c11</a:t>
            </a:r>
            <a:r>
              <a:rPr b="0" lang="es-AR" sz="1800" spc="-1" strike="noStrike">
                <a:latin typeface="Arial"/>
                <a:ea typeface="Arial"/>
              </a:rPr>
              <a:t>)</a:t>
            </a:r>
            <a:r>
              <a:rPr b="0" lang="es-AR" sz="1800" spc="-1" strike="noStrike" baseline="33000">
                <a:latin typeface="Arial"/>
                <a:ea typeface="Arial"/>
              </a:rPr>
              <a:t>2 </a:t>
            </a:r>
            <a:r>
              <a:rPr b="0" lang="es-AR" sz="1800" spc="-1" strike="noStrike">
                <a:latin typeface="Arial"/>
                <a:ea typeface="Arial"/>
              </a:rPr>
              <a:t>+ (x</a:t>
            </a:r>
            <a:r>
              <a:rPr b="0" lang="es-AR" sz="1800" spc="-1" strike="noStrike" baseline="-33000">
                <a:latin typeface="Arial"/>
                <a:ea typeface="Arial"/>
              </a:rPr>
              <a:t>12</a:t>
            </a:r>
            <a:r>
              <a:rPr b="0" lang="es-AR" sz="1800" spc="-1" strike="noStrike">
                <a:latin typeface="Arial"/>
                <a:ea typeface="Arial"/>
              </a:rPr>
              <a:t>-x</a:t>
            </a:r>
            <a:r>
              <a:rPr b="0" lang="es-AR" sz="1800" spc="-1" strike="noStrike" baseline="-33000">
                <a:latin typeface="Arial"/>
                <a:ea typeface="Arial"/>
              </a:rPr>
              <a:t>c12</a:t>
            </a:r>
            <a:r>
              <a:rPr b="0" lang="es-AR" sz="1800" spc="-1" strike="noStrike">
                <a:latin typeface="Arial"/>
                <a:ea typeface="Arial"/>
              </a:rPr>
              <a:t>)</a:t>
            </a:r>
            <a:r>
              <a:rPr b="0" lang="es-AR" sz="1800" spc="-1" strike="noStrike" baseline="33000">
                <a:latin typeface="Arial"/>
                <a:ea typeface="Arial"/>
              </a:rPr>
              <a:t>2 +  </a:t>
            </a:r>
            <a:r>
              <a:rPr b="0" lang="es-AR" sz="1800" spc="-1" strike="noStrike">
                <a:latin typeface="Arial"/>
                <a:ea typeface="Arial"/>
              </a:rPr>
              <a:t>(x</a:t>
            </a:r>
            <a:r>
              <a:rPr b="0" lang="es-AR" sz="1800" spc="-1" strike="noStrike" baseline="-33000">
                <a:latin typeface="Arial"/>
                <a:ea typeface="Arial"/>
              </a:rPr>
              <a:t>13</a:t>
            </a:r>
            <a:r>
              <a:rPr b="0" lang="es-AR" sz="1800" spc="-1" strike="noStrike">
                <a:latin typeface="Arial"/>
                <a:ea typeface="Arial"/>
              </a:rPr>
              <a:t>-x</a:t>
            </a:r>
            <a:r>
              <a:rPr b="0" lang="es-AR" sz="1800" spc="-1" strike="noStrike" baseline="-33000">
                <a:latin typeface="Arial"/>
                <a:ea typeface="Arial"/>
              </a:rPr>
              <a:t>c13</a:t>
            </a:r>
            <a:r>
              <a:rPr b="0" lang="es-AR" sz="1800" spc="-1" strike="noStrike">
                <a:latin typeface="Arial"/>
                <a:ea typeface="Arial"/>
              </a:rPr>
              <a:t>)</a:t>
            </a:r>
            <a:r>
              <a:rPr b="0" lang="es-AR" sz="1800" spc="-1" strike="noStrike" baseline="33000">
                <a:latin typeface="Arial"/>
                <a:ea typeface="Arial"/>
              </a:rPr>
              <a:t>2</a:t>
            </a:r>
            <a:r>
              <a:rPr b="0" lang="es-AR" sz="1800" spc="-1" strike="noStrike">
                <a:latin typeface="Arial"/>
                <a:ea typeface="Arial"/>
              </a:rPr>
              <a:t> =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32" name="CustomShape 4"/>
          <p:cNvSpPr/>
          <p:nvPr/>
        </p:nvSpPr>
        <p:spPr>
          <a:xfrm>
            <a:off x="144000" y="1440000"/>
            <a:ext cx="210348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Noto Sans CJK SC Regular"/>
              </a:rPr>
              <a:t>Entonces: 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1</a:t>
            </a:r>
            <a:r>
              <a:rPr b="0" lang="es-AR" sz="1600" spc="-1" strike="noStrike">
                <a:latin typeface="Arial"/>
                <a:ea typeface="Noto Sans CJK SC Regular"/>
              </a:rPr>
              <a:t>,C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1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33" name="Line 5"/>
          <p:cNvSpPr/>
          <p:nvPr/>
        </p:nvSpPr>
        <p:spPr>
          <a:xfrm>
            <a:off x="2232000" y="1456560"/>
            <a:ext cx="2736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CustomShape 6"/>
          <p:cNvSpPr/>
          <p:nvPr/>
        </p:nvSpPr>
        <p:spPr>
          <a:xfrm>
            <a:off x="5407920" y="1440000"/>
            <a:ext cx="4599720" cy="402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2200" spc="-1" strike="noStrike">
                <a:latin typeface="Arial"/>
                <a:ea typeface="Arial"/>
              </a:rPr>
              <a:t>√</a:t>
            </a:r>
            <a:r>
              <a:rPr b="0" lang="es-AR" sz="1600" spc="-1" strike="noStrike">
                <a:latin typeface="Arial"/>
                <a:ea typeface="Arial"/>
              </a:rPr>
              <a:t>(2,1– (0,6))</a:t>
            </a:r>
            <a:r>
              <a:rPr b="0" lang="es-AR" sz="1600" spc="-1" strike="noStrike" baseline="33000">
                <a:latin typeface="Arial"/>
                <a:ea typeface="Arial"/>
              </a:rPr>
              <a:t>2 </a:t>
            </a:r>
            <a:r>
              <a:rPr b="0" lang="es-AR" sz="1600" spc="-1" strike="noStrike">
                <a:latin typeface="Arial"/>
                <a:ea typeface="Arial"/>
              </a:rPr>
              <a:t>+ (1,4 – (</a:t>
            </a:r>
            <a:r>
              <a:rPr b="0" lang="es-AR" sz="1300" spc="-1" strike="noStrike">
                <a:latin typeface="Arial"/>
                <a:ea typeface="Arial"/>
              </a:rPr>
              <a:t>1,025</a:t>
            </a:r>
            <a:r>
              <a:rPr b="0" lang="es-AR" sz="1600" spc="-1" strike="noStrike">
                <a:latin typeface="Arial"/>
                <a:ea typeface="Arial"/>
              </a:rPr>
              <a:t>))</a:t>
            </a:r>
            <a:r>
              <a:rPr b="0" lang="es-AR" sz="1600" spc="-1" strike="noStrike" baseline="33000">
                <a:latin typeface="Arial"/>
                <a:ea typeface="Arial"/>
              </a:rPr>
              <a:t>2 + </a:t>
            </a:r>
            <a:r>
              <a:rPr b="0" lang="es-AR" sz="1600" spc="-1" strike="noStrike">
                <a:latin typeface="Arial"/>
                <a:ea typeface="Arial"/>
              </a:rPr>
              <a:t>(3 – (2,3))</a:t>
            </a:r>
            <a:r>
              <a:rPr b="0" lang="es-AR" sz="1600" spc="-1" strike="noStrike" baseline="33000">
                <a:latin typeface="Arial"/>
                <a:ea typeface="Arial"/>
              </a:rPr>
              <a:t>2 </a:t>
            </a:r>
            <a:r>
              <a:rPr b="0" lang="es-AR" sz="1600" spc="-1" strike="noStrike">
                <a:latin typeface="Arial"/>
                <a:ea typeface="Arial"/>
              </a:rPr>
              <a:t>= 1,69</a:t>
            </a:r>
            <a:r>
              <a:rPr b="0" lang="es-AR" sz="1800" spc="-1" strike="noStrike" baseline="33000">
                <a:latin typeface="Arial"/>
                <a:ea typeface="Arial"/>
              </a:rPr>
              <a:t> 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35" name="Line 7"/>
          <p:cNvSpPr/>
          <p:nvPr/>
        </p:nvSpPr>
        <p:spPr>
          <a:xfrm>
            <a:off x="5640480" y="1523160"/>
            <a:ext cx="3143520" cy="25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CustomShape 8"/>
          <p:cNvSpPr/>
          <p:nvPr/>
        </p:nvSpPr>
        <p:spPr>
          <a:xfrm>
            <a:off x="1080000" y="1805040"/>
            <a:ext cx="100764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Noto Sans CJK SC Regular"/>
              </a:rPr>
              <a:t>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1</a:t>
            </a:r>
            <a:r>
              <a:rPr b="0" lang="es-AR" sz="1600" spc="-1" strike="noStrike">
                <a:latin typeface="Arial"/>
                <a:ea typeface="Noto Sans CJK SC Regular"/>
              </a:rPr>
              <a:t>,C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2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37" name="CustomShape 9"/>
          <p:cNvSpPr/>
          <p:nvPr/>
        </p:nvSpPr>
        <p:spPr>
          <a:xfrm>
            <a:off x="1080000" y="2124000"/>
            <a:ext cx="107964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Noto Sans CJK SC Regular"/>
              </a:rPr>
              <a:t>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2</a:t>
            </a:r>
            <a:r>
              <a:rPr b="0" lang="es-AR" sz="1600" spc="-1" strike="noStrike">
                <a:latin typeface="Arial"/>
                <a:ea typeface="Noto Sans CJK SC Regular"/>
              </a:rPr>
              <a:t>,C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1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38" name="CustomShape 10"/>
          <p:cNvSpPr/>
          <p:nvPr/>
        </p:nvSpPr>
        <p:spPr>
          <a:xfrm>
            <a:off x="1080000" y="2406600"/>
            <a:ext cx="100764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Noto Sans CJK SC Regular"/>
              </a:rPr>
              <a:t>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2</a:t>
            </a:r>
            <a:r>
              <a:rPr b="0" lang="es-AR" sz="1600" spc="-1" strike="noStrike">
                <a:latin typeface="Arial"/>
                <a:ea typeface="Noto Sans CJK SC Regular"/>
              </a:rPr>
              <a:t>,C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2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39" name="CustomShape 11"/>
          <p:cNvSpPr/>
          <p:nvPr/>
        </p:nvSpPr>
        <p:spPr>
          <a:xfrm>
            <a:off x="1899360" y="1780560"/>
            <a:ext cx="3788280" cy="451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800" spc="-1" strike="noStrike">
                <a:latin typeface="Arial"/>
                <a:ea typeface="Noto Sans CJK SC Regular"/>
              </a:rPr>
              <a:t> </a:t>
            </a:r>
            <a:r>
              <a:rPr b="0" lang="es-AR" sz="2200" spc="-1" strike="noStrike">
                <a:latin typeface="Arial"/>
                <a:ea typeface="Arial"/>
              </a:rPr>
              <a:t>√</a:t>
            </a:r>
            <a:r>
              <a:rPr b="0" lang="es-AR" sz="1800" spc="-1" strike="noStrike">
                <a:latin typeface="Arial"/>
                <a:ea typeface="Arial"/>
              </a:rPr>
              <a:t>(x</a:t>
            </a:r>
            <a:r>
              <a:rPr b="0" lang="es-AR" sz="1800" spc="-1" strike="noStrike" baseline="-33000">
                <a:latin typeface="Arial"/>
                <a:ea typeface="Arial"/>
              </a:rPr>
              <a:t>11</a:t>
            </a:r>
            <a:r>
              <a:rPr b="0" lang="es-AR" sz="1800" spc="-1" strike="noStrike">
                <a:latin typeface="Arial"/>
                <a:ea typeface="Arial"/>
              </a:rPr>
              <a:t>-x</a:t>
            </a:r>
            <a:r>
              <a:rPr b="0" lang="es-AR" sz="1800" spc="-1" strike="noStrike" baseline="-33000">
                <a:latin typeface="Arial"/>
                <a:ea typeface="Arial"/>
              </a:rPr>
              <a:t>c21</a:t>
            </a:r>
            <a:r>
              <a:rPr b="0" lang="es-AR" sz="1800" spc="-1" strike="noStrike">
                <a:latin typeface="Arial"/>
                <a:ea typeface="Arial"/>
              </a:rPr>
              <a:t>)</a:t>
            </a:r>
            <a:r>
              <a:rPr b="0" lang="es-AR" sz="1800" spc="-1" strike="noStrike" baseline="33000">
                <a:latin typeface="Arial"/>
                <a:ea typeface="Arial"/>
              </a:rPr>
              <a:t>2 </a:t>
            </a:r>
            <a:r>
              <a:rPr b="0" lang="es-AR" sz="1800" spc="-1" strike="noStrike">
                <a:latin typeface="Arial"/>
                <a:ea typeface="Arial"/>
              </a:rPr>
              <a:t>+ (x</a:t>
            </a:r>
            <a:r>
              <a:rPr b="0" lang="es-AR" sz="1800" spc="-1" strike="noStrike" baseline="-33000">
                <a:latin typeface="Arial"/>
                <a:ea typeface="Arial"/>
              </a:rPr>
              <a:t>12</a:t>
            </a:r>
            <a:r>
              <a:rPr b="0" lang="es-AR" sz="1800" spc="-1" strike="noStrike">
                <a:latin typeface="Arial"/>
                <a:ea typeface="Arial"/>
              </a:rPr>
              <a:t>-x</a:t>
            </a:r>
            <a:r>
              <a:rPr b="0" lang="es-AR" sz="1800" spc="-1" strike="noStrike" baseline="-33000">
                <a:latin typeface="Arial"/>
                <a:ea typeface="Arial"/>
              </a:rPr>
              <a:t>c22</a:t>
            </a:r>
            <a:r>
              <a:rPr b="0" lang="es-AR" sz="1800" spc="-1" strike="noStrike">
                <a:latin typeface="Arial"/>
                <a:ea typeface="Arial"/>
              </a:rPr>
              <a:t>)</a:t>
            </a:r>
            <a:r>
              <a:rPr b="0" lang="es-AR" sz="1800" spc="-1" strike="noStrike" baseline="33000">
                <a:latin typeface="Arial"/>
                <a:ea typeface="Arial"/>
              </a:rPr>
              <a:t>2 +  </a:t>
            </a:r>
            <a:r>
              <a:rPr b="0" lang="es-AR" sz="1800" spc="-1" strike="noStrike">
                <a:latin typeface="Arial"/>
                <a:ea typeface="Arial"/>
              </a:rPr>
              <a:t>(x</a:t>
            </a:r>
            <a:r>
              <a:rPr b="0" lang="es-AR" sz="1800" spc="-1" strike="noStrike" baseline="-33000">
                <a:latin typeface="Arial"/>
                <a:ea typeface="Arial"/>
              </a:rPr>
              <a:t>13</a:t>
            </a:r>
            <a:r>
              <a:rPr b="0" lang="es-AR" sz="1800" spc="-1" strike="noStrike">
                <a:latin typeface="Arial"/>
                <a:ea typeface="Arial"/>
              </a:rPr>
              <a:t>-x</a:t>
            </a:r>
            <a:r>
              <a:rPr b="0" lang="es-AR" sz="1800" spc="-1" strike="noStrike" baseline="-33000">
                <a:latin typeface="Arial"/>
                <a:ea typeface="Arial"/>
              </a:rPr>
              <a:t>c23</a:t>
            </a:r>
            <a:r>
              <a:rPr b="0" lang="es-AR" sz="1800" spc="-1" strike="noStrike">
                <a:latin typeface="Arial"/>
                <a:ea typeface="Arial"/>
              </a:rPr>
              <a:t>)</a:t>
            </a:r>
            <a:r>
              <a:rPr b="0" lang="es-AR" sz="1800" spc="-1" strike="noStrike" baseline="33000">
                <a:latin typeface="Arial"/>
                <a:ea typeface="Arial"/>
              </a:rPr>
              <a:t>2</a:t>
            </a:r>
            <a:r>
              <a:rPr b="0" lang="es-AR" sz="1800" spc="-1" strike="noStrike">
                <a:latin typeface="Arial"/>
                <a:ea typeface="Arial"/>
              </a:rPr>
              <a:t> =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40" name="Line 12"/>
          <p:cNvSpPr/>
          <p:nvPr/>
        </p:nvSpPr>
        <p:spPr>
          <a:xfrm>
            <a:off x="2232000" y="1826640"/>
            <a:ext cx="2736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CustomShape 13"/>
          <p:cNvSpPr/>
          <p:nvPr/>
        </p:nvSpPr>
        <p:spPr>
          <a:xfrm>
            <a:off x="5407920" y="1800360"/>
            <a:ext cx="4599720" cy="402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2200" spc="-1" strike="noStrike">
                <a:latin typeface="Arial"/>
                <a:ea typeface="Arial"/>
              </a:rPr>
              <a:t>√</a:t>
            </a:r>
            <a:r>
              <a:rPr b="0" lang="es-AR" sz="1600" spc="-1" strike="noStrike">
                <a:latin typeface="Arial"/>
                <a:ea typeface="Arial"/>
              </a:rPr>
              <a:t>(2,1– (0,85))</a:t>
            </a:r>
            <a:r>
              <a:rPr b="0" lang="es-AR" sz="1600" spc="-1" strike="noStrike" baseline="33000">
                <a:latin typeface="Arial"/>
                <a:ea typeface="Arial"/>
              </a:rPr>
              <a:t>2 </a:t>
            </a:r>
            <a:r>
              <a:rPr b="0" lang="es-AR" sz="1600" spc="-1" strike="noStrike">
                <a:latin typeface="Arial"/>
                <a:ea typeface="Arial"/>
              </a:rPr>
              <a:t>+ (1,4 – (-0,8))</a:t>
            </a:r>
            <a:r>
              <a:rPr b="0" lang="es-AR" sz="1600" spc="-1" strike="noStrike" baseline="33000">
                <a:latin typeface="Arial"/>
                <a:ea typeface="Arial"/>
              </a:rPr>
              <a:t>2 + </a:t>
            </a:r>
            <a:r>
              <a:rPr b="0" lang="es-AR" sz="1600" spc="-1" strike="noStrike">
                <a:latin typeface="Arial"/>
                <a:ea typeface="Arial"/>
              </a:rPr>
              <a:t>(3 – (4))</a:t>
            </a:r>
            <a:r>
              <a:rPr b="0" lang="es-AR" sz="1600" spc="-1" strike="noStrike" baseline="33000">
                <a:latin typeface="Arial"/>
                <a:ea typeface="Arial"/>
              </a:rPr>
              <a:t>2 </a:t>
            </a:r>
            <a:r>
              <a:rPr b="0" lang="es-AR" sz="1600" spc="-1" strike="noStrike">
                <a:latin typeface="Arial"/>
                <a:ea typeface="Arial"/>
              </a:rPr>
              <a:t>= 2,72</a:t>
            </a:r>
            <a:r>
              <a:rPr b="0" lang="es-AR" sz="1800" spc="-1" strike="noStrike" baseline="33000">
                <a:latin typeface="Arial"/>
                <a:ea typeface="Arial"/>
              </a:rPr>
              <a:t> 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42" name="Line 14"/>
          <p:cNvSpPr/>
          <p:nvPr/>
        </p:nvSpPr>
        <p:spPr>
          <a:xfrm>
            <a:off x="5686560" y="1856160"/>
            <a:ext cx="3143520" cy="252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CustomShape 15"/>
          <p:cNvSpPr/>
          <p:nvPr/>
        </p:nvSpPr>
        <p:spPr>
          <a:xfrm>
            <a:off x="1080000" y="2982960"/>
            <a:ext cx="107964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Noto Sans CJK SC Regular"/>
              </a:rPr>
              <a:t>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3</a:t>
            </a:r>
            <a:r>
              <a:rPr b="0" lang="es-AR" sz="1600" spc="-1" strike="noStrike">
                <a:latin typeface="Arial"/>
                <a:ea typeface="Noto Sans CJK SC Regular"/>
              </a:rPr>
              <a:t>,C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2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44" name="CustomShape 16"/>
          <p:cNvSpPr/>
          <p:nvPr/>
        </p:nvSpPr>
        <p:spPr>
          <a:xfrm>
            <a:off x="1080000" y="3271320"/>
            <a:ext cx="107964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Noto Sans CJK SC Regular"/>
              </a:rPr>
              <a:t>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4</a:t>
            </a:r>
            <a:r>
              <a:rPr b="0" lang="es-AR" sz="1600" spc="-1" strike="noStrike">
                <a:latin typeface="Arial"/>
                <a:ea typeface="Noto Sans CJK SC Regular"/>
              </a:rPr>
              <a:t>,C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1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45" name="CustomShape 17"/>
          <p:cNvSpPr/>
          <p:nvPr/>
        </p:nvSpPr>
        <p:spPr>
          <a:xfrm>
            <a:off x="1080000" y="3559680"/>
            <a:ext cx="107964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Noto Sans CJK SC Regular"/>
              </a:rPr>
              <a:t>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4</a:t>
            </a:r>
            <a:r>
              <a:rPr b="0" lang="es-AR" sz="1600" spc="-1" strike="noStrike">
                <a:latin typeface="Arial"/>
                <a:ea typeface="Noto Sans CJK SC Regular"/>
              </a:rPr>
              <a:t>,C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2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46" name="CustomShape 18"/>
          <p:cNvSpPr/>
          <p:nvPr/>
        </p:nvSpPr>
        <p:spPr>
          <a:xfrm>
            <a:off x="1080000" y="3884040"/>
            <a:ext cx="107964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Noto Sans CJK SC Regular"/>
              </a:rPr>
              <a:t>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5</a:t>
            </a:r>
            <a:r>
              <a:rPr b="0" lang="es-AR" sz="1600" spc="-1" strike="noStrike">
                <a:latin typeface="Arial"/>
                <a:ea typeface="Noto Sans CJK SC Regular"/>
              </a:rPr>
              <a:t>,C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1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47" name="CustomShape 19"/>
          <p:cNvSpPr/>
          <p:nvPr/>
        </p:nvSpPr>
        <p:spPr>
          <a:xfrm>
            <a:off x="1080000" y="4172400"/>
            <a:ext cx="107964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Noto Sans CJK SC Regular"/>
              </a:rPr>
              <a:t>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5</a:t>
            </a:r>
            <a:r>
              <a:rPr b="0" lang="es-AR" sz="1600" spc="-1" strike="noStrike">
                <a:latin typeface="Arial"/>
                <a:ea typeface="Noto Sans CJK SC Regular"/>
              </a:rPr>
              <a:t>,C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2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48" name="CustomShape 20"/>
          <p:cNvSpPr/>
          <p:nvPr/>
        </p:nvSpPr>
        <p:spPr>
          <a:xfrm>
            <a:off x="1080000" y="4460760"/>
            <a:ext cx="107964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Noto Sans CJK SC Regular"/>
              </a:rPr>
              <a:t>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6</a:t>
            </a:r>
            <a:r>
              <a:rPr b="0" lang="es-AR" sz="1600" spc="-1" strike="noStrike">
                <a:latin typeface="Arial"/>
                <a:ea typeface="Noto Sans CJK SC Regular"/>
              </a:rPr>
              <a:t>,C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1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49" name="CustomShape 21"/>
          <p:cNvSpPr/>
          <p:nvPr/>
        </p:nvSpPr>
        <p:spPr>
          <a:xfrm>
            <a:off x="1080000" y="4713120"/>
            <a:ext cx="107964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Noto Sans CJK SC Regular"/>
              </a:rPr>
              <a:t>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6</a:t>
            </a:r>
            <a:r>
              <a:rPr b="0" lang="es-AR" sz="1600" spc="-1" strike="noStrike">
                <a:latin typeface="Arial"/>
                <a:ea typeface="Noto Sans CJK SC Regular"/>
              </a:rPr>
              <a:t>,C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2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50" name="CustomShape 22"/>
          <p:cNvSpPr/>
          <p:nvPr/>
        </p:nvSpPr>
        <p:spPr>
          <a:xfrm>
            <a:off x="2052000" y="2142720"/>
            <a:ext cx="611640" cy="34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Arial"/>
              </a:rPr>
              <a:t>2,72</a:t>
            </a:r>
            <a:r>
              <a:rPr b="0" lang="es-AR" sz="1800" spc="-1" strike="noStrike" baseline="33000">
                <a:latin typeface="Arial"/>
                <a:ea typeface="Arial"/>
              </a:rPr>
              <a:t> 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51" name="CustomShape 23"/>
          <p:cNvSpPr/>
          <p:nvPr/>
        </p:nvSpPr>
        <p:spPr>
          <a:xfrm>
            <a:off x="2052000" y="2395080"/>
            <a:ext cx="611640" cy="34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Arial"/>
              </a:rPr>
              <a:t>3,25</a:t>
            </a:r>
            <a:r>
              <a:rPr b="0" lang="es-AR" sz="1800" spc="-1" strike="noStrike" baseline="33000">
                <a:latin typeface="Arial"/>
                <a:ea typeface="Arial"/>
              </a:rPr>
              <a:t> 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52" name="CustomShape 24"/>
          <p:cNvSpPr/>
          <p:nvPr/>
        </p:nvSpPr>
        <p:spPr>
          <a:xfrm>
            <a:off x="2052000" y="2971440"/>
            <a:ext cx="611640" cy="34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Arial"/>
              </a:rPr>
              <a:t>2,82</a:t>
            </a:r>
            <a:r>
              <a:rPr b="0" lang="es-AR" sz="1800" spc="-1" strike="noStrike" baseline="33000">
                <a:latin typeface="Arial"/>
                <a:ea typeface="Arial"/>
              </a:rPr>
              <a:t> 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53" name="CustomShape 25"/>
          <p:cNvSpPr/>
          <p:nvPr/>
        </p:nvSpPr>
        <p:spPr>
          <a:xfrm>
            <a:off x="2052000" y="3259800"/>
            <a:ext cx="611640" cy="34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Arial"/>
              </a:rPr>
              <a:t>3,74</a:t>
            </a:r>
            <a:r>
              <a:rPr b="0" lang="es-AR" sz="1800" spc="-1" strike="noStrike" baseline="33000">
                <a:latin typeface="Arial"/>
                <a:ea typeface="Arial"/>
              </a:rPr>
              <a:t> 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54" name="CustomShape 26"/>
          <p:cNvSpPr/>
          <p:nvPr/>
        </p:nvSpPr>
        <p:spPr>
          <a:xfrm>
            <a:off x="2052000" y="3512160"/>
            <a:ext cx="611640" cy="34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Arial"/>
              </a:rPr>
              <a:t>2,82</a:t>
            </a:r>
            <a:r>
              <a:rPr b="0" lang="es-AR" sz="1800" spc="-1" strike="noStrike" baseline="33000">
                <a:latin typeface="Arial"/>
                <a:ea typeface="Arial"/>
              </a:rPr>
              <a:t> 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55" name="CustomShape 27"/>
          <p:cNvSpPr/>
          <p:nvPr/>
        </p:nvSpPr>
        <p:spPr>
          <a:xfrm>
            <a:off x="2052000" y="3836520"/>
            <a:ext cx="611640" cy="34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Arial"/>
              </a:rPr>
              <a:t>4,17</a:t>
            </a:r>
            <a:r>
              <a:rPr b="0" lang="es-AR" sz="1800" spc="-1" strike="noStrike" baseline="33000">
                <a:latin typeface="Arial"/>
                <a:ea typeface="Arial"/>
              </a:rPr>
              <a:t> 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56" name="CustomShape 28"/>
          <p:cNvSpPr/>
          <p:nvPr/>
        </p:nvSpPr>
        <p:spPr>
          <a:xfrm>
            <a:off x="2052000" y="4124880"/>
            <a:ext cx="611640" cy="34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Arial"/>
              </a:rPr>
              <a:t>4,94</a:t>
            </a:r>
            <a:r>
              <a:rPr b="0" lang="es-AR" sz="1800" spc="-1" strike="noStrike" baseline="33000">
                <a:latin typeface="Arial"/>
                <a:ea typeface="Arial"/>
              </a:rPr>
              <a:t> 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57" name="CustomShape 29"/>
          <p:cNvSpPr/>
          <p:nvPr/>
        </p:nvSpPr>
        <p:spPr>
          <a:xfrm>
            <a:off x="2052000" y="4413240"/>
            <a:ext cx="611640" cy="34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Arial"/>
              </a:rPr>
              <a:t>1,36</a:t>
            </a:r>
            <a:r>
              <a:rPr b="0" lang="es-AR" sz="1800" spc="-1" strike="noStrike" baseline="33000">
                <a:latin typeface="Arial"/>
                <a:ea typeface="Arial"/>
              </a:rPr>
              <a:t> 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58" name="CustomShape 30"/>
          <p:cNvSpPr/>
          <p:nvPr/>
        </p:nvSpPr>
        <p:spPr>
          <a:xfrm>
            <a:off x="2052000" y="4665600"/>
            <a:ext cx="611640" cy="34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Arial"/>
              </a:rPr>
              <a:t>3,5</a:t>
            </a:r>
            <a:r>
              <a:rPr b="0" lang="es-AR" sz="1800" spc="-1" strike="noStrike" baseline="33000">
                <a:latin typeface="Arial"/>
                <a:ea typeface="Arial"/>
              </a:rPr>
              <a:t> </a:t>
            </a:r>
            <a:endParaRPr b="0" lang="es-AR" sz="1800" spc="-1" strike="noStrike">
              <a:latin typeface="Arial"/>
            </a:endParaRPr>
          </a:p>
        </p:txBody>
      </p:sp>
      <p:sp>
        <p:nvSpPr>
          <p:cNvPr id="159" name="CustomShape 31"/>
          <p:cNvSpPr/>
          <p:nvPr/>
        </p:nvSpPr>
        <p:spPr>
          <a:xfrm>
            <a:off x="9396000" y="1512000"/>
            <a:ext cx="575640" cy="330480"/>
          </a:xfrm>
          <a:prstGeom prst="rect">
            <a:avLst/>
          </a:prstGeom>
          <a:noFill/>
          <a:ln w="36000">
            <a:solidFill>
              <a:srgbClr val="faa61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CustomShape 32"/>
          <p:cNvSpPr/>
          <p:nvPr/>
        </p:nvSpPr>
        <p:spPr>
          <a:xfrm>
            <a:off x="2052000" y="2124000"/>
            <a:ext cx="575640" cy="330480"/>
          </a:xfrm>
          <a:prstGeom prst="rect">
            <a:avLst/>
          </a:prstGeom>
          <a:noFill/>
          <a:ln w="36000">
            <a:solidFill>
              <a:srgbClr val="faa61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CustomShape 33"/>
          <p:cNvSpPr/>
          <p:nvPr/>
        </p:nvSpPr>
        <p:spPr>
          <a:xfrm>
            <a:off x="2052000" y="2987280"/>
            <a:ext cx="575640" cy="330480"/>
          </a:xfrm>
          <a:prstGeom prst="rect">
            <a:avLst/>
          </a:prstGeom>
          <a:noFill/>
          <a:ln w="36000">
            <a:solidFill>
              <a:srgbClr val="00a65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CustomShape 34"/>
          <p:cNvSpPr/>
          <p:nvPr/>
        </p:nvSpPr>
        <p:spPr>
          <a:xfrm>
            <a:off x="2054520" y="3570480"/>
            <a:ext cx="575640" cy="228600"/>
          </a:xfrm>
          <a:prstGeom prst="rect">
            <a:avLst/>
          </a:prstGeom>
          <a:noFill/>
          <a:ln w="36000">
            <a:solidFill>
              <a:srgbClr val="00a65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CustomShape 35"/>
          <p:cNvSpPr/>
          <p:nvPr/>
        </p:nvSpPr>
        <p:spPr>
          <a:xfrm>
            <a:off x="2054520" y="3864600"/>
            <a:ext cx="575640" cy="282240"/>
          </a:xfrm>
          <a:prstGeom prst="rect">
            <a:avLst/>
          </a:prstGeom>
          <a:noFill/>
          <a:ln w="36000">
            <a:solidFill>
              <a:srgbClr val="faa61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CustomShape 36"/>
          <p:cNvSpPr/>
          <p:nvPr/>
        </p:nvSpPr>
        <p:spPr>
          <a:xfrm>
            <a:off x="2054520" y="4404600"/>
            <a:ext cx="575640" cy="330480"/>
          </a:xfrm>
          <a:prstGeom prst="rect">
            <a:avLst/>
          </a:prstGeom>
          <a:noFill/>
          <a:ln w="36000">
            <a:solidFill>
              <a:srgbClr val="faa61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CustomShape 37"/>
          <p:cNvSpPr/>
          <p:nvPr/>
        </p:nvSpPr>
        <p:spPr>
          <a:xfrm>
            <a:off x="1116000" y="2694960"/>
            <a:ext cx="1079640" cy="365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Noto Sans CJK SC Regular"/>
              </a:rPr>
              <a:t>d(I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3</a:t>
            </a:r>
            <a:r>
              <a:rPr b="0" lang="es-AR" sz="1600" spc="-1" strike="noStrike">
                <a:latin typeface="Arial"/>
                <a:ea typeface="Noto Sans CJK SC Regular"/>
              </a:rPr>
              <a:t>,C</a:t>
            </a:r>
            <a:r>
              <a:rPr b="0" lang="es-AR" sz="1600" spc="-1" strike="noStrike" baseline="-33000">
                <a:latin typeface="Arial"/>
                <a:ea typeface="Noto Sans CJK SC Regular"/>
              </a:rPr>
              <a:t>1</a:t>
            </a:r>
            <a:r>
              <a:rPr b="0" lang="es-AR" sz="1600" spc="-1" strike="noStrike">
                <a:latin typeface="Arial"/>
                <a:ea typeface="Noto Sans CJK SC Regular"/>
              </a:rPr>
              <a:t>) =</a:t>
            </a:r>
            <a:endParaRPr b="0" lang="es-AR" sz="1600" spc="-1" strike="noStrike">
              <a:latin typeface="Arial"/>
            </a:endParaRPr>
          </a:p>
        </p:txBody>
      </p:sp>
      <p:sp>
        <p:nvSpPr>
          <p:cNvPr id="166" name="CustomShape 38"/>
          <p:cNvSpPr/>
          <p:nvPr/>
        </p:nvSpPr>
        <p:spPr>
          <a:xfrm>
            <a:off x="2052000" y="2647440"/>
            <a:ext cx="611640" cy="34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  <a:ea typeface="Arial"/>
              </a:rPr>
              <a:t>3,8</a:t>
            </a:r>
            <a:r>
              <a:rPr b="0" lang="es-AR" sz="1800" spc="-1" strike="noStrike" baseline="33000">
                <a:latin typeface="Arial"/>
                <a:ea typeface="Arial"/>
              </a:rPr>
              <a:t> </a:t>
            </a:r>
            <a:endParaRPr b="0" lang="es-AR" sz="1800" spc="-1" strike="noStrike">
              <a:latin typeface="Arial"/>
            </a:endParaRPr>
          </a:p>
        </p:txBody>
      </p:sp>
    </p:spTree>
  </p:cSld>
  <p:timing>
    <p:tnLst>
      <p:par>
        <p:cTn id="69" dur="indefinite" restart="never" nodeType="tmRoot">
          <p:childTnLst>
            <p:seq>
              <p:cTn id="7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CustomShape 1"/>
          <p:cNvSpPr/>
          <p:nvPr/>
        </p:nvSpPr>
        <p:spPr>
          <a:xfrm>
            <a:off x="504000" y="225720"/>
            <a:ext cx="9071280" cy="47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AR" sz="3300" spc="-1" strike="noStrike">
                <a:solidFill>
                  <a:srgbClr val="ffffff"/>
                </a:solidFill>
                <a:latin typeface="Arial"/>
              </a:rPr>
              <a:t>Agrupamiento Jerárquico</a:t>
            </a:r>
            <a:endParaRPr b="0" lang="es-AR" sz="3300" spc="-1" strike="noStrike">
              <a:latin typeface="Arial"/>
            </a:endParaRPr>
          </a:p>
        </p:txBody>
      </p:sp>
      <p:sp>
        <p:nvSpPr>
          <p:cNvPr id="168" name="CustomShape 2"/>
          <p:cNvSpPr/>
          <p:nvPr/>
        </p:nvSpPr>
        <p:spPr>
          <a:xfrm>
            <a:off x="61560" y="748080"/>
            <a:ext cx="9863640" cy="76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</a:rPr>
              <a:t>1. Sea la matriz de distancias entre 5 objetos dada por:</a:t>
            </a:r>
            <a:endParaRPr b="0" lang="es-AR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600" spc="-1" strike="noStrike">
                <a:latin typeface="Arial"/>
              </a:rPr>
              <a:t>Utilizando los métodos Single-Link y Complete Link, realizar los cálculos necesarios y representar la solución para cada método.</a:t>
            </a:r>
            <a:endParaRPr b="0" lang="es-AR" sz="1600" spc="-1" strike="noStrike">
              <a:latin typeface="Arial"/>
            </a:endParaRPr>
          </a:p>
        </p:txBody>
      </p:sp>
      <p:graphicFrame>
        <p:nvGraphicFramePr>
          <p:cNvPr id="169" name="Table 3"/>
          <p:cNvGraphicFramePr/>
          <p:nvPr/>
        </p:nvGraphicFramePr>
        <p:xfrm>
          <a:off x="197280" y="2147400"/>
          <a:ext cx="3367080" cy="2318040"/>
        </p:xfrm>
        <a:graphic>
          <a:graphicData uri="http://schemas.openxmlformats.org/drawingml/2006/table">
            <a:tbl>
              <a:tblPr/>
              <a:tblGrid>
                <a:gridCol w="561240"/>
                <a:gridCol w="561240"/>
                <a:gridCol w="561240"/>
                <a:gridCol w="561240"/>
                <a:gridCol w="561240"/>
                <a:gridCol w="561240"/>
              </a:tblGrid>
              <a:tr h="379440"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A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B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C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D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E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38844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A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0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8844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B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9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0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8844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C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3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7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 </a:t>
                      </a:r>
                      <a:r>
                        <a:rPr b="0" lang="es-AR" sz="1800" spc="-1" strike="noStrike">
                          <a:latin typeface="Arial"/>
                        </a:rPr>
                        <a:t>0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8844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D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6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5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9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0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8484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E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11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10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2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8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0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170" name="CustomShape 4"/>
          <p:cNvSpPr/>
          <p:nvPr/>
        </p:nvSpPr>
        <p:spPr>
          <a:xfrm>
            <a:off x="1908000" y="4070160"/>
            <a:ext cx="503640" cy="431640"/>
          </a:xfrm>
          <a:prstGeom prst="ellipse">
            <a:avLst/>
          </a:pr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CustomShape 5"/>
          <p:cNvSpPr/>
          <p:nvPr/>
        </p:nvSpPr>
        <p:spPr>
          <a:xfrm>
            <a:off x="216000" y="1597320"/>
            <a:ext cx="1306440" cy="34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800" spc="-1" strike="noStrike">
                <a:latin typeface="Arial"/>
              </a:rPr>
              <a:t>Single-Link</a:t>
            </a:r>
            <a:endParaRPr b="0" lang="es-AR" sz="1800" spc="-1" strike="noStrike">
              <a:latin typeface="Arial"/>
            </a:endParaRPr>
          </a:p>
        </p:txBody>
      </p:sp>
      <p:graphicFrame>
        <p:nvGraphicFramePr>
          <p:cNvPr id="172" name="Table 6"/>
          <p:cNvGraphicFramePr/>
          <p:nvPr/>
        </p:nvGraphicFramePr>
        <p:xfrm>
          <a:off x="3715920" y="1456200"/>
          <a:ext cx="2547720" cy="1855440"/>
        </p:xfrm>
        <a:graphic>
          <a:graphicData uri="http://schemas.openxmlformats.org/drawingml/2006/table">
            <a:tbl>
              <a:tblPr/>
              <a:tblGrid>
                <a:gridCol w="509760"/>
                <a:gridCol w="509760"/>
                <a:gridCol w="509760"/>
                <a:gridCol w="509760"/>
                <a:gridCol w="509040"/>
              </a:tblGrid>
              <a:tr h="371520"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A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B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CE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D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37152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A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0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7152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B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9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0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7152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CE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3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7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 </a:t>
                      </a:r>
                      <a:r>
                        <a:rPr b="0" lang="es-AR" sz="1400" spc="-1" strike="noStrike">
                          <a:latin typeface="Arial"/>
                        </a:rPr>
                        <a:t>0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6936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D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6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5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8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0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3" name="Table 7"/>
          <p:cNvGraphicFramePr/>
          <p:nvPr/>
        </p:nvGraphicFramePr>
        <p:xfrm>
          <a:off x="3777840" y="3518640"/>
          <a:ext cx="2341800" cy="1881000"/>
        </p:xfrm>
        <a:graphic>
          <a:graphicData uri="http://schemas.openxmlformats.org/drawingml/2006/table">
            <a:tbl>
              <a:tblPr/>
              <a:tblGrid>
                <a:gridCol w="585720"/>
                <a:gridCol w="585720"/>
                <a:gridCol w="585720"/>
                <a:gridCol w="585000"/>
              </a:tblGrid>
              <a:tr h="470520"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ACE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B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D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47052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300" spc="-1" strike="noStrike">
                          <a:latin typeface="Arial"/>
                        </a:rPr>
                        <a:t>ACE</a:t>
                      </a:r>
                      <a:endParaRPr b="0" lang="es-AR" sz="13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600" spc="-1" strike="noStrike">
                          <a:latin typeface="Arial"/>
                        </a:rPr>
                        <a:t>0</a:t>
                      </a:r>
                      <a:endParaRPr b="0" lang="es-AR" sz="16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47052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300" spc="-1" strike="noStrike">
                          <a:latin typeface="Arial"/>
                        </a:rPr>
                        <a:t>B</a:t>
                      </a:r>
                      <a:endParaRPr b="0" lang="es-AR" sz="13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600" spc="-1" strike="noStrike">
                          <a:latin typeface="Arial"/>
                        </a:rPr>
                        <a:t>7</a:t>
                      </a:r>
                      <a:endParaRPr b="0" lang="es-AR" sz="16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600" spc="-1" strike="noStrike">
                          <a:latin typeface="Arial"/>
                        </a:rPr>
                        <a:t>0</a:t>
                      </a:r>
                      <a:endParaRPr b="0" lang="es-AR" sz="16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46980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300" spc="-1" strike="noStrike">
                          <a:latin typeface="Arial"/>
                        </a:rPr>
                        <a:t>D</a:t>
                      </a:r>
                      <a:endParaRPr b="0" lang="es-AR" sz="13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600" spc="-1" strike="noStrike">
                          <a:latin typeface="Arial"/>
                        </a:rPr>
                        <a:t>6</a:t>
                      </a:r>
                      <a:endParaRPr b="0" lang="es-AR" sz="16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600" spc="-1" strike="noStrike">
                          <a:latin typeface="Arial"/>
                        </a:rPr>
                        <a:t>5</a:t>
                      </a:r>
                      <a:endParaRPr b="0" lang="es-AR" sz="16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600" spc="-1" strike="noStrike">
                          <a:latin typeface="Arial"/>
                        </a:rPr>
                        <a:t> </a:t>
                      </a:r>
                      <a:r>
                        <a:rPr b="0" lang="es-AR" sz="1600" spc="-1" strike="noStrike">
                          <a:latin typeface="Arial"/>
                        </a:rPr>
                        <a:t>0</a:t>
                      </a:r>
                      <a:endParaRPr b="0" lang="es-AR" sz="16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4" name="Table 8"/>
          <p:cNvGraphicFramePr/>
          <p:nvPr/>
        </p:nvGraphicFramePr>
        <p:xfrm>
          <a:off x="7286040" y="1422000"/>
          <a:ext cx="1585440" cy="1169640"/>
        </p:xfrm>
        <a:graphic>
          <a:graphicData uri="http://schemas.openxmlformats.org/drawingml/2006/table">
            <a:tbl>
              <a:tblPr/>
              <a:tblGrid>
                <a:gridCol w="528480"/>
                <a:gridCol w="528480"/>
                <a:gridCol w="528840"/>
              </a:tblGrid>
              <a:tr h="389880"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200" spc="-1" strike="noStrike">
                          <a:latin typeface="Arial"/>
                        </a:rPr>
                        <a:t>ACE</a:t>
                      </a:r>
                      <a:endParaRPr b="0" lang="es-AR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200" spc="-1" strike="noStrike">
                          <a:latin typeface="Arial"/>
                        </a:rPr>
                        <a:t>BD</a:t>
                      </a:r>
                      <a:endParaRPr b="0" lang="es-AR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38988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200" spc="-1" strike="noStrike">
                          <a:latin typeface="Arial"/>
                        </a:rPr>
                        <a:t>ACE</a:t>
                      </a:r>
                      <a:endParaRPr b="0" lang="es-AR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200" spc="-1" strike="noStrike">
                          <a:latin typeface="Arial"/>
                        </a:rPr>
                        <a:t>0</a:t>
                      </a:r>
                      <a:endParaRPr b="0" lang="es-AR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9024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200" spc="-1" strike="noStrike">
                          <a:latin typeface="Arial"/>
                        </a:rPr>
                        <a:t>BD</a:t>
                      </a:r>
                      <a:endParaRPr b="0" lang="es-AR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200" spc="-1" strike="noStrike">
                          <a:latin typeface="Arial"/>
                        </a:rPr>
                        <a:t>6</a:t>
                      </a:r>
                      <a:endParaRPr b="0" lang="es-AR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200" spc="-1" strike="noStrike">
                          <a:latin typeface="Arial"/>
                        </a:rPr>
                        <a:t>0</a:t>
                      </a:r>
                      <a:endParaRPr b="0" lang="es-AR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grpSp>
        <p:nvGrpSpPr>
          <p:cNvPr id="175" name="Group 9"/>
          <p:cNvGrpSpPr/>
          <p:nvPr/>
        </p:nvGrpSpPr>
        <p:grpSpPr>
          <a:xfrm>
            <a:off x="6696000" y="2952000"/>
            <a:ext cx="3167640" cy="2308680"/>
            <a:chOff x="6696000" y="2952000"/>
            <a:chExt cx="3167640" cy="2308680"/>
          </a:xfrm>
        </p:grpSpPr>
        <p:sp>
          <p:nvSpPr>
            <p:cNvPr id="176" name="Line 10"/>
            <p:cNvSpPr/>
            <p:nvPr/>
          </p:nvSpPr>
          <p:spPr>
            <a:xfrm flipV="1">
              <a:off x="6840000" y="4181040"/>
              <a:ext cx="360" cy="78948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7" name="Line 11"/>
            <p:cNvSpPr/>
            <p:nvPr/>
          </p:nvSpPr>
          <p:spPr>
            <a:xfrm>
              <a:off x="6840000" y="4181040"/>
              <a:ext cx="2448000" cy="36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8" name="Line 12"/>
            <p:cNvSpPr/>
            <p:nvPr/>
          </p:nvSpPr>
          <p:spPr>
            <a:xfrm>
              <a:off x="9072000" y="4610520"/>
              <a:ext cx="576000" cy="36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9" name="Line 13"/>
            <p:cNvSpPr/>
            <p:nvPr/>
          </p:nvSpPr>
          <p:spPr>
            <a:xfrm flipV="1">
              <a:off x="9072000" y="4610520"/>
              <a:ext cx="360" cy="43200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0" name="Line 14"/>
            <p:cNvSpPr/>
            <p:nvPr/>
          </p:nvSpPr>
          <p:spPr>
            <a:xfrm flipV="1">
              <a:off x="9648000" y="4610520"/>
              <a:ext cx="360" cy="43200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1" name="Line 15"/>
            <p:cNvSpPr/>
            <p:nvPr/>
          </p:nvSpPr>
          <p:spPr>
            <a:xfrm flipV="1">
              <a:off x="9288000" y="4181040"/>
              <a:ext cx="360" cy="42948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2" name="Line 16"/>
            <p:cNvSpPr/>
            <p:nvPr/>
          </p:nvSpPr>
          <p:spPr>
            <a:xfrm flipV="1">
              <a:off x="7740000" y="4538520"/>
              <a:ext cx="360" cy="43200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3" name="Line 17"/>
            <p:cNvSpPr/>
            <p:nvPr/>
          </p:nvSpPr>
          <p:spPr>
            <a:xfrm>
              <a:off x="7740000" y="4538520"/>
              <a:ext cx="792000" cy="36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" name="Line 18"/>
            <p:cNvSpPr/>
            <p:nvPr/>
          </p:nvSpPr>
          <p:spPr>
            <a:xfrm flipV="1">
              <a:off x="8532000" y="4538520"/>
              <a:ext cx="360" cy="43200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5" name="Line 19"/>
            <p:cNvSpPr/>
            <p:nvPr/>
          </p:nvSpPr>
          <p:spPr>
            <a:xfrm flipV="1">
              <a:off x="7704000" y="3458520"/>
              <a:ext cx="360" cy="72252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6" name="Line 20"/>
            <p:cNvSpPr/>
            <p:nvPr/>
          </p:nvSpPr>
          <p:spPr>
            <a:xfrm flipV="1">
              <a:off x="8280000" y="3458520"/>
              <a:ext cx="360" cy="108000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7" name="Line 21"/>
            <p:cNvSpPr/>
            <p:nvPr/>
          </p:nvSpPr>
          <p:spPr>
            <a:xfrm>
              <a:off x="7704000" y="3458520"/>
              <a:ext cx="576000" cy="36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8" name="Line 22"/>
            <p:cNvSpPr/>
            <p:nvPr/>
          </p:nvSpPr>
          <p:spPr>
            <a:xfrm flipV="1">
              <a:off x="7992000" y="3026520"/>
              <a:ext cx="360" cy="43200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9" name="CustomShape 23"/>
            <p:cNvSpPr/>
            <p:nvPr/>
          </p:nvSpPr>
          <p:spPr>
            <a:xfrm>
              <a:off x="6696000" y="4968000"/>
              <a:ext cx="299160" cy="29016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/>
            <a:p>
              <a:pPr>
                <a:lnSpc>
                  <a:spcPct val="100000"/>
                </a:lnSpc>
              </a:pPr>
              <a:r>
                <a:rPr b="0" lang="es-AR" sz="1400" spc="-1" strike="noStrike">
                  <a:latin typeface="Arial"/>
                </a:rPr>
                <a:t>A</a:t>
              </a:r>
              <a:endParaRPr b="0" lang="es-AR" sz="1400" spc="-1" strike="noStrike">
                <a:latin typeface="Arial"/>
              </a:endParaRPr>
            </a:p>
          </p:txBody>
        </p:sp>
        <p:sp>
          <p:nvSpPr>
            <p:cNvPr id="190" name="CustomShape 24"/>
            <p:cNvSpPr/>
            <p:nvPr/>
          </p:nvSpPr>
          <p:spPr>
            <a:xfrm>
              <a:off x="7632000" y="4968360"/>
              <a:ext cx="299160" cy="29016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/>
            <a:p>
              <a:pPr>
                <a:lnSpc>
                  <a:spcPct val="100000"/>
                </a:lnSpc>
              </a:pPr>
              <a:r>
                <a:rPr b="0" lang="es-AR" sz="1400" spc="-1" strike="noStrike">
                  <a:latin typeface="Arial"/>
                </a:rPr>
                <a:t>B</a:t>
              </a:r>
              <a:endParaRPr b="0" lang="es-AR" sz="1400" spc="-1" strike="noStrike">
                <a:latin typeface="Arial"/>
              </a:endParaRPr>
            </a:p>
          </p:txBody>
        </p:sp>
        <p:sp>
          <p:nvSpPr>
            <p:cNvPr id="191" name="CustomShape 25"/>
            <p:cNvSpPr/>
            <p:nvPr/>
          </p:nvSpPr>
          <p:spPr>
            <a:xfrm>
              <a:off x="8925480" y="4955040"/>
              <a:ext cx="299160" cy="29016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/>
            <a:p>
              <a:pPr>
                <a:lnSpc>
                  <a:spcPct val="100000"/>
                </a:lnSpc>
              </a:pPr>
              <a:r>
                <a:rPr b="0" lang="es-AR" sz="1400" spc="-1" strike="noStrike">
                  <a:latin typeface="Arial"/>
                </a:rPr>
                <a:t>C</a:t>
              </a:r>
              <a:endParaRPr b="0" lang="es-AR" sz="1400" spc="-1" strike="noStrike">
                <a:latin typeface="Arial"/>
              </a:endParaRPr>
            </a:p>
          </p:txBody>
        </p:sp>
        <p:sp>
          <p:nvSpPr>
            <p:cNvPr id="192" name="CustomShape 26"/>
            <p:cNvSpPr/>
            <p:nvPr/>
          </p:nvSpPr>
          <p:spPr>
            <a:xfrm>
              <a:off x="8388000" y="4970520"/>
              <a:ext cx="299160" cy="28980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/>
            <a:p>
              <a:pPr>
                <a:lnSpc>
                  <a:spcPct val="100000"/>
                </a:lnSpc>
              </a:pPr>
              <a:r>
                <a:rPr b="0" lang="es-AR" sz="1400" spc="-1" strike="noStrike">
                  <a:latin typeface="Arial"/>
                </a:rPr>
                <a:t>D</a:t>
              </a:r>
              <a:endParaRPr b="0" lang="es-AR" sz="1400" spc="-1" strike="noStrike">
                <a:latin typeface="Arial"/>
              </a:endParaRPr>
            </a:p>
          </p:txBody>
        </p:sp>
        <p:sp>
          <p:nvSpPr>
            <p:cNvPr id="193" name="CustomShape 27"/>
            <p:cNvSpPr/>
            <p:nvPr/>
          </p:nvSpPr>
          <p:spPr>
            <a:xfrm>
              <a:off x="9504000" y="4970520"/>
              <a:ext cx="299160" cy="29016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/>
            <a:p>
              <a:pPr>
                <a:lnSpc>
                  <a:spcPct val="100000"/>
                </a:lnSpc>
              </a:pPr>
              <a:r>
                <a:rPr b="0" lang="es-AR" sz="1400" spc="-1" strike="noStrike">
                  <a:latin typeface="Arial"/>
                </a:rPr>
                <a:t>E</a:t>
              </a:r>
              <a:endParaRPr b="0" lang="es-AR" sz="1400" spc="-1" strike="noStrike">
                <a:latin typeface="Arial"/>
              </a:endParaRPr>
            </a:p>
          </p:txBody>
        </p:sp>
        <p:sp>
          <p:nvSpPr>
            <p:cNvPr id="194" name="CustomShape 28"/>
            <p:cNvSpPr/>
            <p:nvPr/>
          </p:nvSpPr>
          <p:spPr>
            <a:xfrm>
              <a:off x="9436320" y="4322520"/>
              <a:ext cx="427320" cy="29016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/>
            <a:p>
              <a:pPr>
                <a:lnSpc>
                  <a:spcPct val="100000"/>
                </a:lnSpc>
              </a:pPr>
              <a:r>
                <a:rPr b="0" lang="es-AR" sz="1300" spc="-1" strike="noStrike">
                  <a:latin typeface="Arial"/>
                </a:rPr>
                <a:t>CE</a:t>
              </a:r>
              <a:endParaRPr b="0" lang="es-AR" sz="1300" spc="-1" strike="noStrike">
                <a:latin typeface="Arial"/>
              </a:endParaRPr>
            </a:p>
          </p:txBody>
        </p:sp>
        <p:sp>
          <p:nvSpPr>
            <p:cNvPr id="195" name="CustomShape 29"/>
            <p:cNvSpPr/>
            <p:nvPr/>
          </p:nvSpPr>
          <p:spPr>
            <a:xfrm>
              <a:off x="6725520" y="3890520"/>
              <a:ext cx="546120" cy="29016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/>
            <a:p>
              <a:pPr>
                <a:lnSpc>
                  <a:spcPct val="100000"/>
                </a:lnSpc>
              </a:pPr>
              <a:r>
                <a:rPr b="0" lang="es-AR" sz="1400" spc="-1" strike="noStrike">
                  <a:latin typeface="Arial"/>
                </a:rPr>
                <a:t>ACE</a:t>
              </a:r>
              <a:endParaRPr b="0" lang="es-AR" sz="1400" spc="-1" strike="noStrike">
                <a:latin typeface="Arial"/>
              </a:endParaRPr>
            </a:p>
          </p:txBody>
        </p:sp>
        <p:sp>
          <p:nvSpPr>
            <p:cNvPr id="196" name="CustomShape 30"/>
            <p:cNvSpPr/>
            <p:nvPr/>
          </p:nvSpPr>
          <p:spPr>
            <a:xfrm>
              <a:off x="7527600" y="4277160"/>
              <a:ext cx="392040" cy="26100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/>
            <a:p>
              <a:pPr>
                <a:lnSpc>
                  <a:spcPct val="100000"/>
                </a:lnSpc>
              </a:pPr>
              <a:r>
                <a:rPr b="0" lang="es-AR" sz="1200" spc="-1" strike="noStrike">
                  <a:latin typeface="Arial"/>
                </a:rPr>
                <a:t>BD</a:t>
              </a:r>
              <a:endParaRPr b="0" lang="es-AR" sz="1200" spc="-1" strike="noStrike">
                <a:latin typeface="Arial"/>
              </a:endParaRPr>
            </a:p>
          </p:txBody>
        </p:sp>
        <p:sp>
          <p:nvSpPr>
            <p:cNvPr id="197" name="CustomShape 31"/>
            <p:cNvSpPr/>
            <p:nvPr/>
          </p:nvSpPr>
          <p:spPr>
            <a:xfrm>
              <a:off x="7992000" y="2952000"/>
              <a:ext cx="1223640" cy="28980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/>
            <a:p>
              <a:pPr>
                <a:lnSpc>
                  <a:spcPct val="100000"/>
                </a:lnSpc>
              </a:pPr>
              <a:r>
                <a:rPr b="0" lang="es-AR" sz="1400" spc="-1" strike="noStrike">
                  <a:latin typeface="Arial"/>
                </a:rPr>
                <a:t>(ACE)(BD)</a:t>
              </a:r>
              <a:endParaRPr b="0" lang="es-AR" sz="1400" spc="-1" strike="noStrike">
                <a:latin typeface="Arial"/>
              </a:endParaRPr>
            </a:p>
          </p:txBody>
        </p:sp>
      </p:grpSp>
      <p:sp>
        <p:nvSpPr>
          <p:cNvPr id="198" name="CustomShape 32"/>
          <p:cNvSpPr/>
          <p:nvPr/>
        </p:nvSpPr>
        <p:spPr>
          <a:xfrm>
            <a:off x="4248000" y="2520000"/>
            <a:ext cx="503640" cy="431640"/>
          </a:xfrm>
          <a:prstGeom prst="ellipse">
            <a:avLst/>
          </a:pr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CustomShape 33"/>
          <p:cNvSpPr/>
          <p:nvPr/>
        </p:nvSpPr>
        <p:spPr>
          <a:xfrm>
            <a:off x="4968000" y="4967640"/>
            <a:ext cx="503640" cy="431640"/>
          </a:xfrm>
          <a:prstGeom prst="ellipse">
            <a:avLst/>
          </a:pr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</p:spTree>
  </p:cSld>
  <p:timing>
    <p:tnLst>
      <p:par>
        <p:cTn id="71" dur="indefinite" restart="never" nodeType="tmRoot">
          <p:childTnLst>
            <p:seq>
              <p:cTn id="72" dur="indefinite" nodeType="mainSeq">
                <p:childTnLst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ustomShape 1"/>
          <p:cNvSpPr/>
          <p:nvPr/>
        </p:nvSpPr>
        <p:spPr>
          <a:xfrm>
            <a:off x="504000" y="225720"/>
            <a:ext cx="9071280" cy="47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AR" sz="3300" spc="-1" strike="noStrike">
                <a:solidFill>
                  <a:srgbClr val="ffffff"/>
                </a:solidFill>
                <a:latin typeface="Arial"/>
              </a:rPr>
              <a:t>Agrupamiento Jerárquico</a:t>
            </a:r>
            <a:endParaRPr b="0" lang="es-AR" sz="3300" spc="-1" strike="noStrike">
              <a:latin typeface="Arial"/>
            </a:endParaRPr>
          </a:p>
        </p:txBody>
      </p:sp>
      <p:graphicFrame>
        <p:nvGraphicFramePr>
          <p:cNvPr id="201" name="Table 2"/>
          <p:cNvGraphicFramePr/>
          <p:nvPr/>
        </p:nvGraphicFramePr>
        <p:xfrm>
          <a:off x="175680" y="1097280"/>
          <a:ext cx="3367080" cy="2318040"/>
        </p:xfrm>
        <a:graphic>
          <a:graphicData uri="http://schemas.openxmlformats.org/drawingml/2006/table">
            <a:tbl>
              <a:tblPr/>
              <a:tblGrid>
                <a:gridCol w="561240"/>
                <a:gridCol w="561240"/>
                <a:gridCol w="561240"/>
                <a:gridCol w="561240"/>
                <a:gridCol w="561240"/>
                <a:gridCol w="561240"/>
              </a:tblGrid>
              <a:tr h="379440"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A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B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C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D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E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38844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A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0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8844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B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9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0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8844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C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3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7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 </a:t>
                      </a:r>
                      <a:r>
                        <a:rPr b="0" lang="es-AR" sz="1800" spc="-1" strike="noStrike">
                          <a:latin typeface="Arial"/>
                        </a:rPr>
                        <a:t>0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8844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D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6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5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9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0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8484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E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11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10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2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8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0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202" name="CustomShape 3"/>
          <p:cNvSpPr/>
          <p:nvPr/>
        </p:nvSpPr>
        <p:spPr>
          <a:xfrm>
            <a:off x="1872000" y="3024000"/>
            <a:ext cx="503640" cy="431640"/>
          </a:xfrm>
          <a:prstGeom prst="ellipse">
            <a:avLst/>
          </a:pr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CustomShape 4"/>
          <p:cNvSpPr/>
          <p:nvPr/>
        </p:nvSpPr>
        <p:spPr>
          <a:xfrm>
            <a:off x="277200" y="720000"/>
            <a:ext cx="2170440" cy="34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800" spc="-1" strike="noStrike">
                <a:latin typeface="Arial"/>
              </a:rPr>
              <a:t>Complete-Link</a:t>
            </a:r>
            <a:endParaRPr b="0" lang="es-AR" sz="1800" spc="-1" strike="noStrike">
              <a:latin typeface="Arial"/>
            </a:endParaRPr>
          </a:p>
        </p:txBody>
      </p:sp>
      <p:graphicFrame>
        <p:nvGraphicFramePr>
          <p:cNvPr id="204" name="Table 5"/>
          <p:cNvGraphicFramePr/>
          <p:nvPr/>
        </p:nvGraphicFramePr>
        <p:xfrm>
          <a:off x="636120" y="3516120"/>
          <a:ext cx="2547720" cy="1855440"/>
        </p:xfrm>
        <a:graphic>
          <a:graphicData uri="http://schemas.openxmlformats.org/drawingml/2006/table">
            <a:tbl>
              <a:tblPr/>
              <a:tblGrid>
                <a:gridCol w="509760"/>
                <a:gridCol w="509760"/>
                <a:gridCol w="509760"/>
                <a:gridCol w="509760"/>
                <a:gridCol w="509040"/>
              </a:tblGrid>
              <a:tr h="371520"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A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B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CE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D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37152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A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0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7152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B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9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0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7152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CE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11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10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 </a:t>
                      </a:r>
                      <a:r>
                        <a:rPr b="0" lang="es-AR" sz="1400" spc="-1" strike="noStrike">
                          <a:latin typeface="Arial"/>
                        </a:rPr>
                        <a:t>0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6936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D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6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5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9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0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5" name="Table 6"/>
          <p:cNvGraphicFramePr/>
          <p:nvPr/>
        </p:nvGraphicFramePr>
        <p:xfrm>
          <a:off x="3934800" y="1073880"/>
          <a:ext cx="2341800" cy="1881000"/>
        </p:xfrm>
        <a:graphic>
          <a:graphicData uri="http://schemas.openxmlformats.org/drawingml/2006/table">
            <a:tbl>
              <a:tblPr/>
              <a:tblGrid>
                <a:gridCol w="585720"/>
                <a:gridCol w="585720"/>
                <a:gridCol w="585720"/>
                <a:gridCol w="585000"/>
              </a:tblGrid>
              <a:tr h="470520"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A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BD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CE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47052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300" spc="-1" strike="noStrike">
                          <a:latin typeface="Arial"/>
                        </a:rPr>
                        <a:t>A</a:t>
                      </a:r>
                      <a:endParaRPr b="0" lang="es-AR" sz="13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600" spc="-1" strike="noStrike">
                          <a:latin typeface="Arial"/>
                        </a:rPr>
                        <a:t>0</a:t>
                      </a:r>
                      <a:endParaRPr b="0" lang="es-AR" sz="16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47052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300" spc="-1" strike="noStrike">
                          <a:latin typeface="Arial"/>
                        </a:rPr>
                        <a:t>BD</a:t>
                      </a:r>
                      <a:endParaRPr b="0" lang="es-AR" sz="13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600" spc="-1" strike="noStrike">
                          <a:latin typeface="Arial"/>
                        </a:rPr>
                        <a:t>9</a:t>
                      </a:r>
                      <a:endParaRPr b="0" lang="es-AR" sz="16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600" spc="-1" strike="noStrike">
                          <a:latin typeface="Arial"/>
                        </a:rPr>
                        <a:t>0</a:t>
                      </a:r>
                      <a:endParaRPr b="0" lang="es-AR" sz="16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46980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300" spc="-1" strike="noStrike">
                          <a:latin typeface="Arial"/>
                        </a:rPr>
                        <a:t>CE</a:t>
                      </a:r>
                      <a:endParaRPr b="0" lang="es-AR" sz="13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600" spc="-1" strike="noStrike">
                          <a:latin typeface="Arial"/>
                        </a:rPr>
                        <a:t>11</a:t>
                      </a:r>
                      <a:endParaRPr b="0" lang="es-AR" sz="16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600" spc="-1" strike="noStrike">
                          <a:latin typeface="Arial"/>
                        </a:rPr>
                        <a:t>10</a:t>
                      </a:r>
                      <a:endParaRPr b="0" lang="es-AR" sz="16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600" spc="-1" strike="noStrike">
                          <a:latin typeface="Arial"/>
                        </a:rPr>
                        <a:t> </a:t>
                      </a:r>
                      <a:r>
                        <a:rPr b="0" lang="es-AR" sz="1600" spc="-1" strike="noStrike">
                          <a:latin typeface="Arial"/>
                        </a:rPr>
                        <a:t>0</a:t>
                      </a:r>
                      <a:endParaRPr b="0" lang="es-AR" sz="16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6" name="Table 7"/>
          <p:cNvGraphicFramePr/>
          <p:nvPr/>
        </p:nvGraphicFramePr>
        <p:xfrm>
          <a:off x="4318200" y="3351960"/>
          <a:ext cx="1706400" cy="1278000"/>
        </p:xfrm>
        <a:graphic>
          <a:graphicData uri="http://schemas.openxmlformats.org/drawingml/2006/table">
            <a:tbl>
              <a:tblPr/>
              <a:tblGrid>
                <a:gridCol w="568440"/>
                <a:gridCol w="568440"/>
                <a:gridCol w="569880"/>
              </a:tblGrid>
              <a:tr h="425880"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300" spc="-1" strike="noStrike">
                          <a:latin typeface="Arial"/>
                        </a:rPr>
                        <a:t>ABD</a:t>
                      </a:r>
                      <a:endParaRPr b="0" lang="es-AR" sz="13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300" spc="-1" strike="noStrike">
                          <a:latin typeface="Arial"/>
                        </a:rPr>
                        <a:t>CE</a:t>
                      </a:r>
                      <a:endParaRPr b="0" lang="es-AR" sz="13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42588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300" spc="-1" strike="noStrike">
                          <a:latin typeface="Arial"/>
                          <a:ea typeface="Noto Sans CJK SC"/>
                        </a:rPr>
                        <a:t>ABD</a:t>
                      </a:r>
                      <a:endParaRPr b="0" lang="es-AR" sz="13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300" spc="-1" strike="noStrike">
                          <a:latin typeface="Arial"/>
                        </a:rPr>
                        <a:t>0</a:t>
                      </a:r>
                      <a:endParaRPr b="0" lang="es-AR" sz="13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42660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300" spc="-1" strike="noStrike">
                          <a:latin typeface="Arial"/>
                        </a:rPr>
                        <a:t>CE</a:t>
                      </a:r>
                      <a:endParaRPr b="0" lang="es-AR" sz="13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300" spc="-1" strike="noStrike">
                          <a:latin typeface="Arial"/>
                        </a:rPr>
                        <a:t>11</a:t>
                      </a:r>
                      <a:endParaRPr b="0" lang="es-AR" sz="13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300" spc="-1" strike="noStrike">
                          <a:latin typeface="Arial"/>
                        </a:rPr>
                        <a:t>0</a:t>
                      </a:r>
                      <a:endParaRPr b="0" lang="es-AR" sz="13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sp>
        <p:nvSpPr>
          <p:cNvPr id="207" name="CustomShape 8"/>
          <p:cNvSpPr/>
          <p:nvPr/>
        </p:nvSpPr>
        <p:spPr>
          <a:xfrm>
            <a:off x="1692360" y="4968360"/>
            <a:ext cx="503640" cy="431640"/>
          </a:xfrm>
          <a:prstGeom prst="ellipse">
            <a:avLst/>
          </a:pr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CustomShape 9"/>
          <p:cNvSpPr/>
          <p:nvPr/>
        </p:nvSpPr>
        <p:spPr>
          <a:xfrm>
            <a:off x="4536000" y="2016000"/>
            <a:ext cx="503640" cy="431640"/>
          </a:xfrm>
          <a:prstGeom prst="ellipse">
            <a:avLst/>
          </a:pr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grpSp>
        <p:nvGrpSpPr>
          <p:cNvPr id="209" name="Group 10"/>
          <p:cNvGrpSpPr/>
          <p:nvPr/>
        </p:nvGrpSpPr>
        <p:grpSpPr>
          <a:xfrm>
            <a:off x="6768000" y="2589480"/>
            <a:ext cx="3107160" cy="2308680"/>
            <a:chOff x="6768000" y="2589480"/>
            <a:chExt cx="3107160" cy="2308680"/>
          </a:xfrm>
        </p:grpSpPr>
        <p:sp>
          <p:nvSpPr>
            <p:cNvPr id="210" name="Line 11"/>
            <p:cNvSpPr/>
            <p:nvPr/>
          </p:nvSpPr>
          <p:spPr>
            <a:xfrm flipV="1">
              <a:off x="6911640" y="3528000"/>
              <a:ext cx="360" cy="108000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1" name="Line 12"/>
            <p:cNvSpPr/>
            <p:nvPr/>
          </p:nvSpPr>
          <p:spPr>
            <a:xfrm>
              <a:off x="6911640" y="3528000"/>
              <a:ext cx="1152000" cy="36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2" name="Line 13"/>
            <p:cNvSpPr/>
            <p:nvPr/>
          </p:nvSpPr>
          <p:spPr>
            <a:xfrm>
              <a:off x="9000000" y="4248000"/>
              <a:ext cx="720000" cy="36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3" name="Line 14"/>
            <p:cNvSpPr/>
            <p:nvPr/>
          </p:nvSpPr>
          <p:spPr>
            <a:xfrm flipV="1">
              <a:off x="9000000" y="4247280"/>
              <a:ext cx="360" cy="43200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4" name="Line 15"/>
            <p:cNvSpPr/>
            <p:nvPr/>
          </p:nvSpPr>
          <p:spPr>
            <a:xfrm flipV="1">
              <a:off x="9720000" y="4248000"/>
              <a:ext cx="360" cy="43200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5" name="Line 16"/>
            <p:cNvSpPr/>
            <p:nvPr/>
          </p:nvSpPr>
          <p:spPr>
            <a:xfrm flipV="1">
              <a:off x="8064000" y="3528000"/>
              <a:ext cx="360" cy="64800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6" name="Line 17"/>
            <p:cNvSpPr/>
            <p:nvPr/>
          </p:nvSpPr>
          <p:spPr>
            <a:xfrm flipV="1">
              <a:off x="7416000" y="4176000"/>
              <a:ext cx="360" cy="43200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7" name="Line 18"/>
            <p:cNvSpPr/>
            <p:nvPr/>
          </p:nvSpPr>
          <p:spPr>
            <a:xfrm>
              <a:off x="7416000" y="4176000"/>
              <a:ext cx="1008000" cy="36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8" name="Line 19"/>
            <p:cNvSpPr/>
            <p:nvPr/>
          </p:nvSpPr>
          <p:spPr>
            <a:xfrm flipV="1">
              <a:off x="8424000" y="4176000"/>
              <a:ext cx="360" cy="43200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9" name="Line 20"/>
            <p:cNvSpPr/>
            <p:nvPr/>
          </p:nvSpPr>
          <p:spPr>
            <a:xfrm flipV="1">
              <a:off x="7488000" y="3096000"/>
              <a:ext cx="360" cy="43200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0" name="Line 21"/>
            <p:cNvSpPr/>
            <p:nvPr/>
          </p:nvSpPr>
          <p:spPr>
            <a:xfrm flipV="1">
              <a:off x="9360000" y="3096000"/>
              <a:ext cx="360" cy="115200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1" name="Line 22"/>
            <p:cNvSpPr/>
            <p:nvPr/>
          </p:nvSpPr>
          <p:spPr>
            <a:xfrm>
              <a:off x="7488000" y="3096000"/>
              <a:ext cx="1872000" cy="36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2" name="Line 23"/>
            <p:cNvSpPr/>
            <p:nvPr/>
          </p:nvSpPr>
          <p:spPr>
            <a:xfrm flipV="1">
              <a:off x="8064000" y="2664000"/>
              <a:ext cx="360" cy="43200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3" name="CustomShape 24"/>
            <p:cNvSpPr/>
            <p:nvPr/>
          </p:nvSpPr>
          <p:spPr>
            <a:xfrm>
              <a:off x="6768000" y="4605480"/>
              <a:ext cx="299160" cy="29016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/>
            <a:p>
              <a:pPr>
                <a:lnSpc>
                  <a:spcPct val="100000"/>
                </a:lnSpc>
              </a:pPr>
              <a:r>
                <a:rPr b="0" lang="es-AR" sz="1400" spc="-1" strike="noStrike">
                  <a:latin typeface="Arial"/>
                </a:rPr>
                <a:t>A</a:t>
              </a:r>
              <a:endParaRPr b="0" lang="es-AR" sz="1400" spc="-1" strike="noStrike">
                <a:latin typeface="Arial"/>
              </a:endParaRPr>
            </a:p>
          </p:txBody>
        </p:sp>
        <p:sp>
          <p:nvSpPr>
            <p:cNvPr id="224" name="CustomShape 25"/>
            <p:cNvSpPr/>
            <p:nvPr/>
          </p:nvSpPr>
          <p:spPr>
            <a:xfrm>
              <a:off x="7308000" y="4605840"/>
              <a:ext cx="299160" cy="29016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/>
            <a:p>
              <a:pPr>
                <a:lnSpc>
                  <a:spcPct val="100000"/>
                </a:lnSpc>
              </a:pPr>
              <a:r>
                <a:rPr b="0" lang="es-AR" sz="1400" spc="-1" strike="noStrike">
                  <a:latin typeface="Arial"/>
                </a:rPr>
                <a:t>B</a:t>
              </a:r>
              <a:endParaRPr b="0" lang="es-AR" sz="1400" spc="-1" strike="noStrike">
                <a:latin typeface="Arial"/>
              </a:endParaRPr>
            </a:p>
          </p:txBody>
        </p:sp>
        <p:sp>
          <p:nvSpPr>
            <p:cNvPr id="225" name="CustomShape 26"/>
            <p:cNvSpPr/>
            <p:nvPr/>
          </p:nvSpPr>
          <p:spPr>
            <a:xfrm>
              <a:off x="8856000" y="4605480"/>
              <a:ext cx="299160" cy="29016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/>
            <a:p>
              <a:pPr>
                <a:lnSpc>
                  <a:spcPct val="100000"/>
                </a:lnSpc>
              </a:pPr>
              <a:r>
                <a:rPr b="0" lang="es-AR" sz="1400" spc="-1" strike="noStrike">
                  <a:latin typeface="Arial"/>
                </a:rPr>
                <a:t>C</a:t>
              </a:r>
              <a:endParaRPr b="0" lang="es-AR" sz="1400" spc="-1" strike="noStrike">
                <a:latin typeface="Arial"/>
              </a:endParaRPr>
            </a:p>
          </p:txBody>
        </p:sp>
        <p:sp>
          <p:nvSpPr>
            <p:cNvPr id="226" name="CustomShape 27"/>
            <p:cNvSpPr/>
            <p:nvPr/>
          </p:nvSpPr>
          <p:spPr>
            <a:xfrm>
              <a:off x="8268480" y="4605480"/>
              <a:ext cx="299160" cy="29016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/>
            <a:p>
              <a:pPr>
                <a:lnSpc>
                  <a:spcPct val="100000"/>
                </a:lnSpc>
              </a:pPr>
              <a:r>
                <a:rPr b="0" lang="es-AR" sz="1400" spc="-1" strike="noStrike">
                  <a:latin typeface="Arial"/>
                </a:rPr>
                <a:t>D</a:t>
              </a:r>
              <a:endParaRPr b="0" lang="es-AR" sz="1400" spc="-1" strike="noStrike">
                <a:latin typeface="Arial"/>
              </a:endParaRPr>
            </a:p>
          </p:txBody>
        </p:sp>
        <p:sp>
          <p:nvSpPr>
            <p:cNvPr id="227" name="CustomShape 28"/>
            <p:cNvSpPr/>
            <p:nvPr/>
          </p:nvSpPr>
          <p:spPr>
            <a:xfrm>
              <a:off x="9576000" y="4608000"/>
              <a:ext cx="299160" cy="29016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/>
            <a:p>
              <a:pPr>
                <a:lnSpc>
                  <a:spcPct val="100000"/>
                </a:lnSpc>
              </a:pPr>
              <a:r>
                <a:rPr b="0" lang="es-AR" sz="1400" spc="-1" strike="noStrike">
                  <a:latin typeface="Arial"/>
                </a:rPr>
                <a:t>E</a:t>
              </a:r>
              <a:endParaRPr b="0" lang="es-AR" sz="1400" spc="-1" strike="noStrike">
                <a:latin typeface="Arial"/>
              </a:endParaRPr>
            </a:p>
          </p:txBody>
        </p:sp>
        <p:sp>
          <p:nvSpPr>
            <p:cNvPr id="228" name="CustomShape 29"/>
            <p:cNvSpPr/>
            <p:nvPr/>
          </p:nvSpPr>
          <p:spPr>
            <a:xfrm>
              <a:off x="9432000" y="3957480"/>
              <a:ext cx="427320" cy="29016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/>
            <a:p>
              <a:pPr>
                <a:lnSpc>
                  <a:spcPct val="100000"/>
                </a:lnSpc>
              </a:pPr>
              <a:r>
                <a:rPr b="0" lang="es-AR" sz="1400" spc="-1" strike="noStrike">
                  <a:latin typeface="Arial"/>
                </a:rPr>
                <a:t>CE</a:t>
              </a:r>
              <a:endParaRPr b="0" lang="es-AR" sz="1400" spc="-1" strike="noStrike">
                <a:latin typeface="Arial"/>
              </a:endParaRPr>
            </a:p>
          </p:txBody>
        </p:sp>
        <p:sp>
          <p:nvSpPr>
            <p:cNvPr id="229" name="CustomShape 30"/>
            <p:cNvSpPr/>
            <p:nvPr/>
          </p:nvSpPr>
          <p:spPr>
            <a:xfrm>
              <a:off x="6768000" y="3237480"/>
              <a:ext cx="546120" cy="29016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/>
            <a:p>
              <a:pPr>
                <a:lnSpc>
                  <a:spcPct val="100000"/>
                </a:lnSpc>
              </a:pPr>
              <a:r>
                <a:rPr b="0" lang="es-AR" sz="1400" spc="-1" strike="noStrike">
                  <a:latin typeface="Arial"/>
                </a:rPr>
                <a:t>ABD</a:t>
              </a:r>
              <a:endParaRPr b="0" lang="es-AR" sz="1400" spc="-1" strike="noStrike">
                <a:latin typeface="Arial"/>
              </a:endParaRPr>
            </a:p>
          </p:txBody>
        </p:sp>
        <p:sp>
          <p:nvSpPr>
            <p:cNvPr id="230" name="CustomShape 31"/>
            <p:cNvSpPr/>
            <p:nvPr/>
          </p:nvSpPr>
          <p:spPr>
            <a:xfrm>
              <a:off x="8064000" y="2589480"/>
              <a:ext cx="1223640" cy="28980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/>
            <a:p>
              <a:pPr>
                <a:lnSpc>
                  <a:spcPct val="100000"/>
                </a:lnSpc>
              </a:pPr>
              <a:r>
                <a:rPr b="0" lang="es-AR" sz="1400" spc="-1" strike="noStrike">
                  <a:latin typeface="Arial"/>
                </a:rPr>
                <a:t>(ABD)(CE)</a:t>
              </a:r>
              <a:endParaRPr b="0" lang="es-AR" sz="1400" spc="-1" strike="noStrike">
                <a:latin typeface="Arial"/>
              </a:endParaRPr>
            </a:p>
          </p:txBody>
        </p:sp>
        <p:sp>
          <p:nvSpPr>
            <p:cNvPr id="231" name="CustomShape 32"/>
            <p:cNvSpPr/>
            <p:nvPr/>
          </p:nvSpPr>
          <p:spPr>
            <a:xfrm>
              <a:off x="7488000" y="3842640"/>
              <a:ext cx="392040" cy="26100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/>
            <a:p>
              <a:pPr>
                <a:lnSpc>
                  <a:spcPct val="100000"/>
                </a:lnSpc>
              </a:pPr>
              <a:r>
                <a:rPr b="0" lang="es-AR" sz="1200" spc="-1" strike="noStrike">
                  <a:latin typeface="Arial"/>
                </a:rPr>
                <a:t>BD</a:t>
              </a:r>
              <a:endParaRPr b="0" lang="es-AR" sz="1200" spc="-1" strike="noStrike">
                <a:latin typeface="Arial"/>
              </a:endParaRPr>
            </a:p>
          </p:txBody>
        </p:sp>
      </p:grpSp>
    </p:spTree>
  </p:cSld>
  <p:timing>
    <p:tnLst>
      <p:par>
        <p:cTn id="101" dur="indefinite" restart="never" nodeType="tmRoot">
          <p:childTnLst>
            <p:seq>
              <p:cTn id="102" dur="indefinite" nodeType="mainSeq">
                <p:childTnLst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CustomShape 1"/>
          <p:cNvSpPr/>
          <p:nvPr/>
        </p:nvSpPr>
        <p:spPr>
          <a:xfrm>
            <a:off x="504000" y="225720"/>
            <a:ext cx="9071280" cy="47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AR" sz="3300" spc="-1" strike="noStrike">
                <a:solidFill>
                  <a:srgbClr val="ffffff"/>
                </a:solidFill>
                <a:latin typeface="Arial"/>
              </a:rPr>
              <a:t>Agrupamiento Jerárquico</a:t>
            </a:r>
            <a:endParaRPr b="0" lang="es-AR" sz="3300" spc="-1" strike="noStrike">
              <a:latin typeface="Arial"/>
            </a:endParaRPr>
          </a:p>
        </p:txBody>
      </p:sp>
      <p:graphicFrame>
        <p:nvGraphicFramePr>
          <p:cNvPr id="233" name="Table 2"/>
          <p:cNvGraphicFramePr/>
          <p:nvPr/>
        </p:nvGraphicFramePr>
        <p:xfrm>
          <a:off x="175680" y="1097280"/>
          <a:ext cx="3367080" cy="2318040"/>
        </p:xfrm>
        <a:graphic>
          <a:graphicData uri="http://schemas.openxmlformats.org/drawingml/2006/table">
            <a:tbl>
              <a:tblPr/>
              <a:tblGrid>
                <a:gridCol w="561240"/>
                <a:gridCol w="561240"/>
                <a:gridCol w="561240"/>
                <a:gridCol w="561240"/>
                <a:gridCol w="561240"/>
                <a:gridCol w="561240"/>
              </a:tblGrid>
              <a:tr h="379440"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A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B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C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D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E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38844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A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0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8844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B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9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0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8844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C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3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7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 </a:t>
                      </a:r>
                      <a:r>
                        <a:rPr b="0" lang="es-AR" sz="1800" spc="-1" strike="noStrike">
                          <a:latin typeface="Arial"/>
                        </a:rPr>
                        <a:t>0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8844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D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6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5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9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0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8484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E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11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10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2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8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800" spc="-1" strike="noStrike">
                          <a:latin typeface="Arial"/>
                        </a:rPr>
                        <a:t>0</a:t>
                      </a:r>
                      <a:endParaRPr b="0" lang="es-AR" sz="18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234" name="CustomShape 3"/>
          <p:cNvSpPr/>
          <p:nvPr/>
        </p:nvSpPr>
        <p:spPr>
          <a:xfrm>
            <a:off x="1872000" y="3024000"/>
            <a:ext cx="503640" cy="431640"/>
          </a:xfrm>
          <a:prstGeom prst="ellipse">
            <a:avLst/>
          </a:pr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CustomShape 4"/>
          <p:cNvSpPr/>
          <p:nvPr/>
        </p:nvSpPr>
        <p:spPr>
          <a:xfrm>
            <a:off x="277200" y="720000"/>
            <a:ext cx="2170440" cy="34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s-AR" sz="1800" spc="-1" strike="noStrike">
                <a:latin typeface="Arial"/>
              </a:rPr>
              <a:t>Average-Link</a:t>
            </a:r>
            <a:endParaRPr b="0" lang="es-AR" sz="1800" spc="-1" strike="noStrike">
              <a:latin typeface="Arial"/>
            </a:endParaRPr>
          </a:p>
        </p:txBody>
      </p:sp>
      <p:graphicFrame>
        <p:nvGraphicFramePr>
          <p:cNvPr id="236" name="Table 5"/>
          <p:cNvGraphicFramePr/>
          <p:nvPr/>
        </p:nvGraphicFramePr>
        <p:xfrm>
          <a:off x="636120" y="3516120"/>
          <a:ext cx="2547720" cy="1855440"/>
        </p:xfrm>
        <a:graphic>
          <a:graphicData uri="http://schemas.openxmlformats.org/drawingml/2006/table">
            <a:tbl>
              <a:tblPr/>
              <a:tblGrid>
                <a:gridCol w="509760"/>
                <a:gridCol w="509760"/>
                <a:gridCol w="509760"/>
                <a:gridCol w="509760"/>
                <a:gridCol w="509040"/>
              </a:tblGrid>
              <a:tr h="371520"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A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B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CE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D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37152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A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0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7152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B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9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0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7152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CE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7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8,5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 </a:t>
                      </a:r>
                      <a:r>
                        <a:rPr b="0" lang="es-AR" sz="1400" spc="-1" strike="noStrike">
                          <a:latin typeface="Arial"/>
                        </a:rPr>
                        <a:t>0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36936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D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6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5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8,5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0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Table 6"/>
          <p:cNvGraphicFramePr/>
          <p:nvPr/>
        </p:nvGraphicFramePr>
        <p:xfrm>
          <a:off x="3934800" y="1073880"/>
          <a:ext cx="2341800" cy="1881000"/>
        </p:xfrm>
        <a:graphic>
          <a:graphicData uri="http://schemas.openxmlformats.org/drawingml/2006/table">
            <a:tbl>
              <a:tblPr/>
              <a:tblGrid>
                <a:gridCol w="585720"/>
                <a:gridCol w="585720"/>
                <a:gridCol w="585720"/>
                <a:gridCol w="585000"/>
              </a:tblGrid>
              <a:tr h="470520"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A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BD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400" spc="-1" strike="noStrike">
                          <a:latin typeface="Arial"/>
                        </a:rPr>
                        <a:t>CE</a:t>
                      </a:r>
                      <a:endParaRPr b="0" lang="es-AR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47052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300" spc="-1" strike="noStrike">
                          <a:latin typeface="Arial"/>
                        </a:rPr>
                        <a:t>A</a:t>
                      </a:r>
                      <a:endParaRPr b="0" lang="es-AR" sz="13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600" spc="-1" strike="noStrike">
                          <a:latin typeface="Arial"/>
                        </a:rPr>
                        <a:t>0</a:t>
                      </a:r>
                      <a:endParaRPr b="0" lang="es-AR" sz="16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47052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300" spc="-1" strike="noStrike">
                          <a:latin typeface="Arial"/>
                        </a:rPr>
                        <a:t>BD</a:t>
                      </a:r>
                      <a:endParaRPr b="0" lang="es-AR" sz="13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600" spc="-1" strike="noStrike">
                          <a:latin typeface="Arial"/>
                        </a:rPr>
                        <a:t>7,5</a:t>
                      </a:r>
                      <a:endParaRPr b="0" lang="es-AR" sz="16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600" spc="-1" strike="noStrike">
                          <a:latin typeface="Arial"/>
                        </a:rPr>
                        <a:t>0</a:t>
                      </a:r>
                      <a:endParaRPr b="0" lang="es-AR" sz="16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46980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300" spc="-1" strike="noStrike">
                          <a:latin typeface="Arial"/>
                        </a:rPr>
                        <a:t>CE</a:t>
                      </a:r>
                      <a:endParaRPr b="0" lang="es-AR" sz="13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600" spc="-1" strike="noStrike">
                          <a:latin typeface="Arial"/>
                        </a:rPr>
                        <a:t>7</a:t>
                      </a:r>
                      <a:endParaRPr b="0" lang="es-AR" sz="16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600" spc="-1" strike="noStrike">
                          <a:latin typeface="Arial"/>
                        </a:rPr>
                        <a:t>8,5</a:t>
                      </a:r>
                      <a:endParaRPr b="0" lang="es-AR" sz="16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600" spc="-1" strike="noStrike">
                          <a:latin typeface="Arial"/>
                        </a:rPr>
                        <a:t> </a:t>
                      </a:r>
                      <a:r>
                        <a:rPr b="0" lang="es-AR" sz="1600" spc="-1" strike="noStrike">
                          <a:latin typeface="Arial"/>
                        </a:rPr>
                        <a:t>0</a:t>
                      </a:r>
                      <a:endParaRPr b="0" lang="es-AR" sz="16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8" name="Table 7"/>
          <p:cNvGraphicFramePr/>
          <p:nvPr/>
        </p:nvGraphicFramePr>
        <p:xfrm>
          <a:off x="4318200" y="3351960"/>
          <a:ext cx="1706400" cy="1278000"/>
        </p:xfrm>
        <a:graphic>
          <a:graphicData uri="http://schemas.openxmlformats.org/drawingml/2006/table">
            <a:tbl>
              <a:tblPr/>
              <a:tblGrid>
                <a:gridCol w="568440"/>
                <a:gridCol w="568440"/>
                <a:gridCol w="569880"/>
              </a:tblGrid>
              <a:tr h="425880"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300" spc="-1" strike="noStrike">
                          <a:latin typeface="Arial"/>
                        </a:rPr>
                        <a:t>ACE</a:t>
                      </a:r>
                      <a:endParaRPr b="0" lang="es-AR" sz="13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300" spc="-1" strike="noStrike">
                          <a:latin typeface="Arial"/>
                        </a:rPr>
                        <a:t>BD</a:t>
                      </a:r>
                      <a:endParaRPr b="0" lang="es-AR" sz="13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42588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300" spc="-1" strike="noStrike">
                          <a:latin typeface="Arial"/>
                          <a:ea typeface="Noto Sans CJK SC"/>
                        </a:rPr>
                        <a:t>ACE</a:t>
                      </a:r>
                      <a:endParaRPr b="0" lang="es-AR" sz="13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300" spc="-1" strike="noStrike">
                          <a:latin typeface="Arial"/>
                        </a:rPr>
                        <a:t>0</a:t>
                      </a:r>
                      <a:endParaRPr b="0" lang="es-AR" sz="13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426600"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300" spc="-1" strike="noStrike">
                          <a:latin typeface="Arial"/>
                        </a:rPr>
                        <a:t>BD</a:t>
                      </a:r>
                      <a:endParaRPr b="0" lang="es-AR" sz="13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300" spc="-1" strike="noStrike">
                          <a:latin typeface="Arial"/>
                        </a:rPr>
                        <a:t>8,17</a:t>
                      </a:r>
                      <a:endParaRPr b="0" lang="es-AR" sz="13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s-AR" sz="1300" spc="-1" strike="noStrike">
                          <a:latin typeface="Arial"/>
                        </a:rPr>
                        <a:t>0</a:t>
                      </a:r>
                      <a:endParaRPr b="0" lang="es-AR" sz="13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sp>
        <p:nvSpPr>
          <p:cNvPr id="239" name="CustomShape 8"/>
          <p:cNvSpPr/>
          <p:nvPr/>
        </p:nvSpPr>
        <p:spPr>
          <a:xfrm>
            <a:off x="1656000" y="4968000"/>
            <a:ext cx="503640" cy="431640"/>
          </a:xfrm>
          <a:prstGeom prst="ellipse">
            <a:avLst/>
          </a:pr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CustomShape 9"/>
          <p:cNvSpPr/>
          <p:nvPr/>
        </p:nvSpPr>
        <p:spPr>
          <a:xfrm>
            <a:off x="4536000" y="2520000"/>
            <a:ext cx="503640" cy="431640"/>
          </a:xfrm>
          <a:prstGeom prst="ellipse">
            <a:avLst/>
          </a:prstGeom>
          <a:noFill/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grpSp>
        <p:nvGrpSpPr>
          <p:cNvPr id="241" name="Group 10"/>
          <p:cNvGrpSpPr/>
          <p:nvPr/>
        </p:nvGrpSpPr>
        <p:grpSpPr>
          <a:xfrm>
            <a:off x="6768000" y="2589480"/>
            <a:ext cx="3107160" cy="2316960"/>
            <a:chOff x="6768000" y="2589480"/>
            <a:chExt cx="3107160" cy="2316960"/>
          </a:xfrm>
        </p:grpSpPr>
        <p:sp>
          <p:nvSpPr>
            <p:cNvPr id="242" name="Line 11"/>
            <p:cNvSpPr/>
            <p:nvPr/>
          </p:nvSpPr>
          <p:spPr>
            <a:xfrm flipV="1">
              <a:off x="6911640" y="3527640"/>
              <a:ext cx="360" cy="108000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3" name="Line 12"/>
            <p:cNvSpPr/>
            <p:nvPr/>
          </p:nvSpPr>
          <p:spPr>
            <a:xfrm>
              <a:off x="6911640" y="3527640"/>
              <a:ext cx="2376000" cy="36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4" name="Line 13"/>
            <p:cNvSpPr/>
            <p:nvPr/>
          </p:nvSpPr>
          <p:spPr>
            <a:xfrm>
              <a:off x="8928000" y="4257720"/>
              <a:ext cx="792000" cy="36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5" name="Line 14"/>
            <p:cNvSpPr/>
            <p:nvPr/>
          </p:nvSpPr>
          <p:spPr>
            <a:xfrm flipV="1">
              <a:off x="8928000" y="4257720"/>
              <a:ext cx="360" cy="43200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6" name="Line 15"/>
            <p:cNvSpPr/>
            <p:nvPr/>
          </p:nvSpPr>
          <p:spPr>
            <a:xfrm flipV="1">
              <a:off x="9720000" y="4247640"/>
              <a:ext cx="360" cy="43200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7" name="Line 16"/>
            <p:cNvSpPr/>
            <p:nvPr/>
          </p:nvSpPr>
          <p:spPr>
            <a:xfrm flipV="1">
              <a:off x="9288000" y="3527640"/>
              <a:ext cx="360" cy="72000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8" name="Line 17"/>
            <p:cNvSpPr/>
            <p:nvPr/>
          </p:nvSpPr>
          <p:spPr>
            <a:xfrm flipV="1">
              <a:off x="7416000" y="4175640"/>
              <a:ext cx="360" cy="43200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9" name="Line 18"/>
            <p:cNvSpPr/>
            <p:nvPr/>
          </p:nvSpPr>
          <p:spPr>
            <a:xfrm>
              <a:off x="7416000" y="4176000"/>
              <a:ext cx="1008000" cy="36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0" name="Line 19"/>
            <p:cNvSpPr/>
            <p:nvPr/>
          </p:nvSpPr>
          <p:spPr>
            <a:xfrm flipV="1">
              <a:off x="8424000" y="4175640"/>
              <a:ext cx="360" cy="38880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1" name="Line 20"/>
            <p:cNvSpPr/>
            <p:nvPr/>
          </p:nvSpPr>
          <p:spPr>
            <a:xfrm flipV="1">
              <a:off x="7776000" y="3096000"/>
              <a:ext cx="360" cy="108000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2" name="Line 21"/>
            <p:cNvSpPr/>
            <p:nvPr/>
          </p:nvSpPr>
          <p:spPr>
            <a:xfrm flipV="1">
              <a:off x="8424000" y="3095640"/>
              <a:ext cx="360" cy="43200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3" name="Line 22"/>
            <p:cNvSpPr/>
            <p:nvPr/>
          </p:nvSpPr>
          <p:spPr>
            <a:xfrm>
              <a:off x="7776000" y="3095640"/>
              <a:ext cx="648000" cy="36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4" name="Line 23"/>
            <p:cNvSpPr/>
            <p:nvPr/>
          </p:nvSpPr>
          <p:spPr>
            <a:xfrm flipV="1">
              <a:off x="8064000" y="2663640"/>
              <a:ext cx="360" cy="43200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5" name="CustomShape 24"/>
            <p:cNvSpPr/>
            <p:nvPr/>
          </p:nvSpPr>
          <p:spPr>
            <a:xfrm>
              <a:off x="6768000" y="4605480"/>
              <a:ext cx="299160" cy="29016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/>
            <a:p>
              <a:pPr>
                <a:lnSpc>
                  <a:spcPct val="100000"/>
                </a:lnSpc>
              </a:pPr>
              <a:r>
                <a:rPr b="0" lang="es-AR" sz="1400" spc="-1" strike="noStrike">
                  <a:latin typeface="Arial"/>
                </a:rPr>
                <a:t>A</a:t>
              </a:r>
              <a:endParaRPr b="0" lang="es-AR" sz="1400" spc="-1" strike="noStrike">
                <a:latin typeface="Arial"/>
              </a:endParaRPr>
            </a:p>
          </p:txBody>
        </p:sp>
        <p:sp>
          <p:nvSpPr>
            <p:cNvPr id="256" name="CustomShape 25"/>
            <p:cNvSpPr/>
            <p:nvPr/>
          </p:nvSpPr>
          <p:spPr>
            <a:xfrm>
              <a:off x="7308000" y="4605840"/>
              <a:ext cx="299160" cy="29016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/>
            <a:p>
              <a:pPr>
                <a:lnSpc>
                  <a:spcPct val="100000"/>
                </a:lnSpc>
              </a:pPr>
              <a:r>
                <a:rPr b="0" lang="es-AR" sz="1400" spc="-1" strike="noStrike">
                  <a:latin typeface="Arial"/>
                </a:rPr>
                <a:t>B</a:t>
              </a:r>
              <a:endParaRPr b="0" lang="es-AR" sz="1400" spc="-1" strike="noStrike">
                <a:latin typeface="Arial"/>
              </a:endParaRPr>
            </a:p>
          </p:txBody>
        </p:sp>
        <p:sp>
          <p:nvSpPr>
            <p:cNvPr id="257" name="CustomShape 26"/>
            <p:cNvSpPr/>
            <p:nvPr/>
          </p:nvSpPr>
          <p:spPr>
            <a:xfrm>
              <a:off x="8784000" y="4616280"/>
              <a:ext cx="299160" cy="29016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/>
            <a:p>
              <a:pPr>
                <a:lnSpc>
                  <a:spcPct val="100000"/>
                </a:lnSpc>
              </a:pPr>
              <a:r>
                <a:rPr b="0" lang="es-AR" sz="1400" spc="-1" strike="noStrike">
                  <a:latin typeface="Arial"/>
                </a:rPr>
                <a:t>C</a:t>
              </a:r>
              <a:endParaRPr b="0" lang="es-AR" sz="1400" spc="-1" strike="noStrike">
                <a:latin typeface="Arial"/>
              </a:endParaRPr>
            </a:p>
          </p:txBody>
        </p:sp>
        <p:sp>
          <p:nvSpPr>
            <p:cNvPr id="258" name="CustomShape 27"/>
            <p:cNvSpPr/>
            <p:nvPr/>
          </p:nvSpPr>
          <p:spPr>
            <a:xfrm>
              <a:off x="8285760" y="4574880"/>
              <a:ext cx="299160" cy="29016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/>
            <a:p>
              <a:pPr>
                <a:lnSpc>
                  <a:spcPct val="100000"/>
                </a:lnSpc>
              </a:pPr>
              <a:r>
                <a:rPr b="0" lang="es-AR" sz="1400" spc="-1" strike="noStrike">
                  <a:latin typeface="Arial"/>
                </a:rPr>
                <a:t>D</a:t>
              </a:r>
              <a:endParaRPr b="0" lang="es-AR" sz="1400" spc="-1" strike="noStrike">
                <a:latin typeface="Arial"/>
              </a:endParaRPr>
            </a:p>
          </p:txBody>
        </p:sp>
        <p:sp>
          <p:nvSpPr>
            <p:cNvPr id="259" name="CustomShape 28"/>
            <p:cNvSpPr/>
            <p:nvPr/>
          </p:nvSpPr>
          <p:spPr>
            <a:xfrm>
              <a:off x="9576000" y="4608000"/>
              <a:ext cx="299160" cy="29016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/>
            <a:p>
              <a:pPr>
                <a:lnSpc>
                  <a:spcPct val="100000"/>
                </a:lnSpc>
              </a:pPr>
              <a:r>
                <a:rPr b="0" lang="es-AR" sz="1400" spc="-1" strike="noStrike">
                  <a:latin typeface="Arial"/>
                </a:rPr>
                <a:t>E</a:t>
              </a:r>
              <a:endParaRPr b="0" lang="es-AR" sz="1400" spc="-1" strike="noStrike">
                <a:latin typeface="Arial"/>
              </a:endParaRPr>
            </a:p>
          </p:txBody>
        </p:sp>
        <p:sp>
          <p:nvSpPr>
            <p:cNvPr id="260" name="CustomShape 29"/>
            <p:cNvSpPr/>
            <p:nvPr/>
          </p:nvSpPr>
          <p:spPr>
            <a:xfrm>
              <a:off x="9432000" y="3957480"/>
              <a:ext cx="427320" cy="29016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/>
            <a:p>
              <a:pPr>
                <a:lnSpc>
                  <a:spcPct val="100000"/>
                </a:lnSpc>
              </a:pPr>
              <a:r>
                <a:rPr b="0" lang="es-AR" sz="1400" spc="-1" strike="noStrike">
                  <a:latin typeface="Arial"/>
                </a:rPr>
                <a:t>CE</a:t>
              </a:r>
              <a:endParaRPr b="0" lang="es-AR" sz="1400" spc="-1" strike="noStrike">
                <a:latin typeface="Arial"/>
              </a:endParaRPr>
            </a:p>
          </p:txBody>
        </p:sp>
        <p:sp>
          <p:nvSpPr>
            <p:cNvPr id="261" name="CustomShape 30"/>
            <p:cNvSpPr/>
            <p:nvPr/>
          </p:nvSpPr>
          <p:spPr>
            <a:xfrm>
              <a:off x="6768000" y="3237480"/>
              <a:ext cx="546120" cy="29016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/>
            <a:p>
              <a:pPr>
                <a:lnSpc>
                  <a:spcPct val="100000"/>
                </a:lnSpc>
              </a:pPr>
              <a:r>
                <a:rPr b="0" lang="es-AR" sz="1400" spc="-1" strike="noStrike">
                  <a:latin typeface="Arial"/>
                </a:rPr>
                <a:t>ACE</a:t>
              </a:r>
              <a:endParaRPr b="0" lang="es-AR" sz="1400" spc="-1" strike="noStrike">
                <a:latin typeface="Arial"/>
              </a:endParaRPr>
            </a:p>
          </p:txBody>
        </p:sp>
        <p:sp>
          <p:nvSpPr>
            <p:cNvPr id="262" name="CustomShape 31"/>
            <p:cNvSpPr/>
            <p:nvPr/>
          </p:nvSpPr>
          <p:spPr>
            <a:xfrm>
              <a:off x="8064000" y="2589480"/>
              <a:ext cx="1223640" cy="28980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/>
            <a:p>
              <a:pPr>
                <a:lnSpc>
                  <a:spcPct val="100000"/>
                </a:lnSpc>
              </a:pPr>
              <a:r>
                <a:rPr b="0" lang="es-AR" sz="1400" spc="-1" strike="noStrike">
                  <a:latin typeface="Arial"/>
                </a:rPr>
                <a:t>(ACE)(BD)</a:t>
              </a:r>
              <a:endParaRPr b="0" lang="es-AR" sz="1400" spc="-1" strike="noStrike">
                <a:latin typeface="Arial"/>
              </a:endParaRPr>
            </a:p>
          </p:txBody>
        </p:sp>
        <p:sp>
          <p:nvSpPr>
            <p:cNvPr id="263" name="CustomShape 32"/>
            <p:cNvSpPr/>
            <p:nvPr/>
          </p:nvSpPr>
          <p:spPr>
            <a:xfrm>
              <a:off x="7239600" y="3914640"/>
              <a:ext cx="392040" cy="261000"/>
            </a:xfrm>
            <a:prstGeom prst="rect">
              <a:avLst/>
            </a:prstGeom>
            <a:noFill/>
            <a:ln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/>
            <a:p>
              <a:pPr>
                <a:lnSpc>
                  <a:spcPct val="100000"/>
                </a:lnSpc>
              </a:pPr>
              <a:r>
                <a:rPr b="0" lang="es-AR" sz="1200" spc="-1" strike="noStrike">
                  <a:latin typeface="Arial"/>
                </a:rPr>
                <a:t>BD</a:t>
              </a:r>
              <a:endParaRPr b="0" lang="es-AR" sz="1200" spc="-1" strike="noStrike">
                <a:latin typeface="Arial"/>
              </a:endParaRPr>
            </a:p>
          </p:txBody>
        </p:sp>
      </p:grpSp>
    </p:spTree>
  </p:cSld>
  <p:timing>
    <p:tnLst>
      <p:par>
        <p:cTn id="131" dur="indefinite" restart="never" nodeType="tmRoot">
          <p:childTnLst>
            <p:seq>
              <p:cTn id="132" dur="indefinite" nodeType="mainSeq">
                <p:childTnLst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5072</TotalTime>
  <Application>LibreOffice/6.0.7.3$Linux_X86_64 LibreOffice_project/00m0$Build-3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2020-10-07T18:54:31Z</dcterms:created>
  <dc:creator/>
  <dc:description/>
  <dc:language>es-AR</dc:language>
  <cp:lastModifiedBy/>
  <dcterms:modified xsi:type="dcterms:W3CDTF">2025-11-10T16:21:44Z</dcterms:modified>
  <cp:revision>51</cp:revision>
  <dc:subject/>
  <dc:title>Blue Curve</dc:title>
</cp:coreProperties>
</file>