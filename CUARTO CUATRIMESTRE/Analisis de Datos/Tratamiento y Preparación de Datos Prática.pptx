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6" r:id="rId12"/>
    <p:sldId id="265" r:id="rId13"/>
  </p:sldIdLst>
  <p:sldSz cx="18288000" cy="10287000"/>
  <p:notesSz cx="6858000" cy="9144000"/>
  <p:embeddedFontLst>
    <p:embeddedFont>
      <p:font typeface="Inter Extra-Light" panose="020B0604020202020204" charset="0"/>
      <p:regular r:id="rId14"/>
    </p:embeddedFont>
    <p:embeddedFont>
      <p:font typeface="Inter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oppins" panose="020B0604020202020204" charset="0"/>
      <p:regular r:id="rId20"/>
    </p:embeddedFont>
    <p:embeddedFont>
      <p:font typeface="Inter Bold" panose="020B0604020202020204" charset="0"/>
      <p:regular r:id="rId21"/>
    </p:embeddedFont>
    <p:embeddedFont>
      <p:font typeface="Poppins Medium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39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cientest.com/es/python-un-zoom-en-el-lenguaje-mas-popular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827108"/>
            <a:ext cx="18288000" cy="1459892"/>
            <a:chOff x="0" y="0"/>
            <a:chExt cx="4816593" cy="3844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84498"/>
            </a:xfrm>
            <a:custGeom>
              <a:avLst/>
              <a:gdLst/>
              <a:ahLst/>
              <a:cxnLst/>
              <a:rect l="l" t="t" r="r" b="b"/>
              <a:pathLst>
                <a:path w="4816592" h="384498">
                  <a:moveTo>
                    <a:pt x="0" y="0"/>
                  </a:moveTo>
                  <a:lnTo>
                    <a:pt x="4816592" y="0"/>
                  </a:lnTo>
                  <a:lnTo>
                    <a:pt x="4816592" y="384498"/>
                  </a:lnTo>
                  <a:lnTo>
                    <a:pt x="0" y="3844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6593" cy="460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0" y="8827108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285750" y="9258300"/>
            <a:ext cx="4334346" cy="828625"/>
          </a:xfrm>
          <a:custGeom>
            <a:avLst/>
            <a:gdLst/>
            <a:ahLst/>
            <a:cxnLst/>
            <a:rect l="l" t="t" r="r" b="b"/>
            <a:pathLst>
              <a:path w="4334346" h="828625">
                <a:moveTo>
                  <a:pt x="0" y="0"/>
                </a:moveTo>
                <a:lnTo>
                  <a:pt x="4334346" y="0"/>
                </a:lnTo>
                <a:lnTo>
                  <a:pt x="4334346" y="828625"/>
                </a:lnTo>
                <a:lnTo>
                  <a:pt x="0" y="8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95165" y="1152525"/>
            <a:ext cx="14497671" cy="320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1"/>
              </a:lnSpc>
            </a:pPr>
            <a:r>
              <a:rPr lang="en-US" sz="8517" b="1" spc="-357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  <a:p>
            <a:pPr algn="ctr">
              <a:lnSpc>
                <a:spcPts val="8091"/>
              </a:lnSpc>
            </a:pPr>
            <a:r>
              <a:rPr lang="en-US" sz="8517" b="1" spc="-357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Caso práctico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5143500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1273665"/>
            <a:ext cx="8115300" cy="2466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8"/>
              </a:lnSpc>
            </a:pPr>
            <a:r>
              <a:rPr lang="en-US" sz="8346" b="1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 de Clase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9833" y="5301401"/>
            <a:ext cx="9110147" cy="348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634" lvl="1" indent="-264817" algn="just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Utilizar la librería Pandas en un entorno de Google Colab para realizar el preprocesamiento de datos.</a:t>
            </a:r>
          </a:p>
          <a:p>
            <a:pPr marL="529634" lvl="1" indent="-264817" algn="just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Aplicar sistemáticamente técnicas de limpieza para manejar datos duplicados, valores nulos y una columna irrelevante.</a:t>
            </a:r>
          </a:p>
          <a:p>
            <a:pPr marL="529634" lvl="1" indent="-264817" algn="just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Visualizar y corregir valores atípicos (outliers) en datos numéricos.</a:t>
            </a:r>
          </a:p>
          <a:p>
            <a:pPr marL="529634" lvl="1" indent="-264817" algn="just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Documentar y justificar las decisiones tomadas durante el proceso de limpieza.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86997" y="1028700"/>
            <a:ext cx="9297103" cy="8229600"/>
            <a:chOff x="0" y="0"/>
            <a:chExt cx="1440365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0365" cy="1274980"/>
            </a:xfrm>
            <a:custGeom>
              <a:avLst/>
              <a:gdLst/>
              <a:ahLst/>
              <a:cxnLst/>
              <a:rect l="l" t="t" r="r" b="b"/>
              <a:pathLst>
                <a:path w="1440365" h="1274980">
                  <a:moveTo>
                    <a:pt x="50796" y="0"/>
                  </a:moveTo>
                  <a:lnTo>
                    <a:pt x="1389568" y="0"/>
                  </a:lnTo>
                  <a:cubicBezTo>
                    <a:pt x="1417622" y="0"/>
                    <a:pt x="1440365" y="22742"/>
                    <a:pt x="1440365" y="50796"/>
                  </a:cubicBezTo>
                  <a:lnTo>
                    <a:pt x="1440365" y="1224184"/>
                  </a:lnTo>
                  <a:cubicBezTo>
                    <a:pt x="1440365" y="1237656"/>
                    <a:pt x="1435013" y="1250576"/>
                    <a:pt x="1425487" y="1260103"/>
                  </a:cubicBezTo>
                  <a:cubicBezTo>
                    <a:pt x="1415961" y="1269629"/>
                    <a:pt x="1403040" y="1274980"/>
                    <a:pt x="1389568" y="1274980"/>
                  </a:cubicBezTo>
                  <a:lnTo>
                    <a:pt x="50796" y="1274980"/>
                  </a:lnTo>
                  <a:cubicBezTo>
                    <a:pt x="22742" y="1274980"/>
                    <a:pt x="0" y="1252238"/>
                    <a:pt x="0" y="1224184"/>
                  </a:cubicBezTo>
                  <a:lnTo>
                    <a:pt x="0" y="50796"/>
                  </a:lnTo>
                  <a:cubicBezTo>
                    <a:pt x="0" y="37324"/>
                    <a:pt x="5352" y="24404"/>
                    <a:pt x="14878" y="14878"/>
                  </a:cubicBezTo>
                  <a:cubicBezTo>
                    <a:pt x="24404" y="5352"/>
                    <a:pt x="37324" y="0"/>
                    <a:pt x="50796" y="0"/>
                  </a:cubicBezTo>
                  <a:close/>
                </a:path>
              </a:pathLst>
            </a:custGeom>
            <a:blipFill>
              <a:blip r:embed="rId2"/>
              <a:stretch>
                <a:fillRect t="-34781" b="-34781"/>
              </a:stretch>
            </a:blipFill>
            <a:ln w="9525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8509" y="3695929"/>
            <a:ext cx="15763225" cy="258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3"/>
              </a:lnSpc>
            </a:pP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En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la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empresa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"XYZ", el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departamento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Recursos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Humanos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ha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entregado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un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archivo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con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datos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los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empleados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al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equipo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análisis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datos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,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adviertedo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que el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sistema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donde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lo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extrajeron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propenso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a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errores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. </a:t>
            </a:r>
          </a:p>
          <a:p>
            <a:pPr algn="just">
              <a:lnSpc>
                <a:spcPts val="4063"/>
              </a:lnSpc>
              <a:spcBef>
                <a:spcPct val="0"/>
              </a:spcBef>
            </a:pP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Objetivo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: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analizar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y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limpiar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este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dataset para que se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pueda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realizar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un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análisis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distribución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salarial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2902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confiable</a:t>
            </a:r>
            <a:r>
              <a:rPr lang="en-US" sz="2902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.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-22150" y="2507402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808508" y="2374052"/>
            <a:ext cx="2925291" cy="817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 dirty="0" err="1" smtClean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Escenario</a:t>
            </a:r>
            <a:r>
              <a:rPr lang="en-US" sz="4550" spc="-191" dirty="0" smtClean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4550" spc="-191" dirty="0">
              <a:solidFill>
                <a:srgbClr val="F4F4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618929" y="191778"/>
            <a:ext cx="11579275" cy="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 b="1" spc="-224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438460"/>
            <a:ext cx="16391011" cy="269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93" lvl="1" indent="-325796" algn="just">
              <a:lnSpc>
                <a:spcPts val="4225"/>
              </a:lnSpc>
              <a:spcBef>
                <a:spcPct val="0"/>
              </a:spcBef>
              <a:buFont typeface="Arial"/>
              <a:buChar char="•"/>
            </a:pPr>
            <a:r>
              <a:rPr lang="en-US" sz="3018" b="1" u="none" strike="noStrike" dirty="0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Google </a:t>
            </a:r>
            <a:r>
              <a:rPr lang="en-US" sz="3018" b="1" u="none" strike="noStrike" dirty="0" err="1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Colab</a:t>
            </a:r>
            <a:r>
              <a:rPr lang="en-US" sz="3018" b="1" u="none" strike="noStrike" dirty="0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Colab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, o "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Colaboratory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",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es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un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entorno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web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te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permite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escribir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y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ejecutar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código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Python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en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el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navegador</a:t>
            </a:r>
            <a:endParaRPr lang="en-US" sz="3018" u="none" strike="noStrike" dirty="0">
              <a:solidFill>
                <a:srgbClr val="F4F4F4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marL="1108793" lvl="2" indent="-325796" algn="just">
              <a:lnSpc>
                <a:spcPts val="4225"/>
              </a:lnSpc>
              <a:spcBef>
                <a:spcPct val="0"/>
              </a:spcBef>
              <a:buFont typeface="Arial"/>
              <a:buChar char="•"/>
            </a:pP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Sin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configuración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previa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requerida</a:t>
            </a:r>
            <a:endParaRPr lang="en-US" sz="3018" u="none" strike="noStrike" dirty="0">
              <a:solidFill>
                <a:srgbClr val="F4F4F4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marL="1108793" lvl="2" indent="-325796" algn="just">
              <a:lnSpc>
                <a:spcPts val="4225"/>
              </a:lnSpc>
              <a:spcBef>
                <a:spcPct val="0"/>
              </a:spcBef>
              <a:buFont typeface="Arial"/>
              <a:buChar char="•"/>
            </a:pP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Acceso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sin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costo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a GPU</a:t>
            </a:r>
          </a:p>
          <a:p>
            <a:pPr marL="1108793" lvl="2" indent="-325796" algn="just">
              <a:lnSpc>
                <a:spcPts val="4225"/>
              </a:lnSpc>
              <a:spcBef>
                <a:spcPct val="0"/>
              </a:spcBef>
              <a:buFont typeface="Arial"/>
              <a:buChar char="•"/>
            </a:pP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Facilidad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para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compartir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y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colaborar</a:t>
            </a:r>
            <a:endParaRPr lang="en-US" sz="3018" u="none" strike="noStrike" dirty="0">
              <a:solidFill>
                <a:srgbClr val="F4F4F4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-22150" y="2507402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257300" y="2374052"/>
            <a:ext cx="10794950" cy="81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Conciendo el entorno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18929" y="191778"/>
            <a:ext cx="11579275" cy="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 b="1" spc="-224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" y="6381227"/>
            <a:ext cx="16391011" cy="215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93" lvl="1" indent="-325796" algn="just">
              <a:lnSpc>
                <a:spcPts val="4225"/>
              </a:lnSpc>
              <a:spcBef>
                <a:spcPct val="0"/>
              </a:spcBef>
              <a:buFont typeface="Arial"/>
              <a:buChar char="•"/>
            </a:pPr>
            <a:r>
              <a:rPr lang="en-US" sz="3018" b="1" dirty="0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Pandas</a:t>
            </a:r>
            <a:r>
              <a:rPr lang="en-US" sz="3018" b="1" u="none" strike="noStrike" dirty="0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La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biblioteca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software de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código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abierto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Pandas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está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diseñada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específicamente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para la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manipulación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y el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análisis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datos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en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el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lenguaje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b="1" u="sng" strike="noStrike" dirty="0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  <a:hlinkClick r:id="rId2" tooltip="https://datascientest.com/es/python-un-zoom-en-el-lenguaje-mas-popular"/>
              </a:rPr>
              <a:t>Python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.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Es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potente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, flexible y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fácil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de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usar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.  Pandas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permite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utilizar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el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lenguaje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Python para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cargar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,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alinear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,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manipular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o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incluso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fusionar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</a:t>
            </a:r>
            <a:r>
              <a:rPr lang="en-US" sz="3018" u="none" strike="noStrike" dirty="0" err="1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datos</a:t>
            </a:r>
            <a:r>
              <a:rPr lang="en-US" sz="3018" u="none" strike="noStrike" dirty="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2150" y="2507402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618929" y="191778"/>
            <a:ext cx="11579275" cy="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 b="1" spc="-224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2542454"/>
            <a:ext cx="9986442" cy="817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b="1" spc="-191" dirty="0" err="1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Carga</a:t>
            </a:r>
            <a:r>
              <a:rPr lang="en-US" sz="4550" b="1" spc="-191" dirty="0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y </a:t>
            </a:r>
            <a:r>
              <a:rPr lang="en-US" sz="4550" b="1" spc="-191" dirty="0" err="1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visualización</a:t>
            </a:r>
            <a:r>
              <a:rPr lang="en-US" sz="4550" b="1" spc="-191" dirty="0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</a:t>
            </a:r>
            <a:r>
              <a:rPr lang="en-US" sz="4550" b="1" spc="-191" dirty="0" err="1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</a:t>
            </a:r>
            <a:r>
              <a:rPr lang="en-US" sz="4550" b="1" spc="-191" dirty="0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4550" b="1" spc="-191" dirty="0" err="1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datos</a:t>
            </a:r>
            <a:endParaRPr lang="en-US" sz="4550" b="1" spc="-191" dirty="0">
              <a:solidFill>
                <a:srgbClr val="F4F4F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68289" y="3767366"/>
            <a:ext cx="16391011" cy="15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93" lvl="1" indent="-325796" algn="just">
              <a:lnSpc>
                <a:spcPts val="4225"/>
              </a:lnSpc>
              <a:buFont typeface="Arial"/>
              <a:buChar char="•"/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Importación de los datos desde Dataset externo.</a:t>
            </a:r>
          </a:p>
          <a:p>
            <a:pPr algn="just">
              <a:lnSpc>
                <a:spcPts val="4225"/>
              </a:lnSpc>
            </a:pPr>
            <a:endParaRPr lang="en-US" sz="3018">
              <a:solidFill>
                <a:srgbClr val="F4F4F4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  <a:p>
            <a:pPr marL="651593" lvl="1" indent="-325796" algn="just">
              <a:lnSpc>
                <a:spcPts val="4225"/>
              </a:lnSpc>
              <a:spcBef>
                <a:spcPct val="0"/>
              </a:spcBef>
              <a:buFont typeface="Arial"/>
              <a:buChar char="•"/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Se realiza un diagnóstico inicial y visualización previa.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6344" y="3695700"/>
            <a:ext cx="16391011" cy="428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93" lvl="1" indent="-325796" algn="just">
              <a:lnSpc>
                <a:spcPts val="4225"/>
              </a:lnSpc>
              <a:buFont typeface="Arial"/>
              <a:buChar char="•"/>
            </a:pP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.info()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muestra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el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tipo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de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dato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de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cada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columna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y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cuántos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valores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no-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nulos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hay. </a:t>
            </a:r>
          </a:p>
          <a:p>
            <a:pPr algn="just">
              <a:lnSpc>
                <a:spcPts val="4225"/>
              </a:lnSpc>
            </a:pPr>
            <a:endParaRPr lang="en-US" sz="3018" dirty="0">
              <a:solidFill>
                <a:srgbClr val="F4F4F4"/>
              </a:solidFill>
              <a:latin typeface="Inter" panose="020B0604020202020204" charset="0"/>
              <a:ea typeface="Inter" panose="020B0604020202020204" charset="0"/>
              <a:cs typeface="Inter Extra-Light"/>
              <a:sym typeface="Inter Extra-Light"/>
            </a:endParaRPr>
          </a:p>
          <a:p>
            <a:pPr marL="651593" lvl="1" indent="-325796" algn="just">
              <a:lnSpc>
                <a:spcPts val="4225"/>
              </a:lnSpc>
              <a:buFont typeface="Arial"/>
              <a:buChar char="•"/>
            </a:pP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.describe()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muestra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estadísticas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de las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columnas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numéricas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. </a:t>
            </a:r>
          </a:p>
          <a:p>
            <a:pPr algn="just">
              <a:lnSpc>
                <a:spcPts val="4225"/>
              </a:lnSpc>
            </a:pPr>
            <a:endParaRPr lang="en-US" sz="3018" dirty="0">
              <a:solidFill>
                <a:srgbClr val="F4F4F4"/>
              </a:solidFill>
              <a:latin typeface="Inter" panose="020B0604020202020204" charset="0"/>
              <a:ea typeface="Inter" panose="020B0604020202020204" charset="0"/>
              <a:cs typeface="Inter Extra-Light"/>
              <a:sym typeface="Inter Extra-Light"/>
            </a:endParaRPr>
          </a:p>
          <a:p>
            <a:pPr marL="651593" lvl="1" indent="-325796" algn="just">
              <a:lnSpc>
                <a:spcPts val="4225"/>
              </a:lnSpc>
              <a:buFont typeface="Arial"/>
              <a:buChar char="•"/>
            </a:pP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.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isnull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().sum()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es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el detector de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NaNs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.</a:t>
            </a:r>
          </a:p>
          <a:p>
            <a:pPr algn="just">
              <a:lnSpc>
                <a:spcPts val="4225"/>
              </a:lnSpc>
            </a:pPr>
            <a:endParaRPr lang="en-US" sz="3018" dirty="0">
              <a:solidFill>
                <a:srgbClr val="F4F4F4"/>
              </a:solidFill>
              <a:latin typeface="Inter" panose="020B0604020202020204" charset="0"/>
              <a:ea typeface="Inter" panose="020B0604020202020204" charset="0"/>
              <a:cs typeface="Inter Extra-Light"/>
              <a:sym typeface="Inter Extra-Light"/>
            </a:endParaRPr>
          </a:p>
          <a:p>
            <a:pPr marL="651593" lvl="1" indent="-325796" algn="just">
              <a:lnSpc>
                <a:spcPts val="4225"/>
              </a:lnSpc>
              <a:buFont typeface="Arial"/>
              <a:buChar char="•"/>
            </a:pP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df_xx.head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():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muestra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las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primeras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018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filas</a:t>
            </a:r>
            <a:r>
              <a:rPr lang="en-US" sz="3018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del dataset.</a:t>
            </a:r>
          </a:p>
          <a:p>
            <a:pPr algn="just">
              <a:lnSpc>
                <a:spcPts val="4225"/>
              </a:lnSpc>
            </a:pPr>
            <a:endParaRPr lang="en-US" sz="3018" dirty="0">
              <a:solidFill>
                <a:srgbClr val="F4F4F4"/>
              </a:solidFill>
              <a:latin typeface="Inter Extra-Light"/>
              <a:ea typeface="Inter Extra-Light"/>
              <a:cs typeface="Inter Extra-Light"/>
              <a:sym typeface="Inter Extra-Light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-22150" y="2507402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609600" y="2490638"/>
            <a:ext cx="6777558" cy="817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Pimera</a:t>
            </a:r>
            <a:r>
              <a:rPr lang="en-US" sz="4550" spc="-191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550" spc="-191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visualización</a:t>
            </a:r>
            <a:endParaRPr lang="en-US" sz="4550" spc="-191" dirty="0">
              <a:solidFill>
                <a:srgbClr val="F4F4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618929" y="191778"/>
            <a:ext cx="11579275" cy="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 b="1" spc="-224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2150" y="2507402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85285" y="4239674"/>
            <a:ext cx="17196333" cy="539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292" lvl="1" indent="-363146" algn="just">
              <a:lnSpc>
                <a:spcPts val="4709"/>
              </a:lnSpc>
              <a:buFont typeface="Arial"/>
              <a:buChar char="•"/>
            </a:pP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Analizar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características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irrelevantes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para el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estudio</a:t>
            </a:r>
            <a:endParaRPr lang="en-US" sz="3364" dirty="0">
              <a:solidFill>
                <a:srgbClr val="F4F4F4"/>
              </a:solidFill>
              <a:latin typeface="Inter" panose="020B0604020202020204" charset="0"/>
              <a:ea typeface="Inter" panose="020B0604020202020204" charset="0"/>
              <a:cs typeface="Inter Extra-Light"/>
              <a:sym typeface="Inter Extra-Light"/>
            </a:endParaRPr>
          </a:p>
          <a:p>
            <a:pPr algn="just">
              <a:lnSpc>
                <a:spcPts val="4709"/>
              </a:lnSpc>
            </a:pPr>
            <a:endParaRPr lang="en-US" sz="3364" dirty="0">
              <a:solidFill>
                <a:srgbClr val="F4F4F4"/>
              </a:solidFill>
              <a:latin typeface="Inter" panose="020B0604020202020204" charset="0"/>
              <a:ea typeface="Inter" panose="020B0604020202020204" charset="0"/>
              <a:cs typeface="Inter Extra-Light"/>
              <a:sym typeface="Inter Extra-Light"/>
            </a:endParaRPr>
          </a:p>
          <a:p>
            <a:pPr marL="726292" lvl="1" indent="-363146" algn="just">
              <a:lnSpc>
                <a:spcPts val="4709"/>
              </a:lnSpc>
              <a:buFont typeface="Arial"/>
              <a:buChar char="•"/>
            </a:pP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Al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detectar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columna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irrelevante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se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analiza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su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eliminación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(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previa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consulta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con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usuario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final)</a:t>
            </a:r>
          </a:p>
          <a:p>
            <a:pPr algn="just">
              <a:lnSpc>
                <a:spcPts val="4709"/>
              </a:lnSpc>
            </a:pPr>
            <a:endParaRPr lang="en-US" sz="3364" dirty="0">
              <a:solidFill>
                <a:srgbClr val="F4F4F4"/>
              </a:solidFill>
              <a:latin typeface="Inter" panose="020B0604020202020204" charset="0"/>
              <a:ea typeface="Inter" panose="020B0604020202020204" charset="0"/>
              <a:cs typeface="Inter Extra-Light"/>
              <a:sym typeface="Inter Extra-Light"/>
            </a:endParaRPr>
          </a:p>
          <a:p>
            <a:pPr marL="726292" lvl="1" indent="-363146" algn="just">
              <a:lnSpc>
                <a:spcPts val="4709"/>
              </a:lnSpc>
              <a:buFont typeface="Arial"/>
              <a:buChar char="•"/>
            </a:pP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Luego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pueden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detectarse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filas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duplicadas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con el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método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Pandas duplicated()</a:t>
            </a:r>
          </a:p>
          <a:p>
            <a:pPr algn="just">
              <a:lnSpc>
                <a:spcPts val="4709"/>
              </a:lnSpc>
            </a:pPr>
            <a:endParaRPr lang="en-US" sz="3364" dirty="0">
              <a:solidFill>
                <a:srgbClr val="F4F4F4"/>
              </a:solidFill>
              <a:latin typeface="Inter" panose="020B0604020202020204" charset="0"/>
              <a:ea typeface="Inter" panose="020B0604020202020204" charset="0"/>
              <a:cs typeface="Inter Extra-Light"/>
              <a:sym typeface="Inter Extra-Light"/>
            </a:endParaRPr>
          </a:p>
          <a:p>
            <a:pPr marL="726292" lvl="1" indent="-363146" algn="just">
              <a:lnSpc>
                <a:spcPts val="4709"/>
              </a:lnSpc>
              <a:buFont typeface="Arial"/>
              <a:buChar char="•"/>
            </a:pP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Después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de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ser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detectadas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las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filas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duplicadas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, las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mismas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pueden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eliminarse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con el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método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drop.duplicates</a:t>
            </a:r>
            <a:r>
              <a:rPr lang="en-US" sz="3364" dirty="0">
                <a:solidFill>
                  <a:srgbClr val="F4F4F4"/>
                </a:solidFill>
                <a:latin typeface="Inter" panose="020B0604020202020204" charset="0"/>
                <a:ea typeface="Inter" panose="020B0604020202020204" charset="0"/>
                <a:cs typeface="Inter Extra-Light"/>
                <a:sym typeface="Inter Extra-Light"/>
              </a:rPr>
              <a:t>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74052"/>
            <a:ext cx="16509504" cy="1617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spc="-191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Depuración</a:t>
            </a:r>
            <a:r>
              <a:rPr lang="en-US" sz="4550" spc="-191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4550" spc="-191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4550" spc="-191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550" spc="-191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endParaRPr lang="en-US" sz="4550" spc="-191" dirty="0">
              <a:solidFill>
                <a:srgbClr val="F4F4F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6370"/>
              </a:lnSpc>
              <a:spcBef>
                <a:spcPct val="0"/>
              </a:spcBef>
            </a:pPr>
            <a:r>
              <a:rPr lang="en-US" sz="4550" spc="-191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4550" spc="-191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lang="en-US" sz="4550" spc="-191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550" spc="-191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Irrelevantes</a:t>
            </a:r>
            <a:r>
              <a:rPr lang="en-US" sz="4550" spc="-191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4550" spc="-191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manejo</a:t>
            </a:r>
            <a:r>
              <a:rPr lang="en-US" sz="4550" spc="-191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4550" spc="-191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duplicados</a:t>
            </a:r>
            <a:r>
              <a:rPr lang="en-US" sz="4550" spc="-191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18929" y="191778"/>
            <a:ext cx="11579275" cy="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 b="1" spc="-224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2150" y="2507402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25453" y="3524708"/>
            <a:ext cx="17139636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292" lvl="1" indent="-363146" algn="just">
              <a:lnSpc>
                <a:spcPts val="4709"/>
              </a:lnSpc>
              <a:buFont typeface="Arial"/>
              <a:buChar char="•"/>
            </a:pP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Como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faltantes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pueden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tener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diferentes</a:t>
            </a:r>
            <a:r>
              <a:rPr lang="en-US" sz="33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formatos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3364" dirty="0" err="1">
                <a:solidFill>
                  <a:srgbClr val="F4F4F4"/>
                </a:solidFill>
                <a:latin typeface="Courier New" panose="02070309020205020404" pitchFamily="49" charset="0"/>
                <a:ea typeface="Inter"/>
                <a:cs typeface="Courier New" panose="02070309020205020404" pitchFamily="49" charset="0"/>
                <a:sym typeface="Inter"/>
              </a:rPr>
              <a:t>NaN</a:t>
            </a:r>
            <a:r>
              <a:rPr lang="en-US" sz="3364" dirty="0">
                <a:solidFill>
                  <a:srgbClr val="F4F4F4"/>
                </a:solidFill>
                <a:latin typeface="Courier New" panose="02070309020205020404" pitchFamily="49" charset="0"/>
                <a:ea typeface="Inter"/>
                <a:cs typeface="Courier New" panose="02070309020205020404" pitchFamily="49" charset="0"/>
                <a:sym typeface="Inter"/>
              </a:rPr>
              <a:t>, NULL (</a:t>
            </a:r>
            <a:r>
              <a:rPr lang="en-US" sz="3364" dirty="0" err="1">
                <a:solidFill>
                  <a:srgbClr val="F4F4F4"/>
                </a:solidFill>
                <a:latin typeface="Courier New" panose="02070309020205020404" pitchFamily="49" charset="0"/>
                <a:ea typeface="Inter"/>
                <a:cs typeface="Courier New" panose="02070309020205020404" pitchFamily="49" charset="0"/>
                <a:sym typeface="Inter"/>
              </a:rPr>
              <a:t>texto</a:t>
            </a:r>
            <a:r>
              <a:rPr lang="en-US" sz="3364" dirty="0">
                <a:solidFill>
                  <a:srgbClr val="F4F4F4"/>
                </a:solidFill>
                <a:latin typeface="Courier New" panose="02070309020205020404" pitchFamily="49" charset="0"/>
                <a:ea typeface="Inter"/>
                <a:cs typeface="Courier New" panose="02070309020205020404" pitchFamily="49" charset="0"/>
                <a:sym typeface="Inter"/>
              </a:rPr>
              <a:t>), </a:t>
            </a:r>
            <a:r>
              <a:rPr lang="en-US" sz="3364" dirty="0" err="1">
                <a:solidFill>
                  <a:srgbClr val="F4F4F4"/>
                </a:solidFill>
                <a:latin typeface="Courier New" panose="02070309020205020404" pitchFamily="49" charset="0"/>
                <a:ea typeface="Inter"/>
                <a:cs typeface="Courier New" panose="02070309020205020404" pitchFamily="49" charset="0"/>
                <a:sym typeface="Inter"/>
              </a:rPr>
              <a:t>celdas</a:t>
            </a:r>
            <a:r>
              <a:rPr lang="en-US" sz="3364" dirty="0">
                <a:solidFill>
                  <a:srgbClr val="F4F4F4"/>
                </a:solidFill>
                <a:latin typeface="Courier New" panose="02070309020205020404" pitchFamily="49" charset="0"/>
                <a:ea typeface="Inter"/>
                <a:cs typeface="Courier New" panose="02070309020205020404" pitchFamily="49" charset="0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Courier New" panose="02070309020205020404" pitchFamily="49" charset="0"/>
                <a:ea typeface="Inter"/>
                <a:cs typeface="Courier New" panose="02070309020205020404" pitchFamily="49" charset="0"/>
                <a:sym typeface="Inter"/>
              </a:rPr>
              <a:t>vacías</a:t>
            </a:r>
            <a:r>
              <a:rPr lang="en-US" sz="3364" dirty="0">
                <a:solidFill>
                  <a:srgbClr val="F4F4F4"/>
                </a:solidFill>
                <a:latin typeface="Courier New" panose="02070309020205020404" pitchFamily="49" charset="0"/>
                <a:ea typeface="Inter"/>
                <a:cs typeface="Courier New" panose="02070309020205020404" pitchFamily="49" charset="0"/>
                <a:sym typeface="Inter"/>
              </a:rPr>
              <a:t> (' ') 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Lo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conveniente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es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unificarlos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726292" lvl="1" indent="-363146" algn="just">
              <a:lnSpc>
                <a:spcPts val="4709"/>
              </a:lnSpc>
              <a:buFont typeface="Arial"/>
              <a:buChar char="•"/>
            </a:pP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Puede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realizarse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, la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unificación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NaN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tratar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todos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faltantes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sola </a:t>
            </a:r>
            <a:r>
              <a:rPr lang="en-US" sz="33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manera</a:t>
            </a:r>
            <a:r>
              <a:rPr lang="en-US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74052"/>
            <a:ext cx="8965704" cy="81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Unificar y Tratar Datos Faltantes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18929" y="191778"/>
            <a:ext cx="11579275" cy="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 b="1" spc="-224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2150" y="2507402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25453" y="3524708"/>
            <a:ext cx="17139636" cy="421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292" lvl="1" indent="-363146" algn="just">
              <a:lnSpc>
                <a:spcPts val="4709"/>
              </a:lnSpc>
              <a:buFont typeface="Arial"/>
              <a:buChar char="•"/>
            </a:pPr>
            <a:r>
              <a:rPr lang="en-US" sz="33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Eliminación</a:t>
            </a:r>
            <a:endParaRPr lang="en-US" sz="3364" dirty="0" smtClean="0">
              <a:solidFill>
                <a:srgbClr val="F4F4F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26292" lvl="1" indent="-363146" algn="just">
              <a:lnSpc>
                <a:spcPts val="4709"/>
              </a:lnSpc>
              <a:buFont typeface="Arial"/>
              <a:buChar char="•"/>
            </a:pPr>
            <a:r>
              <a:rPr lang="es-ES" sz="3364" dirty="0" smtClean="0">
                <a:solidFill>
                  <a:srgbClr val="F4F4F4"/>
                </a:solidFill>
                <a:latin typeface="Inter"/>
                <a:ea typeface="Inter"/>
                <a:cs typeface="Inter"/>
              </a:rPr>
              <a:t>Asignación / Imputación:</a:t>
            </a:r>
          </a:p>
          <a:p>
            <a:pPr marL="1183492" lvl="2" indent="-363146" algn="just">
              <a:lnSpc>
                <a:spcPts val="4709"/>
              </a:lnSpc>
              <a:buFont typeface="Arial"/>
              <a:buChar char="•"/>
            </a:pPr>
            <a:r>
              <a:rPr lang="es-ES" sz="3364" dirty="0" smtClean="0">
                <a:solidFill>
                  <a:srgbClr val="F4F4F4"/>
                </a:solidFill>
                <a:latin typeface="Inter"/>
                <a:ea typeface="Inter"/>
                <a:cs typeface="Inter"/>
              </a:rPr>
              <a:t>Imputación </a:t>
            </a:r>
            <a:r>
              <a:rPr lang="es-ES" sz="3364" dirty="0">
                <a:solidFill>
                  <a:srgbClr val="F4F4F4"/>
                </a:solidFill>
                <a:latin typeface="Inter"/>
                <a:ea typeface="Inter"/>
                <a:cs typeface="Inter"/>
              </a:rPr>
              <a:t>simple (media, mediana, moda</a:t>
            </a:r>
            <a:r>
              <a:rPr lang="es-ES" sz="3364" dirty="0">
                <a:solidFill>
                  <a:srgbClr val="F4F4F4"/>
                </a:solidFill>
                <a:latin typeface="Inter"/>
                <a:ea typeface="Inter"/>
                <a:cs typeface="Inter"/>
              </a:rPr>
              <a:t>): </a:t>
            </a:r>
            <a:r>
              <a:rPr lang="es-ES" sz="3364" dirty="0">
                <a:solidFill>
                  <a:srgbClr val="F4F4F4"/>
                </a:solidFill>
                <a:latin typeface="Inter"/>
                <a:ea typeface="Inter"/>
                <a:cs typeface="Inter"/>
              </a:rPr>
              <a:t>Se reemplazan los valores faltantes por la media, mediana o el valor más frecuente (moda) de la variable. </a:t>
            </a:r>
            <a:endParaRPr lang="en-US" sz="3364" dirty="0">
              <a:solidFill>
                <a:srgbClr val="F4F4F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83492" lvl="2" indent="-363146">
              <a:lnSpc>
                <a:spcPts val="4709"/>
              </a:lnSpc>
              <a:buFont typeface="Arial"/>
              <a:buChar char="•"/>
            </a:pPr>
            <a:r>
              <a:rPr lang="es-AR" sz="33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Imputación predictiva mediante algoritmos de IA</a:t>
            </a:r>
            <a:r>
              <a:rPr lang="es-AR" sz="33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-ES" sz="3364" dirty="0">
                <a:solidFill>
                  <a:srgbClr val="F4F4F4"/>
                </a:solidFill>
                <a:latin typeface="Inter"/>
                <a:ea typeface="Inter"/>
                <a:cs typeface="Inter"/>
              </a:rPr>
              <a:t>Permite obtener imputaciones más precisas al aprovechar las relaciones entre las variables. </a:t>
            </a:r>
            <a:endParaRPr lang="en-US" sz="3364" dirty="0">
              <a:solidFill>
                <a:srgbClr val="F4F4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374052"/>
            <a:ext cx="106299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 dirty="0" err="1" smtClean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Estrategias</a:t>
            </a:r>
            <a:r>
              <a:rPr lang="en-US" sz="4550" spc="-191" dirty="0" smtClean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para tartar </a:t>
            </a:r>
            <a:r>
              <a:rPr lang="en-US" sz="4550" spc="-191" dirty="0" err="1" smtClean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4550" spc="-191" dirty="0" smtClean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550" spc="-191" dirty="0" err="1" smtClean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faltantes</a:t>
            </a:r>
            <a:endParaRPr lang="en-US" sz="4550" spc="-191" dirty="0">
              <a:solidFill>
                <a:srgbClr val="F4F4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618929" y="191778"/>
            <a:ext cx="11579275" cy="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 b="1" spc="-224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</p:txBody>
      </p:sp>
    </p:spTree>
    <p:extLst>
      <p:ext uri="{BB962C8B-B14F-4D97-AF65-F5344CB8AC3E}">
        <p14:creationId xmlns:p14="http://schemas.microsoft.com/office/powerpoint/2010/main" val="398444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2150" y="2507402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533400" y="3305633"/>
            <a:ext cx="17279700" cy="275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1524" lvl="1" indent="-330762" algn="l">
              <a:lnSpc>
                <a:spcPts val="4289"/>
              </a:lnSpc>
              <a:buFont typeface="Arial"/>
              <a:buChar char="•"/>
            </a:pP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Como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vimos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antes,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outliers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pueden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ser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detectados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diferentes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maneras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marL="661524" lvl="1" indent="-330762" algn="l">
              <a:lnSpc>
                <a:spcPts val="4289"/>
              </a:lnSpc>
              <a:buFont typeface="Arial"/>
              <a:buChar char="•"/>
            </a:pP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Gráficamente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utilizando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diagramas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cajas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661524" lvl="1" indent="-330762" algn="l">
              <a:lnSpc>
                <a:spcPts val="4289"/>
              </a:lnSpc>
              <a:buFont typeface="Arial"/>
              <a:buChar char="•"/>
            </a:pP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Probabilísticamente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utilizadnos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distribuciones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probabilidad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661524" lvl="1" indent="-330762" algn="l">
              <a:lnSpc>
                <a:spcPts val="4289"/>
              </a:lnSpc>
              <a:buFont typeface="Arial"/>
              <a:buChar char="•"/>
            </a:pP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Veremos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detección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diagrama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cajas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otro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con el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método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rango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intercuartílico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(IQR)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74052"/>
            <a:ext cx="13035179" cy="81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Tratemiento de  valores atípicos (Outliers)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18929" y="191778"/>
            <a:ext cx="11579275" cy="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 b="1" spc="-224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2150" y="2507402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533400" y="3305633"/>
            <a:ext cx="17279700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1524" lvl="1" indent="-330762" algn="l">
              <a:lnSpc>
                <a:spcPts val="4289"/>
              </a:lnSpc>
              <a:buFont typeface="Arial"/>
              <a:buChar char="•"/>
            </a:pP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Luego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de la </a:t>
            </a: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detección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hay que </a:t>
            </a: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decidir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qué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hacer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valores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atípicos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1118724" lvl="2" indent="-330762">
              <a:lnSpc>
                <a:spcPts val="4289"/>
              </a:lnSpc>
              <a:buFont typeface="Arial"/>
              <a:buChar char="•"/>
            </a:pP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</a:rPr>
              <a:t>Eliminación</a:t>
            </a:r>
            <a:endParaRPr lang="en-US" sz="3064" dirty="0">
              <a:solidFill>
                <a:srgbClr val="F4F4F4"/>
              </a:solidFill>
              <a:latin typeface="Inter"/>
              <a:ea typeface="Inter"/>
              <a:cs typeface="Inter"/>
            </a:endParaRPr>
          </a:p>
          <a:p>
            <a:pPr marL="1118724" lvl="2" indent="-330762">
              <a:lnSpc>
                <a:spcPts val="4289"/>
              </a:lnSpc>
              <a:buFont typeface="Arial"/>
              <a:buChar char="•"/>
            </a:pP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</a:rPr>
              <a:t>Limitación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</a:rPr>
              <a:t> (</a:t>
            </a: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</a:rPr>
              <a:t>Censura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</a:rPr>
              <a:t>/Clipping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</a:rPr>
              <a:t>)</a:t>
            </a:r>
          </a:p>
          <a:p>
            <a:pPr marL="1118724" lvl="2" indent="-330762">
              <a:lnSpc>
                <a:spcPts val="4289"/>
              </a:lnSpc>
              <a:buFont typeface="Arial"/>
              <a:buChar char="•"/>
            </a:pPr>
            <a:r>
              <a:rPr lang="en-US" sz="3064" dirty="0" err="1">
                <a:solidFill>
                  <a:srgbClr val="F4F4F4"/>
                </a:solidFill>
                <a:latin typeface="Inter"/>
                <a:ea typeface="Inter"/>
                <a:cs typeface="Inter"/>
              </a:rPr>
              <a:t>Reemplazo</a:t>
            </a:r>
            <a:r>
              <a:rPr lang="en-US" sz="3064" dirty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3064" dirty="0" err="1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imputación</a:t>
            </a:r>
            <a:r>
              <a:rPr lang="en-US" sz="3064" dirty="0" smtClean="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lang="en-US" sz="3064" dirty="0">
              <a:solidFill>
                <a:srgbClr val="F4F4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374052"/>
            <a:ext cx="13035179" cy="81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Tratemiento de  valores atípicos (Outliers)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18929" y="191778"/>
            <a:ext cx="11579275" cy="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0"/>
              </a:lnSpc>
              <a:spcBef>
                <a:spcPct val="0"/>
              </a:spcBef>
            </a:pPr>
            <a:r>
              <a:rPr lang="en-US" sz="5350" b="1" spc="-224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Datos:</a:t>
            </a:r>
          </a:p>
        </p:txBody>
      </p:sp>
    </p:spTree>
    <p:extLst>
      <p:ext uri="{BB962C8B-B14F-4D97-AF65-F5344CB8AC3E}">
        <p14:creationId xmlns:p14="http://schemas.microsoft.com/office/powerpoint/2010/main" val="489114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3624397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6913678"/>
            <a:ext cx="8612695" cy="1185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2"/>
              </a:lnSpc>
            </a:pPr>
            <a:r>
              <a:rPr lang="en-US" sz="8550" b="1" spc="-359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 DE LA CLASE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1092278"/>
            <a:ext cx="16230600" cy="5073762"/>
            <a:chOff x="0" y="0"/>
            <a:chExt cx="2514545" cy="7860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14545" cy="786059"/>
            </a:xfrm>
            <a:custGeom>
              <a:avLst/>
              <a:gdLst/>
              <a:ahLst/>
              <a:cxnLst/>
              <a:rect l="l" t="t" r="r" b="b"/>
              <a:pathLst>
                <a:path w="2514545" h="786059">
                  <a:moveTo>
                    <a:pt x="29097" y="0"/>
                  </a:moveTo>
                  <a:lnTo>
                    <a:pt x="2485448" y="0"/>
                  </a:lnTo>
                  <a:cubicBezTo>
                    <a:pt x="2493165" y="0"/>
                    <a:pt x="2500566" y="3066"/>
                    <a:pt x="2506022" y="8522"/>
                  </a:cubicBezTo>
                  <a:cubicBezTo>
                    <a:pt x="2511479" y="13979"/>
                    <a:pt x="2514545" y="21380"/>
                    <a:pt x="2514545" y="29097"/>
                  </a:cubicBezTo>
                  <a:lnTo>
                    <a:pt x="2514545" y="756962"/>
                  </a:lnTo>
                  <a:cubicBezTo>
                    <a:pt x="2514545" y="764679"/>
                    <a:pt x="2511479" y="772080"/>
                    <a:pt x="2506022" y="777536"/>
                  </a:cubicBezTo>
                  <a:cubicBezTo>
                    <a:pt x="2500566" y="782993"/>
                    <a:pt x="2493165" y="786059"/>
                    <a:pt x="2485448" y="786059"/>
                  </a:cubicBezTo>
                  <a:lnTo>
                    <a:pt x="29097" y="786059"/>
                  </a:lnTo>
                  <a:cubicBezTo>
                    <a:pt x="21380" y="786059"/>
                    <a:pt x="13979" y="782993"/>
                    <a:pt x="8522" y="777536"/>
                  </a:cubicBezTo>
                  <a:cubicBezTo>
                    <a:pt x="3066" y="772080"/>
                    <a:pt x="0" y="764679"/>
                    <a:pt x="0" y="756962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blipFill>
              <a:blip r:embed="rId2"/>
              <a:stretch>
                <a:fillRect l="-6797" t="-49383" b="-78374"/>
              </a:stretch>
            </a:blipFill>
            <a:ln w="9525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588</Words>
  <Application>Microsoft Office PowerPoint</Application>
  <PresentationFormat>Personalizado</PresentationFormat>
  <Paragraphs>65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1" baseType="lpstr">
      <vt:lpstr>Arial</vt:lpstr>
      <vt:lpstr>Courier New</vt:lpstr>
      <vt:lpstr>Inter Extra-Light</vt:lpstr>
      <vt:lpstr>Inter</vt:lpstr>
      <vt:lpstr>Calibri</vt:lpstr>
      <vt:lpstr>Poppins</vt:lpstr>
      <vt:lpstr>Inter Bold</vt:lpstr>
      <vt:lpstr>Poppins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Tratamiento y Preparación de Datos Prática</dc:title>
  <cp:lastModifiedBy>Usuario de Windows</cp:lastModifiedBy>
  <cp:revision>3</cp:revision>
  <dcterms:created xsi:type="dcterms:W3CDTF">2006-08-16T00:00:00Z</dcterms:created>
  <dcterms:modified xsi:type="dcterms:W3CDTF">2025-09-08T18:08:38Z</dcterms:modified>
  <dc:identifier>DAGyYklcSg8</dc:identifier>
</cp:coreProperties>
</file>