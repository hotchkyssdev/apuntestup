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TT Interphases" charset="1" panose="02000503020000020004"/>
      <p:regular r:id="rId17"/>
    </p:embeddedFont>
    <p:embeddedFont>
      <p:font typeface="TT Interphases Bold" charset="1" panose="020008030600000200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5.pn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5.png" Type="http://schemas.openxmlformats.org/officeDocument/2006/relationships/image"/><Relationship Id="rId7" Target="../media/image18.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2" Target="../media/image23.png" Type="http://schemas.openxmlformats.org/officeDocument/2006/relationships/image"/><Relationship Id="rId3" Target="../media/image24.svg" Type="http://schemas.openxmlformats.org/officeDocument/2006/relationships/image"/><Relationship Id="rId4" Target="../media/image5.pn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27.png" Type="http://schemas.openxmlformats.org/officeDocument/2006/relationships/image"/><Relationship Id="rId8" Target="../media/image28.png" Type="http://schemas.openxmlformats.org/officeDocument/2006/relationships/image"/><Relationship Id="rId9" Target="../media/image2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 Id="rId6" Target="../media/image39.png" Type="http://schemas.openxmlformats.org/officeDocument/2006/relationships/image"/><Relationship Id="rId7" Target="../media/image4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sv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302463" y="1696521"/>
            <a:ext cx="6956837" cy="7561779"/>
          </a:xfrm>
          <a:custGeom>
            <a:avLst/>
            <a:gdLst/>
            <a:ahLst/>
            <a:cxnLst/>
            <a:rect r="r" b="b" t="t" l="l"/>
            <a:pathLst>
              <a:path h="7561779" w="6956837">
                <a:moveTo>
                  <a:pt x="0" y="0"/>
                </a:moveTo>
                <a:lnTo>
                  <a:pt x="6956837" y="0"/>
                </a:lnTo>
                <a:lnTo>
                  <a:pt x="6956837" y="7561779"/>
                </a:lnTo>
                <a:lnTo>
                  <a:pt x="0" y="75617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912167"/>
            <a:ext cx="8115300" cy="4093997"/>
          </a:xfrm>
          <a:prstGeom prst="rect">
            <a:avLst/>
          </a:prstGeom>
        </p:spPr>
        <p:txBody>
          <a:bodyPr anchor="t" rtlCol="false" tIns="0" lIns="0" bIns="0" rIns="0">
            <a:spAutoFit/>
          </a:bodyPr>
          <a:lstStyle/>
          <a:p>
            <a:pPr algn="l">
              <a:lnSpc>
                <a:spcPts val="10499"/>
              </a:lnSpc>
            </a:pPr>
            <a:r>
              <a:rPr lang="en-US" sz="12068" spc="-591">
                <a:solidFill>
                  <a:srgbClr val="000000"/>
                </a:solidFill>
                <a:latin typeface="TT Interphases"/>
                <a:ea typeface="TT Interphases"/>
                <a:cs typeface="TT Interphases"/>
                <a:sym typeface="TT Interphases"/>
              </a:rPr>
              <a:t>Introducción al Análisis de Datos</a:t>
            </a:r>
          </a:p>
        </p:txBody>
      </p:sp>
      <p:sp>
        <p:nvSpPr>
          <p:cNvPr name="Freeform 4" id="4"/>
          <p:cNvSpPr/>
          <p:nvPr/>
        </p:nvSpPr>
        <p:spPr>
          <a:xfrm flipH="false" flipV="false" rot="0">
            <a:off x="8145018" y="3243039"/>
            <a:ext cx="1543050" cy="1543050"/>
          </a:xfrm>
          <a:custGeom>
            <a:avLst/>
            <a:gdLst/>
            <a:ahLst/>
            <a:cxnLst/>
            <a:rect r="r" b="b" t="t" l="l"/>
            <a:pathLst>
              <a:path h="1543050" w="1543050">
                <a:moveTo>
                  <a:pt x="0" y="0"/>
                </a:moveTo>
                <a:lnTo>
                  <a:pt x="1543050" y="0"/>
                </a:lnTo>
                <a:lnTo>
                  <a:pt x="1543050" y="1543050"/>
                </a:lnTo>
                <a:lnTo>
                  <a:pt x="0" y="15430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028700" y="9063228"/>
            <a:ext cx="2570930" cy="245745"/>
          </a:xfrm>
          <a:prstGeom prst="rect">
            <a:avLst/>
          </a:prstGeom>
        </p:spPr>
        <p:txBody>
          <a:bodyPr anchor="t" rtlCol="false" tIns="0" lIns="0" bIns="0" rIns="0">
            <a:spAutoFit/>
          </a:bodyPr>
          <a:lstStyle/>
          <a:p>
            <a:pPr algn="l">
              <a:lnSpc>
                <a:spcPts val="1740"/>
              </a:lnSpc>
            </a:pPr>
            <a:r>
              <a:rPr lang="en-US" sz="2000" spc="-98">
                <a:solidFill>
                  <a:srgbClr val="000000"/>
                </a:solidFill>
                <a:latin typeface="TT Interphases"/>
                <a:ea typeface="TT Interphases"/>
                <a:cs typeface="TT Interphases"/>
                <a:sym typeface="TT Interphases"/>
              </a:rPr>
              <a:t>Esp. Ing. Jorge Roa</a:t>
            </a:r>
          </a:p>
        </p:txBody>
      </p:sp>
      <p:sp>
        <p:nvSpPr>
          <p:cNvPr name="Freeform 6" id="6"/>
          <p:cNvSpPr/>
          <p:nvPr/>
        </p:nvSpPr>
        <p:spPr>
          <a:xfrm flipH="false" flipV="false" rot="0">
            <a:off x="1028700" y="200075"/>
            <a:ext cx="4334346" cy="828625"/>
          </a:xfrm>
          <a:custGeom>
            <a:avLst/>
            <a:gdLst/>
            <a:ahLst/>
            <a:cxnLst/>
            <a:rect r="r" b="b" t="t" l="l"/>
            <a:pathLst>
              <a:path h="828625" w="4334346">
                <a:moveTo>
                  <a:pt x="0" y="0"/>
                </a:moveTo>
                <a:lnTo>
                  <a:pt x="4334346" y="0"/>
                </a:lnTo>
                <a:lnTo>
                  <a:pt x="4334346" y="828625"/>
                </a:lnTo>
                <a:lnTo>
                  <a:pt x="0" y="828625"/>
                </a:lnTo>
                <a:lnTo>
                  <a:pt x="0" y="0"/>
                </a:lnTo>
                <a:close/>
              </a:path>
            </a:pathLst>
          </a:custGeom>
          <a:blipFill>
            <a:blip r:embed="rId6"/>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6035449" y="1028700"/>
            <a:ext cx="1223851" cy="847795"/>
          </a:xfrm>
          <a:custGeom>
            <a:avLst/>
            <a:gdLst/>
            <a:ahLst/>
            <a:cxnLst/>
            <a:rect r="r" b="b" t="t" l="l"/>
            <a:pathLst>
              <a:path h="847795" w="1223851">
                <a:moveTo>
                  <a:pt x="1223851" y="0"/>
                </a:moveTo>
                <a:lnTo>
                  <a:pt x="0" y="0"/>
                </a:lnTo>
                <a:lnTo>
                  <a:pt x="0" y="847795"/>
                </a:lnTo>
                <a:lnTo>
                  <a:pt x="1223851" y="847795"/>
                </a:lnTo>
                <a:lnTo>
                  <a:pt x="122385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302014" y="2381811"/>
            <a:ext cx="7910751" cy="1946861"/>
          </a:xfrm>
          <a:prstGeom prst="rect">
            <a:avLst/>
          </a:prstGeom>
        </p:spPr>
        <p:txBody>
          <a:bodyPr anchor="t" rtlCol="false" tIns="0" lIns="0" bIns="0" rIns="0">
            <a:spAutoFit/>
          </a:bodyPr>
          <a:lstStyle/>
          <a:p>
            <a:pPr algn="l">
              <a:lnSpc>
                <a:spcPts val="7395"/>
              </a:lnSpc>
            </a:pPr>
            <a:r>
              <a:rPr lang="en-US" sz="8500" spc="-416">
                <a:solidFill>
                  <a:srgbClr val="000000"/>
                </a:solidFill>
                <a:latin typeface="TT Interphases"/>
                <a:ea typeface="TT Interphases"/>
                <a:cs typeface="TT Interphases"/>
                <a:sym typeface="TT Interphases"/>
              </a:rPr>
              <a:t>Fundamentos del Análisis de Datos</a:t>
            </a:r>
          </a:p>
        </p:txBody>
      </p:sp>
      <p:sp>
        <p:nvSpPr>
          <p:cNvPr name="TextBox 4" id="4"/>
          <p:cNvSpPr txBox="true"/>
          <p:nvPr/>
        </p:nvSpPr>
        <p:spPr>
          <a:xfrm rot="0">
            <a:off x="7302014" y="4728773"/>
            <a:ext cx="9815746" cy="1899851"/>
          </a:xfrm>
          <a:prstGeom prst="rect">
            <a:avLst/>
          </a:prstGeom>
        </p:spPr>
        <p:txBody>
          <a:bodyPr anchor="t" rtlCol="false" tIns="0" lIns="0" bIns="0" rIns="0">
            <a:spAutoFit/>
          </a:bodyPr>
          <a:lstStyle/>
          <a:p>
            <a:pPr algn="just">
              <a:lnSpc>
                <a:spcPts val="3782"/>
              </a:lnSpc>
            </a:pPr>
            <a:r>
              <a:rPr lang="en-US" sz="2701" spc="-132">
                <a:solidFill>
                  <a:srgbClr val="000000"/>
                </a:solidFill>
                <a:latin typeface="TT Interphases"/>
                <a:ea typeface="TT Interphases"/>
                <a:cs typeface="TT Interphases"/>
                <a:sym typeface="TT Interphases"/>
              </a:rPr>
              <a:t>Definición: Se puede entender al análisis de datos como el proceso de inspeccionar, limpiar, transformar y modelar datos con el objetivo de descubrir información útil, informar conclusiones, realizar predicciones y apoyar la toma de decisiones.</a:t>
            </a:r>
          </a:p>
        </p:txBody>
      </p:sp>
      <p:sp>
        <p:nvSpPr>
          <p:cNvPr name="Freeform 5" id="5"/>
          <p:cNvSpPr/>
          <p:nvPr/>
        </p:nvSpPr>
        <p:spPr>
          <a:xfrm flipH="false" flipV="false" rot="0">
            <a:off x="1028700" y="200075"/>
            <a:ext cx="4334346" cy="828625"/>
          </a:xfrm>
          <a:custGeom>
            <a:avLst/>
            <a:gdLst/>
            <a:ahLst/>
            <a:cxnLst/>
            <a:rect r="r" b="b" t="t" l="l"/>
            <a:pathLst>
              <a:path h="828625" w="4334346">
                <a:moveTo>
                  <a:pt x="0" y="0"/>
                </a:moveTo>
                <a:lnTo>
                  <a:pt x="4334346" y="0"/>
                </a:lnTo>
                <a:lnTo>
                  <a:pt x="4334346" y="828625"/>
                </a:lnTo>
                <a:lnTo>
                  <a:pt x="0" y="828625"/>
                </a:lnTo>
                <a:lnTo>
                  <a:pt x="0" y="0"/>
                </a:lnTo>
                <a:close/>
              </a:path>
            </a:pathLst>
          </a:custGeom>
          <a:blipFill>
            <a:blip r:embed="rId4"/>
            <a:stretch>
              <a:fillRect l="0" t="0" r="0" b="0"/>
            </a:stretch>
          </a:blipFill>
        </p:spPr>
      </p:sp>
      <p:sp>
        <p:nvSpPr>
          <p:cNvPr name="Freeform 6" id="6"/>
          <p:cNvSpPr/>
          <p:nvPr/>
        </p:nvSpPr>
        <p:spPr>
          <a:xfrm flipH="false" flipV="false" rot="0">
            <a:off x="1457325" y="3217129"/>
            <a:ext cx="5553580" cy="5533385"/>
          </a:xfrm>
          <a:custGeom>
            <a:avLst/>
            <a:gdLst/>
            <a:ahLst/>
            <a:cxnLst/>
            <a:rect r="r" b="b" t="t" l="l"/>
            <a:pathLst>
              <a:path h="5533385" w="5553580">
                <a:moveTo>
                  <a:pt x="0" y="0"/>
                </a:moveTo>
                <a:lnTo>
                  <a:pt x="5553580" y="0"/>
                </a:lnTo>
                <a:lnTo>
                  <a:pt x="5553580" y="5533385"/>
                </a:lnTo>
                <a:lnTo>
                  <a:pt x="0" y="55333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011657" y="4480161"/>
            <a:ext cx="4616867" cy="4255912"/>
          </a:xfrm>
          <a:custGeom>
            <a:avLst/>
            <a:gdLst/>
            <a:ahLst/>
            <a:cxnLst/>
            <a:rect r="r" b="b" t="t" l="l"/>
            <a:pathLst>
              <a:path h="4255912" w="4616867">
                <a:moveTo>
                  <a:pt x="0" y="0"/>
                </a:moveTo>
                <a:lnTo>
                  <a:pt x="4616867" y="0"/>
                </a:lnTo>
                <a:lnTo>
                  <a:pt x="4616867" y="4255912"/>
                </a:lnTo>
                <a:lnTo>
                  <a:pt x="0" y="42559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2130731" y="-184836"/>
            <a:ext cx="969594" cy="3396666"/>
          </a:xfrm>
          <a:custGeom>
            <a:avLst/>
            <a:gdLst/>
            <a:ahLst/>
            <a:cxnLst/>
            <a:rect r="r" b="b" t="t" l="l"/>
            <a:pathLst>
              <a:path h="3396666" w="969594">
                <a:moveTo>
                  <a:pt x="0" y="0"/>
                </a:moveTo>
                <a:lnTo>
                  <a:pt x="969594" y="0"/>
                </a:lnTo>
                <a:lnTo>
                  <a:pt x="969594" y="3396666"/>
                </a:lnTo>
                <a:lnTo>
                  <a:pt x="0" y="33966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1789722"/>
            <a:ext cx="9601274" cy="1946861"/>
          </a:xfrm>
          <a:prstGeom prst="rect">
            <a:avLst/>
          </a:prstGeom>
        </p:spPr>
        <p:txBody>
          <a:bodyPr anchor="t" rtlCol="false" tIns="0" lIns="0" bIns="0" rIns="0">
            <a:spAutoFit/>
          </a:bodyPr>
          <a:lstStyle/>
          <a:p>
            <a:pPr algn="l">
              <a:lnSpc>
                <a:spcPts val="7395"/>
              </a:lnSpc>
            </a:pPr>
            <a:r>
              <a:rPr lang="en-US" sz="8500" spc="-416">
                <a:solidFill>
                  <a:srgbClr val="000000"/>
                </a:solidFill>
                <a:latin typeface="TT Interphases"/>
                <a:ea typeface="TT Interphases"/>
                <a:cs typeface="TT Interphases"/>
                <a:sym typeface="TT Interphases"/>
              </a:rPr>
              <a:t>Importancia y Aplicaciones</a:t>
            </a:r>
          </a:p>
        </p:txBody>
      </p:sp>
      <p:sp>
        <p:nvSpPr>
          <p:cNvPr name="TextBox 5" id="5"/>
          <p:cNvSpPr txBox="true"/>
          <p:nvPr/>
        </p:nvSpPr>
        <p:spPr>
          <a:xfrm rot="0">
            <a:off x="1028700" y="3822308"/>
            <a:ext cx="11113162" cy="4041079"/>
          </a:xfrm>
          <a:prstGeom prst="rect">
            <a:avLst/>
          </a:prstGeom>
        </p:spPr>
        <p:txBody>
          <a:bodyPr anchor="t" rtlCol="false" tIns="0" lIns="0" bIns="0" rIns="0">
            <a:spAutoFit/>
          </a:bodyPr>
          <a:lstStyle/>
          <a:p>
            <a:pPr algn="l" marL="1021280" indent="-340427" lvl="2">
              <a:lnSpc>
                <a:spcPts val="3311"/>
              </a:lnSpc>
              <a:buFont typeface="Arial"/>
              <a:buChar char="⚬"/>
            </a:pPr>
            <a:r>
              <a:rPr lang="en-US" sz="2365" spc="-115">
                <a:solidFill>
                  <a:srgbClr val="000000"/>
                </a:solidFill>
                <a:latin typeface="TT Interphases"/>
                <a:ea typeface="TT Interphases"/>
                <a:cs typeface="TT Interphases"/>
                <a:sym typeface="TT Interphases"/>
              </a:rPr>
              <a:t>En Negocios: Optimización de marketing, segmentación de clientes, análisis de ventas.</a:t>
            </a:r>
          </a:p>
          <a:p>
            <a:pPr algn="l" marL="1021280" indent="-340427" lvl="2">
              <a:lnSpc>
                <a:spcPts val="3311"/>
              </a:lnSpc>
              <a:buFont typeface="Arial"/>
              <a:buChar char="⚬"/>
            </a:pPr>
            <a:r>
              <a:rPr lang="en-US" sz="2365" spc="-115">
                <a:solidFill>
                  <a:srgbClr val="000000"/>
                </a:solidFill>
                <a:latin typeface="TT Interphases"/>
                <a:ea typeface="TT Interphases"/>
                <a:cs typeface="TT Interphases"/>
                <a:sym typeface="TT Interphases"/>
              </a:rPr>
              <a:t>En Tecnología :</a:t>
            </a:r>
          </a:p>
          <a:p>
            <a:pPr algn="l" marL="1531921" indent="-382980" lvl="3">
              <a:lnSpc>
                <a:spcPts val="3311"/>
              </a:lnSpc>
              <a:buFont typeface="Arial"/>
              <a:buChar char="￭"/>
            </a:pPr>
            <a:r>
              <a:rPr lang="en-US" sz="2365" spc="-115">
                <a:solidFill>
                  <a:srgbClr val="000000"/>
                </a:solidFill>
                <a:latin typeface="TT Interphases"/>
                <a:ea typeface="TT Interphases"/>
                <a:cs typeface="TT Interphases"/>
                <a:sym typeface="TT Interphases"/>
              </a:rPr>
              <a:t>Análisis de logs de aplicaciones para detectar errores o cuellos de botella.</a:t>
            </a:r>
          </a:p>
          <a:p>
            <a:pPr algn="l" marL="1531921" indent="-382980" lvl="3">
              <a:lnSpc>
                <a:spcPts val="3311"/>
              </a:lnSpc>
              <a:buFont typeface="Arial"/>
              <a:buChar char="￭"/>
            </a:pPr>
            <a:r>
              <a:rPr lang="en-US" sz="2365" spc="-115">
                <a:solidFill>
                  <a:srgbClr val="000000"/>
                </a:solidFill>
                <a:latin typeface="TT Interphases"/>
                <a:ea typeface="TT Interphases"/>
                <a:cs typeface="TT Interphases"/>
                <a:sym typeface="TT Interphases"/>
              </a:rPr>
              <a:t>Mejora de la experiencia de usuario (UX) analizando cómo interactúan con una app.</a:t>
            </a:r>
          </a:p>
          <a:p>
            <a:pPr algn="l" marL="1531921" indent="-382980" lvl="3">
              <a:lnSpc>
                <a:spcPts val="3311"/>
              </a:lnSpc>
              <a:buFont typeface="Arial"/>
              <a:buChar char="￭"/>
            </a:pPr>
            <a:r>
              <a:rPr lang="en-US" sz="2365" spc="-115">
                <a:solidFill>
                  <a:srgbClr val="000000"/>
                </a:solidFill>
                <a:latin typeface="TT Interphases"/>
                <a:ea typeface="TT Interphases"/>
                <a:cs typeface="TT Interphases"/>
                <a:sym typeface="TT Interphases"/>
              </a:rPr>
              <a:t>Sistemas de recomendación (ej. Netflix, Amazon).</a:t>
            </a:r>
          </a:p>
          <a:p>
            <a:pPr algn="l" marL="1021280" indent="-340427" lvl="2">
              <a:lnSpc>
                <a:spcPts val="3311"/>
              </a:lnSpc>
              <a:buFont typeface="Arial"/>
              <a:buChar char="⚬"/>
            </a:pPr>
            <a:r>
              <a:rPr lang="en-US" sz="2365" spc="-115">
                <a:solidFill>
                  <a:srgbClr val="000000"/>
                </a:solidFill>
                <a:latin typeface="TT Interphases"/>
                <a:ea typeface="TT Interphases"/>
                <a:cs typeface="TT Interphases"/>
                <a:sym typeface="TT Interphases"/>
              </a:rPr>
              <a:t>En Ciencia: Investigación, análisis de experimentos, modelos predictivos.</a:t>
            </a:r>
          </a:p>
          <a:p>
            <a:pPr algn="l">
              <a:lnSpc>
                <a:spcPts val="2751"/>
              </a:lnSpc>
            </a:pPr>
          </a:p>
          <a:p>
            <a:pPr algn="l">
              <a:lnSpc>
                <a:spcPts val="2751"/>
              </a:lnSpc>
            </a:pPr>
          </a:p>
        </p:txBody>
      </p:sp>
      <p:sp>
        <p:nvSpPr>
          <p:cNvPr name="Freeform 6" id="6"/>
          <p:cNvSpPr/>
          <p:nvPr/>
        </p:nvSpPr>
        <p:spPr>
          <a:xfrm flipH="false" flipV="false" rot="0">
            <a:off x="1028700" y="200075"/>
            <a:ext cx="4334346" cy="828625"/>
          </a:xfrm>
          <a:custGeom>
            <a:avLst/>
            <a:gdLst/>
            <a:ahLst/>
            <a:cxnLst/>
            <a:rect r="r" b="b" t="t" l="l"/>
            <a:pathLst>
              <a:path h="828625" w="4334346">
                <a:moveTo>
                  <a:pt x="0" y="0"/>
                </a:moveTo>
                <a:lnTo>
                  <a:pt x="4334346" y="0"/>
                </a:lnTo>
                <a:lnTo>
                  <a:pt x="4334346" y="828625"/>
                </a:lnTo>
                <a:lnTo>
                  <a:pt x="0" y="828625"/>
                </a:lnTo>
                <a:lnTo>
                  <a:pt x="0" y="0"/>
                </a:lnTo>
                <a:close/>
              </a:path>
            </a:pathLst>
          </a:custGeom>
          <a:blipFill>
            <a:blip r:embed="rId6"/>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54939" y="8692094"/>
            <a:ext cx="740934" cy="575234"/>
          </a:xfrm>
          <a:custGeom>
            <a:avLst/>
            <a:gdLst/>
            <a:ahLst/>
            <a:cxnLst/>
            <a:rect r="r" b="b" t="t" l="l"/>
            <a:pathLst>
              <a:path h="575234" w="740934">
                <a:moveTo>
                  <a:pt x="0" y="0"/>
                </a:moveTo>
                <a:lnTo>
                  <a:pt x="740934" y="0"/>
                </a:lnTo>
                <a:lnTo>
                  <a:pt x="740934" y="575234"/>
                </a:lnTo>
                <a:lnTo>
                  <a:pt x="0" y="5752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6822619" y="1028700"/>
            <a:ext cx="608754" cy="472614"/>
          </a:xfrm>
          <a:custGeom>
            <a:avLst/>
            <a:gdLst/>
            <a:ahLst/>
            <a:cxnLst/>
            <a:rect r="r" b="b" t="t" l="l"/>
            <a:pathLst>
              <a:path h="472614" w="608754">
                <a:moveTo>
                  <a:pt x="608754" y="472614"/>
                </a:moveTo>
                <a:lnTo>
                  <a:pt x="0" y="472614"/>
                </a:lnTo>
                <a:lnTo>
                  <a:pt x="0" y="0"/>
                </a:lnTo>
                <a:lnTo>
                  <a:pt x="608754" y="0"/>
                </a:lnTo>
                <a:lnTo>
                  <a:pt x="608754" y="47261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200075"/>
            <a:ext cx="4334346" cy="828625"/>
          </a:xfrm>
          <a:custGeom>
            <a:avLst/>
            <a:gdLst/>
            <a:ahLst/>
            <a:cxnLst/>
            <a:rect r="r" b="b" t="t" l="l"/>
            <a:pathLst>
              <a:path h="828625" w="4334346">
                <a:moveTo>
                  <a:pt x="0" y="0"/>
                </a:moveTo>
                <a:lnTo>
                  <a:pt x="4334346" y="0"/>
                </a:lnTo>
                <a:lnTo>
                  <a:pt x="4334346" y="828625"/>
                </a:lnTo>
                <a:lnTo>
                  <a:pt x="0" y="828625"/>
                </a:lnTo>
                <a:lnTo>
                  <a:pt x="0" y="0"/>
                </a:lnTo>
                <a:close/>
              </a:path>
            </a:pathLst>
          </a:custGeom>
          <a:blipFill>
            <a:blip r:embed="rId6"/>
            <a:stretch>
              <a:fillRect l="0" t="0" r="0" b="0"/>
            </a:stretch>
          </a:blipFill>
        </p:spPr>
      </p:sp>
      <p:sp>
        <p:nvSpPr>
          <p:cNvPr name="Freeform 5" id="5"/>
          <p:cNvSpPr/>
          <p:nvPr/>
        </p:nvSpPr>
        <p:spPr>
          <a:xfrm flipH="false" flipV="false" rot="0">
            <a:off x="3184245" y="3062005"/>
            <a:ext cx="13195511" cy="5367041"/>
          </a:xfrm>
          <a:custGeom>
            <a:avLst/>
            <a:gdLst/>
            <a:ahLst/>
            <a:cxnLst/>
            <a:rect r="r" b="b" t="t" l="l"/>
            <a:pathLst>
              <a:path h="5367041" w="13195511">
                <a:moveTo>
                  <a:pt x="0" y="0"/>
                </a:moveTo>
                <a:lnTo>
                  <a:pt x="13195511" y="0"/>
                </a:lnTo>
                <a:lnTo>
                  <a:pt x="13195511" y="5367041"/>
                </a:lnTo>
                <a:lnTo>
                  <a:pt x="0" y="5367041"/>
                </a:lnTo>
                <a:lnTo>
                  <a:pt x="0" y="0"/>
                </a:lnTo>
                <a:close/>
              </a:path>
            </a:pathLst>
          </a:custGeom>
          <a:blipFill>
            <a:blip r:embed="rId7"/>
            <a:stretch>
              <a:fillRect l="0" t="-98784" r="0" b="-47077"/>
            </a:stretch>
          </a:blipFill>
        </p:spPr>
      </p:sp>
      <p:sp>
        <p:nvSpPr>
          <p:cNvPr name="TextBox 6" id="6"/>
          <p:cNvSpPr txBox="true"/>
          <p:nvPr/>
        </p:nvSpPr>
        <p:spPr>
          <a:xfrm rot="0">
            <a:off x="2819592" y="1035790"/>
            <a:ext cx="13560164" cy="2026214"/>
          </a:xfrm>
          <a:prstGeom prst="rect">
            <a:avLst/>
          </a:prstGeom>
        </p:spPr>
        <p:txBody>
          <a:bodyPr anchor="t" rtlCol="false" tIns="0" lIns="0" bIns="0" rIns="0">
            <a:spAutoFit/>
          </a:bodyPr>
          <a:lstStyle/>
          <a:p>
            <a:pPr algn="l">
              <a:lnSpc>
                <a:spcPts val="7656"/>
              </a:lnSpc>
            </a:pPr>
            <a:r>
              <a:rPr lang="en-US" sz="8800" spc="-431">
                <a:solidFill>
                  <a:srgbClr val="000000"/>
                </a:solidFill>
                <a:latin typeface="TT Interphases"/>
                <a:ea typeface="TT Interphases"/>
                <a:cs typeface="TT Interphases"/>
                <a:sym typeface="TT Interphases"/>
              </a:rPr>
              <a:t>El Ciclo de Vida del Análisis de Datos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54939" y="8692094"/>
            <a:ext cx="740934" cy="575234"/>
          </a:xfrm>
          <a:custGeom>
            <a:avLst/>
            <a:gdLst/>
            <a:ahLst/>
            <a:cxnLst/>
            <a:rect r="r" b="b" t="t" l="l"/>
            <a:pathLst>
              <a:path h="575234" w="740934">
                <a:moveTo>
                  <a:pt x="0" y="0"/>
                </a:moveTo>
                <a:lnTo>
                  <a:pt x="740934" y="0"/>
                </a:lnTo>
                <a:lnTo>
                  <a:pt x="740934" y="575234"/>
                </a:lnTo>
                <a:lnTo>
                  <a:pt x="0" y="5752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6822619" y="1028700"/>
            <a:ext cx="608754" cy="472614"/>
          </a:xfrm>
          <a:custGeom>
            <a:avLst/>
            <a:gdLst/>
            <a:ahLst/>
            <a:cxnLst/>
            <a:rect r="r" b="b" t="t" l="l"/>
            <a:pathLst>
              <a:path h="472614" w="608754">
                <a:moveTo>
                  <a:pt x="608754" y="472614"/>
                </a:moveTo>
                <a:lnTo>
                  <a:pt x="0" y="472614"/>
                </a:lnTo>
                <a:lnTo>
                  <a:pt x="0" y="0"/>
                </a:lnTo>
                <a:lnTo>
                  <a:pt x="608754" y="0"/>
                </a:lnTo>
                <a:lnTo>
                  <a:pt x="608754" y="47261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200075"/>
            <a:ext cx="4334346" cy="828625"/>
          </a:xfrm>
          <a:custGeom>
            <a:avLst/>
            <a:gdLst/>
            <a:ahLst/>
            <a:cxnLst/>
            <a:rect r="r" b="b" t="t" l="l"/>
            <a:pathLst>
              <a:path h="828625" w="4334346">
                <a:moveTo>
                  <a:pt x="0" y="0"/>
                </a:moveTo>
                <a:lnTo>
                  <a:pt x="4334346" y="0"/>
                </a:lnTo>
                <a:lnTo>
                  <a:pt x="4334346" y="828625"/>
                </a:lnTo>
                <a:lnTo>
                  <a:pt x="0" y="828625"/>
                </a:lnTo>
                <a:lnTo>
                  <a:pt x="0" y="0"/>
                </a:lnTo>
                <a:close/>
              </a:path>
            </a:pathLst>
          </a:custGeom>
          <a:blipFill>
            <a:blip r:embed="rId6"/>
            <a:stretch>
              <a:fillRect l="0" t="0" r="0" b="0"/>
            </a:stretch>
          </a:blipFill>
        </p:spPr>
      </p:sp>
      <p:sp>
        <p:nvSpPr>
          <p:cNvPr name="TextBox 5" id="5"/>
          <p:cNvSpPr txBox="true"/>
          <p:nvPr/>
        </p:nvSpPr>
        <p:spPr>
          <a:xfrm rot="0">
            <a:off x="2819592" y="1035790"/>
            <a:ext cx="13560164" cy="2026214"/>
          </a:xfrm>
          <a:prstGeom prst="rect">
            <a:avLst/>
          </a:prstGeom>
        </p:spPr>
        <p:txBody>
          <a:bodyPr anchor="t" rtlCol="false" tIns="0" lIns="0" bIns="0" rIns="0">
            <a:spAutoFit/>
          </a:bodyPr>
          <a:lstStyle/>
          <a:p>
            <a:pPr algn="l">
              <a:lnSpc>
                <a:spcPts val="7656"/>
              </a:lnSpc>
            </a:pPr>
            <a:r>
              <a:rPr lang="en-US" sz="8800" spc="-431">
                <a:solidFill>
                  <a:srgbClr val="000000"/>
                </a:solidFill>
                <a:latin typeface="TT Interphases"/>
                <a:ea typeface="TT Interphases"/>
                <a:cs typeface="TT Interphases"/>
                <a:sym typeface="TT Interphases"/>
              </a:rPr>
              <a:t>El Ciclo de Vida del Análisis de Datos</a:t>
            </a:r>
          </a:p>
        </p:txBody>
      </p:sp>
      <p:sp>
        <p:nvSpPr>
          <p:cNvPr name="TextBox 6" id="6"/>
          <p:cNvSpPr txBox="true"/>
          <p:nvPr/>
        </p:nvSpPr>
        <p:spPr>
          <a:xfrm rot="0">
            <a:off x="2454939" y="3550081"/>
            <a:ext cx="12258323" cy="3139214"/>
          </a:xfrm>
          <a:prstGeom prst="rect">
            <a:avLst/>
          </a:prstGeom>
        </p:spPr>
        <p:txBody>
          <a:bodyPr anchor="t" rtlCol="false" tIns="0" lIns="0" bIns="0" rIns="0">
            <a:spAutoFit/>
          </a:bodyPr>
          <a:lstStyle/>
          <a:p>
            <a:pPr algn="l" marL="1126519" indent="-375506" lvl="2">
              <a:lnSpc>
                <a:spcPts val="3652"/>
              </a:lnSpc>
              <a:buFont typeface="Arial"/>
              <a:buChar char="⚬"/>
            </a:pPr>
            <a:r>
              <a:rPr lang="en-US" sz="2608" spc="-127">
                <a:solidFill>
                  <a:srgbClr val="000000"/>
                </a:solidFill>
                <a:latin typeface="TT Interphases"/>
                <a:ea typeface="TT Interphases"/>
                <a:cs typeface="TT Interphases"/>
                <a:sym typeface="TT Interphases"/>
              </a:rPr>
              <a:t>Definición del Problema</a:t>
            </a:r>
          </a:p>
          <a:p>
            <a:pPr algn="l" marL="1126519" indent="-375506" lvl="2">
              <a:lnSpc>
                <a:spcPts val="3652"/>
              </a:lnSpc>
              <a:buFont typeface="Arial"/>
              <a:buChar char="⚬"/>
            </a:pPr>
            <a:r>
              <a:rPr lang="en-US" sz="2608" spc="-127">
                <a:solidFill>
                  <a:srgbClr val="000000"/>
                </a:solidFill>
                <a:latin typeface="TT Interphases"/>
                <a:ea typeface="TT Interphases"/>
                <a:cs typeface="TT Interphases"/>
                <a:sym typeface="TT Interphases"/>
              </a:rPr>
              <a:t>Obtención de Datos</a:t>
            </a:r>
          </a:p>
          <a:p>
            <a:pPr algn="l" marL="1126519" indent="-375506" lvl="2">
              <a:lnSpc>
                <a:spcPts val="3652"/>
              </a:lnSpc>
              <a:buFont typeface="Arial"/>
              <a:buChar char="⚬"/>
            </a:pPr>
            <a:r>
              <a:rPr lang="en-US" sz="2608" spc="-127">
                <a:solidFill>
                  <a:srgbClr val="000000"/>
                </a:solidFill>
                <a:latin typeface="TT Interphases"/>
                <a:ea typeface="TT Interphases"/>
                <a:cs typeface="TT Interphases"/>
                <a:sym typeface="TT Interphases"/>
              </a:rPr>
              <a:t>Limpieza de Datos</a:t>
            </a:r>
          </a:p>
          <a:p>
            <a:pPr algn="l" marL="1126519" indent="-375506" lvl="2">
              <a:lnSpc>
                <a:spcPts val="3652"/>
              </a:lnSpc>
              <a:buFont typeface="Arial"/>
              <a:buChar char="⚬"/>
            </a:pPr>
            <a:r>
              <a:rPr lang="en-US" sz="2608" spc="-127">
                <a:solidFill>
                  <a:srgbClr val="000000"/>
                </a:solidFill>
                <a:latin typeface="TT Interphases"/>
                <a:ea typeface="TT Interphases"/>
                <a:cs typeface="TT Interphases"/>
                <a:sym typeface="TT Interphases"/>
              </a:rPr>
              <a:t>Exploración de Datos (Análisis Exploratorio)</a:t>
            </a:r>
          </a:p>
          <a:p>
            <a:pPr algn="l" marL="1126519" indent="-375506" lvl="2">
              <a:lnSpc>
                <a:spcPts val="3652"/>
              </a:lnSpc>
              <a:buFont typeface="Arial"/>
              <a:buChar char="⚬"/>
            </a:pPr>
            <a:r>
              <a:rPr lang="en-US" sz="2608" spc="-127">
                <a:solidFill>
                  <a:srgbClr val="000000"/>
                </a:solidFill>
                <a:latin typeface="TT Interphases"/>
                <a:ea typeface="TT Interphases"/>
                <a:cs typeface="TT Interphases"/>
                <a:sym typeface="TT Interphases"/>
              </a:rPr>
              <a:t>Construcción del Modelo (Modelado) (Clasificación, Agrupamiento, Predicción, etc.)</a:t>
            </a:r>
          </a:p>
          <a:p>
            <a:pPr algn="l" marL="1126519" indent="-375506" lvl="2">
              <a:lnSpc>
                <a:spcPts val="3652"/>
              </a:lnSpc>
              <a:buFont typeface="Arial"/>
              <a:buChar char="⚬"/>
            </a:pPr>
            <a:r>
              <a:rPr lang="en-US" sz="2608" spc="-127">
                <a:solidFill>
                  <a:srgbClr val="000000"/>
                </a:solidFill>
                <a:latin typeface="TT Interphases"/>
                <a:ea typeface="TT Interphases"/>
                <a:cs typeface="TT Interphases"/>
                <a:sym typeface="TT Interphases"/>
              </a:rPr>
              <a:t>Implementación del Modelo</a:t>
            </a:r>
          </a:p>
          <a:p>
            <a:pPr algn="l">
              <a:lnSpc>
                <a:spcPts val="3034"/>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4430088"/>
            <a:ext cx="5413593" cy="3376113"/>
          </a:xfrm>
          <a:custGeom>
            <a:avLst/>
            <a:gdLst/>
            <a:ahLst/>
            <a:cxnLst/>
            <a:rect r="r" b="b" t="t" l="l"/>
            <a:pathLst>
              <a:path h="3376113" w="5413593">
                <a:moveTo>
                  <a:pt x="0" y="0"/>
                </a:moveTo>
                <a:lnTo>
                  <a:pt x="5413593" y="0"/>
                </a:lnTo>
                <a:lnTo>
                  <a:pt x="5413593" y="3376113"/>
                </a:lnTo>
                <a:lnTo>
                  <a:pt x="0" y="33761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363844" y="8725911"/>
            <a:ext cx="895456" cy="532389"/>
          </a:xfrm>
          <a:custGeom>
            <a:avLst/>
            <a:gdLst/>
            <a:ahLst/>
            <a:cxnLst/>
            <a:rect r="r" b="b" t="t" l="l"/>
            <a:pathLst>
              <a:path h="532389" w="895456">
                <a:moveTo>
                  <a:pt x="0" y="0"/>
                </a:moveTo>
                <a:lnTo>
                  <a:pt x="895456" y="0"/>
                </a:lnTo>
                <a:lnTo>
                  <a:pt x="895456" y="532389"/>
                </a:lnTo>
                <a:lnTo>
                  <a:pt x="0" y="5323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1304925"/>
            <a:ext cx="14771738" cy="1946861"/>
          </a:xfrm>
          <a:prstGeom prst="rect">
            <a:avLst/>
          </a:prstGeom>
        </p:spPr>
        <p:txBody>
          <a:bodyPr anchor="t" rtlCol="false" tIns="0" lIns="0" bIns="0" rIns="0">
            <a:spAutoFit/>
          </a:bodyPr>
          <a:lstStyle/>
          <a:p>
            <a:pPr algn="l">
              <a:lnSpc>
                <a:spcPts val="7395"/>
              </a:lnSpc>
            </a:pPr>
            <a:r>
              <a:rPr lang="en-US" sz="8500" spc="-416">
                <a:solidFill>
                  <a:srgbClr val="000000"/>
                </a:solidFill>
                <a:latin typeface="TT Interphases"/>
                <a:ea typeface="TT Interphases"/>
                <a:cs typeface="TT Interphases"/>
                <a:sym typeface="TT Interphases"/>
              </a:rPr>
              <a:t>Fuentes de Datos: ¿De Dónde Proviene la Información?</a:t>
            </a:r>
          </a:p>
        </p:txBody>
      </p:sp>
      <p:sp>
        <p:nvSpPr>
          <p:cNvPr name="TextBox 5" id="5"/>
          <p:cNvSpPr txBox="true"/>
          <p:nvPr/>
        </p:nvSpPr>
        <p:spPr>
          <a:xfrm rot="0">
            <a:off x="7420112" y="4143070"/>
            <a:ext cx="9391460" cy="3220594"/>
          </a:xfrm>
          <a:prstGeom prst="rect">
            <a:avLst/>
          </a:prstGeom>
        </p:spPr>
        <p:txBody>
          <a:bodyPr anchor="t" rtlCol="false" tIns="0" lIns="0" bIns="0" rIns="0">
            <a:spAutoFit/>
          </a:bodyPr>
          <a:lstStyle/>
          <a:p>
            <a:pPr algn="l" marL="661839" indent="-330919" lvl="1">
              <a:lnSpc>
                <a:spcPts val="4291"/>
              </a:lnSpc>
              <a:buFont typeface="Arial"/>
              <a:buChar char="•"/>
            </a:pPr>
            <a:r>
              <a:rPr lang="en-US" sz="3065" spc="-150">
                <a:solidFill>
                  <a:srgbClr val="000000"/>
                </a:solidFill>
                <a:latin typeface="TT Interphases"/>
                <a:ea typeface="TT Interphases"/>
                <a:cs typeface="TT Interphases"/>
                <a:sym typeface="TT Interphases"/>
              </a:rPr>
              <a:t>Datos Internos: datos generados y recopilados por la propia organización.</a:t>
            </a:r>
          </a:p>
          <a:p>
            <a:pPr algn="l" marL="661839" indent="-330919" lvl="1">
              <a:lnSpc>
                <a:spcPts val="4291"/>
              </a:lnSpc>
              <a:buFont typeface="Arial"/>
              <a:buChar char="•"/>
            </a:pPr>
            <a:r>
              <a:rPr lang="en-US" sz="3065" spc="-150">
                <a:solidFill>
                  <a:srgbClr val="000000"/>
                </a:solidFill>
                <a:latin typeface="TT Interphases"/>
                <a:ea typeface="TT Interphases"/>
                <a:cs typeface="TT Interphases"/>
                <a:sym typeface="TT Interphases"/>
              </a:rPr>
              <a:t>Datos Externos: Datos que se originan fuera de la organización.</a:t>
            </a:r>
          </a:p>
          <a:p>
            <a:pPr algn="l" marL="661839" indent="-330919" lvl="1">
              <a:lnSpc>
                <a:spcPts val="4291"/>
              </a:lnSpc>
              <a:buFont typeface="Arial"/>
              <a:buChar char="•"/>
            </a:pPr>
            <a:r>
              <a:rPr lang="en-US" sz="3065" spc="-150">
                <a:solidFill>
                  <a:srgbClr val="000000"/>
                </a:solidFill>
                <a:latin typeface="TT Interphases"/>
                <a:ea typeface="TT Interphases"/>
                <a:cs typeface="TT Interphases"/>
                <a:sym typeface="TT Interphases"/>
              </a:rPr>
              <a:t>Datos Creados: Datos que no existían previamente y son generados para un fin específico.</a:t>
            </a:r>
          </a:p>
        </p:txBody>
      </p:sp>
      <p:sp>
        <p:nvSpPr>
          <p:cNvPr name="Freeform 6" id="6"/>
          <p:cNvSpPr/>
          <p:nvPr/>
        </p:nvSpPr>
        <p:spPr>
          <a:xfrm flipH="false" flipV="false" rot="0">
            <a:off x="1028700" y="200075"/>
            <a:ext cx="4334346" cy="828625"/>
          </a:xfrm>
          <a:custGeom>
            <a:avLst/>
            <a:gdLst/>
            <a:ahLst/>
            <a:cxnLst/>
            <a:rect r="r" b="b" t="t" l="l"/>
            <a:pathLst>
              <a:path h="828625" w="4334346">
                <a:moveTo>
                  <a:pt x="0" y="0"/>
                </a:moveTo>
                <a:lnTo>
                  <a:pt x="4334346" y="0"/>
                </a:lnTo>
                <a:lnTo>
                  <a:pt x="4334346" y="828625"/>
                </a:lnTo>
                <a:lnTo>
                  <a:pt x="0" y="828625"/>
                </a:lnTo>
                <a:lnTo>
                  <a:pt x="0" y="0"/>
                </a:lnTo>
                <a:close/>
              </a:path>
            </a:pathLst>
          </a:custGeom>
          <a:blipFill>
            <a:blip r:embed="rId6"/>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30915" y="1028700"/>
            <a:ext cx="7028385" cy="4114800"/>
          </a:xfrm>
          <a:custGeom>
            <a:avLst/>
            <a:gdLst/>
            <a:ahLst/>
            <a:cxnLst/>
            <a:rect r="r" b="b" t="t" l="l"/>
            <a:pathLst>
              <a:path h="4114800" w="7028385">
                <a:moveTo>
                  <a:pt x="0" y="0"/>
                </a:moveTo>
                <a:lnTo>
                  <a:pt x="7028385" y="0"/>
                </a:lnTo>
                <a:lnTo>
                  <a:pt x="702838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200075"/>
            <a:ext cx="4334346" cy="828625"/>
          </a:xfrm>
          <a:custGeom>
            <a:avLst/>
            <a:gdLst/>
            <a:ahLst/>
            <a:cxnLst/>
            <a:rect r="r" b="b" t="t" l="l"/>
            <a:pathLst>
              <a:path h="828625" w="4334346">
                <a:moveTo>
                  <a:pt x="0" y="0"/>
                </a:moveTo>
                <a:lnTo>
                  <a:pt x="4334346" y="0"/>
                </a:lnTo>
                <a:lnTo>
                  <a:pt x="4334346" y="828625"/>
                </a:lnTo>
                <a:lnTo>
                  <a:pt x="0" y="828625"/>
                </a:lnTo>
                <a:lnTo>
                  <a:pt x="0" y="0"/>
                </a:lnTo>
                <a:close/>
              </a:path>
            </a:pathLst>
          </a:custGeom>
          <a:blipFill>
            <a:blip r:embed="rId4"/>
            <a:stretch>
              <a:fillRect l="0" t="0" r="0" b="0"/>
            </a:stretch>
          </a:blipFill>
        </p:spPr>
      </p:sp>
      <p:sp>
        <p:nvSpPr>
          <p:cNvPr name="Freeform 4" id="4"/>
          <p:cNvSpPr/>
          <p:nvPr/>
        </p:nvSpPr>
        <p:spPr>
          <a:xfrm flipH="false" flipV="false" rot="0">
            <a:off x="3575615" y="6928015"/>
            <a:ext cx="1665465" cy="1665465"/>
          </a:xfrm>
          <a:custGeom>
            <a:avLst/>
            <a:gdLst/>
            <a:ahLst/>
            <a:cxnLst/>
            <a:rect r="r" b="b" t="t" l="l"/>
            <a:pathLst>
              <a:path h="1665465" w="1665465">
                <a:moveTo>
                  <a:pt x="0" y="0"/>
                </a:moveTo>
                <a:lnTo>
                  <a:pt x="1665465" y="0"/>
                </a:lnTo>
                <a:lnTo>
                  <a:pt x="1665465" y="1665466"/>
                </a:lnTo>
                <a:lnTo>
                  <a:pt x="0" y="16654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5807849" y="6928015"/>
            <a:ext cx="1665465" cy="1665465"/>
          </a:xfrm>
          <a:custGeom>
            <a:avLst/>
            <a:gdLst/>
            <a:ahLst/>
            <a:cxnLst/>
            <a:rect r="r" b="b" t="t" l="l"/>
            <a:pathLst>
              <a:path h="1665465" w="1665465">
                <a:moveTo>
                  <a:pt x="0" y="0"/>
                </a:moveTo>
                <a:lnTo>
                  <a:pt x="1665466" y="0"/>
                </a:lnTo>
                <a:lnTo>
                  <a:pt x="1665466" y="1665466"/>
                </a:lnTo>
                <a:lnTo>
                  <a:pt x="0" y="1665466"/>
                </a:lnTo>
                <a:lnTo>
                  <a:pt x="0" y="0"/>
                </a:lnTo>
                <a:close/>
              </a:path>
            </a:pathLst>
          </a:custGeom>
          <a:blipFill>
            <a:blip r:embed="rId7"/>
            <a:stretch>
              <a:fillRect l="0" t="0" r="0" b="0"/>
            </a:stretch>
          </a:blipFill>
        </p:spPr>
      </p:sp>
      <p:sp>
        <p:nvSpPr>
          <p:cNvPr name="Freeform 6" id="6"/>
          <p:cNvSpPr/>
          <p:nvPr/>
        </p:nvSpPr>
        <p:spPr>
          <a:xfrm flipH="false" flipV="false" rot="0">
            <a:off x="8273415" y="6836448"/>
            <a:ext cx="1652734" cy="1652734"/>
          </a:xfrm>
          <a:custGeom>
            <a:avLst/>
            <a:gdLst/>
            <a:ahLst/>
            <a:cxnLst/>
            <a:rect r="r" b="b" t="t" l="l"/>
            <a:pathLst>
              <a:path h="1652734" w="1652734">
                <a:moveTo>
                  <a:pt x="0" y="0"/>
                </a:moveTo>
                <a:lnTo>
                  <a:pt x="1652734" y="0"/>
                </a:lnTo>
                <a:lnTo>
                  <a:pt x="1652734" y="1652735"/>
                </a:lnTo>
                <a:lnTo>
                  <a:pt x="0" y="1652735"/>
                </a:lnTo>
                <a:lnTo>
                  <a:pt x="0" y="0"/>
                </a:lnTo>
                <a:close/>
              </a:path>
            </a:pathLst>
          </a:custGeom>
          <a:blipFill>
            <a:blip r:embed="rId8"/>
            <a:stretch>
              <a:fillRect l="0" t="0" r="0" b="0"/>
            </a:stretch>
          </a:blipFill>
        </p:spPr>
      </p:sp>
      <p:sp>
        <p:nvSpPr>
          <p:cNvPr name="Freeform 7" id="7"/>
          <p:cNvSpPr/>
          <p:nvPr/>
        </p:nvSpPr>
        <p:spPr>
          <a:xfrm flipH="false" flipV="false" rot="0">
            <a:off x="10726465" y="6845287"/>
            <a:ext cx="1561167" cy="1561167"/>
          </a:xfrm>
          <a:custGeom>
            <a:avLst/>
            <a:gdLst/>
            <a:ahLst/>
            <a:cxnLst/>
            <a:rect r="r" b="b" t="t" l="l"/>
            <a:pathLst>
              <a:path h="1561167" w="1561167">
                <a:moveTo>
                  <a:pt x="0" y="0"/>
                </a:moveTo>
                <a:lnTo>
                  <a:pt x="1561167" y="0"/>
                </a:lnTo>
                <a:lnTo>
                  <a:pt x="1561167" y="1561167"/>
                </a:lnTo>
                <a:lnTo>
                  <a:pt x="0" y="1561167"/>
                </a:lnTo>
                <a:lnTo>
                  <a:pt x="0" y="0"/>
                </a:lnTo>
                <a:close/>
              </a:path>
            </a:pathLst>
          </a:custGeom>
          <a:blipFill>
            <a:blip r:embed="rId9"/>
            <a:stretch>
              <a:fillRect l="0" t="0" r="0" b="0"/>
            </a:stretch>
          </a:blipFill>
        </p:spPr>
      </p:sp>
      <p:sp>
        <p:nvSpPr>
          <p:cNvPr name="Freeform 8" id="8"/>
          <p:cNvSpPr/>
          <p:nvPr/>
        </p:nvSpPr>
        <p:spPr>
          <a:xfrm flipH="false" flipV="false" rot="0">
            <a:off x="13068490" y="6845287"/>
            <a:ext cx="1643896" cy="1643896"/>
          </a:xfrm>
          <a:custGeom>
            <a:avLst/>
            <a:gdLst/>
            <a:ahLst/>
            <a:cxnLst/>
            <a:rect r="r" b="b" t="t" l="l"/>
            <a:pathLst>
              <a:path h="1643896" w="1643896">
                <a:moveTo>
                  <a:pt x="0" y="0"/>
                </a:moveTo>
                <a:lnTo>
                  <a:pt x="1643895" y="0"/>
                </a:lnTo>
                <a:lnTo>
                  <a:pt x="1643895" y="1643896"/>
                </a:lnTo>
                <a:lnTo>
                  <a:pt x="0" y="1643896"/>
                </a:lnTo>
                <a:lnTo>
                  <a:pt x="0" y="0"/>
                </a:lnTo>
                <a:close/>
              </a:path>
            </a:pathLst>
          </a:custGeom>
          <a:blipFill>
            <a:blip r:embed="rId10"/>
            <a:stretch>
              <a:fillRect l="0" t="0" r="0" b="0"/>
            </a:stretch>
          </a:blipFill>
        </p:spPr>
      </p:sp>
      <p:sp>
        <p:nvSpPr>
          <p:cNvPr name="TextBox 9" id="9"/>
          <p:cNvSpPr txBox="true"/>
          <p:nvPr/>
        </p:nvSpPr>
        <p:spPr>
          <a:xfrm rot="0">
            <a:off x="1028700" y="2251013"/>
            <a:ext cx="7193539" cy="2026214"/>
          </a:xfrm>
          <a:prstGeom prst="rect">
            <a:avLst/>
          </a:prstGeom>
        </p:spPr>
        <p:txBody>
          <a:bodyPr anchor="t" rtlCol="false" tIns="0" lIns="0" bIns="0" rIns="0">
            <a:spAutoFit/>
          </a:bodyPr>
          <a:lstStyle/>
          <a:p>
            <a:pPr algn="l">
              <a:lnSpc>
                <a:spcPts val="7656"/>
              </a:lnSpc>
            </a:pPr>
            <a:r>
              <a:rPr lang="en-US" sz="8800" spc="-431">
                <a:solidFill>
                  <a:srgbClr val="000000"/>
                </a:solidFill>
                <a:latin typeface="TT Interphases"/>
                <a:ea typeface="TT Interphases"/>
                <a:cs typeface="TT Interphases"/>
                <a:sym typeface="TT Interphases"/>
              </a:rPr>
              <a:t>Actividad de Cierre</a:t>
            </a:r>
          </a:p>
        </p:txBody>
      </p:sp>
      <p:sp>
        <p:nvSpPr>
          <p:cNvPr name="TextBox 10" id="10"/>
          <p:cNvSpPr txBox="true"/>
          <p:nvPr/>
        </p:nvSpPr>
        <p:spPr>
          <a:xfrm rot="0">
            <a:off x="1028700" y="5083503"/>
            <a:ext cx="15537606" cy="945345"/>
          </a:xfrm>
          <a:prstGeom prst="rect">
            <a:avLst/>
          </a:prstGeom>
        </p:spPr>
        <p:txBody>
          <a:bodyPr anchor="t" rtlCol="false" tIns="0" lIns="0" bIns="0" rIns="0">
            <a:spAutoFit/>
          </a:bodyPr>
          <a:lstStyle/>
          <a:p>
            <a:pPr algn="l">
              <a:lnSpc>
                <a:spcPts val="3846"/>
              </a:lnSpc>
            </a:pPr>
            <a:r>
              <a:rPr lang="en-US" sz="2747" spc="-134">
                <a:solidFill>
                  <a:srgbClr val="000000"/>
                </a:solidFill>
                <a:latin typeface="TT Interphases"/>
                <a:ea typeface="TT Interphases"/>
                <a:cs typeface="TT Interphases"/>
                <a:sym typeface="TT Interphases"/>
              </a:rPr>
              <a:t>"Piensen en una aplicación que usan frecuentemente (Spotify, Instagram, Facebook, Amazon, Discord, Netflix). ¿Qué datos internos creen que generan? ¿Y qué datos externos podrían estar usando para mejorar su servicio?".</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999665" y="1028700"/>
            <a:ext cx="8259635" cy="8229600"/>
          </a:xfrm>
          <a:custGeom>
            <a:avLst/>
            <a:gdLst/>
            <a:ahLst/>
            <a:cxnLst/>
            <a:rect r="r" b="b" t="t" l="l"/>
            <a:pathLst>
              <a:path h="8229600" w="8259635">
                <a:moveTo>
                  <a:pt x="0" y="0"/>
                </a:moveTo>
                <a:lnTo>
                  <a:pt x="8259635" y="0"/>
                </a:lnTo>
                <a:lnTo>
                  <a:pt x="8259635"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2040890"/>
            <a:ext cx="8332616" cy="3325446"/>
          </a:xfrm>
          <a:prstGeom prst="rect">
            <a:avLst/>
          </a:prstGeom>
        </p:spPr>
        <p:txBody>
          <a:bodyPr anchor="t" rtlCol="false" tIns="0" lIns="0" bIns="0" rIns="0">
            <a:spAutoFit/>
          </a:bodyPr>
          <a:lstStyle/>
          <a:p>
            <a:pPr algn="l">
              <a:lnSpc>
                <a:spcPts val="12524"/>
              </a:lnSpc>
            </a:pPr>
            <a:r>
              <a:rPr lang="en-US" sz="14395" spc="-705">
                <a:solidFill>
                  <a:srgbClr val="000000"/>
                </a:solidFill>
                <a:latin typeface="TT Interphases"/>
                <a:ea typeface="TT Interphases"/>
                <a:cs typeface="TT Interphases"/>
                <a:sym typeface="TT Interphases"/>
              </a:rPr>
              <a:t>Fin Primera clase</a:t>
            </a:r>
          </a:p>
        </p:txBody>
      </p:sp>
      <p:sp>
        <p:nvSpPr>
          <p:cNvPr name="Freeform 4" id="4"/>
          <p:cNvSpPr/>
          <p:nvPr/>
        </p:nvSpPr>
        <p:spPr>
          <a:xfrm flipH="false" flipV="false" rot="0">
            <a:off x="1028700" y="200075"/>
            <a:ext cx="4334346" cy="828625"/>
          </a:xfrm>
          <a:custGeom>
            <a:avLst/>
            <a:gdLst/>
            <a:ahLst/>
            <a:cxnLst/>
            <a:rect r="r" b="b" t="t" l="l"/>
            <a:pathLst>
              <a:path h="828625" w="4334346">
                <a:moveTo>
                  <a:pt x="0" y="0"/>
                </a:moveTo>
                <a:lnTo>
                  <a:pt x="4334346" y="0"/>
                </a:lnTo>
                <a:lnTo>
                  <a:pt x="4334346" y="828625"/>
                </a:lnTo>
                <a:lnTo>
                  <a:pt x="0" y="828625"/>
                </a:lnTo>
                <a:lnTo>
                  <a:pt x="0" y="0"/>
                </a:lnTo>
                <a:close/>
              </a:path>
            </a:pathLst>
          </a:custGeom>
          <a:blipFill>
            <a:blip r:embed="rId4"/>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5642370"/>
            <a:ext cx="7195906" cy="4644630"/>
          </a:xfrm>
          <a:custGeom>
            <a:avLst/>
            <a:gdLst/>
            <a:ahLst/>
            <a:cxnLst/>
            <a:rect r="r" b="b" t="t" l="l"/>
            <a:pathLst>
              <a:path h="4644630" w="7195906">
                <a:moveTo>
                  <a:pt x="0" y="0"/>
                </a:moveTo>
                <a:lnTo>
                  <a:pt x="7195906" y="0"/>
                </a:lnTo>
                <a:lnTo>
                  <a:pt x="7195906" y="4644630"/>
                </a:lnTo>
                <a:lnTo>
                  <a:pt x="0" y="46446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2644660"/>
            <a:ext cx="7577855" cy="2026160"/>
          </a:xfrm>
          <a:prstGeom prst="rect">
            <a:avLst/>
          </a:prstGeom>
        </p:spPr>
        <p:txBody>
          <a:bodyPr anchor="t" rtlCol="false" tIns="0" lIns="0" bIns="0" rIns="0">
            <a:spAutoFit/>
          </a:bodyPr>
          <a:lstStyle/>
          <a:p>
            <a:pPr algn="l">
              <a:lnSpc>
                <a:spcPts val="7656"/>
              </a:lnSpc>
            </a:pPr>
            <a:r>
              <a:rPr lang="en-US" sz="8800" spc="-431">
                <a:solidFill>
                  <a:srgbClr val="000000"/>
                </a:solidFill>
                <a:latin typeface="TT Interphases"/>
                <a:ea typeface="TT Interphases"/>
                <a:cs typeface="TT Interphases"/>
                <a:sym typeface="TT Interphases"/>
              </a:rPr>
              <a:t>Types of Data Analysis</a:t>
            </a:r>
          </a:p>
        </p:txBody>
      </p:sp>
      <p:sp>
        <p:nvSpPr>
          <p:cNvPr name="TextBox 5" id="5"/>
          <p:cNvSpPr txBox="true"/>
          <p:nvPr/>
        </p:nvSpPr>
        <p:spPr>
          <a:xfrm rot="0">
            <a:off x="1566219" y="1108262"/>
            <a:ext cx="2033411" cy="259461"/>
          </a:xfrm>
          <a:prstGeom prst="rect">
            <a:avLst/>
          </a:prstGeom>
        </p:spPr>
        <p:txBody>
          <a:bodyPr anchor="t" rtlCol="false" tIns="0" lIns="0" bIns="0" rIns="0">
            <a:spAutoFit/>
          </a:bodyPr>
          <a:lstStyle/>
          <a:p>
            <a:pPr algn="l">
              <a:lnSpc>
                <a:spcPts val="1827"/>
              </a:lnSpc>
            </a:pPr>
            <a:r>
              <a:rPr lang="en-US" sz="2100" spc="-102">
                <a:solidFill>
                  <a:srgbClr val="000000"/>
                </a:solidFill>
                <a:latin typeface="TT Interphases"/>
                <a:ea typeface="TT Interphases"/>
                <a:cs typeface="TT Interphases"/>
                <a:sym typeface="TT Interphases"/>
              </a:rPr>
              <a:t>Borcelle</a:t>
            </a:r>
          </a:p>
        </p:txBody>
      </p:sp>
      <p:sp>
        <p:nvSpPr>
          <p:cNvPr name="TextBox 6" id="6"/>
          <p:cNvSpPr txBox="true"/>
          <p:nvPr/>
        </p:nvSpPr>
        <p:spPr>
          <a:xfrm rot="0">
            <a:off x="11673321" y="1487959"/>
            <a:ext cx="5585979" cy="1461770"/>
          </a:xfrm>
          <a:prstGeom prst="rect">
            <a:avLst/>
          </a:prstGeom>
        </p:spPr>
        <p:txBody>
          <a:bodyPr anchor="t" rtlCol="false" tIns="0" lIns="0" bIns="0" rIns="0">
            <a:spAutoFit/>
          </a:bodyPr>
          <a:lstStyle/>
          <a:p>
            <a:pPr algn="l">
              <a:lnSpc>
                <a:spcPts val="2380"/>
              </a:lnSpc>
            </a:pPr>
            <a:r>
              <a:rPr lang="en-US" sz="1700" spc="-83">
                <a:solidFill>
                  <a:srgbClr val="000000"/>
                </a:solidFill>
                <a:latin typeface="TT Interphases"/>
                <a:ea typeface="TT Interphases"/>
                <a:cs typeface="TT Interphases"/>
                <a:sym typeface="TT Interphases"/>
              </a:rPr>
              <a:t>Malesuada erat adipiscing nunc nibh natoque, sapien hendrerit. Facilisis volutpat fringilla penatibus potenti eget luctus ornare. Semper iaculis pharetra sociosqu interdum; sagittis nulla aenean dolor. Nunc egestas justo; rutrum ut sociosqu mauris. Sodales enim finibus, eu neque hac nulla maximus diam et.</a:t>
            </a:r>
          </a:p>
        </p:txBody>
      </p:sp>
      <p:sp>
        <p:nvSpPr>
          <p:cNvPr name="TextBox 7" id="7"/>
          <p:cNvSpPr txBox="true"/>
          <p:nvPr/>
        </p:nvSpPr>
        <p:spPr>
          <a:xfrm rot="0">
            <a:off x="11673321" y="1000125"/>
            <a:ext cx="1214776" cy="280670"/>
          </a:xfrm>
          <a:prstGeom prst="rect">
            <a:avLst/>
          </a:prstGeom>
        </p:spPr>
        <p:txBody>
          <a:bodyPr anchor="t" rtlCol="false" tIns="0" lIns="0" bIns="0" rIns="0">
            <a:spAutoFit/>
          </a:bodyPr>
          <a:lstStyle/>
          <a:p>
            <a:pPr algn="l">
              <a:lnSpc>
                <a:spcPts val="2380"/>
              </a:lnSpc>
            </a:pPr>
            <a:r>
              <a:rPr lang="en-US" sz="1700" spc="-83" b="true">
                <a:solidFill>
                  <a:srgbClr val="000000"/>
                </a:solidFill>
                <a:latin typeface="TT Interphases Bold"/>
                <a:ea typeface="TT Interphases Bold"/>
                <a:cs typeface="TT Interphases Bold"/>
                <a:sym typeface="TT Interphases Bold"/>
              </a:rPr>
              <a:t>Point 01</a:t>
            </a:r>
          </a:p>
        </p:txBody>
      </p:sp>
      <p:sp>
        <p:nvSpPr>
          <p:cNvPr name="TextBox 8" id="8"/>
          <p:cNvSpPr txBox="true"/>
          <p:nvPr/>
        </p:nvSpPr>
        <p:spPr>
          <a:xfrm rot="0">
            <a:off x="11673321" y="4642245"/>
            <a:ext cx="5585979" cy="1461770"/>
          </a:xfrm>
          <a:prstGeom prst="rect">
            <a:avLst/>
          </a:prstGeom>
        </p:spPr>
        <p:txBody>
          <a:bodyPr anchor="t" rtlCol="false" tIns="0" lIns="0" bIns="0" rIns="0">
            <a:spAutoFit/>
          </a:bodyPr>
          <a:lstStyle/>
          <a:p>
            <a:pPr algn="l">
              <a:lnSpc>
                <a:spcPts val="2380"/>
              </a:lnSpc>
            </a:pPr>
            <a:r>
              <a:rPr lang="en-US" sz="1700" spc="-83">
                <a:solidFill>
                  <a:srgbClr val="000000"/>
                </a:solidFill>
                <a:latin typeface="TT Interphases"/>
                <a:ea typeface="TT Interphases"/>
                <a:cs typeface="TT Interphases"/>
                <a:sym typeface="TT Interphases"/>
              </a:rPr>
              <a:t>Malesuada erat adipiscing nunc nibh natoque, sapien hendrerit. Facilisis volutpat fringilla penatibus potenti eget luctus ornare. Semper iaculis pharetra sociosqu interdum; sagittis nulla aenean dolor. Nunc egestas justo; rutrum ut sociosqu mauris. Sodales enim finibus, eu neque hac nulla maximus diam et.</a:t>
            </a:r>
          </a:p>
        </p:txBody>
      </p:sp>
      <p:sp>
        <p:nvSpPr>
          <p:cNvPr name="TextBox 9" id="9"/>
          <p:cNvSpPr txBox="true"/>
          <p:nvPr/>
        </p:nvSpPr>
        <p:spPr>
          <a:xfrm rot="0">
            <a:off x="11673321" y="4154410"/>
            <a:ext cx="1214776" cy="280670"/>
          </a:xfrm>
          <a:prstGeom prst="rect">
            <a:avLst/>
          </a:prstGeom>
        </p:spPr>
        <p:txBody>
          <a:bodyPr anchor="t" rtlCol="false" tIns="0" lIns="0" bIns="0" rIns="0">
            <a:spAutoFit/>
          </a:bodyPr>
          <a:lstStyle/>
          <a:p>
            <a:pPr algn="l">
              <a:lnSpc>
                <a:spcPts val="2380"/>
              </a:lnSpc>
            </a:pPr>
            <a:r>
              <a:rPr lang="en-US" sz="1700" spc="-83" b="true">
                <a:solidFill>
                  <a:srgbClr val="000000"/>
                </a:solidFill>
                <a:latin typeface="TT Interphases Bold"/>
                <a:ea typeface="TT Interphases Bold"/>
                <a:cs typeface="TT Interphases Bold"/>
                <a:sym typeface="TT Interphases Bold"/>
              </a:rPr>
              <a:t>Point 02</a:t>
            </a:r>
          </a:p>
        </p:txBody>
      </p:sp>
      <p:sp>
        <p:nvSpPr>
          <p:cNvPr name="TextBox 10" id="10"/>
          <p:cNvSpPr txBox="true"/>
          <p:nvPr/>
        </p:nvSpPr>
        <p:spPr>
          <a:xfrm rot="0">
            <a:off x="11673321" y="7796530"/>
            <a:ext cx="5585979" cy="1461770"/>
          </a:xfrm>
          <a:prstGeom prst="rect">
            <a:avLst/>
          </a:prstGeom>
        </p:spPr>
        <p:txBody>
          <a:bodyPr anchor="t" rtlCol="false" tIns="0" lIns="0" bIns="0" rIns="0">
            <a:spAutoFit/>
          </a:bodyPr>
          <a:lstStyle/>
          <a:p>
            <a:pPr algn="l">
              <a:lnSpc>
                <a:spcPts val="2380"/>
              </a:lnSpc>
            </a:pPr>
            <a:r>
              <a:rPr lang="en-US" sz="1700" spc="-83">
                <a:solidFill>
                  <a:srgbClr val="000000"/>
                </a:solidFill>
                <a:latin typeface="TT Interphases"/>
                <a:ea typeface="TT Interphases"/>
                <a:cs typeface="TT Interphases"/>
                <a:sym typeface="TT Interphases"/>
              </a:rPr>
              <a:t>Malesuada erat adipiscing nunc nibh natoque, sapien hendrerit. Facilisis volutpat fringilla penatibus potenti eget luctus ornare. Semper iaculis pharetra sociosqu interdum; sagittis nulla aenean dolor. Nunc egestas justo; rutrum ut sociosqu mauris. Sodales enim finibus, eu neque hac nulla maximus diam et.</a:t>
            </a:r>
          </a:p>
        </p:txBody>
      </p:sp>
      <p:sp>
        <p:nvSpPr>
          <p:cNvPr name="TextBox 11" id="11"/>
          <p:cNvSpPr txBox="true"/>
          <p:nvPr/>
        </p:nvSpPr>
        <p:spPr>
          <a:xfrm rot="0">
            <a:off x="11673321" y="7308696"/>
            <a:ext cx="1214776" cy="280670"/>
          </a:xfrm>
          <a:prstGeom prst="rect">
            <a:avLst/>
          </a:prstGeom>
        </p:spPr>
        <p:txBody>
          <a:bodyPr anchor="t" rtlCol="false" tIns="0" lIns="0" bIns="0" rIns="0">
            <a:spAutoFit/>
          </a:bodyPr>
          <a:lstStyle/>
          <a:p>
            <a:pPr algn="l">
              <a:lnSpc>
                <a:spcPts val="2380"/>
              </a:lnSpc>
            </a:pPr>
            <a:r>
              <a:rPr lang="en-US" sz="1700" spc="-83" b="true">
                <a:solidFill>
                  <a:srgbClr val="000000"/>
                </a:solidFill>
                <a:latin typeface="TT Interphases Bold"/>
                <a:ea typeface="TT Interphases Bold"/>
                <a:cs typeface="TT Interphases Bold"/>
                <a:sym typeface="TT Interphases Bold"/>
              </a:rPr>
              <a:t>Point 03</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479829" y="1028700"/>
            <a:ext cx="5779471" cy="4550020"/>
          </a:xfrm>
          <a:custGeom>
            <a:avLst/>
            <a:gdLst/>
            <a:ahLst/>
            <a:cxnLst/>
            <a:rect r="r" b="b" t="t" l="l"/>
            <a:pathLst>
              <a:path h="4550020" w="5779471">
                <a:moveTo>
                  <a:pt x="0" y="0"/>
                </a:moveTo>
                <a:lnTo>
                  <a:pt x="5779471" y="0"/>
                </a:lnTo>
                <a:lnTo>
                  <a:pt x="5779471" y="4550020"/>
                </a:lnTo>
                <a:lnTo>
                  <a:pt x="0" y="45500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3807070"/>
            <a:ext cx="8473720" cy="2026160"/>
          </a:xfrm>
          <a:prstGeom prst="rect">
            <a:avLst/>
          </a:prstGeom>
        </p:spPr>
        <p:txBody>
          <a:bodyPr anchor="t" rtlCol="false" tIns="0" lIns="0" bIns="0" rIns="0">
            <a:spAutoFit/>
          </a:bodyPr>
          <a:lstStyle/>
          <a:p>
            <a:pPr algn="l">
              <a:lnSpc>
                <a:spcPts val="7656"/>
              </a:lnSpc>
            </a:pPr>
            <a:r>
              <a:rPr lang="en-US" sz="8800" spc="-431">
                <a:solidFill>
                  <a:srgbClr val="000000"/>
                </a:solidFill>
                <a:latin typeface="TT Interphases"/>
                <a:ea typeface="TT Interphases"/>
                <a:cs typeface="TT Interphases"/>
                <a:sym typeface="TT Interphases"/>
              </a:rPr>
              <a:t>Applications of Data Analysis</a:t>
            </a:r>
          </a:p>
        </p:txBody>
      </p:sp>
      <p:sp>
        <p:nvSpPr>
          <p:cNvPr name="TextBox 5" id="5"/>
          <p:cNvSpPr txBox="true"/>
          <p:nvPr/>
        </p:nvSpPr>
        <p:spPr>
          <a:xfrm rot="0">
            <a:off x="1566219" y="1108262"/>
            <a:ext cx="2033411" cy="259461"/>
          </a:xfrm>
          <a:prstGeom prst="rect">
            <a:avLst/>
          </a:prstGeom>
        </p:spPr>
        <p:txBody>
          <a:bodyPr anchor="t" rtlCol="false" tIns="0" lIns="0" bIns="0" rIns="0">
            <a:spAutoFit/>
          </a:bodyPr>
          <a:lstStyle/>
          <a:p>
            <a:pPr algn="l">
              <a:lnSpc>
                <a:spcPts val="1827"/>
              </a:lnSpc>
            </a:pPr>
            <a:r>
              <a:rPr lang="en-US" sz="2100" spc="-102">
                <a:solidFill>
                  <a:srgbClr val="000000"/>
                </a:solidFill>
                <a:latin typeface="TT Interphases"/>
                <a:ea typeface="TT Interphases"/>
                <a:cs typeface="TT Interphases"/>
                <a:sym typeface="TT Interphases"/>
              </a:rPr>
              <a:t>Borcelle</a:t>
            </a:r>
          </a:p>
        </p:txBody>
      </p:sp>
      <p:sp>
        <p:nvSpPr>
          <p:cNvPr name="TextBox 6" id="6"/>
          <p:cNvSpPr txBox="true"/>
          <p:nvPr/>
        </p:nvSpPr>
        <p:spPr>
          <a:xfrm rot="0">
            <a:off x="1028700" y="6910705"/>
            <a:ext cx="10528681" cy="2347595"/>
          </a:xfrm>
          <a:prstGeom prst="rect">
            <a:avLst/>
          </a:prstGeom>
        </p:spPr>
        <p:txBody>
          <a:bodyPr anchor="t" rtlCol="false" tIns="0" lIns="0" bIns="0" rIns="0">
            <a:spAutoFit/>
          </a:bodyPr>
          <a:lstStyle/>
          <a:p>
            <a:pPr algn="l">
              <a:lnSpc>
                <a:spcPts val="2380"/>
              </a:lnSpc>
            </a:pPr>
            <a:r>
              <a:rPr lang="en-US" sz="1700" spc="-83">
                <a:solidFill>
                  <a:srgbClr val="000000"/>
                </a:solidFill>
                <a:latin typeface="TT Interphases"/>
                <a:ea typeface="TT Interphases"/>
                <a:cs typeface="TT Interphases"/>
                <a:sym typeface="TT Interphases"/>
              </a:rPr>
              <a:t>Lorem ipsum odor amet, consectetuer adipiscing elit. Adipiscing a blandit lectus quam, penatibus enim cursus. Et cubilia bibendum enim interdum aliquam molestie purus litora malesuada. Vel commodo aliquet iaculis tristique platea turpis; curae nec. At condimentum placerat curae bibendum suspendisse. Elementum facilisi enim in id neque viverra convallis curabitur. Taciti vulputate consequat varius tellus nullam neque. Eu habitasse semper placerat tempus accumsan, adipiscing netus.</a:t>
            </a:r>
          </a:p>
          <a:p>
            <a:pPr algn="l">
              <a:lnSpc>
                <a:spcPts val="2380"/>
              </a:lnSpc>
            </a:pPr>
          </a:p>
          <a:p>
            <a:pPr algn="l">
              <a:lnSpc>
                <a:spcPts val="2380"/>
              </a:lnSpc>
            </a:pPr>
            <a:r>
              <a:rPr lang="en-US" sz="1700" spc="-83">
                <a:solidFill>
                  <a:srgbClr val="000000"/>
                </a:solidFill>
                <a:latin typeface="TT Interphases"/>
                <a:ea typeface="TT Interphases"/>
                <a:cs typeface="TT Interphases"/>
                <a:sym typeface="TT Interphases"/>
              </a:rPr>
              <a:t>Malesuada erat adipiscing nunc nibh natoque, sapien hendrerit. Facilisis volutpat fringilla penatibus potenti eget luctus ornare. Semper iaculis pharetra sociosqu interdum; sagittis nulla aenean dolor. Nunc egestas justo; rutrum ut sociosqu mauris. Sodales enim finibus, eu neque hac nulla maximus diam et.</a:t>
            </a:r>
          </a:p>
        </p:txBody>
      </p:sp>
      <p:sp>
        <p:nvSpPr>
          <p:cNvPr name="TextBox 7" id="7"/>
          <p:cNvSpPr txBox="true"/>
          <p:nvPr/>
        </p:nvSpPr>
        <p:spPr>
          <a:xfrm rot="0">
            <a:off x="12476510" y="6910705"/>
            <a:ext cx="4782790" cy="2347595"/>
          </a:xfrm>
          <a:prstGeom prst="rect">
            <a:avLst/>
          </a:prstGeom>
        </p:spPr>
        <p:txBody>
          <a:bodyPr anchor="t" rtlCol="false" tIns="0" lIns="0" bIns="0" rIns="0">
            <a:spAutoFit/>
          </a:bodyPr>
          <a:lstStyle/>
          <a:p>
            <a:pPr algn="l">
              <a:lnSpc>
                <a:spcPts val="2380"/>
              </a:lnSpc>
            </a:pPr>
            <a:r>
              <a:rPr lang="en-US" sz="1700" spc="-83" b="true">
                <a:solidFill>
                  <a:srgbClr val="000000"/>
                </a:solidFill>
                <a:latin typeface="TT Interphases Bold"/>
                <a:ea typeface="TT Interphases Bold"/>
                <a:cs typeface="TT Interphases Bold"/>
                <a:sym typeface="TT Interphases Bold"/>
              </a:rPr>
              <a:t>Lorem ipsum odor amet, consectetuer adipiscing elit. Adipiscing a blandit lectus quam, penatibus enim cursus. Et cubilia bibendum enim interdum aliquam molestie purus litora malesuada. Vel commodo aliquet iaculis tristique platea turpis; curae nec. At condimentum placerat curae bibendum suspendisse. Elementum facilisi enim in id neque viverra convallis curabitur.</a:t>
            </a:r>
          </a:p>
        </p:txBody>
      </p:sp>
      <p:sp>
        <p:nvSpPr>
          <p:cNvPr name="Freeform 8" id="8"/>
          <p:cNvSpPr/>
          <p:nvPr/>
        </p:nvSpPr>
        <p:spPr>
          <a:xfrm flipH="false" flipV="false" rot="-5400000">
            <a:off x="8253798" y="-184836"/>
            <a:ext cx="969594" cy="3396666"/>
          </a:xfrm>
          <a:custGeom>
            <a:avLst/>
            <a:gdLst/>
            <a:ahLst/>
            <a:cxnLst/>
            <a:rect r="r" b="b" t="t" l="l"/>
            <a:pathLst>
              <a:path h="3396666" w="969594">
                <a:moveTo>
                  <a:pt x="0" y="0"/>
                </a:moveTo>
                <a:lnTo>
                  <a:pt x="969594" y="0"/>
                </a:lnTo>
                <a:lnTo>
                  <a:pt x="969594" y="3396666"/>
                </a:lnTo>
                <a:lnTo>
                  <a:pt x="0" y="33966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452749" y="1051112"/>
            <a:ext cx="6841804" cy="5174892"/>
          </a:xfrm>
          <a:custGeom>
            <a:avLst/>
            <a:gdLst/>
            <a:ahLst/>
            <a:cxnLst/>
            <a:rect r="r" b="b" t="t" l="l"/>
            <a:pathLst>
              <a:path h="5174892" w="6841804">
                <a:moveTo>
                  <a:pt x="0" y="0"/>
                </a:moveTo>
                <a:lnTo>
                  <a:pt x="6841803" y="0"/>
                </a:lnTo>
                <a:lnTo>
                  <a:pt x="6841803" y="5174892"/>
                </a:lnTo>
                <a:lnTo>
                  <a:pt x="0" y="51748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7376223"/>
            <a:ext cx="6978478" cy="2026160"/>
          </a:xfrm>
          <a:prstGeom prst="rect">
            <a:avLst/>
          </a:prstGeom>
        </p:spPr>
        <p:txBody>
          <a:bodyPr anchor="t" rtlCol="false" tIns="0" lIns="0" bIns="0" rIns="0">
            <a:spAutoFit/>
          </a:bodyPr>
          <a:lstStyle/>
          <a:p>
            <a:pPr algn="l">
              <a:lnSpc>
                <a:spcPts val="7656"/>
              </a:lnSpc>
            </a:pPr>
            <a:r>
              <a:rPr lang="en-US" sz="8800" spc="-431">
                <a:solidFill>
                  <a:srgbClr val="000000"/>
                </a:solidFill>
                <a:latin typeface="TT Interphases"/>
                <a:ea typeface="TT Interphases"/>
                <a:cs typeface="TT Interphases"/>
                <a:sym typeface="TT Interphases"/>
              </a:rPr>
              <a:t>Career Path &amp; Opportunities</a:t>
            </a:r>
          </a:p>
        </p:txBody>
      </p:sp>
      <p:sp>
        <p:nvSpPr>
          <p:cNvPr name="TextBox 5" id="5"/>
          <p:cNvSpPr txBox="true"/>
          <p:nvPr/>
        </p:nvSpPr>
        <p:spPr>
          <a:xfrm rot="0">
            <a:off x="1566219" y="1108262"/>
            <a:ext cx="2033411" cy="259461"/>
          </a:xfrm>
          <a:prstGeom prst="rect">
            <a:avLst/>
          </a:prstGeom>
        </p:spPr>
        <p:txBody>
          <a:bodyPr anchor="t" rtlCol="false" tIns="0" lIns="0" bIns="0" rIns="0">
            <a:spAutoFit/>
          </a:bodyPr>
          <a:lstStyle/>
          <a:p>
            <a:pPr algn="l">
              <a:lnSpc>
                <a:spcPts val="1827"/>
              </a:lnSpc>
            </a:pPr>
            <a:r>
              <a:rPr lang="en-US" sz="2100" spc="-102">
                <a:solidFill>
                  <a:srgbClr val="000000"/>
                </a:solidFill>
                <a:latin typeface="TT Interphases"/>
                <a:ea typeface="TT Interphases"/>
                <a:cs typeface="TT Interphases"/>
                <a:sym typeface="TT Interphases"/>
              </a:rPr>
              <a:t>Borcelle</a:t>
            </a:r>
          </a:p>
        </p:txBody>
      </p:sp>
      <p:sp>
        <p:nvSpPr>
          <p:cNvPr name="TextBox 6" id="6"/>
          <p:cNvSpPr txBox="true"/>
          <p:nvPr/>
        </p:nvSpPr>
        <p:spPr>
          <a:xfrm rot="0">
            <a:off x="1028700" y="3071873"/>
            <a:ext cx="6142033" cy="2347595"/>
          </a:xfrm>
          <a:prstGeom prst="rect">
            <a:avLst/>
          </a:prstGeom>
        </p:spPr>
        <p:txBody>
          <a:bodyPr anchor="t" rtlCol="false" tIns="0" lIns="0" bIns="0" rIns="0">
            <a:spAutoFit/>
          </a:bodyPr>
          <a:lstStyle/>
          <a:p>
            <a:pPr algn="l">
              <a:lnSpc>
                <a:spcPts val="2380"/>
              </a:lnSpc>
            </a:pPr>
            <a:r>
              <a:rPr lang="en-US" sz="1700" spc="-83">
                <a:solidFill>
                  <a:srgbClr val="000000"/>
                </a:solidFill>
                <a:latin typeface="TT Interphases"/>
                <a:ea typeface="TT Interphases"/>
                <a:cs typeface="TT Interphases"/>
                <a:sym typeface="TT Interphases"/>
              </a:rPr>
              <a:t>Lorem ipsum odor amet, consectetuer adipiscing elit. Adipiscing a blandit lectus quam, penatibus enim cursus. Et cubilia bibendum enim interdum aliquam molestie purus litora malesuada. Vel commodo aliquet iaculis tristique platea turpis; curae nec. At condimentum placerat curae bibendum suspendisse. Elementum facilisi enim in id neque viverra convallis curabitur. Taciti vulputate consequat varius tellus nullam neque. Eu habitasse semper placerat tempus accumsan, adipiscing netus.</a:t>
            </a:r>
          </a:p>
        </p:txBody>
      </p:sp>
      <p:sp>
        <p:nvSpPr>
          <p:cNvPr name="TextBox 7" id="7"/>
          <p:cNvSpPr txBox="true"/>
          <p:nvPr/>
        </p:nvSpPr>
        <p:spPr>
          <a:xfrm rot="0">
            <a:off x="10452749" y="7501255"/>
            <a:ext cx="6806551" cy="1757045"/>
          </a:xfrm>
          <a:prstGeom prst="rect">
            <a:avLst/>
          </a:prstGeom>
        </p:spPr>
        <p:txBody>
          <a:bodyPr anchor="t" rtlCol="false" tIns="0" lIns="0" bIns="0" rIns="0">
            <a:spAutoFit/>
          </a:bodyPr>
          <a:lstStyle/>
          <a:p>
            <a:pPr algn="l">
              <a:lnSpc>
                <a:spcPts val="2380"/>
              </a:lnSpc>
            </a:pPr>
            <a:r>
              <a:rPr lang="en-US" sz="1700" spc="-83" b="true">
                <a:solidFill>
                  <a:srgbClr val="000000"/>
                </a:solidFill>
                <a:latin typeface="TT Interphases Bold"/>
                <a:ea typeface="TT Interphases Bold"/>
                <a:cs typeface="TT Interphases Bold"/>
                <a:sym typeface="TT Interphases Bold"/>
              </a:rPr>
              <a:t>Lorem ipsum odor amet, consectetuer adipiscing elit. Adipiscing a blandit lectus quam, penatibus enim cursus. Et cubilia bibendum enim interdum aliquam molestie purus litora malesuada. Vel commodo aliquet iaculis tristique platea turpis; curae nec. At condimentum placerat curae bibendum suspendisse. Elementum facilisi enim in id neque viverra convallis curabitur.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DAGvwrkDusg</dc:identifier>
  <dcterms:modified xsi:type="dcterms:W3CDTF">2011-08-01T06:04:30Z</dcterms:modified>
  <cp:revision>1</cp:revision>
  <dc:title>Introducción al Análisis de Datos</dc:title>
</cp:coreProperties>
</file>