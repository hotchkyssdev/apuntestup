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7" r:id="rId3"/>
    <p:sldId id="258" r:id="rId4"/>
    <p:sldId id="259" r:id="rId5"/>
    <p:sldId id="260" r:id="rId6"/>
    <p:sldId id="291" r:id="rId7"/>
    <p:sldId id="261" r:id="rId8"/>
    <p:sldId id="262" r:id="rId9"/>
    <p:sldId id="264" r:id="rId10"/>
    <p:sldId id="265" r:id="rId11"/>
    <p:sldId id="267" r:id="rId12"/>
    <p:sldId id="266" r:id="rId13"/>
    <p:sldId id="263" r:id="rId14"/>
    <p:sldId id="268" r:id="rId15"/>
    <p:sldId id="273" r:id="rId16"/>
    <p:sldId id="270" r:id="rId17"/>
    <p:sldId id="271" r:id="rId18"/>
    <p:sldId id="272" r:id="rId19"/>
    <p:sldId id="292" r:id="rId20"/>
    <p:sldId id="269" r:id="rId21"/>
    <p:sldId id="274" r:id="rId22"/>
    <p:sldId id="275" r:id="rId23"/>
    <p:sldId id="290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4" r:id="rId32"/>
    <p:sldId id="286" r:id="rId33"/>
    <p:sldId id="287" r:id="rId34"/>
    <p:sldId id="288" r:id="rId35"/>
    <p:sldId id="289" r:id="rId36"/>
  </p:sldIdLst>
  <p:sldSz cx="9144000" cy="5143500" type="screen16x9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1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>
      <p:cViewPr varScale="1">
        <p:scale>
          <a:sx n="111" d="100"/>
          <a:sy n="111" d="100"/>
        </p:scale>
        <p:origin x="198" y="9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10T22:31:53.3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2257,'0'0'688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6105526" y="0"/>
            <a:ext cx="3038475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429064" y="2503170"/>
            <a:ext cx="6480048" cy="172593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433050" y="1158609"/>
            <a:ext cx="6480048" cy="131445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07C5-4285-4B0F-88E1-A9F71365DDF7}" type="datetimeFigureOut">
              <a:rPr lang="es-AR" smtClean="0"/>
              <a:pPr/>
              <a:t>1/11/2025</a:t>
            </a:fld>
            <a:endParaRPr lang="es-AR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9C9BA-E534-4906-832B-E8B464157997}" type="slidenum">
              <a:rPr lang="es-AR" smtClean="0"/>
              <a:pPr/>
              <a:t>‹Nº›</a:t>
            </a:fld>
            <a:endParaRPr lang="es-A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07C5-4285-4B0F-88E1-A9F71365DDF7}" type="datetimeFigureOut">
              <a:rPr lang="es-AR" smtClean="0"/>
              <a:pPr/>
              <a:t>1/11/2025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762000" cy="273844"/>
          </a:xfrm>
        </p:spPr>
        <p:txBody>
          <a:bodyPr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fld id="{23DC6C37-50E1-4B06-A9B5-540605284E64}" type="slidenum">
              <a:rPr lang="es-AR" smtClean="0"/>
              <a:pPr/>
              <a:t>‹Nº›</a:t>
            </a:fld>
            <a:endParaRPr lang="es-AR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Forma libre"/>
          <p:cNvSpPr>
            <a:spLocks/>
          </p:cNvSpPr>
          <p:nvPr/>
        </p:nvSpPr>
        <p:spPr bwMode="auto">
          <a:xfrm>
            <a:off x="6105526" y="0"/>
            <a:ext cx="3038475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2687878"/>
            <a:ext cx="6629400" cy="1369772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85800" y="1864350"/>
            <a:ext cx="6629400" cy="800016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07C5-4285-4B0F-88E1-A9F71365DDF7}" type="datetimeFigureOut">
              <a:rPr lang="es-AR" smtClean="0"/>
              <a:pPr/>
              <a:t>1/11/2025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9C9BA-E534-4906-832B-E8B464157997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10" name="5 Marcador de número de diapositiva"/>
          <p:cNvSpPr txBox="1">
            <a:spLocks/>
          </p:cNvSpPr>
          <p:nvPr userDrawn="1"/>
        </p:nvSpPr>
        <p:spPr>
          <a:xfrm>
            <a:off x="0" y="0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DC6C37-50E1-4B06-A9B5-540605284E64}" type="slidenum">
              <a:rPr kumimoji="0" lang="es-AR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AR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67600" cy="85725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3657600" cy="3394472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267200" y="1200151"/>
            <a:ext cx="3657600" cy="3394472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07C5-4285-4B0F-88E1-A9F71365DDF7}" type="datetimeFigureOut">
              <a:rPr lang="es-AR" smtClean="0"/>
              <a:pPr/>
              <a:t>1/11/2025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9C9BA-E534-4906-832B-E8B464157997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8" name="5 Marcador de número de diapositiva"/>
          <p:cNvSpPr txBox="1">
            <a:spLocks/>
          </p:cNvSpPr>
          <p:nvPr userDrawn="1"/>
        </p:nvSpPr>
        <p:spPr>
          <a:xfrm>
            <a:off x="0" y="0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DC6C37-50E1-4B06-A9B5-540605284E64}" type="slidenum">
              <a:rPr kumimoji="0" lang="es-AR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AR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4114800"/>
            <a:ext cx="4040188" cy="62865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6" y="4114800"/>
            <a:ext cx="4041775" cy="62865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1137685"/>
            <a:ext cx="4040188" cy="29563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1137685"/>
            <a:ext cx="4041775" cy="295632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07C5-4285-4B0F-88E1-A9F71365DDF7}" type="datetimeFigureOut">
              <a:rPr lang="es-AR" smtClean="0"/>
              <a:pPr/>
              <a:t>1/11/2025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9C9BA-E534-4906-832B-E8B464157997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10" name="5 Marcador de número de diapositiva"/>
          <p:cNvSpPr txBox="1">
            <a:spLocks/>
          </p:cNvSpPr>
          <p:nvPr userDrawn="1"/>
        </p:nvSpPr>
        <p:spPr>
          <a:xfrm>
            <a:off x="0" y="0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DC6C37-50E1-4B06-A9B5-540605284E64}" type="slidenum">
              <a:rPr kumimoji="0" lang="es-AR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AR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05740"/>
            <a:ext cx="7470648" cy="85725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07C5-4285-4B0F-88E1-A9F71365DDF7}" type="datetimeFigureOut">
              <a:rPr lang="es-AR" smtClean="0"/>
              <a:pPr/>
              <a:t>1/11/2025</a:t>
            </a:fld>
            <a:endParaRPr lang="es-AR"/>
          </a:p>
        </p:txBody>
      </p:sp>
      <p:sp>
        <p:nvSpPr>
          <p:cNvPr id="8" name="7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C9C9BA-E534-4906-832B-E8B464157997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9" name="8 Marcador de pie de página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 txBox="1">
            <a:spLocks/>
          </p:cNvSpPr>
          <p:nvPr userDrawn="1"/>
        </p:nvSpPr>
        <p:spPr>
          <a:xfrm>
            <a:off x="0" y="0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DC6C37-50E1-4B06-A9B5-540605284E64}" type="slidenum">
              <a:rPr kumimoji="0" lang="es-AR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AR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07C5-4285-4B0F-88E1-A9F71365DDF7}" type="datetimeFigureOut">
              <a:rPr lang="es-AR" smtClean="0"/>
              <a:pPr/>
              <a:t>1/11/2025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9C9BA-E534-4906-832B-E8B464157997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5" name="5 Marcador de número de diapositiva"/>
          <p:cNvSpPr txBox="1">
            <a:spLocks/>
          </p:cNvSpPr>
          <p:nvPr userDrawn="1"/>
        </p:nvSpPr>
        <p:spPr>
          <a:xfrm>
            <a:off x="0" y="0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DC6C37-50E1-4B06-A9B5-540605284E64}" type="slidenum">
              <a:rPr kumimoji="0" lang="es-AR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AR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889146"/>
            <a:ext cx="3200400" cy="547688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457200" y="160818"/>
            <a:ext cx="2743200" cy="6858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457200" y="1485900"/>
            <a:ext cx="7086600" cy="2857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07C5-4285-4B0F-88E1-A9F71365DDF7}" type="datetimeFigureOut">
              <a:rPr lang="es-AR" smtClean="0"/>
              <a:pPr/>
              <a:t>1/11/2025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156448" y="4816548"/>
            <a:ext cx="762000" cy="273844"/>
          </a:xfrm>
        </p:spPr>
        <p:txBody>
          <a:bodyPr/>
          <a:lstStyle/>
          <a:p>
            <a:fld id="{79C9C9BA-E534-4906-832B-E8B464157997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8" name="5 Marcador de número de diapositiva"/>
          <p:cNvSpPr txBox="1">
            <a:spLocks/>
          </p:cNvSpPr>
          <p:nvPr userDrawn="1"/>
        </p:nvSpPr>
        <p:spPr>
          <a:xfrm>
            <a:off x="0" y="0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DC6C37-50E1-4B06-A9B5-540605284E64}" type="slidenum">
              <a:rPr kumimoji="0" lang="es-AR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AR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556732" y="1279282"/>
            <a:ext cx="3053868" cy="940356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065628" y="764930"/>
            <a:ext cx="4114800" cy="30861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5556734" y="2249074"/>
            <a:ext cx="3053866" cy="199761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457200" y="4816548"/>
            <a:ext cx="2133600" cy="273844"/>
          </a:xfrm>
        </p:spPr>
        <p:txBody>
          <a:bodyPr/>
          <a:lstStyle/>
          <a:p>
            <a:fld id="{F94907C5-4285-4B0F-88E1-A9F71365DDF7}" type="datetimeFigureOut">
              <a:rPr lang="es-AR" smtClean="0"/>
              <a:pPr/>
              <a:t>1/11/2025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9C9BA-E534-4906-832B-E8B464157997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8" name="5 Marcador de número de diapositiva"/>
          <p:cNvSpPr txBox="1">
            <a:spLocks/>
          </p:cNvSpPr>
          <p:nvPr userDrawn="1"/>
        </p:nvSpPr>
        <p:spPr>
          <a:xfrm>
            <a:off x="0" y="0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DC6C37-50E1-4B06-A9B5-540605284E64}" type="slidenum">
              <a:rPr kumimoji="0" lang="es-AR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AR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07C5-4285-4B0F-88E1-A9F71365DDF7}" type="datetimeFigureOut">
              <a:rPr lang="es-AR" smtClean="0"/>
              <a:pPr/>
              <a:t>1/11/2025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9C9BA-E534-4906-832B-E8B464157997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7" name="5 Marcador de número de diapositiva"/>
          <p:cNvSpPr txBox="1">
            <a:spLocks/>
          </p:cNvSpPr>
          <p:nvPr userDrawn="1"/>
        </p:nvSpPr>
        <p:spPr>
          <a:xfrm>
            <a:off x="0" y="0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DC6C37-50E1-4B06-A9B5-540605284E64}" type="slidenum">
              <a:rPr kumimoji="0" lang="es-AR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AR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907C5-4285-4B0F-88E1-A9F71365DDF7}" type="datetimeFigureOut">
              <a:rPr lang="es-AR" smtClean="0"/>
              <a:pPr/>
              <a:t>1/11/2025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C9C9BA-E534-4906-832B-E8B464157997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7" name="5 Marcador de número de diapositiva"/>
          <p:cNvSpPr txBox="1">
            <a:spLocks/>
          </p:cNvSpPr>
          <p:nvPr userDrawn="1"/>
        </p:nvSpPr>
        <p:spPr>
          <a:xfrm>
            <a:off x="0" y="0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DC6C37-50E1-4B06-A9B5-540605284E64}" type="slidenum">
              <a:rPr kumimoji="0" lang="es-AR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AR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11 Forma libre"/>
          <p:cNvSpPr>
            <a:spLocks/>
          </p:cNvSpPr>
          <p:nvPr/>
        </p:nvSpPr>
        <p:spPr bwMode="auto">
          <a:xfrm>
            <a:off x="0" y="3564094"/>
            <a:ext cx="9144000" cy="158472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Forma libre"/>
          <p:cNvSpPr>
            <a:spLocks/>
          </p:cNvSpPr>
          <p:nvPr/>
        </p:nvSpPr>
        <p:spPr bwMode="auto">
          <a:xfrm>
            <a:off x="7315200" y="0"/>
            <a:ext cx="1828800" cy="51435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7467600" cy="85725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7467600" cy="33944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4816548"/>
            <a:ext cx="2133600" cy="273844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F94907C5-4285-4B0F-88E1-A9F71365DDF7}" type="datetimeFigureOut">
              <a:rPr lang="es-AR" smtClean="0"/>
              <a:pPr/>
              <a:t>1/11/2025</a:t>
            </a:fld>
            <a:endParaRPr lang="es-AR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4816548"/>
            <a:ext cx="2895600" cy="273844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53400" y="4816548"/>
            <a:ext cx="762000" cy="273844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79C9C9BA-E534-4906-832B-E8B464157997}" type="slidenum">
              <a:rPr lang="es-AR" smtClean="0"/>
              <a:pPr/>
              <a:t>‹Nº›</a:t>
            </a:fld>
            <a:endParaRPr lang="es-AR"/>
          </a:p>
        </p:txBody>
      </p:sp>
      <p:sp>
        <p:nvSpPr>
          <p:cNvPr id="11" name="5 Marcador de número de diapositiva"/>
          <p:cNvSpPr txBox="1">
            <a:spLocks/>
          </p:cNvSpPr>
          <p:nvPr userDrawn="1"/>
        </p:nvSpPr>
        <p:spPr>
          <a:xfrm>
            <a:off x="8172400" y="4869656"/>
            <a:ext cx="762000" cy="273844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3DC6C37-50E1-4B06-A9B5-540605284E64}" type="slidenum">
              <a:rPr kumimoji="0" lang="es-AR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‹Nº›</a:t>
            </a:fld>
            <a:endParaRPr kumimoji="0" lang="es-AR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5 Imagen" descr="tapa1.pn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9126000" cy="5148000"/>
          </a:xfrm>
          <a:prstGeom prst="rect">
            <a:avLst/>
          </a:prstGeom>
        </p:spPr>
      </p:pic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67544" y="267494"/>
            <a:ext cx="3672408" cy="1423630"/>
          </a:xfrm>
        </p:spPr>
        <p:txBody>
          <a:bodyPr>
            <a:normAutofit/>
          </a:bodyPr>
          <a:lstStyle/>
          <a:p>
            <a:r>
              <a:rPr lang="en-US" sz="3200" dirty="0"/>
              <a:t>Unsupervised Learning</a:t>
            </a:r>
            <a:br>
              <a:rPr lang="en-US" sz="3200" dirty="0"/>
            </a:br>
            <a:r>
              <a:rPr lang="en-US" sz="2000" dirty="0"/>
              <a:t>(clustering)</a:t>
            </a:r>
          </a:p>
        </p:txBody>
      </p:sp>
      <p:sp>
        <p:nvSpPr>
          <p:cNvPr id="3" name="Rectángulo 2"/>
          <p:cNvSpPr/>
          <p:nvPr/>
        </p:nvSpPr>
        <p:spPr>
          <a:xfrm>
            <a:off x="396815" y="4753154"/>
            <a:ext cx="8351649" cy="338875"/>
          </a:xfrm>
          <a:prstGeom prst="rect">
            <a:avLst/>
          </a:prstGeom>
          <a:solidFill>
            <a:srgbClr val="003196"/>
          </a:solidFill>
          <a:ln>
            <a:solidFill>
              <a:srgbClr val="0031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Preliminares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dirty="0"/>
              <a:t>El </a:t>
            </a:r>
            <a:r>
              <a:rPr lang="es-AR" dirty="0"/>
              <a:t>aprendizaje</a:t>
            </a:r>
            <a:r>
              <a:rPr lang="en-US" dirty="0"/>
              <a:t> </a:t>
            </a:r>
            <a:r>
              <a:rPr lang="en-US" dirty="0" err="1"/>
              <a:t>supervisado</a:t>
            </a:r>
            <a:r>
              <a:rPr lang="en-US" dirty="0"/>
              <a:t> </a:t>
            </a:r>
            <a:r>
              <a:rPr lang="en-US" dirty="0" err="1"/>
              <a:t>descubre</a:t>
            </a:r>
            <a:r>
              <a:rPr lang="en-US" dirty="0"/>
              <a:t> </a:t>
            </a:r>
            <a:r>
              <a:rPr lang="en-US" dirty="0" err="1"/>
              <a:t>patrones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que </a:t>
            </a:r>
            <a:r>
              <a:rPr lang="en-US" dirty="0" err="1"/>
              <a:t>relacionan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atributos</a:t>
            </a:r>
            <a:r>
              <a:rPr lang="en-US" dirty="0"/>
              <a:t> de </a:t>
            </a:r>
            <a:r>
              <a:rPr lang="en-US" dirty="0" err="1"/>
              <a:t>dichos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clase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Estos</a:t>
            </a:r>
            <a:r>
              <a:rPr lang="en-US" dirty="0"/>
              <a:t> </a:t>
            </a:r>
            <a:r>
              <a:rPr lang="en-US" dirty="0" err="1"/>
              <a:t>patrones</a:t>
            </a:r>
            <a:r>
              <a:rPr lang="en-US" dirty="0"/>
              <a:t> se </a:t>
            </a:r>
            <a:r>
              <a:rPr lang="en-US" dirty="0" err="1"/>
              <a:t>utilizan</a:t>
            </a:r>
            <a:r>
              <a:rPr lang="en-US" dirty="0"/>
              <a:t> para </a:t>
            </a:r>
            <a:r>
              <a:rPr lang="en-US" dirty="0" err="1"/>
              <a:t>predecir</a:t>
            </a:r>
            <a:r>
              <a:rPr lang="en-US" dirty="0"/>
              <a:t> a  que </a:t>
            </a:r>
            <a:r>
              <a:rPr lang="en-US" dirty="0" err="1"/>
              <a:t>clase</a:t>
            </a:r>
            <a:r>
              <a:rPr lang="en-US" dirty="0"/>
              <a:t> </a:t>
            </a:r>
            <a:r>
              <a:rPr lang="en-US" dirty="0" err="1"/>
              <a:t>pertenece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futura</a:t>
            </a:r>
            <a:r>
              <a:rPr lang="en-US" dirty="0"/>
              <a:t> </a:t>
            </a:r>
            <a:r>
              <a:rPr lang="en-US" dirty="0" err="1"/>
              <a:t>instancia</a:t>
            </a:r>
            <a:r>
              <a:rPr lang="en-US" dirty="0"/>
              <a:t> (</a:t>
            </a:r>
            <a:r>
              <a:rPr lang="en-US" dirty="0" err="1"/>
              <a:t>instancia</a:t>
            </a:r>
            <a:r>
              <a:rPr lang="en-US" dirty="0"/>
              <a:t> </a:t>
            </a:r>
            <a:r>
              <a:rPr lang="en-US" dirty="0" err="1"/>
              <a:t>nunca</a:t>
            </a:r>
            <a:r>
              <a:rPr lang="en-US" dirty="0"/>
              <a:t> vista) </a:t>
            </a:r>
          </a:p>
          <a:p>
            <a:pPr algn="just"/>
            <a:r>
              <a:rPr lang="en-US" dirty="0"/>
              <a:t>Sin embargo,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algunos</a:t>
            </a:r>
            <a:r>
              <a:rPr lang="en-US" dirty="0"/>
              <a:t> </a:t>
            </a:r>
            <a:r>
              <a:rPr lang="en-US" dirty="0" err="1"/>
              <a:t>casos</a:t>
            </a:r>
            <a:r>
              <a:rPr lang="en-US" dirty="0"/>
              <a:t>,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no </a:t>
            </a:r>
            <a:r>
              <a:rPr lang="en-US" dirty="0" err="1"/>
              <a:t>tienen</a:t>
            </a:r>
            <a:r>
              <a:rPr lang="en-US" dirty="0"/>
              <a:t> un </a:t>
            </a:r>
            <a:r>
              <a:rPr lang="en-US" dirty="0" err="1"/>
              <a:t>atributo</a:t>
            </a:r>
            <a:r>
              <a:rPr lang="en-US" dirty="0"/>
              <a:t> </a:t>
            </a:r>
            <a:r>
              <a:rPr lang="en-US" dirty="0" err="1"/>
              <a:t>clase</a:t>
            </a:r>
            <a:r>
              <a:rPr lang="en-US" dirty="0"/>
              <a:t> </a:t>
            </a:r>
            <a:r>
              <a:rPr lang="en-US" dirty="0" err="1"/>
              <a:t>asociado</a:t>
            </a:r>
            <a:r>
              <a:rPr lang="en-US" dirty="0"/>
              <a:t>.</a:t>
            </a:r>
          </a:p>
          <a:p>
            <a:pPr algn="just"/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esos</a:t>
            </a:r>
            <a:r>
              <a:rPr lang="en-US" dirty="0"/>
              <a:t> </a:t>
            </a:r>
            <a:r>
              <a:rPr lang="en-US" dirty="0" err="1"/>
              <a:t>casos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usuario</a:t>
            </a:r>
            <a:r>
              <a:rPr lang="en-US" dirty="0"/>
              <a:t> </a:t>
            </a:r>
            <a:r>
              <a:rPr lang="en-US" dirty="0" err="1"/>
              <a:t>necesita</a:t>
            </a:r>
            <a:r>
              <a:rPr lang="en-US" dirty="0"/>
              <a:t> </a:t>
            </a:r>
            <a:r>
              <a:rPr lang="en-US" dirty="0" err="1"/>
              <a:t>explorar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buscando</a:t>
            </a:r>
            <a:r>
              <a:rPr lang="en-US" dirty="0"/>
              <a:t> </a:t>
            </a:r>
            <a:r>
              <a:rPr lang="en-US" dirty="0" err="1"/>
              <a:t>estructuras</a:t>
            </a:r>
            <a:r>
              <a:rPr lang="en-US" dirty="0"/>
              <a:t> </a:t>
            </a:r>
            <a:r>
              <a:rPr lang="en-US" dirty="0" err="1"/>
              <a:t>intrinsecas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ellos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Clustering es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tecnología</a:t>
            </a:r>
            <a:r>
              <a:rPr lang="en-US" dirty="0"/>
              <a:t> para </a:t>
            </a:r>
            <a:r>
              <a:rPr lang="en-US" dirty="0" err="1"/>
              <a:t>encontrar</a:t>
            </a:r>
            <a:r>
              <a:rPr lang="en-US" dirty="0"/>
              <a:t> </a:t>
            </a:r>
            <a:r>
              <a:rPr lang="en-US" dirty="0" err="1"/>
              <a:t>dichas</a:t>
            </a:r>
            <a:r>
              <a:rPr lang="en-US" dirty="0"/>
              <a:t> </a:t>
            </a:r>
            <a:r>
              <a:rPr lang="en-US" dirty="0" err="1"/>
              <a:t>estructuras</a:t>
            </a:r>
            <a:r>
              <a:rPr lang="en-US" dirty="0"/>
              <a:t>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Entrada de lápiz 3">
                <a:extLst>
                  <a:ext uri="{FF2B5EF4-FFF2-40B4-BE49-F238E27FC236}">
                    <a16:creationId xmlns:a16="http://schemas.microsoft.com/office/drawing/2014/main" id="{F8DF59D6-0B15-45E1-9E4F-127D5D4824F3}"/>
                  </a:ext>
                </a:extLst>
              </p14:cNvPr>
              <p14:cNvContentPartPr/>
              <p14:nvPr/>
            </p14:nvContentPartPr>
            <p14:xfrm>
              <a:off x="2339769" y="3161773"/>
              <a:ext cx="360" cy="360"/>
            </p14:xfrm>
          </p:contentPart>
        </mc:Choice>
        <mc:Fallback xmlns="">
          <p:pic>
            <p:nvPicPr>
              <p:cNvPr id="4" name="Entrada de lápiz 3">
                <a:extLst>
                  <a:ext uri="{FF2B5EF4-FFF2-40B4-BE49-F238E27FC236}">
                    <a16:creationId xmlns:a16="http://schemas.microsoft.com/office/drawing/2014/main" id="{F8DF59D6-0B15-45E1-9E4F-127D5D4824F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21769" y="3144133"/>
                <a:ext cx="36000" cy="3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Preliminares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El clustering </a:t>
            </a:r>
            <a:r>
              <a:rPr lang="en-US" dirty="0" err="1"/>
              <a:t>organiza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grupos</a:t>
            </a:r>
            <a:r>
              <a:rPr lang="en-US" dirty="0"/>
              <a:t> con </a:t>
            </a:r>
            <a:r>
              <a:rPr lang="en-US" dirty="0" err="1"/>
              <a:t>similaridades</a:t>
            </a:r>
            <a:r>
              <a:rPr lang="en-US" dirty="0"/>
              <a:t> </a:t>
            </a:r>
            <a:r>
              <a:rPr lang="en-US" dirty="0" err="1"/>
              <a:t>llamados</a:t>
            </a:r>
            <a:r>
              <a:rPr lang="en-US" dirty="0"/>
              <a:t> clusters.</a:t>
            </a:r>
          </a:p>
          <a:p>
            <a:pPr algn="just"/>
            <a:r>
              <a:rPr lang="en-US" dirty="0" err="1"/>
              <a:t>Esto</a:t>
            </a:r>
            <a:r>
              <a:rPr lang="en-US" dirty="0"/>
              <a:t> </a:t>
            </a:r>
            <a:r>
              <a:rPr lang="en-US" dirty="0" err="1"/>
              <a:t>significa</a:t>
            </a:r>
            <a:r>
              <a:rPr lang="en-US" dirty="0"/>
              <a:t> que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cada</a:t>
            </a:r>
            <a:r>
              <a:rPr lang="en-US" dirty="0"/>
              <a:t> cluster son </a:t>
            </a:r>
            <a:r>
              <a:rPr lang="en-US" dirty="0" err="1"/>
              <a:t>similares</a:t>
            </a:r>
            <a:r>
              <a:rPr lang="en-US" dirty="0"/>
              <a:t> entre </a:t>
            </a:r>
            <a:r>
              <a:rPr lang="en-US" dirty="0" err="1"/>
              <a:t>si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El clustering es </a:t>
            </a:r>
            <a:r>
              <a:rPr lang="en-US" dirty="0" err="1"/>
              <a:t>denominado</a:t>
            </a:r>
            <a:r>
              <a:rPr lang="en-US" dirty="0"/>
              <a:t> </a:t>
            </a:r>
            <a:r>
              <a:rPr lang="en-US" dirty="0" err="1"/>
              <a:t>frecuentemente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aprendizaje</a:t>
            </a:r>
            <a:r>
              <a:rPr lang="en-US" dirty="0"/>
              <a:t> no </a:t>
            </a:r>
            <a:r>
              <a:rPr lang="en-US" dirty="0" err="1"/>
              <a:t>supervisado</a:t>
            </a:r>
            <a:r>
              <a:rPr lang="en-US" dirty="0"/>
              <a:t> </a:t>
            </a:r>
            <a:r>
              <a:rPr lang="en-US" dirty="0" err="1"/>
              <a:t>porque</a:t>
            </a:r>
            <a:r>
              <a:rPr lang="en-US" dirty="0"/>
              <a:t> no se </a:t>
            </a:r>
            <a:r>
              <a:rPr lang="en-US" dirty="0" err="1"/>
              <a:t>conoce</a:t>
            </a:r>
            <a:r>
              <a:rPr lang="en-US" dirty="0"/>
              <a:t>, a priori,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clase</a:t>
            </a:r>
            <a:r>
              <a:rPr lang="en-US" dirty="0"/>
              <a:t> que </a:t>
            </a:r>
            <a:r>
              <a:rPr lang="en-US" dirty="0" err="1"/>
              <a:t>indique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partición</a:t>
            </a:r>
            <a:r>
              <a:rPr lang="en-US" dirty="0"/>
              <a:t> o </a:t>
            </a:r>
            <a:r>
              <a:rPr lang="en-US" dirty="0" err="1"/>
              <a:t>agrupamiento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El clustering ha </a:t>
            </a:r>
            <a:r>
              <a:rPr lang="en-US" dirty="0" err="1"/>
              <a:t>desmostrado</a:t>
            </a:r>
            <a:r>
              <a:rPr lang="en-US" dirty="0"/>
              <a:t> ser </a:t>
            </a:r>
            <a:r>
              <a:rPr lang="en-US" dirty="0" err="1"/>
              <a:t>una</a:t>
            </a:r>
            <a:r>
              <a:rPr lang="en-US" dirty="0"/>
              <a:t> de las </a:t>
            </a:r>
            <a:r>
              <a:rPr lang="en-US" dirty="0" err="1"/>
              <a:t>técnicas</a:t>
            </a:r>
            <a:r>
              <a:rPr lang="en-US" dirty="0"/>
              <a:t> de </a:t>
            </a:r>
            <a:r>
              <a:rPr lang="en-US" dirty="0" err="1"/>
              <a:t>análisis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utilizadas</a:t>
            </a:r>
            <a:r>
              <a:rPr lang="en-US" dirty="0"/>
              <a:t> (</a:t>
            </a:r>
            <a:r>
              <a:rPr lang="en-US" dirty="0" err="1"/>
              <a:t>medicina</a:t>
            </a:r>
            <a:r>
              <a:rPr lang="en-US" dirty="0"/>
              <a:t>, </a:t>
            </a:r>
            <a:r>
              <a:rPr lang="en-US" dirty="0" err="1"/>
              <a:t>biología</a:t>
            </a:r>
            <a:r>
              <a:rPr lang="en-US" dirty="0"/>
              <a:t>, </a:t>
            </a:r>
            <a:r>
              <a:rPr lang="en-US" dirty="0" err="1"/>
              <a:t>arqueología</a:t>
            </a:r>
            <a:r>
              <a:rPr lang="en-US" dirty="0"/>
              <a:t>, marketing, etc.).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Conceptos</a:t>
            </a:r>
            <a:r>
              <a:rPr lang="en-US" dirty="0"/>
              <a:t> </a:t>
            </a:r>
            <a:r>
              <a:rPr lang="en-US" dirty="0" err="1"/>
              <a:t>Básicos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algn="just"/>
            <a:r>
              <a:rPr lang="en-US" dirty="0"/>
              <a:t>Clustering es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proceso</a:t>
            </a:r>
            <a:r>
              <a:rPr lang="en-US" dirty="0"/>
              <a:t> que </a:t>
            </a:r>
            <a:r>
              <a:rPr lang="en-US" dirty="0" err="1"/>
              <a:t>organiza</a:t>
            </a:r>
            <a:r>
              <a:rPr lang="en-US" dirty="0"/>
              <a:t> las </a:t>
            </a:r>
            <a:r>
              <a:rPr lang="en-US" dirty="0" err="1"/>
              <a:t>instancias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grupos</a:t>
            </a:r>
            <a:r>
              <a:rPr lang="en-US" dirty="0"/>
              <a:t> </a:t>
            </a:r>
            <a:r>
              <a:rPr lang="en-US" dirty="0" err="1"/>
              <a:t>cuyos</a:t>
            </a:r>
            <a:r>
              <a:rPr lang="en-US" dirty="0"/>
              <a:t> </a:t>
            </a:r>
            <a:r>
              <a:rPr lang="en-US" dirty="0" err="1"/>
              <a:t>miembros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cierta</a:t>
            </a:r>
            <a:r>
              <a:rPr lang="en-US" dirty="0"/>
              <a:t> forma, son </a:t>
            </a:r>
            <a:r>
              <a:rPr lang="en-US" dirty="0" err="1"/>
              <a:t>similares</a:t>
            </a:r>
            <a:r>
              <a:rPr lang="en-US" dirty="0"/>
              <a:t> entre </a:t>
            </a:r>
            <a:r>
              <a:rPr lang="en-US" dirty="0" err="1"/>
              <a:t>si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Un cluster es un conjunto de </a:t>
            </a:r>
            <a:r>
              <a:rPr lang="en-US" dirty="0" err="1"/>
              <a:t>instancias</a:t>
            </a:r>
            <a:r>
              <a:rPr lang="en-US" dirty="0"/>
              <a:t> de </a:t>
            </a:r>
            <a:r>
              <a:rPr lang="en-US" dirty="0" err="1"/>
              <a:t>datos</a:t>
            </a:r>
            <a:r>
              <a:rPr lang="en-US" dirty="0"/>
              <a:t> que son “</a:t>
            </a:r>
            <a:r>
              <a:rPr lang="en-US" dirty="0" err="1"/>
              <a:t>similares</a:t>
            </a:r>
            <a:r>
              <a:rPr lang="en-US" dirty="0"/>
              <a:t>” entre </a:t>
            </a:r>
            <a:r>
              <a:rPr lang="en-US" dirty="0" err="1"/>
              <a:t>si</a:t>
            </a:r>
            <a:r>
              <a:rPr lang="en-US" dirty="0"/>
              <a:t> y son “</a:t>
            </a:r>
            <a:r>
              <a:rPr lang="en-US" dirty="0" err="1"/>
              <a:t>distintas</a:t>
            </a:r>
            <a:r>
              <a:rPr lang="en-US" dirty="0"/>
              <a:t>” a las </a:t>
            </a:r>
            <a:r>
              <a:rPr lang="en-US" dirty="0" err="1"/>
              <a:t>instancias</a:t>
            </a:r>
            <a:r>
              <a:rPr lang="en-US" dirty="0"/>
              <a:t> de </a:t>
            </a:r>
            <a:r>
              <a:rPr lang="en-US" dirty="0" err="1"/>
              <a:t>otros</a:t>
            </a:r>
            <a:r>
              <a:rPr lang="en-US" dirty="0"/>
              <a:t> clusters.</a:t>
            </a:r>
          </a:p>
          <a:p>
            <a:pPr algn="just"/>
            <a:r>
              <a:rPr lang="en-US" dirty="0"/>
              <a:t>El </a:t>
            </a:r>
            <a:r>
              <a:rPr lang="en-US" dirty="0" err="1"/>
              <a:t>objetivo</a:t>
            </a:r>
            <a:r>
              <a:rPr lang="en-US" dirty="0"/>
              <a:t> del clustering es </a:t>
            </a:r>
            <a:r>
              <a:rPr lang="en-US" dirty="0" err="1"/>
              <a:t>encontrar</a:t>
            </a:r>
            <a:r>
              <a:rPr lang="en-US" dirty="0"/>
              <a:t> clusters </a:t>
            </a:r>
            <a:r>
              <a:rPr lang="en-US" dirty="0" err="1"/>
              <a:t>ocultos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Para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humanos</a:t>
            </a:r>
            <a:r>
              <a:rPr lang="en-US" dirty="0"/>
              <a:t> es </a:t>
            </a:r>
            <a:r>
              <a:rPr lang="en-US" dirty="0" err="1"/>
              <a:t>fácil</a:t>
            </a:r>
            <a:r>
              <a:rPr lang="en-US" dirty="0"/>
              <a:t> </a:t>
            </a:r>
            <a:r>
              <a:rPr lang="en-US" dirty="0" err="1"/>
              <a:t>detectar</a:t>
            </a:r>
            <a:r>
              <a:rPr lang="en-US" dirty="0"/>
              <a:t>, </a:t>
            </a:r>
            <a:r>
              <a:rPr lang="en-US" dirty="0" err="1"/>
              <a:t>visulamente</a:t>
            </a:r>
            <a:r>
              <a:rPr lang="en-US" dirty="0"/>
              <a:t>, clusters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espacios</a:t>
            </a:r>
            <a:r>
              <a:rPr lang="en-US" dirty="0"/>
              <a:t> de 2 o 3 </a:t>
            </a:r>
            <a:r>
              <a:rPr lang="en-US" dirty="0" err="1"/>
              <a:t>dimensiones</a:t>
            </a:r>
            <a:r>
              <a:rPr lang="en-US" dirty="0"/>
              <a:t>,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esto</a:t>
            </a:r>
            <a:r>
              <a:rPr lang="en-US" dirty="0"/>
              <a:t> se </a:t>
            </a:r>
            <a:r>
              <a:rPr lang="en-US" dirty="0" err="1"/>
              <a:t>vuelve</a:t>
            </a:r>
            <a:r>
              <a:rPr lang="en-US" dirty="0"/>
              <a:t> </a:t>
            </a:r>
            <a:r>
              <a:rPr lang="en-US" dirty="0" err="1"/>
              <a:t>extremadamente</a:t>
            </a:r>
            <a:r>
              <a:rPr lang="en-US" dirty="0"/>
              <a:t> </a:t>
            </a:r>
            <a:r>
              <a:rPr lang="en-US" dirty="0" err="1"/>
              <a:t>difícil</a:t>
            </a:r>
            <a:r>
              <a:rPr lang="en-US" dirty="0"/>
              <a:t> a </a:t>
            </a:r>
            <a:r>
              <a:rPr lang="en-US" dirty="0" err="1"/>
              <a:t>medida</a:t>
            </a:r>
            <a:r>
              <a:rPr lang="en-US" dirty="0"/>
              <a:t> que la </a:t>
            </a:r>
            <a:r>
              <a:rPr lang="en-US" dirty="0" err="1"/>
              <a:t>dimensionalidad</a:t>
            </a:r>
            <a:r>
              <a:rPr lang="en-US" dirty="0"/>
              <a:t> </a:t>
            </a:r>
            <a:r>
              <a:rPr lang="en-US" dirty="0" err="1"/>
              <a:t>crece</a:t>
            </a:r>
            <a:r>
              <a:rPr lang="en-US" dirty="0"/>
              <a:t>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Conceptos</a:t>
            </a:r>
            <a:r>
              <a:rPr lang="en-US" dirty="0"/>
              <a:t> </a:t>
            </a:r>
            <a:r>
              <a:rPr lang="en-US" dirty="0" err="1"/>
              <a:t>Básicos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72321" t="43196" r="7143" b="29807"/>
          <a:stretch>
            <a:fillRect/>
          </a:stretch>
        </p:blipFill>
        <p:spPr bwMode="auto">
          <a:xfrm>
            <a:off x="2428860" y="1285866"/>
            <a:ext cx="4429156" cy="32737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4 Llamada con línea 2 (sin borde)"/>
          <p:cNvSpPr/>
          <p:nvPr/>
        </p:nvSpPr>
        <p:spPr>
          <a:xfrm>
            <a:off x="928662" y="2000246"/>
            <a:ext cx="1800000" cy="1440000"/>
          </a:xfrm>
          <a:prstGeom prst="callout2">
            <a:avLst>
              <a:gd name="adj1" fmla="val 15058"/>
              <a:gd name="adj2" fmla="val 103900"/>
              <a:gd name="adj3" fmla="val 15058"/>
              <a:gd name="adj4" fmla="val 128645"/>
              <a:gd name="adj5" fmla="val 41628"/>
              <a:gd name="adj6" fmla="val 147296"/>
            </a:avLst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itchFamily="34" charset="0"/>
              <a:buChar char="•"/>
            </a:pPr>
            <a:r>
              <a:rPr lang="es-AR" sz="1400" dirty="0" err="1"/>
              <a:t>Customer</a:t>
            </a:r>
            <a:r>
              <a:rPr lang="es-AR" sz="1400" dirty="0"/>
              <a:t> </a:t>
            </a:r>
            <a:r>
              <a:rPr lang="es-AR" sz="1400" dirty="0" err="1"/>
              <a:t>Profile</a:t>
            </a:r>
            <a:r>
              <a:rPr lang="es-AR" sz="1400" dirty="0"/>
              <a:t> 2</a:t>
            </a:r>
          </a:p>
          <a:p>
            <a:pPr>
              <a:buFont typeface="Arial" pitchFamily="34" charset="0"/>
              <a:buChar char="•"/>
            </a:pPr>
            <a:r>
              <a:rPr lang="es-AR" sz="1400" dirty="0"/>
              <a:t>T-</a:t>
            </a:r>
            <a:r>
              <a:rPr lang="es-AR" sz="1400" dirty="0" err="1"/>
              <a:t>shirt</a:t>
            </a:r>
            <a:r>
              <a:rPr lang="es-AR" sz="1400" dirty="0"/>
              <a:t> </a:t>
            </a:r>
            <a:r>
              <a:rPr lang="es-AR" sz="1400" dirty="0" err="1"/>
              <a:t>size</a:t>
            </a:r>
            <a:r>
              <a:rPr lang="es-AR" sz="1400" dirty="0"/>
              <a:t> 2</a:t>
            </a:r>
          </a:p>
          <a:p>
            <a:pPr>
              <a:buFont typeface="Arial" pitchFamily="34" charset="0"/>
              <a:buChar char="•"/>
            </a:pPr>
            <a:r>
              <a:rPr lang="es-AR" sz="1400" dirty="0" err="1"/>
              <a:t>Sports</a:t>
            </a:r>
            <a:r>
              <a:rPr lang="es-AR" sz="1400" dirty="0"/>
              <a:t> News</a:t>
            </a:r>
          </a:p>
        </p:txBody>
      </p:sp>
      <p:sp>
        <p:nvSpPr>
          <p:cNvPr id="6" name="5 Llamada con línea 2 (sin borde)"/>
          <p:cNvSpPr/>
          <p:nvPr/>
        </p:nvSpPr>
        <p:spPr>
          <a:xfrm>
            <a:off x="6572264" y="3571882"/>
            <a:ext cx="1800000" cy="1440000"/>
          </a:xfrm>
          <a:prstGeom prst="callout2">
            <a:avLst>
              <a:gd name="adj1" fmla="val 61384"/>
              <a:gd name="adj2" fmla="val -6546"/>
              <a:gd name="adj3" fmla="val 61931"/>
              <a:gd name="adj4" fmla="val -30149"/>
              <a:gd name="adj5" fmla="val 32647"/>
              <a:gd name="adj6" fmla="val -44696"/>
            </a:avLst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itchFamily="34" charset="0"/>
              <a:buChar char="•"/>
            </a:pPr>
            <a:r>
              <a:rPr lang="es-AR" sz="1400" dirty="0" err="1"/>
              <a:t>Customer</a:t>
            </a:r>
            <a:r>
              <a:rPr lang="es-AR" sz="1400" dirty="0"/>
              <a:t> </a:t>
            </a:r>
            <a:r>
              <a:rPr lang="es-AR" sz="1400" dirty="0" err="1"/>
              <a:t>Profile</a:t>
            </a:r>
            <a:r>
              <a:rPr lang="es-AR" sz="1400" dirty="0"/>
              <a:t> 3</a:t>
            </a:r>
          </a:p>
          <a:p>
            <a:pPr>
              <a:buFont typeface="Arial" pitchFamily="34" charset="0"/>
              <a:buChar char="•"/>
            </a:pPr>
            <a:r>
              <a:rPr lang="es-AR" sz="1400" dirty="0"/>
              <a:t>T-</a:t>
            </a:r>
            <a:r>
              <a:rPr lang="es-AR" sz="1400" dirty="0" err="1"/>
              <a:t>shirt</a:t>
            </a:r>
            <a:r>
              <a:rPr lang="es-AR" sz="1400" dirty="0"/>
              <a:t> </a:t>
            </a:r>
            <a:r>
              <a:rPr lang="es-AR" sz="1400" dirty="0" err="1"/>
              <a:t>size</a:t>
            </a:r>
            <a:r>
              <a:rPr lang="es-AR" sz="1400" dirty="0"/>
              <a:t> 3</a:t>
            </a:r>
          </a:p>
          <a:p>
            <a:pPr>
              <a:buFont typeface="Arial" pitchFamily="34" charset="0"/>
              <a:buChar char="•"/>
            </a:pPr>
            <a:r>
              <a:rPr lang="es-AR" sz="1400" dirty="0"/>
              <a:t>International News</a:t>
            </a:r>
          </a:p>
        </p:txBody>
      </p:sp>
      <p:sp>
        <p:nvSpPr>
          <p:cNvPr id="7" name="6 Llamada con línea 2 (sin borde)"/>
          <p:cNvSpPr/>
          <p:nvPr/>
        </p:nvSpPr>
        <p:spPr>
          <a:xfrm>
            <a:off x="6072198" y="928676"/>
            <a:ext cx="1800000" cy="1440000"/>
          </a:xfrm>
          <a:prstGeom prst="callout2">
            <a:avLst>
              <a:gd name="adj1" fmla="val 41628"/>
              <a:gd name="adj2" fmla="val -5446"/>
              <a:gd name="adj3" fmla="val 42710"/>
              <a:gd name="adj4" fmla="val -22819"/>
              <a:gd name="adj5" fmla="val 73804"/>
              <a:gd name="adj6" fmla="val -34105"/>
            </a:avLst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 typeface="Arial" pitchFamily="34" charset="0"/>
              <a:buChar char="•"/>
            </a:pPr>
            <a:r>
              <a:rPr lang="es-AR" sz="1400" dirty="0" err="1"/>
              <a:t>Customer</a:t>
            </a:r>
            <a:r>
              <a:rPr lang="es-AR" sz="1400" dirty="0"/>
              <a:t> </a:t>
            </a:r>
            <a:r>
              <a:rPr lang="es-AR" sz="1400" dirty="0" err="1"/>
              <a:t>Profile</a:t>
            </a:r>
            <a:r>
              <a:rPr lang="es-AR" sz="1400" dirty="0"/>
              <a:t> 1</a:t>
            </a:r>
          </a:p>
          <a:p>
            <a:pPr>
              <a:buFont typeface="Arial" pitchFamily="34" charset="0"/>
              <a:buChar char="•"/>
            </a:pPr>
            <a:r>
              <a:rPr lang="es-AR" sz="1400" dirty="0"/>
              <a:t>T-</a:t>
            </a:r>
            <a:r>
              <a:rPr lang="es-AR" sz="1400" dirty="0" err="1"/>
              <a:t>shirt</a:t>
            </a:r>
            <a:r>
              <a:rPr lang="es-AR" sz="1400" dirty="0"/>
              <a:t> </a:t>
            </a:r>
            <a:r>
              <a:rPr lang="es-AR" sz="1400" dirty="0" err="1"/>
              <a:t>size</a:t>
            </a:r>
            <a:r>
              <a:rPr lang="es-AR" sz="1400" dirty="0"/>
              <a:t> 1</a:t>
            </a:r>
          </a:p>
          <a:p>
            <a:pPr>
              <a:buFont typeface="Arial" pitchFamily="34" charset="0"/>
              <a:buChar char="•"/>
            </a:pPr>
            <a:r>
              <a:rPr lang="es-AR" sz="1400" dirty="0" err="1"/>
              <a:t>Politic</a:t>
            </a:r>
            <a:r>
              <a:rPr lang="es-AR" sz="1400" dirty="0"/>
              <a:t> News</a:t>
            </a:r>
          </a:p>
        </p:txBody>
      </p:sp>
      <p:sp>
        <p:nvSpPr>
          <p:cNvPr id="8" name="7 Elipse"/>
          <p:cNvSpPr/>
          <p:nvPr/>
        </p:nvSpPr>
        <p:spPr>
          <a:xfrm>
            <a:off x="4357686" y="1643056"/>
            <a:ext cx="1143008" cy="1071570"/>
          </a:xfrm>
          <a:prstGeom prst="ellipse">
            <a:avLst/>
          </a:prstGeom>
          <a:solidFill>
            <a:srgbClr val="FF0000">
              <a:alpha val="3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8 Elipse"/>
          <p:cNvSpPr/>
          <p:nvPr/>
        </p:nvSpPr>
        <p:spPr>
          <a:xfrm>
            <a:off x="3214678" y="2571750"/>
            <a:ext cx="1143008" cy="1071570"/>
          </a:xfrm>
          <a:prstGeom prst="ellipse">
            <a:avLst/>
          </a:prstGeom>
          <a:solidFill>
            <a:srgbClr val="7030A0">
              <a:alpha val="3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9 Elipse"/>
          <p:cNvSpPr/>
          <p:nvPr/>
        </p:nvSpPr>
        <p:spPr>
          <a:xfrm>
            <a:off x="4929190" y="2928940"/>
            <a:ext cx="1214446" cy="1143008"/>
          </a:xfrm>
          <a:prstGeom prst="ellipse">
            <a:avLst/>
          </a:prstGeom>
          <a:solidFill>
            <a:srgbClr val="00B050">
              <a:alpha val="35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animBg="1"/>
      <p:bldP spid="6" grpId="0" uiExpand="1" build="p" animBg="1"/>
      <p:bldP spid="7" grpId="0" uiExpand="1" build="p" animBg="1"/>
      <p:bldP spid="8" grpId="0" animBg="1"/>
      <p:bldP spid="9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Conceptos</a:t>
            </a:r>
            <a:r>
              <a:rPr lang="en-US" dirty="0"/>
              <a:t> </a:t>
            </a:r>
            <a:r>
              <a:rPr lang="en-US" dirty="0" err="1"/>
              <a:t>Básicos</a:t>
            </a:r>
            <a:endParaRPr lang="en-US" dirty="0"/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5B9B8200-3AAC-B4E5-D91B-040074AC86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72321" t="43196" r="7143" b="29807"/>
          <a:stretch>
            <a:fillRect/>
          </a:stretch>
        </p:blipFill>
        <p:spPr bwMode="auto">
          <a:xfrm>
            <a:off x="2206249" y="1179026"/>
            <a:ext cx="5030047" cy="34089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38" name="Elipse 37">
            <a:extLst>
              <a:ext uri="{FF2B5EF4-FFF2-40B4-BE49-F238E27FC236}">
                <a16:creationId xmlns:a16="http://schemas.microsoft.com/office/drawing/2014/main" id="{DD434C62-7CA3-DB05-F16C-D8656F3377F5}"/>
              </a:ext>
            </a:extLst>
          </p:cNvPr>
          <p:cNvSpPr/>
          <p:nvPr/>
        </p:nvSpPr>
        <p:spPr>
          <a:xfrm>
            <a:off x="4389842" y="2400896"/>
            <a:ext cx="135466" cy="138289"/>
          </a:xfrm>
          <a:prstGeom prst="ellipse">
            <a:avLst/>
          </a:prstGeom>
          <a:solidFill>
            <a:sysClr val="window" lastClr="FFFFFF"/>
          </a:solidFill>
          <a:ln w="28575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39" name="Elipse 38">
            <a:extLst>
              <a:ext uri="{FF2B5EF4-FFF2-40B4-BE49-F238E27FC236}">
                <a16:creationId xmlns:a16="http://schemas.microsoft.com/office/drawing/2014/main" id="{22101404-14A9-AF66-138C-CAA9213F7E6A}"/>
              </a:ext>
            </a:extLst>
          </p:cNvPr>
          <p:cNvSpPr/>
          <p:nvPr/>
        </p:nvSpPr>
        <p:spPr>
          <a:xfrm>
            <a:off x="4157614" y="2491207"/>
            <a:ext cx="135466" cy="138289"/>
          </a:xfrm>
          <a:prstGeom prst="ellipse">
            <a:avLst/>
          </a:prstGeom>
          <a:solidFill>
            <a:sysClr val="window" lastClr="FFFFFF"/>
          </a:solidFill>
          <a:ln w="28575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91DAF3B0-F210-FEAE-B980-5F5CD33B7F01}"/>
              </a:ext>
            </a:extLst>
          </p:cNvPr>
          <p:cNvSpPr/>
          <p:nvPr/>
        </p:nvSpPr>
        <p:spPr>
          <a:xfrm>
            <a:off x="4360028" y="2719807"/>
            <a:ext cx="135466" cy="138289"/>
          </a:xfrm>
          <a:prstGeom prst="ellipse">
            <a:avLst/>
          </a:prstGeom>
          <a:solidFill>
            <a:sysClr val="window" lastClr="FFFFFF"/>
          </a:solidFill>
          <a:ln w="28575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1" name="Elipse 40">
            <a:extLst>
              <a:ext uri="{FF2B5EF4-FFF2-40B4-BE49-F238E27FC236}">
                <a16:creationId xmlns:a16="http://schemas.microsoft.com/office/drawing/2014/main" id="{6D85E2E4-0F9A-A72C-BADC-D0B1119A0577}"/>
              </a:ext>
            </a:extLst>
          </p:cNvPr>
          <p:cNvSpPr/>
          <p:nvPr/>
        </p:nvSpPr>
        <p:spPr>
          <a:xfrm>
            <a:off x="4678515" y="2539185"/>
            <a:ext cx="135466" cy="138289"/>
          </a:xfrm>
          <a:prstGeom prst="ellipse">
            <a:avLst/>
          </a:prstGeom>
          <a:solidFill>
            <a:sysClr val="window" lastClr="FFFFFF"/>
          </a:solidFill>
          <a:ln w="28575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311EDFAE-23BC-7F49-8722-2F3395AC2DC3}"/>
              </a:ext>
            </a:extLst>
          </p:cNvPr>
          <p:cNvSpPr/>
          <p:nvPr/>
        </p:nvSpPr>
        <p:spPr>
          <a:xfrm>
            <a:off x="5016376" y="3374608"/>
            <a:ext cx="135466" cy="138289"/>
          </a:xfrm>
          <a:prstGeom prst="ellipse">
            <a:avLst/>
          </a:prstGeom>
          <a:solidFill>
            <a:sysClr val="window" lastClr="FFFFFF"/>
          </a:solidFill>
          <a:ln w="28575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695AEFF8-C2D8-CB44-966E-AA98F2B5D15F}"/>
              </a:ext>
            </a:extLst>
          </p:cNvPr>
          <p:cNvSpPr/>
          <p:nvPr/>
        </p:nvSpPr>
        <p:spPr>
          <a:xfrm>
            <a:off x="5151842" y="3162896"/>
            <a:ext cx="135466" cy="138289"/>
          </a:xfrm>
          <a:prstGeom prst="ellipse">
            <a:avLst/>
          </a:prstGeom>
          <a:solidFill>
            <a:sysClr val="window" lastClr="FFFFFF"/>
          </a:solidFill>
          <a:ln w="28575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8E82933D-623B-AB5D-03E2-35C7C06D8EF1}"/>
              </a:ext>
            </a:extLst>
          </p:cNvPr>
          <p:cNvSpPr/>
          <p:nvPr/>
        </p:nvSpPr>
        <p:spPr>
          <a:xfrm>
            <a:off x="4457575" y="3126018"/>
            <a:ext cx="135466" cy="138289"/>
          </a:xfrm>
          <a:prstGeom prst="ellipse">
            <a:avLst/>
          </a:prstGeom>
          <a:solidFill>
            <a:sysClr val="window" lastClr="FFFFFF"/>
          </a:solidFill>
          <a:ln w="28575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B8228DAD-6B55-90BB-7312-2BC71FC28D08}"/>
              </a:ext>
            </a:extLst>
          </p:cNvPr>
          <p:cNvSpPr/>
          <p:nvPr/>
        </p:nvSpPr>
        <p:spPr>
          <a:xfrm>
            <a:off x="4944612" y="3609041"/>
            <a:ext cx="135466" cy="138289"/>
          </a:xfrm>
          <a:prstGeom prst="ellipse">
            <a:avLst/>
          </a:prstGeom>
          <a:solidFill>
            <a:sysClr val="window" lastClr="FFFFFF"/>
          </a:solidFill>
          <a:ln w="28575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1A8BF420-B6B0-7520-5802-AE1889BD29DB}"/>
              </a:ext>
            </a:extLst>
          </p:cNvPr>
          <p:cNvSpPr/>
          <p:nvPr/>
        </p:nvSpPr>
        <p:spPr>
          <a:xfrm>
            <a:off x="5084109" y="2718630"/>
            <a:ext cx="135466" cy="138289"/>
          </a:xfrm>
          <a:prstGeom prst="ellipse">
            <a:avLst/>
          </a:prstGeom>
          <a:solidFill>
            <a:sysClr val="window" lastClr="FFFFFF"/>
          </a:solidFill>
          <a:ln w="28575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63952487-A9C7-55A2-5BDF-BAEC528E058C}"/>
              </a:ext>
            </a:extLst>
          </p:cNvPr>
          <p:cNvSpPr/>
          <p:nvPr/>
        </p:nvSpPr>
        <p:spPr>
          <a:xfrm>
            <a:off x="4687385" y="3204098"/>
            <a:ext cx="135466" cy="138289"/>
          </a:xfrm>
          <a:prstGeom prst="ellipse">
            <a:avLst/>
          </a:prstGeom>
          <a:solidFill>
            <a:sysClr val="window" lastClr="FFFFFF"/>
          </a:solidFill>
          <a:ln w="28575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6E32EE00-19B6-4A92-9958-1C69402ACD62}"/>
              </a:ext>
            </a:extLst>
          </p:cNvPr>
          <p:cNvSpPr/>
          <p:nvPr/>
        </p:nvSpPr>
        <p:spPr>
          <a:xfrm>
            <a:off x="4721272" y="2895559"/>
            <a:ext cx="135466" cy="138289"/>
          </a:xfrm>
          <a:prstGeom prst="ellipse">
            <a:avLst/>
          </a:prstGeom>
          <a:solidFill>
            <a:sysClr val="window" lastClr="FFFFFF"/>
          </a:solidFill>
          <a:ln w="28575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BB214DBD-6813-B948-F351-6CCD48ED61D0}"/>
              </a:ext>
            </a:extLst>
          </p:cNvPr>
          <p:cNvSpPr/>
          <p:nvPr/>
        </p:nvSpPr>
        <p:spPr>
          <a:xfrm>
            <a:off x="4914797" y="3046618"/>
            <a:ext cx="135466" cy="138289"/>
          </a:xfrm>
          <a:prstGeom prst="ellipse">
            <a:avLst/>
          </a:prstGeom>
          <a:solidFill>
            <a:sysClr val="window" lastClr="FFFFFF"/>
          </a:solidFill>
          <a:ln w="28575" cap="rnd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AR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ill Sans MT" panose="020B05020201040202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6274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Conceptos</a:t>
            </a:r>
            <a:r>
              <a:rPr lang="en-US" dirty="0"/>
              <a:t> </a:t>
            </a:r>
            <a:r>
              <a:rPr lang="en-US" dirty="0" err="1"/>
              <a:t>Básicos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 err="1"/>
              <a:t>Existen</a:t>
            </a:r>
            <a:r>
              <a:rPr lang="en-US" dirty="0"/>
              <a:t> dos </a:t>
            </a:r>
            <a:r>
              <a:rPr lang="en-US" dirty="0" err="1"/>
              <a:t>tipos</a:t>
            </a:r>
            <a:r>
              <a:rPr lang="en-US" dirty="0"/>
              <a:t> de clustering: Partitional and Hierarchical.</a:t>
            </a:r>
          </a:p>
          <a:p>
            <a:pPr algn="just"/>
            <a:r>
              <a:rPr lang="en-US" dirty="0"/>
              <a:t>El clustering </a:t>
            </a:r>
            <a:r>
              <a:rPr lang="en-US" dirty="0" err="1"/>
              <a:t>necesita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función</a:t>
            </a:r>
            <a:r>
              <a:rPr lang="en-US" dirty="0"/>
              <a:t> de </a:t>
            </a:r>
            <a:r>
              <a:rPr lang="en-US" dirty="0" err="1"/>
              <a:t>similaridad</a:t>
            </a:r>
            <a:r>
              <a:rPr lang="en-US" dirty="0"/>
              <a:t> para </a:t>
            </a:r>
            <a:r>
              <a:rPr lang="en-US" dirty="0" err="1"/>
              <a:t>medir</a:t>
            </a:r>
            <a:r>
              <a:rPr lang="en-US" dirty="0"/>
              <a:t> que tan </a:t>
            </a:r>
            <a:r>
              <a:rPr lang="en-US" dirty="0" err="1"/>
              <a:t>parecidos</a:t>
            </a:r>
            <a:r>
              <a:rPr lang="en-US" dirty="0"/>
              <a:t> o </a:t>
            </a:r>
            <a:r>
              <a:rPr lang="en-US" dirty="0" err="1"/>
              <a:t>diferentes</a:t>
            </a:r>
            <a:r>
              <a:rPr lang="en-US" dirty="0"/>
              <a:t> son dos puntos (u </a:t>
            </a:r>
            <a:r>
              <a:rPr lang="en-US" dirty="0" err="1"/>
              <a:t>objetos</a:t>
            </a:r>
            <a:r>
              <a:rPr lang="en-US" dirty="0"/>
              <a:t>) entre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, </a:t>
            </a:r>
            <a:r>
              <a:rPr lang="en-US" dirty="0" err="1"/>
              <a:t>alternativamente</a:t>
            </a:r>
            <a:r>
              <a:rPr lang="en-US" dirty="0"/>
              <a:t> se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utilizar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función</a:t>
            </a:r>
            <a:r>
              <a:rPr lang="en-US" dirty="0"/>
              <a:t> que </a:t>
            </a:r>
            <a:r>
              <a:rPr lang="en-US" dirty="0" err="1"/>
              <a:t>mida</a:t>
            </a:r>
            <a:r>
              <a:rPr lang="en-US" dirty="0"/>
              <a:t> la </a:t>
            </a:r>
            <a:r>
              <a:rPr lang="en-US" dirty="0" err="1"/>
              <a:t>distancia</a:t>
            </a:r>
            <a:r>
              <a:rPr lang="en-US" dirty="0"/>
              <a:t> entre dos puntos.</a:t>
            </a:r>
          </a:p>
          <a:p>
            <a:pPr algn="just"/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conclusión</a:t>
            </a:r>
            <a:r>
              <a:rPr lang="en-US" dirty="0"/>
              <a:t>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objetivo</a:t>
            </a:r>
            <a:r>
              <a:rPr lang="en-US" dirty="0"/>
              <a:t> del clustering es </a:t>
            </a:r>
            <a:r>
              <a:rPr lang="en-US" dirty="0" err="1"/>
              <a:t>descubrir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agrupamiento</a:t>
            </a:r>
            <a:r>
              <a:rPr lang="en-US" dirty="0"/>
              <a:t> </a:t>
            </a:r>
            <a:r>
              <a:rPr lang="en-US" dirty="0" err="1"/>
              <a:t>instrínseco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de entrada </a:t>
            </a:r>
            <a:r>
              <a:rPr lang="en-US" dirty="0" err="1"/>
              <a:t>utilizando</a:t>
            </a:r>
            <a:r>
              <a:rPr lang="en-US" dirty="0"/>
              <a:t> un </a:t>
            </a:r>
            <a:r>
              <a:rPr lang="en-US" dirty="0" err="1"/>
              <a:t>algoritmo</a:t>
            </a:r>
            <a:r>
              <a:rPr lang="en-US" dirty="0"/>
              <a:t> de clustering y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función</a:t>
            </a:r>
            <a:r>
              <a:rPr lang="en-US" dirty="0"/>
              <a:t> de </a:t>
            </a:r>
            <a:r>
              <a:rPr lang="en-US" dirty="0" err="1"/>
              <a:t>distancia</a:t>
            </a:r>
            <a:r>
              <a:rPr lang="en-US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Algorithm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k-means es </a:t>
            </a:r>
            <a:r>
              <a:rPr lang="en-US" dirty="0" err="1"/>
              <a:t>conocido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mejor</a:t>
            </a:r>
            <a:r>
              <a:rPr lang="en-US" dirty="0"/>
              <a:t> </a:t>
            </a:r>
            <a:r>
              <a:rPr lang="en-US" dirty="0" err="1"/>
              <a:t>algoritmo</a:t>
            </a:r>
            <a:r>
              <a:rPr lang="en-US" dirty="0"/>
              <a:t> de clustering </a:t>
            </a:r>
            <a:r>
              <a:rPr lang="en-US" dirty="0" err="1"/>
              <a:t>particional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Dado un conjunto de puntos y un </a:t>
            </a:r>
            <a:r>
              <a:rPr lang="en-US" dirty="0" err="1"/>
              <a:t>número</a:t>
            </a:r>
            <a:r>
              <a:rPr lang="en-US" dirty="0"/>
              <a:t> k de clusters (k es </a:t>
            </a:r>
            <a:r>
              <a:rPr lang="en-US" dirty="0" err="1"/>
              <a:t>definido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usuario</a:t>
            </a:r>
            <a:r>
              <a:rPr lang="en-US" dirty="0"/>
              <a:t>),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algoritmo</a:t>
            </a:r>
            <a:r>
              <a:rPr lang="en-US" dirty="0"/>
              <a:t> </a:t>
            </a:r>
            <a:r>
              <a:rPr lang="en-US" dirty="0" err="1"/>
              <a:t>particiona</a:t>
            </a:r>
            <a:r>
              <a:rPr lang="en-US" dirty="0"/>
              <a:t> </a:t>
            </a:r>
            <a:r>
              <a:rPr lang="en-US" dirty="0" err="1"/>
              <a:t>iterativamente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k </a:t>
            </a:r>
            <a:r>
              <a:rPr lang="en-US" dirty="0" err="1"/>
              <a:t>grupos</a:t>
            </a:r>
            <a:r>
              <a:rPr lang="en-US" dirty="0"/>
              <a:t> </a:t>
            </a:r>
            <a:r>
              <a:rPr lang="en-US" dirty="0" err="1"/>
              <a:t>basándose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la </a:t>
            </a:r>
            <a:r>
              <a:rPr lang="en-US" dirty="0" err="1"/>
              <a:t>función</a:t>
            </a:r>
            <a:r>
              <a:rPr lang="en-US" dirty="0"/>
              <a:t> de </a:t>
            </a:r>
            <a:r>
              <a:rPr lang="en-US" dirty="0" err="1"/>
              <a:t>distancia</a:t>
            </a:r>
            <a:r>
              <a:rPr lang="en-US" dirty="0"/>
              <a:t> </a:t>
            </a:r>
            <a:r>
              <a:rPr lang="en-US" dirty="0" err="1"/>
              <a:t>utilizada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K-means es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algoritmo</a:t>
            </a:r>
            <a:r>
              <a:rPr lang="en-US" dirty="0"/>
              <a:t> de clustering </a:t>
            </a:r>
            <a:r>
              <a:rPr lang="en-US" dirty="0" err="1"/>
              <a:t>más</a:t>
            </a:r>
            <a:r>
              <a:rPr lang="en-US" dirty="0"/>
              <a:t> simple y </a:t>
            </a:r>
            <a:r>
              <a:rPr lang="en-US" dirty="0" err="1"/>
              <a:t>efectivo</a:t>
            </a:r>
            <a:r>
              <a:rPr lang="en-US" dirty="0"/>
              <a:t>, y es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utilizado</a:t>
            </a:r>
            <a:r>
              <a:rPr lang="en-US" dirty="0"/>
              <a:t> para </a:t>
            </a:r>
            <a:r>
              <a:rPr lang="en-US" dirty="0" err="1"/>
              <a:t>descubrir</a:t>
            </a:r>
            <a:r>
              <a:rPr lang="en-US" dirty="0"/>
              <a:t> </a:t>
            </a:r>
            <a:r>
              <a:rPr lang="en-US" dirty="0" err="1"/>
              <a:t>similaridades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datos</a:t>
            </a:r>
            <a:r>
              <a:rPr lang="en-US" dirty="0"/>
              <a:t> (</a:t>
            </a:r>
            <a:r>
              <a:rPr lang="en-US" dirty="0" err="1"/>
              <a:t>utilizado</a:t>
            </a:r>
            <a:r>
              <a:rPr lang="en-US" dirty="0"/>
              <a:t>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atributos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mismos</a:t>
            </a:r>
            <a:r>
              <a:rPr lang="en-US" dirty="0"/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Algorithm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200151"/>
            <a:ext cx="7467600" cy="514343"/>
          </a:xfrm>
        </p:spPr>
        <p:txBody>
          <a:bodyPr>
            <a:noAutofit/>
          </a:bodyPr>
          <a:lstStyle/>
          <a:p>
            <a:pPr algn="just"/>
            <a:r>
              <a:rPr lang="en-US" sz="2300" dirty="0"/>
              <a:t>Dado un conjunto de puntos (o </a:t>
            </a:r>
            <a:r>
              <a:rPr lang="en-US" sz="2300" dirty="0" err="1"/>
              <a:t>instancias</a:t>
            </a:r>
            <a:r>
              <a:rPr lang="en-US" sz="2300" dirty="0"/>
              <a:t>) D:</a:t>
            </a:r>
          </a:p>
        </p:txBody>
      </p:sp>
      <p:sp>
        <p:nvSpPr>
          <p:cNvPr id="4" name="2 Marcador de contenido"/>
          <p:cNvSpPr txBox="1">
            <a:spLocks/>
          </p:cNvSpPr>
          <p:nvPr/>
        </p:nvSpPr>
        <p:spPr>
          <a:xfrm>
            <a:off x="428596" y="2786064"/>
            <a:ext cx="7467600" cy="214314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420624" marR="0" lvl="0" indent="-384048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"/>
              <a:tabLst/>
              <a:defRPr/>
            </a:pPr>
            <a:r>
              <a:rPr kumimoji="0" lang="en-US" sz="2800" b="1" i="1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x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Es un vector 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el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espacio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 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valores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reales</a:t>
            </a:r>
            <a:r>
              <a:rPr kumimoji="0" lang="en-US" sz="23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y </a:t>
            </a:r>
            <a:r>
              <a:rPr kumimoji="0" lang="en-US" sz="2300" b="0" i="1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r</a:t>
            </a:r>
            <a:r>
              <a:rPr kumimoji="0" lang="en-US" sz="23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es </a:t>
            </a:r>
            <a:r>
              <a:rPr kumimoji="0" lang="en-US" sz="23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el</a:t>
            </a:r>
            <a:r>
              <a:rPr kumimoji="0" lang="en-US" sz="23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número</a:t>
            </a:r>
            <a:r>
              <a:rPr kumimoji="0" lang="en-US" sz="23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 </a:t>
            </a:r>
            <a:r>
              <a:rPr kumimoji="0" lang="en-US" sz="23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atributos</a:t>
            </a:r>
            <a:r>
              <a:rPr kumimoji="0" lang="en-US" sz="23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</a:t>
            </a:r>
            <a:r>
              <a:rPr kumimoji="0" lang="en-US" sz="23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los</a:t>
            </a:r>
            <a:r>
              <a:rPr kumimoji="0" lang="en-US" sz="23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datos</a:t>
            </a:r>
            <a:r>
              <a:rPr lang="en-US" sz="2300" dirty="0"/>
              <a:t> (o bien </a:t>
            </a:r>
            <a:r>
              <a:rPr lang="en-US" sz="2300" dirty="0" err="1"/>
              <a:t>el</a:t>
            </a:r>
            <a:r>
              <a:rPr lang="en-US" sz="2300" dirty="0"/>
              <a:t> </a:t>
            </a:r>
            <a:r>
              <a:rPr lang="en-US" sz="2300" dirty="0" err="1"/>
              <a:t>número</a:t>
            </a:r>
            <a:r>
              <a:rPr lang="en-US" sz="2300" dirty="0"/>
              <a:t> de </a:t>
            </a:r>
            <a:r>
              <a:rPr lang="en-US" sz="2300" dirty="0" err="1"/>
              <a:t>dimensiones</a:t>
            </a:r>
            <a:r>
              <a:rPr lang="en-US" sz="2300" dirty="0"/>
              <a:t> </a:t>
            </a:r>
            <a:r>
              <a:rPr lang="en-US" sz="2300" dirty="0" err="1"/>
              <a:t>en</a:t>
            </a:r>
            <a:r>
              <a:rPr lang="en-US" sz="2300" dirty="0"/>
              <a:t> </a:t>
            </a:r>
            <a:r>
              <a:rPr lang="en-US" sz="2300" dirty="0" err="1"/>
              <a:t>el</a:t>
            </a:r>
            <a:r>
              <a:rPr lang="en-US" sz="2300" dirty="0"/>
              <a:t> </a:t>
            </a:r>
            <a:r>
              <a:rPr lang="en-US" sz="2300" dirty="0" err="1"/>
              <a:t>espacio</a:t>
            </a:r>
            <a:r>
              <a:rPr lang="en-US" sz="2300" dirty="0"/>
              <a:t> de </a:t>
            </a:r>
            <a:r>
              <a:rPr lang="en-US" sz="2300" dirty="0" err="1"/>
              <a:t>datos</a:t>
            </a:r>
            <a:r>
              <a:rPr lang="en-US" sz="2300" dirty="0"/>
              <a:t>).</a:t>
            </a:r>
          </a:p>
          <a:p>
            <a:pPr marL="420624" marR="0" lvl="0" indent="-384048" algn="ju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2"/>
              <a:buChar char=""/>
              <a:tabLst/>
              <a:defRPr/>
            </a:pP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El 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algoritmo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k-means 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particiona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el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conjunto de 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datos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k clusters</a:t>
            </a:r>
            <a:r>
              <a:rPr lang="en-US" sz="2300" dirty="0"/>
              <a:t>, </a:t>
            </a:r>
            <a:r>
              <a:rPr lang="en-US" sz="2300" dirty="0" err="1"/>
              <a:t>cuyo</a:t>
            </a:r>
            <a:r>
              <a:rPr lang="en-US" sz="2300" dirty="0"/>
              <a:t> </a:t>
            </a:r>
            <a:r>
              <a:rPr lang="en-US" sz="2300" dirty="0" err="1"/>
              <a:t>centro</a:t>
            </a:r>
            <a:r>
              <a:rPr lang="en-US" sz="2300" dirty="0"/>
              <a:t> es </a:t>
            </a:r>
            <a:r>
              <a:rPr lang="en-US" sz="2300" dirty="0" err="1"/>
              <a:t>denominado</a:t>
            </a:r>
            <a:r>
              <a:rPr lang="en-US" sz="2300" dirty="0"/>
              <a:t> </a:t>
            </a:r>
            <a:r>
              <a:rPr lang="en-US" sz="2300" dirty="0" err="1">
                <a:solidFill>
                  <a:srgbClr val="FFC000"/>
                </a:solidFill>
              </a:rPr>
              <a:t>centroide</a:t>
            </a:r>
            <a:r>
              <a:rPr lang="en-US" sz="2300" dirty="0"/>
              <a:t> del cluster.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 l="77965" t="33204" r="3367" b="55078"/>
          <a:stretch>
            <a:fillRect/>
          </a:stretch>
        </p:blipFill>
        <p:spPr bwMode="auto">
          <a:xfrm>
            <a:off x="3143240" y="1714494"/>
            <a:ext cx="2428892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Algorithm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43508" y="1137030"/>
            <a:ext cx="8856984" cy="3800491"/>
          </a:xfrm>
        </p:spPr>
        <p:txBody>
          <a:bodyPr>
            <a:noAutofit/>
          </a:bodyPr>
          <a:lstStyle/>
          <a:p>
            <a:pPr algn="just"/>
            <a:r>
              <a:rPr lang="en-US" sz="2300" dirty="0"/>
              <a:t>El </a:t>
            </a:r>
            <a:r>
              <a:rPr lang="en-US" sz="2300" dirty="0" err="1"/>
              <a:t>centroide</a:t>
            </a:r>
            <a:r>
              <a:rPr lang="en-US" sz="2300" dirty="0"/>
              <a:t> se </a:t>
            </a:r>
            <a:r>
              <a:rPr lang="en-US" sz="2300" dirty="0" err="1"/>
              <a:t>utiliza</a:t>
            </a:r>
            <a:r>
              <a:rPr lang="en-US" sz="2300" dirty="0"/>
              <a:t> para </a:t>
            </a:r>
            <a:r>
              <a:rPr lang="en-US" sz="2300" dirty="0" err="1"/>
              <a:t>representar</a:t>
            </a:r>
            <a:r>
              <a:rPr lang="en-US" sz="2300" dirty="0"/>
              <a:t> al cluster y se </a:t>
            </a:r>
            <a:r>
              <a:rPr lang="en-US" sz="2300" dirty="0" err="1"/>
              <a:t>calcula</a:t>
            </a:r>
            <a:r>
              <a:rPr lang="en-US" sz="2300" dirty="0"/>
              <a:t> </a:t>
            </a:r>
            <a:r>
              <a:rPr lang="en-US" sz="2300" dirty="0" err="1"/>
              <a:t>como</a:t>
            </a:r>
            <a:r>
              <a:rPr lang="en-US" sz="2300" dirty="0"/>
              <a:t> la </a:t>
            </a:r>
            <a:r>
              <a:rPr lang="en-US" sz="2300" dirty="0">
                <a:solidFill>
                  <a:srgbClr val="FFC000"/>
                </a:solidFill>
              </a:rPr>
              <a:t>media</a:t>
            </a:r>
            <a:r>
              <a:rPr lang="en-US" sz="2300" dirty="0"/>
              <a:t> de </a:t>
            </a:r>
            <a:r>
              <a:rPr lang="en-US" sz="2300" dirty="0" err="1"/>
              <a:t>todos</a:t>
            </a:r>
            <a:r>
              <a:rPr lang="en-US" sz="2300" dirty="0"/>
              <a:t> puntos de </a:t>
            </a:r>
            <a:r>
              <a:rPr lang="en-US" sz="2300" dirty="0" err="1"/>
              <a:t>dicho</a:t>
            </a:r>
            <a:r>
              <a:rPr lang="en-US" sz="2300" dirty="0"/>
              <a:t> cluster.</a:t>
            </a:r>
          </a:p>
          <a:p>
            <a:pPr algn="just"/>
            <a:r>
              <a:rPr lang="en-US" sz="2300" dirty="0" err="1"/>
              <a:t>Inicialmente</a:t>
            </a:r>
            <a:r>
              <a:rPr lang="en-US" sz="2300" dirty="0"/>
              <a:t>, </a:t>
            </a:r>
            <a:r>
              <a:rPr lang="en-US" sz="2300" dirty="0" err="1"/>
              <a:t>el</a:t>
            </a:r>
            <a:r>
              <a:rPr lang="en-US" sz="2300" dirty="0"/>
              <a:t> </a:t>
            </a:r>
            <a:r>
              <a:rPr lang="en-US" sz="2300" dirty="0" err="1"/>
              <a:t>algoritmo</a:t>
            </a:r>
            <a:r>
              <a:rPr lang="en-US" sz="2300" dirty="0"/>
              <a:t> </a:t>
            </a:r>
            <a:r>
              <a:rPr lang="en-US" sz="2300" dirty="0" err="1"/>
              <a:t>selecciona</a:t>
            </a:r>
            <a:r>
              <a:rPr lang="en-US" sz="2300" dirty="0"/>
              <a:t>, de </a:t>
            </a:r>
            <a:r>
              <a:rPr lang="en-US" sz="2300" dirty="0" err="1"/>
              <a:t>manera</a:t>
            </a:r>
            <a:r>
              <a:rPr lang="en-US" sz="2300" dirty="0"/>
              <a:t> </a:t>
            </a:r>
            <a:r>
              <a:rPr lang="en-US" sz="2300" dirty="0" err="1"/>
              <a:t>aleatoria</a:t>
            </a:r>
            <a:r>
              <a:rPr lang="en-US" sz="2300" dirty="0"/>
              <a:t>, k puntos entre </a:t>
            </a:r>
            <a:r>
              <a:rPr lang="en-US" sz="2300" dirty="0" err="1"/>
              <a:t>los</a:t>
            </a:r>
            <a:r>
              <a:rPr lang="en-US" sz="2300" dirty="0"/>
              <a:t> </a:t>
            </a:r>
            <a:r>
              <a:rPr lang="en-US" sz="2300" dirty="0" err="1"/>
              <a:t>datos</a:t>
            </a:r>
            <a:r>
              <a:rPr lang="en-US" sz="2300" dirty="0"/>
              <a:t> que </a:t>
            </a:r>
            <a:r>
              <a:rPr lang="en-US" sz="2300" dirty="0" err="1"/>
              <a:t>utilizará</a:t>
            </a:r>
            <a:r>
              <a:rPr lang="en-US" sz="2300" dirty="0"/>
              <a:t> </a:t>
            </a:r>
            <a:r>
              <a:rPr lang="en-US" sz="2300" dirty="0" err="1"/>
              <a:t>como</a:t>
            </a:r>
            <a:r>
              <a:rPr lang="en-US" sz="2300" dirty="0"/>
              <a:t> </a:t>
            </a:r>
            <a:r>
              <a:rPr lang="en-US" sz="2300" dirty="0" err="1"/>
              <a:t>centroides</a:t>
            </a:r>
            <a:r>
              <a:rPr lang="en-US" sz="2300" dirty="0"/>
              <a:t> </a:t>
            </a:r>
            <a:r>
              <a:rPr lang="en-US" sz="2300" dirty="0" err="1"/>
              <a:t>iniciales</a:t>
            </a:r>
            <a:r>
              <a:rPr lang="en-US" sz="2300" dirty="0"/>
              <a:t> o </a:t>
            </a:r>
            <a:r>
              <a:rPr lang="en-US" sz="2300" dirty="0" err="1"/>
              <a:t>semillas</a:t>
            </a:r>
            <a:r>
              <a:rPr lang="en-US" sz="2300" dirty="0"/>
              <a:t>. </a:t>
            </a:r>
          </a:p>
          <a:p>
            <a:pPr algn="just"/>
            <a:r>
              <a:rPr lang="en-US" sz="2300" dirty="0" err="1"/>
              <a:t>Luego</a:t>
            </a:r>
            <a:r>
              <a:rPr lang="en-US" sz="2300" dirty="0"/>
              <a:t> </a:t>
            </a:r>
            <a:r>
              <a:rPr lang="en-US" sz="2300" dirty="0" err="1"/>
              <a:t>calcula</a:t>
            </a:r>
            <a:r>
              <a:rPr lang="en-US" sz="2300" dirty="0"/>
              <a:t> la </a:t>
            </a:r>
            <a:r>
              <a:rPr lang="en-US" sz="2300" dirty="0" err="1"/>
              <a:t>distancia</a:t>
            </a:r>
            <a:r>
              <a:rPr lang="en-US" sz="2300" dirty="0"/>
              <a:t> entre </a:t>
            </a:r>
            <a:r>
              <a:rPr lang="en-US" sz="2300" dirty="0" err="1"/>
              <a:t>cada</a:t>
            </a:r>
            <a:r>
              <a:rPr lang="en-US" sz="2300" dirty="0"/>
              <a:t> </a:t>
            </a:r>
            <a:r>
              <a:rPr lang="en-US" sz="2300" dirty="0" err="1"/>
              <a:t>semilla</a:t>
            </a:r>
            <a:r>
              <a:rPr lang="en-US" sz="2300" dirty="0"/>
              <a:t> y </a:t>
            </a:r>
            <a:r>
              <a:rPr lang="en-US" sz="2300" dirty="0" err="1"/>
              <a:t>cada</a:t>
            </a:r>
            <a:r>
              <a:rPr lang="en-US" sz="2300" dirty="0"/>
              <a:t> punto de </a:t>
            </a:r>
            <a:r>
              <a:rPr lang="en-US" sz="2300" dirty="0" err="1"/>
              <a:t>los</a:t>
            </a:r>
            <a:r>
              <a:rPr lang="en-US" sz="2300" dirty="0"/>
              <a:t> </a:t>
            </a:r>
            <a:r>
              <a:rPr lang="en-US" sz="2300" dirty="0" err="1"/>
              <a:t>datos</a:t>
            </a:r>
            <a:r>
              <a:rPr lang="en-US" sz="2300" dirty="0"/>
              <a:t>. </a:t>
            </a:r>
          </a:p>
          <a:p>
            <a:pPr algn="just"/>
            <a:r>
              <a:rPr lang="en-US" sz="2300" dirty="0" err="1"/>
              <a:t>Cada</a:t>
            </a:r>
            <a:r>
              <a:rPr lang="en-US" sz="2300" dirty="0"/>
              <a:t> punto es </a:t>
            </a:r>
            <a:r>
              <a:rPr lang="en-US" sz="2300" dirty="0" err="1"/>
              <a:t>asignado</a:t>
            </a:r>
            <a:r>
              <a:rPr lang="en-US" sz="2300" dirty="0"/>
              <a:t> al </a:t>
            </a:r>
            <a:r>
              <a:rPr lang="en-US" sz="2300" dirty="0" err="1"/>
              <a:t>centroide</a:t>
            </a:r>
            <a:r>
              <a:rPr lang="en-US" sz="2300" dirty="0"/>
              <a:t> </a:t>
            </a:r>
            <a:r>
              <a:rPr lang="en-US" sz="2300" dirty="0" err="1"/>
              <a:t>más</a:t>
            </a:r>
            <a:r>
              <a:rPr lang="en-US" sz="2300" dirty="0"/>
              <a:t> </a:t>
            </a:r>
            <a:r>
              <a:rPr lang="en-US" sz="2300" dirty="0" err="1"/>
              <a:t>cercano</a:t>
            </a:r>
            <a:r>
              <a:rPr lang="en-US" sz="2300" dirty="0"/>
              <a:t>.</a:t>
            </a:r>
          </a:p>
          <a:p>
            <a:pPr algn="just"/>
            <a:r>
              <a:rPr lang="en-US" sz="2300" dirty="0"/>
              <a:t>De </a:t>
            </a:r>
            <a:r>
              <a:rPr lang="en-US" sz="2300" dirty="0" err="1"/>
              <a:t>esta</a:t>
            </a:r>
            <a:r>
              <a:rPr lang="en-US" sz="2300" dirty="0"/>
              <a:t> forma el </a:t>
            </a:r>
            <a:r>
              <a:rPr lang="en-US" sz="2300" dirty="0" err="1"/>
              <a:t>centroide</a:t>
            </a:r>
            <a:r>
              <a:rPr lang="en-US" sz="2300" dirty="0"/>
              <a:t> y </a:t>
            </a:r>
            <a:r>
              <a:rPr lang="en-US" sz="2300" dirty="0" err="1"/>
              <a:t>sus</a:t>
            </a:r>
            <a:r>
              <a:rPr lang="en-US" sz="2300" dirty="0"/>
              <a:t> </a:t>
            </a:r>
            <a:r>
              <a:rPr lang="en-US" sz="2300" dirty="0" err="1" smtClean="0"/>
              <a:t>puntos</a:t>
            </a:r>
            <a:r>
              <a:rPr lang="en-US" sz="2300" dirty="0" smtClean="0"/>
              <a:t> </a:t>
            </a:r>
            <a:r>
              <a:rPr lang="en-US" sz="2300" dirty="0" err="1"/>
              <a:t>representan</a:t>
            </a:r>
            <a:r>
              <a:rPr lang="en-US" sz="2300" dirty="0"/>
              <a:t> al cluster.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Algorithm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21439" y="1038890"/>
            <a:ext cx="8501122" cy="1371599"/>
          </a:xfrm>
        </p:spPr>
        <p:txBody>
          <a:bodyPr>
            <a:noAutofit/>
          </a:bodyPr>
          <a:lstStyle/>
          <a:p>
            <a:pPr algn="just"/>
            <a:r>
              <a:rPr lang="en-US" sz="2300" dirty="0"/>
              <a:t>K-means </a:t>
            </a:r>
            <a:r>
              <a:rPr lang="en-US" sz="2300" dirty="0" err="1"/>
              <a:t>puede</a:t>
            </a:r>
            <a:r>
              <a:rPr lang="en-US" sz="2300" dirty="0"/>
              <a:t> ser </a:t>
            </a:r>
            <a:r>
              <a:rPr lang="en-US" sz="2300" dirty="0" err="1"/>
              <a:t>utilizado</a:t>
            </a:r>
            <a:r>
              <a:rPr lang="en-US" sz="2300" dirty="0"/>
              <a:t> </a:t>
            </a:r>
            <a:r>
              <a:rPr lang="en-US" sz="2300" dirty="0" err="1"/>
              <a:t>en</a:t>
            </a:r>
            <a:r>
              <a:rPr lang="en-US" sz="2300" dirty="0"/>
              <a:t> </a:t>
            </a:r>
            <a:r>
              <a:rPr lang="en-US" sz="2300" dirty="0" err="1"/>
              <a:t>casos</a:t>
            </a:r>
            <a:r>
              <a:rPr lang="en-US" sz="2300" dirty="0"/>
              <a:t> </a:t>
            </a:r>
            <a:r>
              <a:rPr lang="en-US" sz="2300" dirty="0" err="1"/>
              <a:t>donde</a:t>
            </a:r>
            <a:r>
              <a:rPr lang="en-US" sz="2300" dirty="0"/>
              <a:t> </a:t>
            </a:r>
            <a:r>
              <a:rPr lang="en-US" sz="2300" dirty="0" err="1"/>
              <a:t>exista</a:t>
            </a:r>
            <a:r>
              <a:rPr lang="en-US" sz="2300" dirty="0"/>
              <a:t> la </a:t>
            </a:r>
            <a:r>
              <a:rPr lang="en-US" sz="2300" dirty="0" err="1"/>
              <a:t>noción</a:t>
            </a:r>
            <a:r>
              <a:rPr lang="en-US" sz="2300" dirty="0"/>
              <a:t> de la media y </a:t>
            </a:r>
            <a:r>
              <a:rPr lang="en-US" sz="2300" dirty="0" err="1"/>
              <a:t>esta</a:t>
            </a:r>
            <a:r>
              <a:rPr lang="en-US" sz="2300" dirty="0"/>
              <a:t> </a:t>
            </a:r>
            <a:r>
              <a:rPr lang="en-US" sz="2300" dirty="0" err="1"/>
              <a:t>pueda</a:t>
            </a:r>
            <a:r>
              <a:rPr lang="en-US" sz="2300" dirty="0"/>
              <a:t> ser </a:t>
            </a:r>
            <a:r>
              <a:rPr lang="en-US" sz="2300" dirty="0" err="1"/>
              <a:t>calculada</a:t>
            </a:r>
            <a:r>
              <a:rPr lang="en-US" sz="2300" dirty="0"/>
              <a:t>.</a:t>
            </a:r>
          </a:p>
          <a:p>
            <a:pPr algn="just"/>
            <a:r>
              <a:rPr lang="en-US" sz="2300" dirty="0" err="1"/>
              <a:t>En</a:t>
            </a:r>
            <a:r>
              <a:rPr lang="en-US" sz="2300" dirty="0"/>
              <a:t> </a:t>
            </a:r>
            <a:r>
              <a:rPr lang="en-US" sz="2300" dirty="0" err="1"/>
              <a:t>el</a:t>
            </a:r>
            <a:r>
              <a:rPr lang="en-US" sz="2300" dirty="0"/>
              <a:t> </a:t>
            </a:r>
            <a:r>
              <a:rPr lang="en-US" sz="2300" dirty="0" err="1"/>
              <a:t>espacio</a:t>
            </a:r>
            <a:r>
              <a:rPr lang="en-US" sz="2300" dirty="0"/>
              <a:t> </a:t>
            </a:r>
            <a:r>
              <a:rPr lang="en-US" sz="2300" dirty="0" err="1"/>
              <a:t>Euclidiano</a:t>
            </a:r>
            <a:r>
              <a:rPr lang="en-US" sz="2300" dirty="0"/>
              <a:t>, la media de un cluster se </a:t>
            </a:r>
            <a:r>
              <a:rPr lang="en-US" sz="2300" dirty="0" err="1"/>
              <a:t>calcula</a:t>
            </a:r>
            <a:r>
              <a:rPr lang="en-US" sz="2300" dirty="0"/>
              <a:t> </a:t>
            </a:r>
            <a:r>
              <a:rPr lang="en-US" sz="2300" dirty="0" err="1"/>
              <a:t>como</a:t>
            </a:r>
            <a:r>
              <a:rPr lang="en-US" sz="2300" dirty="0"/>
              <a:t>:</a:t>
            </a:r>
          </a:p>
        </p:txBody>
      </p:sp>
      <p:sp>
        <p:nvSpPr>
          <p:cNvPr id="6" name="2 Marcador de contenido"/>
          <p:cNvSpPr txBox="1">
            <a:spLocks/>
          </p:cNvSpPr>
          <p:nvPr/>
        </p:nvSpPr>
        <p:spPr>
          <a:xfrm>
            <a:off x="357158" y="3357568"/>
            <a:ext cx="8501122" cy="785818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420624" lvl="0" indent="-384048" algn="just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"/>
            </a:pP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Donde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</a:t>
            </a:r>
            <a:r>
              <a:rPr kumimoji="0" lang="en-US" sz="2300" b="0" i="1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C</a:t>
            </a:r>
            <a:r>
              <a:rPr kumimoji="0" lang="en-US" sz="2300" b="0" i="1" u="none" strike="noStrike" kern="1200" cap="none" spc="0" normalizeH="0" baseline="-2500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j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| es 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el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número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 puntos 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el</a:t>
            </a:r>
            <a:r>
              <a:rPr kumimoji="0" lang="en-US" sz="23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cluster</a:t>
            </a:r>
            <a:r>
              <a:rPr kumimoji="0" lang="en-US" sz="23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lang="en-US" sz="2300" i="1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300" i="1" baseline="-25000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kumimoji="0" lang="en-US" sz="23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y la </a:t>
            </a:r>
            <a:r>
              <a:rPr kumimoji="0" lang="en-US" sz="23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distancia</a:t>
            </a:r>
            <a:r>
              <a:rPr kumimoji="0" lang="en-US" sz="23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de </a:t>
            </a:r>
            <a:r>
              <a:rPr kumimoji="0" lang="en-US" sz="23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cada</a:t>
            </a:r>
            <a:r>
              <a:rPr kumimoji="0" lang="en-US" sz="23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dato</a:t>
            </a:r>
            <a:r>
              <a:rPr kumimoji="0" lang="en-US" sz="23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al </a:t>
            </a:r>
            <a:r>
              <a:rPr kumimoji="0" lang="en-US" sz="23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centroide</a:t>
            </a:r>
            <a:r>
              <a:rPr kumimoji="0" lang="en-US" sz="23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se </a:t>
            </a:r>
            <a:r>
              <a:rPr kumimoji="0" lang="en-US" sz="23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calcula</a:t>
            </a:r>
            <a:r>
              <a:rPr kumimoji="0" lang="en-US" sz="23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2300" b="0" i="0" u="none" strike="noStrike" kern="1200" cap="none" spc="0" normalizeH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como</a:t>
            </a:r>
            <a:r>
              <a:rPr kumimoji="0" lang="en-US" sz="2300" b="0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sz="23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 l="34078" t="18750" r="34077" b="70508"/>
          <a:stretch>
            <a:fillRect/>
          </a:stretch>
        </p:blipFill>
        <p:spPr bwMode="auto">
          <a:xfrm>
            <a:off x="2000232" y="4177873"/>
            <a:ext cx="4714908" cy="894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00214" y="2427733"/>
            <a:ext cx="2135882" cy="9248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72752" y="130324"/>
            <a:ext cx="7467600" cy="857250"/>
          </a:xfrm>
        </p:spPr>
        <p:txBody>
          <a:bodyPr/>
          <a:lstStyle/>
          <a:p>
            <a:r>
              <a:rPr lang="en-US" dirty="0"/>
              <a:t>K-means Algorithm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4230" y="854930"/>
            <a:ext cx="8928992" cy="3228988"/>
          </a:xfrm>
        </p:spPr>
        <p:txBody>
          <a:bodyPr>
            <a:noAutofit/>
          </a:bodyPr>
          <a:lstStyle/>
          <a:p>
            <a:pPr marL="180000" indent="-360000" algn="just">
              <a:spcBef>
                <a:spcPts val="1200"/>
              </a:spcBef>
            </a:pPr>
            <a:r>
              <a:rPr lang="en-US" sz="2200" dirty="0"/>
              <a:t>Una </a:t>
            </a:r>
            <a:r>
              <a:rPr lang="en-US" sz="2200" dirty="0" err="1"/>
              <a:t>vez</a:t>
            </a:r>
            <a:r>
              <a:rPr lang="en-US" sz="2200" dirty="0"/>
              <a:t> que </a:t>
            </a:r>
            <a:r>
              <a:rPr lang="en-US" sz="2200" dirty="0" err="1"/>
              <a:t>todos</a:t>
            </a:r>
            <a:r>
              <a:rPr lang="en-US" sz="2200" dirty="0"/>
              <a:t> </a:t>
            </a:r>
            <a:r>
              <a:rPr lang="en-US" sz="2200" dirty="0" err="1"/>
              <a:t>los</a:t>
            </a:r>
            <a:r>
              <a:rPr lang="en-US" sz="2200" dirty="0"/>
              <a:t> puntos del dataset </a:t>
            </a:r>
            <a:r>
              <a:rPr lang="en-US" sz="2200" dirty="0" err="1"/>
              <a:t>han</a:t>
            </a:r>
            <a:r>
              <a:rPr lang="en-US" sz="2200" dirty="0"/>
              <a:t> </a:t>
            </a:r>
            <a:r>
              <a:rPr lang="en-US" sz="2200" dirty="0" err="1"/>
              <a:t>sido</a:t>
            </a:r>
            <a:r>
              <a:rPr lang="en-US" sz="2200" dirty="0"/>
              <a:t> </a:t>
            </a:r>
            <a:r>
              <a:rPr lang="en-US" sz="2200" dirty="0" err="1"/>
              <a:t>asignados</a:t>
            </a:r>
            <a:r>
              <a:rPr lang="en-US" sz="2200" dirty="0"/>
              <a:t>, se </a:t>
            </a:r>
            <a:r>
              <a:rPr lang="en-US" sz="2200" dirty="0" err="1"/>
              <a:t>recalcula</a:t>
            </a:r>
            <a:r>
              <a:rPr lang="en-US" sz="2200" dirty="0"/>
              <a:t> el </a:t>
            </a:r>
            <a:r>
              <a:rPr lang="en-US" sz="2200" dirty="0" err="1"/>
              <a:t>centroide</a:t>
            </a:r>
            <a:r>
              <a:rPr lang="en-US" sz="2200" dirty="0"/>
              <a:t> de </a:t>
            </a:r>
            <a:r>
              <a:rPr lang="en-US" sz="2200" dirty="0" err="1"/>
              <a:t>cada</a:t>
            </a:r>
            <a:r>
              <a:rPr lang="en-US" sz="2200" dirty="0"/>
              <a:t> cluster, </a:t>
            </a:r>
            <a:r>
              <a:rPr lang="en-US" sz="2200" dirty="0" err="1"/>
              <a:t>utilizando</a:t>
            </a:r>
            <a:r>
              <a:rPr lang="en-US" sz="2200" dirty="0"/>
              <a:t> </a:t>
            </a:r>
            <a:r>
              <a:rPr lang="en-US" sz="2200" dirty="0" err="1"/>
              <a:t>los</a:t>
            </a:r>
            <a:r>
              <a:rPr lang="en-US" sz="2200" dirty="0"/>
              <a:t> puntos que </a:t>
            </a:r>
            <a:r>
              <a:rPr lang="en-US" sz="2200" dirty="0" err="1"/>
              <a:t>corresponden</a:t>
            </a:r>
            <a:r>
              <a:rPr lang="en-US" sz="2200" dirty="0"/>
              <a:t> a </a:t>
            </a:r>
            <a:r>
              <a:rPr lang="en-US" sz="2200" dirty="0" err="1"/>
              <a:t>cada</a:t>
            </a:r>
            <a:r>
              <a:rPr lang="en-US" sz="2200" dirty="0"/>
              <a:t> </a:t>
            </a:r>
            <a:r>
              <a:rPr lang="en-US" sz="2200" dirty="0" smtClean="0"/>
              <a:t>cluster (</a:t>
            </a:r>
            <a:r>
              <a:rPr lang="en-US" sz="2000" dirty="0"/>
              <a:t>se </a:t>
            </a:r>
            <a:r>
              <a:rPr lang="en-US" sz="2000" dirty="0" err="1" smtClean="0"/>
              <a:t>determina</a:t>
            </a:r>
            <a:r>
              <a:rPr lang="en-US" sz="2000" dirty="0" smtClean="0"/>
              <a:t> </a:t>
            </a:r>
            <a:r>
              <a:rPr lang="en-US" sz="2000" dirty="0" err="1" smtClean="0"/>
              <a:t>como</a:t>
            </a:r>
            <a:r>
              <a:rPr lang="en-US" sz="2000" dirty="0" smtClean="0"/>
              <a:t> </a:t>
            </a:r>
            <a:r>
              <a:rPr lang="en-US" sz="2000" dirty="0"/>
              <a:t>la media de </a:t>
            </a:r>
            <a:r>
              <a:rPr lang="en-US" sz="2000" dirty="0" err="1"/>
              <a:t>todos</a:t>
            </a:r>
            <a:r>
              <a:rPr lang="en-US" sz="2000" dirty="0"/>
              <a:t> </a:t>
            </a:r>
            <a:r>
              <a:rPr lang="en-US" sz="2000" dirty="0" err="1"/>
              <a:t>puntos</a:t>
            </a:r>
            <a:r>
              <a:rPr lang="en-US" sz="2000" dirty="0"/>
              <a:t> de </a:t>
            </a:r>
            <a:r>
              <a:rPr lang="en-US" sz="2000" dirty="0" err="1" smtClean="0"/>
              <a:t>cada</a:t>
            </a:r>
            <a:r>
              <a:rPr lang="en-US" sz="2000" dirty="0" smtClean="0"/>
              <a:t> </a:t>
            </a:r>
            <a:r>
              <a:rPr lang="en-US" sz="2000" dirty="0"/>
              <a:t>cluster</a:t>
            </a:r>
            <a:r>
              <a:rPr lang="en-US" sz="2200" dirty="0" smtClean="0"/>
              <a:t>).</a:t>
            </a:r>
            <a:endParaRPr lang="en-US" sz="2200" dirty="0"/>
          </a:p>
          <a:p>
            <a:pPr marL="180000" algn="just">
              <a:spcBef>
                <a:spcPts val="0"/>
              </a:spcBef>
            </a:pPr>
            <a:r>
              <a:rPr lang="en-US" sz="2200" dirty="0"/>
              <a:t>El </a:t>
            </a:r>
            <a:r>
              <a:rPr lang="en-US" sz="2200" dirty="0" err="1"/>
              <a:t>proceso</a:t>
            </a:r>
            <a:r>
              <a:rPr lang="en-US" sz="2200" dirty="0"/>
              <a:t> se </a:t>
            </a:r>
            <a:r>
              <a:rPr lang="en-US" sz="2200" dirty="0" err="1"/>
              <a:t>repite</a:t>
            </a:r>
            <a:r>
              <a:rPr lang="en-US" sz="2200" dirty="0"/>
              <a:t> hasta que se </a:t>
            </a:r>
            <a:r>
              <a:rPr lang="en-US" sz="2200" dirty="0" err="1"/>
              <a:t>alcanza</a:t>
            </a:r>
            <a:r>
              <a:rPr lang="en-US" sz="2200" dirty="0"/>
              <a:t> uno de </a:t>
            </a:r>
            <a:r>
              <a:rPr lang="en-US" sz="2200" dirty="0" err="1"/>
              <a:t>los</a:t>
            </a:r>
            <a:r>
              <a:rPr lang="en-US" sz="2200" dirty="0"/>
              <a:t> </a:t>
            </a:r>
            <a:r>
              <a:rPr lang="en-US" sz="2200" dirty="0" err="1"/>
              <a:t>siguientes</a:t>
            </a:r>
            <a:r>
              <a:rPr lang="en-US" sz="2200" dirty="0"/>
              <a:t> </a:t>
            </a:r>
            <a:r>
              <a:rPr lang="en-US" sz="2200" dirty="0" err="1"/>
              <a:t>criterios</a:t>
            </a:r>
            <a:r>
              <a:rPr lang="en-US" sz="2200" dirty="0"/>
              <a:t> de </a:t>
            </a:r>
            <a:r>
              <a:rPr lang="en-US" sz="2200" dirty="0" err="1"/>
              <a:t>parada</a:t>
            </a:r>
            <a:r>
              <a:rPr lang="en-US" sz="2200" dirty="0"/>
              <a:t>:</a:t>
            </a:r>
          </a:p>
          <a:p>
            <a:pPr marL="493776" indent="-457200" algn="just">
              <a:spcBef>
                <a:spcPts val="0"/>
              </a:spcBef>
              <a:buFont typeface="+mj-lt"/>
              <a:buAutoNum type="arabicPeriod"/>
            </a:pPr>
            <a:r>
              <a:rPr lang="en-US" sz="2200" dirty="0"/>
              <a:t>No hay </a:t>
            </a:r>
            <a:r>
              <a:rPr lang="en-US" sz="2200" dirty="0" err="1"/>
              <a:t>reasignación</a:t>
            </a:r>
            <a:r>
              <a:rPr lang="en-US" sz="2200" dirty="0"/>
              <a:t> de </a:t>
            </a:r>
            <a:r>
              <a:rPr lang="en-US" sz="2200" dirty="0" err="1"/>
              <a:t>datos</a:t>
            </a:r>
            <a:r>
              <a:rPr lang="en-US" sz="2200" dirty="0"/>
              <a:t> </a:t>
            </a:r>
            <a:r>
              <a:rPr lang="en-US" sz="2200" dirty="0" err="1"/>
              <a:t>en</a:t>
            </a:r>
            <a:r>
              <a:rPr lang="en-US" sz="2200" dirty="0"/>
              <a:t> </a:t>
            </a:r>
            <a:r>
              <a:rPr lang="en-US" sz="2200" dirty="0" err="1"/>
              <a:t>los</a:t>
            </a:r>
            <a:r>
              <a:rPr lang="en-US" sz="2200" dirty="0"/>
              <a:t> </a:t>
            </a:r>
            <a:r>
              <a:rPr lang="en-US" sz="2200" dirty="0" smtClean="0"/>
              <a:t>clusters </a:t>
            </a:r>
            <a:r>
              <a:rPr lang="en-US" sz="2200" dirty="0"/>
              <a:t>(o es </a:t>
            </a:r>
            <a:r>
              <a:rPr lang="en-US" sz="2200" dirty="0" err="1"/>
              <a:t>mínima</a:t>
            </a:r>
            <a:r>
              <a:rPr lang="en-US" sz="2200" dirty="0"/>
              <a:t>).</a:t>
            </a:r>
          </a:p>
          <a:p>
            <a:pPr marL="493776" indent="-457200" algn="just">
              <a:spcBef>
                <a:spcPts val="0"/>
              </a:spcBef>
              <a:buFont typeface="+mj-lt"/>
              <a:buAutoNum type="arabicPeriod"/>
            </a:pPr>
            <a:r>
              <a:rPr lang="en-US" sz="2200" dirty="0"/>
              <a:t>No hay </a:t>
            </a:r>
            <a:r>
              <a:rPr lang="en-US" sz="2200" dirty="0" err="1"/>
              <a:t>cambios</a:t>
            </a:r>
            <a:r>
              <a:rPr lang="en-US" sz="2200" dirty="0"/>
              <a:t> </a:t>
            </a:r>
            <a:r>
              <a:rPr lang="en-US" sz="2200" dirty="0" err="1"/>
              <a:t>en</a:t>
            </a:r>
            <a:r>
              <a:rPr lang="en-US" sz="2200" dirty="0"/>
              <a:t> </a:t>
            </a:r>
            <a:r>
              <a:rPr lang="en-US" sz="2200" dirty="0" err="1"/>
              <a:t>los</a:t>
            </a:r>
            <a:r>
              <a:rPr lang="en-US" sz="2200" dirty="0"/>
              <a:t> </a:t>
            </a:r>
            <a:r>
              <a:rPr lang="en-US" sz="2200" dirty="0" err="1"/>
              <a:t>centroides</a:t>
            </a:r>
            <a:r>
              <a:rPr lang="en-US" sz="2200" dirty="0"/>
              <a:t> (o son </a:t>
            </a:r>
            <a:r>
              <a:rPr lang="en-US" sz="2200" dirty="0" err="1"/>
              <a:t>mínimos</a:t>
            </a:r>
            <a:r>
              <a:rPr lang="en-US" sz="2200" dirty="0"/>
              <a:t>). </a:t>
            </a:r>
          </a:p>
          <a:p>
            <a:pPr marL="493776" indent="-457200" algn="just">
              <a:spcBef>
                <a:spcPts val="0"/>
              </a:spcBef>
              <a:buFont typeface="+mj-lt"/>
              <a:buAutoNum type="arabicPeriod"/>
            </a:pPr>
            <a:r>
              <a:rPr lang="en-US" sz="2200" dirty="0"/>
              <a:t>Se ha </a:t>
            </a:r>
            <a:r>
              <a:rPr lang="en-US" sz="2200" dirty="0" err="1"/>
              <a:t>alcazando</a:t>
            </a:r>
            <a:r>
              <a:rPr lang="en-US" sz="2200" dirty="0"/>
              <a:t> un </a:t>
            </a:r>
            <a:r>
              <a:rPr lang="en-US" sz="2200" dirty="0" err="1"/>
              <a:t>mínimo</a:t>
            </a:r>
            <a:r>
              <a:rPr lang="en-US" sz="2200" dirty="0"/>
              <a:t> </a:t>
            </a:r>
            <a:r>
              <a:rPr lang="en-US" sz="2200" dirty="0" err="1"/>
              <a:t>en</a:t>
            </a:r>
            <a:r>
              <a:rPr lang="en-US" sz="2200" dirty="0"/>
              <a:t> la </a:t>
            </a:r>
            <a:r>
              <a:rPr lang="en-US" sz="2200" dirty="0" err="1"/>
              <a:t>suma</a:t>
            </a:r>
            <a:r>
              <a:rPr lang="en-US" sz="2200" dirty="0"/>
              <a:t> de </a:t>
            </a:r>
            <a:r>
              <a:rPr lang="en-US" sz="2200" dirty="0" err="1"/>
              <a:t>los</a:t>
            </a:r>
            <a:r>
              <a:rPr lang="en-US" sz="2200" dirty="0"/>
              <a:t> </a:t>
            </a:r>
            <a:r>
              <a:rPr lang="en-US" sz="2200" dirty="0" err="1"/>
              <a:t>errores</a:t>
            </a:r>
            <a:r>
              <a:rPr lang="en-US" sz="2200" dirty="0"/>
              <a:t> </a:t>
            </a:r>
            <a:r>
              <a:rPr lang="en-US" sz="2200" dirty="0" err="1"/>
              <a:t>cuadráticos</a:t>
            </a:r>
            <a:r>
              <a:rPr lang="en-US" sz="2200" dirty="0"/>
              <a:t> (SSE):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69393" y="4155926"/>
            <a:ext cx="2808312" cy="8555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Algorithm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8562" y="1443038"/>
            <a:ext cx="8264578" cy="271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K-means Algorithm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 l="5894" r="4217"/>
          <a:stretch>
            <a:fillRect/>
          </a:stretch>
        </p:blipFill>
        <p:spPr bwMode="auto">
          <a:xfrm>
            <a:off x="107504" y="1419622"/>
            <a:ext cx="4392488" cy="280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 l="6985"/>
          <a:stretch>
            <a:fillRect/>
          </a:stretch>
        </p:blipFill>
        <p:spPr bwMode="auto">
          <a:xfrm>
            <a:off x="4607625" y="1419622"/>
            <a:ext cx="4446986" cy="12241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/>
          <a:srcRect l="3030"/>
          <a:stretch>
            <a:fillRect/>
          </a:stretch>
        </p:blipFill>
        <p:spPr bwMode="auto">
          <a:xfrm>
            <a:off x="4607625" y="2898370"/>
            <a:ext cx="4446000" cy="13295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329642" cy="857250"/>
          </a:xfrm>
        </p:spPr>
        <p:txBody>
          <a:bodyPr/>
          <a:lstStyle/>
          <a:p>
            <a:r>
              <a:rPr lang="en-US" dirty="0"/>
              <a:t>Disk-k-means Algorithm </a:t>
            </a:r>
            <a:r>
              <a:rPr lang="en-US" sz="2000" dirty="0"/>
              <a:t>(incremental)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987573"/>
            <a:ext cx="7992888" cy="39404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79512" y="1062716"/>
            <a:ext cx="8280920" cy="3800491"/>
          </a:xfrm>
        </p:spPr>
        <p:txBody>
          <a:bodyPr>
            <a:noAutofit/>
          </a:bodyPr>
          <a:lstStyle/>
          <a:p>
            <a:pPr algn="just"/>
            <a:r>
              <a:rPr lang="en-US" sz="2300" dirty="0" err="1"/>
              <a:t>Notese</a:t>
            </a:r>
            <a:r>
              <a:rPr lang="en-US" sz="2300" dirty="0"/>
              <a:t> que </a:t>
            </a:r>
            <a:r>
              <a:rPr lang="en-US" sz="2300" dirty="0" err="1"/>
              <a:t>los</a:t>
            </a:r>
            <a:r>
              <a:rPr lang="en-US" sz="2300" dirty="0"/>
              <a:t> </a:t>
            </a:r>
            <a:r>
              <a:rPr lang="en-US" sz="2300" dirty="0" err="1"/>
              <a:t>centroides</a:t>
            </a:r>
            <a:r>
              <a:rPr lang="en-US" sz="2300" dirty="0"/>
              <a:t> para un cluster k </a:t>
            </a:r>
            <a:r>
              <a:rPr lang="en-US" sz="2300" dirty="0" err="1"/>
              <a:t>pueden</a:t>
            </a:r>
            <a:r>
              <a:rPr lang="en-US" sz="2300" dirty="0"/>
              <a:t> </a:t>
            </a:r>
            <a:r>
              <a:rPr lang="en-US" sz="2300" dirty="0" err="1"/>
              <a:t>calcularse</a:t>
            </a:r>
            <a:r>
              <a:rPr lang="en-US" sz="2300" dirty="0"/>
              <a:t> </a:t>
            </a:r>
            <a:r>
              <a:rPr lang="en-US" sz="2300" dirty="0" err="1"/>
              <a:t>incrementalmente</a:t>
            </a:r>
            <a:r>
              <a:rPr lang="en-US" sz="2300" dirty="0"/>
              <a:t> </a:t>
            </a:r>
            <a:r>
              <a:rPr lang="en-US" sz="2300" dirty="0" err="1"/>
              <a:t>en</a:t>
            </a:r>
            <a:r>
              <a:rPr lang="en-US" sz="2300" dirty="0"/>
              <a:t> </a:t>
            </a:r>
            <a:r>
              <a:rPr lang="en-US" sz="2300" dirty="0" err="1"/>
              <a:t>cada</a:t>
            </a:r>
            <a:r>
              <a:rPr lang="en-US" sz="2300" dirty="0"/>
              <a:t> </a:t>
            </a:r>
            <a:r>
              <a:rPr lang="en-US" sz="2300" dirty="0" err="1"/>
              <a:t>iteración</a:t>
            </a:r>
            <a:r>
              <a:rPr lang="en-US" sz="2300" dirty="0"/>
              <a:t> </a:t>
            </a:r>
            <a:r>
              <a:rPr lang="en-US" sz="2300" dirty="0" err="1"/>
              <a:t>porque</a:t>
            </a:r>
            <a:r>
              <a:rPr lang="en-US" sz="2300" dirty="0"/>
              <a:t> la </a:t>
            </a:r>
            <a:r>
              <a:rPr lang="en-US" sz="2300" dirty="0" err="1"/>
              <a:t>suma</a:t>
            </a:r>
            <a:r>
              <a:rPr lang="en-US" sz="2300" dirty="0"/>
              <a:t> </a:t>
            </a:r>
            <a:r>
              <a:rPr lang="en-US" sz="2300" dirty="0" err="1"/>
              <a:t>puede</a:t>
            </a:r>
            <a:r>
              <a:rPr lang="en-US" sz="2300" dirty="0"/>
              <a:t> </a:t>
            </a:r>
            <a:r>
              <a:rPr lang="en-US" sz="2300" dirty="0" err="1"/>
              <a:t>calcularse</a:t>
            </a:r>
            <a:r>
              <a:rPr lang="en-US" sz="2300" dirty="0"/>
              <a:t> </a:t>
            </a:r>
            <a:r>
              <a:rPr lang="en-US" sz="2300" dirty="0" err="1"/>
              <a:t>separadamente</a:t>
            </a:r>
            <a:r>
              <a:rPr lang="en-US" sz="2300" dirty="0"/>
              <a:t>  primero.</a:t>
            </a:r>
          </a:p>
          <a:p>
            <a:pPr algn="just"/>
            <a:r>
              <a:rPr lang="en-US" sz="2300" dirty="0"/>
              <a:t>Durante </a:t>
            </a:r>
            <a:r>
              <a:rPr lang="en-US" sz="2300" dirty="0" err="1"/>
              <a:t>el</a:t>
            </a:r>
            <a:r>
              <a:rPr lang="en-US" sz="2300" dirty="0"/>
              <a:t> </a:t>
            </a:r>
            <a:r>
              <a:rPr lang="en-US" sz="2300" dirty="0" err="1"/>
              <a:t>proceso</a:t>
            </a:r>
            <a:r>
              <a:rPr lang="en-US" sz="2300" dirty="0"/>
              <a:t> de </a:t>
            </a:r>
            <a:r>
              <a:rPr lang="en-US" sz="2300" dirty="0" err="1"/>
              <a:t>agrupamiento</a:t>
            </a:r>
            <a:r>
              <a:rPr lang="en-US" sz="2300" dirty="0"/>
              <a:t> </a:t>
            </a:r>
            <a:r>
              <a:rPr lang="en-US" sz="2300" dirty="0" err="1"/>
              <a:t>el</a:t>
            </a:r>
            <a:r>
              <a:rPr lang="en-US" sz="2300" dirty="0"/>
              <a:t> </a:t>
            </a:r>
            <a:r>
              <a:rPr lang="en-US" sz="2300" dirty="0" err="1"/>
              <a:t>número</a:t>
            </a:r>
            <a:r>
              <a:rPr lang="en-US" sz="2300" dirty="0"/>
              <a:t> de puntos </a:t>
            </a:r>
            <a:r>
              <a:rPr lang="en-US" sz="2300" dirty="0" err="1"/>
              <a:t>en</a:t>
            </a:r>
            <a:r>
              <a:rPr lang="en-US" sz="2300" dirty="0"/>
              <a:t> </a:t>
            </a:r>
            <a:r>
              <a:rPr lang="en-US" sz="2300" dirty="0" err="1"/>
              <a:t>cada</a:t>
            </a:r>
            <a:r>
              <a:rPr lang="en-US" sz="2300" dirty="0"/>
              <a:t> cluster </a:t>
            </a:r>
            <a:r>
              <a:rPr lang="en-US" sz="2300" dirty="0" err="1"/>
              <a:t>puede</a:t>
            </a:r>
            <a:r>
              <a:rPr lang="en-US" sz="2300" dirty="0"/>
              <a:t> </a:t>
            </a:r>
            <a:r>
              <a:rPr lang="en-US" sz="2300" dirty="0" err="1"/>
              <a:t>contarse</a:t>
            </a:r>
            <a:r>
              <a:rPr lang="en-US" sz="2300" dirty="0"/>
              <a:t> </a:t>
            </a:r>
            <a:r>
              <a:rPr lang="en-US" sz="2300" dirty="0" err="1"/>
              <a:t>incrementalmente</a:t>
            </a:r>
            <a:r>
              <a:rPr lang="en-US" sz="2300" dirty="0"/>
              <a:t>.</a:t>
            </a:r>
          </a:p>
          <a:p>
            <a:pPr algn="just"/>
            <a:r>
              <a:rPr lang="en-US" sz="2300" dirty="0" err="1"/>
              <a:t>Esto</a:t>
            </a:r>
            <a:r>
              <a:rPr lang="en-US" sz="2300" dirty="0"/>
              <a:t> </a:t>
            </a:r>
            <a:r>
              <a:rPr lang="en-US" sz="2300" dirty="0" err="1"/>
              <a:t>nos</a:t>
            </a:r>
            <a:r>
              <a:rPr lang="en-US" sz="2300" dirty="0"/>
              <a:t> da </a:t>
            </a:r>
            <a:r>
              <a:rPr lang="en-US" sz="2300" dirty="0" err="1"/>
              <a:t>una</a:t>
            </a:r>
            <a:r>
              <a:rPr lang="en-US" sz="2300" dirty="0"/>
              <a:t> </a:t>
            </a:r>
            <a:r>
              <a:rPr lang="en-US" sz="2300" dirty="0" err="1"/>
              <a:t>implementación</a:t>
            </a:r>
            <a:r>
              <a:rPr lang="en-US" sz="2300" dirty="0"/>
              <a:t> de k-means </a:t>
            </a:r>
            <a:r>
              <a:rPr lang="en-US" sz="2300" dirty="0" err="1"/>
              <a:t>basada</a:t>
            </a:r>
            <a:r>
              <a:rPr lang="en-US" sz="2300" dirty="0"/>
              <a:t> </a:t>
            </a:r>
            <a:r>
              <a:rPr lang="en-US" sz="2300" dirty="0" err="1"/>
              <a:t>en</a:t>
            </a:r>
            <a:r>
              <a:rPr lang="en-US" sz="2300" dirty="0"/>
              <a:t> disco la </a:t>
            </a:r>
            <a:r>
              <a:rPr lang="en-US" sz="2300" dirty="0" err="1"/>
              <a:t>cual</a:t>
            </a:r>
            <a:r>
              <a:rPr lang="en-US" sz="2300" dirty="0"/>
              <a:t> produce </a:t>
            </a:r>
            <a:r>
              <a:rPr lang="en-US" sz="2300" dirty="0" err="1"/>
              <a:t>exactamente</a:t>
            </a:r>
            <a:r>
              <a:rPr lang="en-US" sz="2300" dirty="0"/>
              <a:t> </a:t>
            </a:r>
            <a:r>
              <a:rPr lang="en-US" sz="2300" dirty="0" err="1"/>
              <a:t>los</a:t>
            </a:r>
            <a:r>
              <a:rPr lang="en-US" sz="2300" dirty="0"/>
              <a:t> </a:t>
            </a:r>
            <a:r>
              <a:rPr lang="en-US" sz="2300" dirty="0" err="1"/>
              <a:t>mismos</a:t>
            </a:r>
            <a:r>
              <a:rPr lang="en-US" sz="2300" dirty="0"/>
              <a:t> </a:t>
            </a:r>
            <a:r>
              <a:rPr lang="en-US" sz="2300" dirty="0" err="1"/>
              <a:t>grupos</a:t>
            </a:r>
            <a:r>
              <a:rPr lang="en-US" sz="2300" dirty="0"/>
              <a:t> que la version original.</a:t>
            </a:r>
          </a:p>
          <a:p>
            <a:pPr algn="just"/>
            <a:r>
              <a:rPr lang="en-US" sz="2300" dirty="0" err="1"/>
              <a:t>Puede</a:t>
            </a:r>
            <a:r>
              <a:rPr lang="en-US" sz="2300" dirty="0"/>
              <a:t> </a:t>
            </a:r>
            <a:r>
              <a:rPr lang="en-US" sz="2300" dirty="0" err="1"/>
              <a:t>utilizarse</a:t>
            </a:r>
            <a:r>
              <a:rPr lang="en-US" sz="2300" dirty="0"/>
              <a:t> </a:t>
            </a:r>
            <a:r>
              <a:rPr lang="en-US" sz="2300" dirty="0" err="1"/>
              <a:t>cualquiera</a:t>
            </a:r>
            <a:r>
              <a:rPr lang="en-US" sz="2300" dirty="0"/>
              <a:t> de </a:t>
            </a:r>
            <a:r>
              <a:rPr lang="en-US" sz="2300" dirty="0" err="1"/>
              <a:t>los</a:t>
            </a:r>
            <a:r>
              <a:rPr lang="en-US" sz="2300" dirty="0"/>
              <a:t> </a:t>
            </a:r>
            <a:r>
              <a:rPr lang="en-US" sz="2300" dirty="0" err="1"/>
              <a:t>criterios</a:t>
            </a:r>
            <a:r>
              <a:rPr lang="en-US" sz="2300" dirty="0"/>
              <a:t> de </a:t>
            </a:r>
            <a:r>
              <a:rPr lang="en-US" sz="2300" dirty="0" err="1"/>
              <a:t>parada</a:t>
            </a:r>
            <a:r>
              <a:rPr lang="en-US" sz="2300" dirty="0"/>
              <a:t>.</a:t>
            </a:r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Disk-k-means Algorithm </a:t>
            </a:r>
            <a:r>
              <a:rPr lang="en-US" sz="2000" dirty="0"/>
              <a:t>(incremental)</a:t>
            </a:r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200150"/>
            <a:ext cx="7467600" cy="3800491"/>
          </a:xfrm>
        </p:spPr>
        <p:txBody>
          <a:bodyPr>
            <a:noAutofit/>
          </a:bodyPr>
          <a:lstStyle/>
          <a:p>
            <a:pPr algn="just"/>
            <a:r>
              <a:rPr lang="en-US" sz="2300" dirty="0"/>
              <a:t>La principal </a:t>
            </a:r>
            <a:r>
              <a:rPr lang="en-US" sz="2300" dirty="0" err="1"/>
              <a:t>ventaja</a:t>
            </a:r>
            <a:r>
              <a:rPr lang="en-US" sz="2300" dirty="0"/>
              <a:t> de k-means es </a:t>
            </a:r>
            <a:r>
              <a:rPr lang="en-US" sz="2300" dirty="0" err="1"/>
              <a:t>su</a:t>
            </a:r>
            <a:r>
              <a:rPr lang="en-US" sz="2300" dirty="0"/>
              <a:t> </a:t>
            </a:r>
            <a:r>
              <a:rPr lang="en-US" sz="2300" dirty="0" err="1"/>
              <a:t>simplicidad</a:t>
            </a:r>
            <a:r>
              <a:rPr lang="en-US" sz="2300" dirty="0"/>
              <a:t> y </a:t>
            </a:r>
            <a:r>
              <a:rPr lang="en-US" sz="2300" dirty="0" err="1"/>
              <a:t>eficiencia</a:t>
            </a:r>
            <a:r>
              <a:rPr lang="en-US" sz="2300" dirty="0"/>
              <a:t>.</a:t>
            </a:r>
          </a:p>
          <a:p>
            <a:pPr algn="just"/>
            <a:r>
              <a:rPr lang="en-US" sz="2300" dirty="0"/>
              <a:t>Es </a:t>
            </a:r>
            <a:r>
              <a:rPr lang="en-US" sz="2300" dirty="0" err="1"/>
              <a:t>fácil</a:t>
            </a:r>
            <a:r>
              <a:rPr lang="en-US" sz="2300" dirty="0"/>
              <a:t> de </a:t>
            </a:r>
            <a:r>
              <a:rPr lang="en-US" sz="2300" dirty="0" err="1"/>
              <a:t>entender</a:t>
            </a:r>
            <a:r>
              <a:rPr lang="en-US" sz="2300" dirty="0"/>
              <a:t> y de </a:t>
            </a:r>
            <a:r>
              <a:rPr lang="en-US" sz="2300" dirty="0" err="1"/>
              <a:t>implementar</a:t>
            </a:r>
            <a:r>
              <a:rPr lang="en-US" sz="2300" dirty="0"/>
              <a:t>.</a:t>
            </a:r>
          </a:p>
          <a:p>
            <a:pPr algn="just"/>
            <a:r>
              <a:rPr lang="en-US" sz="2300" dirty="0"/>
              <a:t>k-means se </a:t>
            </a:r>
            <a:r>
              <a:rPr lang="en-US" sz="2300" dirty="0" err="1"/>
              <a:t>considera</a:t>
            </a:r>
            <a:r>
              <a:rPr lang="en-US" sz="2300" dirty="0"/>
              <a:t> un </a:t>
            </a:r>
            <a:r>
              <a:rPr lang="en-US" sz="2300" dirty="0" err="1"/>
              <a:t>algoritmo</a:t>
            </a:r>
            <a:r>
              <a:rPr lang="en-US" sz="2300" dirty="0"/>
              <a:t> de </a:t>
            </a:r>
            <a:r>
              <a:rPr lang="en-US" sz="2300" dirty="0" err="1"/>
              <a:t>complejidad</a:t>
            </a:r>
            <a:r>
              <a:rPr lang="en-US" sz="2300" dirty="0"/>
              <a:t> lineal con respect a la </a:t>
            </a:r>
            <a:r>
              <a:rPr lang="en-US" sz="2300" dirty="0" err="1"/>
              <a:t>cantidad</a:t>
            </a:r>
            <a:r>
              <a:rPr lang="en-US" sz="2300" dirty="0"/>
              <a:t> de puntos </a:t>
            </a:r>
            <a:r>
              <a:rPr lang="en-US" sz="2300" dirty="0" err="1"/>
              <a:t>en</a:t>
            </a:r>
            <a:r>
              <a:rPr lang="en-US" sz="2300" dirty="0"/>
              <a:t> </a:t>
            </a:r>
            <a:r>
              <a:rPr lang="en-US" sz="2300" dirty="0" err="1"/>
              <a:t>los</a:t>
            </a:r>
            <a:r>
              <a:rPr lang="en-US" sz="2300" dirty="0"/>
              <a:t> </a:t>
            </a:r>
            <a:r>
              <a:rPr lang="en-US" sz="2300" dirty="0" err="1"/>
              <a:t>datos</a:t>
            </a:r>
            <a:r>
              <a:rPr lang="en-US" sz="2300" dirty="0"/>
              <a:t>.</a:t>
            </a:r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k-means Algorithm </a:t>
            </a:r>
            <a:r>
              <a:rPr lang="en-US" sz="2000" dirty="0"/>
              <a:t>(Strengths)</a:t>
            </a:r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79512" y="1063229"/>
            <a:ext cx="8424936" cy="3800491"/>
          </a:xfrm>
        </p:spPr>
        <p:txBody>
          <a:bodyPr>
            <a:noAutofit/>
          </a:bodyPr>
          <a:lstStyle/>
          <a:p>
            <a:pPr algn="just"/>
            <a:r>
              <a:rPr lang="en-US" sz="2300" dirty="0"/>
              <a:t>El </a:t>
            </a:r>
            <a:r>
              <a:rPr lang="en-US" sz="2300" dirty="0" err="1"/>
              <a:t>algoritmo</a:t>
            </a:r>
            <a:r>
              <a:rPr lang="en-US" sz="2300" dirty="0"/>
              <a:t> es </a:t>
            </a:r>
            <a:r>
              <a:rPr lang="en-US" sz="2300" dirty="0" err="1"/>
              <a:t>aplicable</a:t>
            </a:r>
            <a:r>
              <a:rPr lang="en-US" sz="2300" dirty="0"/>
              <a:t> solo </a:t>
            </a:r>
            <a:r>
              <a:rPr lang="en-US" sz="2300" dirty="0" err="1"/>
              <a:t>en</a:t>
            </a:r>
            <a:r>
              <a:rPr lang="en-US" sz="2300" dirty="0"/>
              <a:t> datasets </a:t>
            </a:r>
            <a:r>
              <a:rPr lang="en-US" sz="2300" dirty="0" err="1"/>
              <a:t>en</a:t>
            </a:r>
            <a:r>
              <a:rPr lang="en-US" sz="2300" dirty="0"/>
              <a:t> </a:t>
            </a:r>
            <a:r>
              <a:rPr lang="en-US" sz="2300" dirty="0" err="1"/>
              <a:t>los</a:t>
            </a:r>
            <a:r>
              <a:rPr lang="en-US" sz="2300" dirty="0"/>
              <a:t> que la </a:t>
            </a:r>
            <a:r>
              <a:rPr lang="en-US" sz="2300" dirty="0" err="1"/>
              <a:t>noción</a:t>
            </a:r>
            <a:r>
              <a:rPr lang="en-US" sz="2300" dirty="0"/>
              <a:t> de media </a:t>
            </a:r>
            <a:r>
              <a:rPr lang="en-US" sz="2300" dirty="0" err="1"/>
              <a:t>esté</a:t>
            </a:r>
            <a:r>
              <a:rPr lang="en-US" sz="2300" dirty="0"/>
              <a:t> </a:t>
            </a:r>
            <a:r>
              <a:rPr lang="en-US" sz="2300" dirty="0" err="1"/>
              <a:t>definida</a:t>
            </a:r>
            <a:r>
              <a:rPr lang="en-US" sz="2300" dirty="0"/>
              <a:t> (</a:t>
            </a:r>
            <a:r>
              <a:rPr lang="en-US" sz="2300" dirty="0" err="1"/>
              <a:t>existe</a:t>
            </a:r>
            <a:r>
              <a:rPr lang="en-US" sz="2300" dirty="0"/>
              <a:t> </a:t>
            </a:r>
            <a:r>
              <a:rPr lang="en-US" sz="2300" dirty="0" err="1"/>
              <a:t>una</a:t>
            </a:r>
            <a:r>
              <a:rPr lang="en-US" sz="2300" dirty="0"/>
              <a:t> </a:t>
            </a:r>
            <a:r>
              <a:rPr lang="en-US" sz="2300" dirty="0" err="1"/>
              <a:t>variación</a:t>
            </a:r>
            <a:r>
              <a:rPr lang="en-US" sz="2300" dirty="0"/>
              <a:t> de k-means que es k-modes).</a:t>
            </a:r>
          </a:p>
          <a:p>
            <a:pPr algn="just"/>
            <a:r>
              <a:rPr lang="en-US" sz="2300" dirty="0"/>
              <a:t>El </a:t>
            </a:r>
            <a:r>
              <a:rPr lang="en-US" sz="2300" dirty="0" err="1"/>
              <a:t>usuario</a:t>
            </a:r>
            <a:r>
              <a:rPr lang="en-US" sz="2300" dirty="0"/>
              <a:t> </a:t>
            </a:r>
            <a:r>
              <a:rPr lang="en-US" sz="2300" dirty="0" err="1"/>
              <a:t>debe</a:t>
            </a:r>
            <a:r>
              <a:rPr lang="en-US" sz="2300" dirty="0"/>
              <a:t> </a:t>
            </a:r>
            <a:r>
              <a:rPr lang="en-US" sz="2300" dirty="0" err="1"/>
              <a:t>especificar</a:t>
            </a:r>
            <a:r>
              <a:rPr lang="en-US" sz="2300" dirty="0"/>
              <a:t> el </a:t>
            </a:r>
            <a:r>
              <a:rPr lang="en-US" sz="2300" dirty="0" err="1"/>
              <a:t>número</a:t>
            </a:r>
            <a:r>
              <a:rPr lang="en-US" sz="2300" dirty="0"/>
              <a:t> de clusters de </a:t>
            </a:r>
            <a:r>
              <a:rPr lang="en-US" sz="2300" dirty="0" err="1"/>
              <a:t>antemano</a:t>
            </a:r>
            <a:r>
              <a:rPr lang="en-US" sz="2300" dirty="0" smtClean="0"/>
              <a:t>.</a:t>
            </a:r>
            <a:endParaRPr lang="en-US" sz="2300" dirty="0"/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k-means Algorithm </a:t>
            </a:r>
            <a:r>
              <a:rPr lang="en-US" sz="2000" dirty="0"/>
              <a:t>(weaknesses)</a:t>
            </a:r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79512" y="1063229"/>
            <a:ext cx="4752528" cy="3800491"/>
          </a:xfrm>
        </p:spPr>
        <p:txBody>
          <a:bodyPr>
            <a:noAutofit/>
          </a:bodyPr>
          <a:lstStyle/>
          <a:p>
            <a:pPr algn="just"/>
            <a:r>
              <a:rPr lang="en-US" sz="2300" dirty="0"/>
              <a:t>El </a:t>
            </a:r>
            <a:r>
              <a:rPr lang="en-US" sz="2300" dirty="0" err="1"/>
              <a:t>algoritmo</a:t>
            </a:r>
            <a:r>
              <a:rPr lang="en-US" sz="2300" dirty="0"/>
              <a:t> </a:t>
            </a:r>
            <a:r>
              <a:rPr lang="en-US" sz="2300" dirty="0" err="1"/>
              <a:t>es</a:t>
            </a:r>
            <a:r>
              <a:rPr lang="en-US" sz="2300" dirty="0"/>
              <a:t> sensible a </a:t>
            </a:r>
            <a:r>
              <a:rPr lang="en-US" sz="2300" dirty="0" err="1"/>
              <a:t>los</a:t>
            </a:r>
            <a:r>
              <a:rPr lang="en-US" sz="2300" dirty="0"/>
              <a:t> </a:t>
            </a:r>
            <a:r>
              <a:rPr lang="en-US" sz="2300" dirty="0">
                <a:solidFill>
                  <a:srgbClr val="FFC000"/>
                </a:solidFill>
              </a:rPr>
              <a:t>outliers</a:t>
            </a:r>
            <a:r>
              <a:rPr lang="en-US" sz="2300" dirty="0"/>
              <a:t>. Los outliers son data points </a:t>
            </a:r>
            <a:r>
              <a:rPr lang="en-US" sz="2300" dirty="0" err="1"/>
              <a:t>muy</a:t>
            </a:r>
            <a:r>
              <a:rPr lang="en-US" sz="2300" dirty="0"/>
              <a:t> </a:t>
            </a:r>
            <a:r>
              <a:rPr lang="en-US" sz="2300" dirty="0" err="1"/>
              <a:t>diferentes</a:t>
            </a:r>
            <a:r>
              <a:rPr lang="en-US" sz="2300" dirty="0"/>
              <a:t> a </a:t>
            </a:r>
            <a:r>
              <a:rPr lang="en-US" sz="2300" dirty="0" err="1"/>
              <a:t>los</a:t>
            </a:r>
            <a:r>
              <a:rPr lang="en-US" sz="2300" dirty="0"/>
              <a:t> </a:t>
            </a:r>
            <a:r>
              <a:rPr lang="en-US" sz="2300" dirty="0" err="1"/>
              <a:t>demás</a:t>
            </a:r>
            <a:r>
              <a:rPr lang="en-US" sz="2300" dirty="0"/>
              <a:t> </a:t>
            </a:r>
            <a:r>
              <a:rPr lang="en-US" sz="2300" dirty="0" err="1"/>
              <a:t>en</a:t>
            </a:r>
            <a:r>
              <a:rPr lang="en-US" sz="2300" dirty="0"/>
              <a:t> el dataset. </a:t>
            </a:r>
            <a:r>
              <a:rPr lang="en-US" sz="2300" dirty="0" err="1"/>
              <a:t>Pueden</a:t>
            </a:r>
            <a:r>
              <a:rPr lang="en-US" sz="2300" dirty="0"/>
              <a:t> </a:t>
            </a:r>
            <a:r>
              <a:rPr lang="en-US" sz="2300" dirty="0" err="1"/>
              <a:t>ser</a:t>
            </a:r>
            <a:r>
              <a:rPr lang="en-US" sz="2300" dirty="0"/>
              <a:t> </a:t>
            </a:r>
            <a:r>
              <a:rPr lang="en-US" sz="2300" dirty="0" err="1"/>
              <a:t>considerados</a:t>
            </a:r>
            <a:r>
              <a:rPr lang="en-US" sz="2300" dirty="0"/>
              <a:t> </a:t>
            </a:r>
            <a:r>
              <a:rPr lang="en-US" sz="2300" dirty="0" err="1"/>
              <a:t>como</a:t>
            </a:r>
            <a:r>
              <a:rPr lang="en-US" sz="2300" dirty="0"/>
              <a:t> </a:t>
            </a:r>
            <a:r>
              <a:rPr lang="en-US" sz="2300" dirty="0" err="1"/>
              <a:t>errores</a:t>
            </a:r>
            <a:r>
              <a:rPr lang="en-US" sz="2300" dirty="0"/>
              <a:t> </a:t>
            </a:r>
            <a:r>
              <a:rPr lang="en-US" sz="2300" dirty="0" err="1"/>
              <a:t>durante</a:t>
            </a:r>
            <a:r>
              <a:rPr lang="en-US" sz="2300" dirty="0"/>
              <a:t> el </a:t>
            </a:r>
            <a:r>
              <a:rPr lang="en-US" sz="2300" dirty="0" err="1"/>
              <a:t>registro</a:t>
            </a:r>
            <a:r>
              <a:rPr lang="en-US" sz="2300" dirty="0"/>
              <a:t> de </a:t>
            </a:r>
            <a:r>
              <a:rPr lang="en-US" sz="2300" dirty="0" err="1"/>
              <a:t>datos</a:t>
            </a:r>
            <a:r>
              <a:rPr lang="en-US" sz="2300" dirty="0"/>
              <a:t> o </a:t>
            </a:r>
            <a:r>
              <a:rPr lang="en-US" sz="2300" dirty="0" err="1"/>
              <a:t>algún</a:t>
            </a:r>
            <a:r>
              <a:rPr lang="en-US" sz="2300" dirty="0"/>
              <a:t> </a:t>
            </a:r>
            <a:r>
              <a:rPr lang="en-US" sz="2300" dirty="0" err="1"/>
              <a:t>punto</a:t>
            </a:r>
            <a:r>
              <a:rPr lang="en-US" sz="2300" dirty="0"/>
              <a:t> especial que </a:t>
            </a:r>
            <a:r>
              <a:rPr lang="en-US" sz="2300" dirty="0" err="1"/>
              <a:t>es</a:t>
            </a:r>
            <a:r>
              <a:rPr lang="en-US" sz="2300" dirty="0"/>
              <a:t> </a:t>
            </a:r>
            <a:r>
              <a:rPr lang="en-US" sz="2300" dirty="0" err="1"/>
              <a:t>muy</a:t>
            </a:r>
            <a:r>
              <a:rPr lang="en-US" sz="2300" dirty="0"/>
              <a:t> </a:t>
            </a:r>
            <a:r>
              <a:rPr lang="en-US" sz="2300" dirty="0" err="1"/>
              <a:t>diferente</a:t>
            </a:r>
            <a:r>
              <a:rPr lang="en-US" sz="2300" dirty="0"/>
              <a:t> a </a:t>
            </a:r>
            <a:r>
              <a:rPr lang="en-US" sz="2300" dirty="0" err="1"/>
              <a:t>los</a:t>
            </a:r>
            <a:r>
              <a:rPr lang="en-US" sz="2300" dirty="0"/>
              <a:t> </a:t>
            </a:r>
            <a:r>
              <a:rPr lang="en-US" sz="2300" dirty="0" err="1"/>
              <a:t>demás</a:t>
            </a:r>
            <a:r>
              <a:rPr lang="en-US" sz="2300" dirty="0"/>
              <a:t> (</a:t>
            </a:r>
            <a:r>
              <a:rPr lang="en-US" sz="2300" dirty="0" err="1"/>
              <a:t>es</a:t>
            </a:r>
            <a:r>
              <a:rPr lang="en-US" sz="2300" dirty="0"/>
              <a:t> </a:t>
            </a:r>
            <a:r>
              <a:rPr lang="en-US" sz="2300" dirty="0" err="1"/>
              <a:t>importante</a:t>
            </a:r>
            <a:r>
              <a:rPr lang="en-US" sz="2300" dirty="0"/>
              <a:t> </a:t>
            </a:r>
            <a:r>
              <a:rPr lang="en-US" sz="2300" dirty="0" err="1"/>
              <a:t>detectarlos</a:t>
            </a:r>
            <a:r>
              <a:rPr lang="en-US" sz="2300" dirty="0"/>
              <a:t> y </a:t>
            </a:r>
            <a:r>
              <a:rPr lang="en-US" sz="2300" dirty="0" err="1"/>
              <a:t>tratarlos</a:t>
            </a:r>
            <a:r>
              <a:rPr lang="en-US" sz="2300" dirty="0"/>
              <a:t>) </a:t>
            </a:r>
          </a:p>
          <a:p>
            <a:pPr algn="just"/>
            <a:endParaRPr lang="en-US" sz="2300" dirty="0"/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k-means Algorithm </a:t>
            </a:r>
            <a:r>
              <a:rPr lang="en-US" sz="2000" dirty="0"/>
              <a:t>(weaknesses)</a:t>
            </a:r>
            <a:endParaRPr lang="es-AR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4128" y="1050887"/>
            <a:ext cx="3062436" cy="381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0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329642" cy="857250"/>
          </a:xfrm>
        </p:spPr>
        <p:txBody>
          <a:bodyPr/>
          <a:lstStyle/>
          <a:p>
            <a:r>
              <a:rPr lang="en-US" dirty="0"/>
              <a:t>k-means Algorithm </a:t>
            </a:r>
            <a:r>
              <a:rPr lang="en-US" sz="2000" dirty="0"/>
              <a:t>(weaknesses)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11238" y="962372"/>
            <a:ext cx="5353050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200150"/>
            <a:ext cx="8401080" cy="3800491"/>
          </a:xfrm>
        </p:spPr>
        <p:txBody>
          <a:bodyPr>
            <a:noAutofit/>
          </a:bodyPr>
          <a:lstStyle/>
          <a:p>
            <a:pPr algn="just"/>
            <a:r>
              <a:rPr lang="en-US" sz="2300" dirty="0"/>
              <a:t>El </a:t>
            </a:r>
            <a:r>
              <a:rPr lang="en-US" sz="2300" dirty="0" err="1"/>
              <a:t>algoritmo</a:t>
            </a:r>
            <a:r>
              <a:rPr lang="en-US" sz="2300" dirty="0"/>
              <a:t> es sensible a la </a:t>
            </a:r>
            <a:r>
              <a:rPr lang="en-US" sz="2300" dirty="0" err="1"/>
              <a:t>selección</a:t>
            </a:r>
            <a:r>
              <a:rPr lang="en-US" sz="2300" dirty="0"/>
              <a:t> de las </a:t>
            </a:r>
            <a:r>
              <a:rPr lang="en-US" sz="2300" dirty="0" err="1"/>
              <a:t>semillas</a:t>
            </a:r>
            <a:r>
              <a:rPr lang="en-US" sz="2300" dirty="0"/>
              <a:t> </a:t>
            </a:r>
            <a:r>
              <a:rPr lang="en-US" sz="2300" dirty="0" err="1"/>
              <a:t>iniciales</a:t>
            </a:r>
            <a:r>
              <a:rPr lang="en-US" sz="2300" dirty="0"/>
              <a:t> (</a:t>
            </a:r>
            <a:r>
              <a:rPr lang="en-US" sz="2300" dirty="0" err="1"/>
              <a:t>centroides</a:t>
            </a:r>
            <a:r>
              <a:rPr lang="en-US" sz="2300" dirty="0"/>
              <a:t> </a:t>
            </a:r>
            <a:r>
              <a:rPr lang="en-US" sz="2300" dirty="0" err="1"/>
              <a:t>iniciales</a:t>
            </a:r>
            <a:r>
              <a:rPr lang="en-US" sz="2300" dirty="0"/>
              <a:t>). La </a:t>
            </a:r>
            <a:r>
              <a:rPr lang="en-US" sz="2300" dirty="0" err="1"/>
              <a:t>selección</a:t>
            </a:r>
            <a:r>
              <a:rPr lang="en-US" sz="2300" dirty="0"/>
              <a:t> de </a:t>
            </a:r>
            <a:r>
              <a:rPr lang="en-US" sz="2300" dirty="0" err="1"/>
              <a:t>diferentes</a:t>
            </a:r>
            <a:r>
              <a:rPr lang="en-US" sz="2300" dirty="0"/>
              <a:t> </a:t>
            </a:r>
            <a:r>
              <a:rPr lang="en-US" sz="2300" dirty="0" err="1"/>
              <a:t>semillas</a:t>
            </a:r>
            <a:r>
              <a:rPr lang="en-US" sz="2300" dirty="0"/>
              <a:t> </a:t>
            </a:r>
            <a:r>
              <a:rPr lang="en-US" sz="2300" dirty="0" err="1"/>
              <a:t>iniciales</a:t>
            </a:r>
            <a:r>
              <a:rPr lang="en-US" sz="2300" dirty="0"/>
              <a:t> </a:t>
            </a:r>
            <a:r>
              <a:rPr lang="en-US" sz="2300" dirty="0" err="1"/>
              <a:t>puede</a:t>
            </a:r>
            <a:r>
              <a:rPr lang="en-US" sz="2300" dirty="0"/>
              <a:t> </a:t>
            </a:r>
            <a:r>
              <a:rPr lang="en-US" sz="2300" dirty="0" err="1"/>
              <a:t>resultar</a:t>
            </a:r>
            <a:r>
              <a:rPr lang="en-US" sz="2300" dirty="0"/>
              <a:t> </a:t>
            </a:r>
            <a:r>
              <a:rPr lang="en-US" sz="2300" dirty="0" err="1"/>
              <a:t>en</a:t>
            </a:r>
            <a:r>
              <a:rPr lang="en-US" sz="2300" dirty="0"/>
              <a:t> </a:t>
            </a:r>
            <a:r>
              <a:rPr lang="en-US" sz="2300" dirty="0" err="1"/>
              <a:t>diferentes</a:t>
            </a:r>
            <a:r>
              <a:rPr lang="en-US" sz="2300" dirty="0"/>
              <a:t> </a:t>
            </a:r>
            <a:r>
              <a:rPr lang="en-US" sz="2300" dirty="0" err="1"/>
              <a:t>formaciones</a:t>
            </a:r>
            <a:r>
              <a:rPr lang="en-US" sz="2300" dirty="0"/>
              <a:t> de clusters. </a:t>
            </a:r>
            <a:endParaRPr lang="en-US" sz="2300" dirty="0">
              <a:highlight>
                <a:srgbClr val="FFFF00"/>
              </a:highlight>
            </a:endParaRPr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k-means Algorithm </a:t>
            </a:r>
            <a:r>
              <a:rPr lang="en-US" sz="2000" dirty="0"/>
              <a:t>(weaknesses)</a:t>
            </a:r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329642" cy="857250"/>
          </a:xfrm>
        </p:spPr>
        <p:txBody>
          <a:bodyPr/>
          <a:lstStyle/>
          <a:p>
            <a:r>
              <a:rPr lang="en-US" dirty="0"/>
              <a:t>k-means Algorithm </a:t>
            </a:r>
            <a:r>
              <a:rPr lang="en-US" sz="2000" dirty="0"/>
              <a:t>(weaknesses)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 l="4086"/>
          <a:stretch>
            <a:fillRect/>
          </a:stretch>
        </p:blipFill>
        <p:spPr bwMode="auto">
          <a:xfrm>
            <a:off x="124941" y="1203598"/>
            <a:ext cx="4392488" cy="29649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rrowheads="1"/>
          </p:cNvPicPr>
          <p:nvPr/>
        </p:nvPicPr>
        <p:blipFill>
          <a:blip r:embed="rId3" cstate="print"/>
          <a:srcRect l="3145"/>
          <a:stretch>
            <a:fillRect/>
          </a:stretch>
        </p:blipFill>
        <p:spPr bwMode="auto">
          <a:xfrm>
            <a:off x="4589437" y="1193332"/>
            <a:ext cx="4435184" cy="296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200151"/>
            <a:ext cx="8401080" cy="2667744"/>
          </a:xfrm>
        </p:spPr>
        <p:txBody>
          <a:bodyPr>
            <a:noAutofit/>
          </a:bodyPr>
          <a:lstStyle/>
          <a:p>
            <a:pPr algn="just"/>
            <a:r>
              <a:rPr lang="en-US" sz="2300" dirty="0"/>
              <a:t>Un </a:t>
            </a:r>
            <a:r>
              <a:rPr lang="en-US" sz="2300" dirty="0" err="1"/>
              <a:t>método</a:t>
            </a:r>
            <a:r>
              <a:rPr lang="en-US" sz="2300" dirty="0"/>
              <a:t> simple para </a:t>
            </a:r>
            <a:r>
              <a:rPr lang="en-US" sz="2300" dirty="0" err="1"/>
              <a:t>seleccionar</a:t>
            </a:r>
            <a:r>
              <a:rPr lang="en-US" sz="2300" dirty="0"/>
              <a:t> </a:t>
            </a:r>
            <a:r>
              <a:rPr lang="en-US" sz="2300" dirty="0" err="1"/>
              <a:t>buenas</a:t>
            </a:r>
            <a:r>
              <a:rPr lang="en-US" sz="2300" dirty="0"/>
              <a:t> </a:t>
            </a:r>
            <a:r>
              <a:rPr lang="en-US" sz="2300" dirty="0" err="1"/>
              <a:t>semillas</a:t>
            </a:r>
            <a:r>
              <a:rPr lang="en-US" sz="2300" dirty="0"/>
              <a:t> </a:t>
            </a:r>
            <a:r>
              <a:rPr lang="en-US" sz="2300" dirty="0" err="1"/>
              <a:t>iniciales</a:t>
            </a:r>
            <a:r>
              <a:rPr lang="en-US" sz="2300" dirty="0"/>
              <a:t> </a:t>
            </a:r>
            <a:r>
              <a:rPr lang="en-US" sz="2300" dirty="0" err="1"/>
              <a:t>consiste</a:t>
            </a:r>
            <a:r>
              <a:rPr lang="en-US" sz="2300" dirty="0"/>
              <a:t> </a:t>
            </a:r>
            <a:r>
              <a:rPr lang="en-US" sz="2300" dirty="0" err="1"/>
              <a:t>en</a:t>
            </a:r>
            <a:r>
              <a:rPr lang="en-US" sz="2300" dirty="0"/>
              <a:t> </a:t>
            </a:r>
            <a:r>
              <a:rPr lang="en-US" sz="2300" dirty="0" err="1"/>
              <a:t>calcular</a:t>
            </a:r>
            <a:r>
              <a:rPr lang="en-US" sz="2300" dirty="0"/>
              <a:t> primero la media del dataset </a:t>
            </a:r>
            <a:r>
              <a:rPr lang="en-US" sz="2300" dirty="0" err="1"/>
              <a:t>comleto</a:t>
            </a:r>
            <a:r>
              <a:rPr lang="en-US" sz="2300" dirty="0"/>
              <a:t>. </a:t>
            </a:r>
            <a:r>
              <a:rPr lang="en-US" sz="2300" dirty="0" err="1"/>
              <a:t>Entonces</a:t>
            </a:r>
            <a:r>
              <a:rPr lang="en-US" sz="2300" dirty="0"/>
              <a:t> la </a:t>
            </a:r>
            <a:r>
              <a:rPr lang="en-US" sz="2300" dirty="0" err="1"/>
              <a:t>primera</a:t>
            </a:r>
            <a:r>
              <a:rPr lang="en-US" sz="2300" dirty="0"/>
              <a:t> </a:t>
            </a:r>
            <a:r>
              <a:rPr lang="en-US" sz="2300" dirty="0" err="1"/>
              <a:t>semilla</a:t>
            </a:r>
            <a:r>
              <a:rPr lang="en-US" sz="2300" dirty="0"/>
              <a:t> (x1) </a:t>
            </a:r>
            <a:r>
              <a:rPr lang="en-US" sz="2300" dirty="0" err="1"/>
              <a:t>será</a:t>
            </a:r>
            <a:r>
              <a:rPr lang="en-US" sz="2300" dirty="0"/>
              <a:t> </a:t>
            </a:r>
            <a:r>
              <a:rPr lang="en-US" sz="2300" dirty="0" err="1"/>
              <a:t>el</a:t>
            </a:r>
            <a:r>
              <a:rPr lang="en-US" sz="2300" dirty="0"/>
              <a:t> punto </a:t>
            </a:r>
            <a:r>
              <a:rPr lang="en-US" sz="2300" dirty="0" err="1"/>
              <a:t>más</a:t>
            </a:r>
            <a:r>
              <a:rPr lang="en-US" sz="2300" dirty="0"/>
              <a:t> </a:t>
            </a:r>
            <a:r>
              <a:rPr lang="en-US" sz="2300" dirty="0" err="1"/>
              <a:t>alejado</a:t>
            </a:r>
            <a:r>
              <a:rPr lang="en-US" sz="2300" dirty="0"/>
              <a:t> de la media. La </a:t>
            </a:r>
            <a:r>
              <a:rPr lang="en-US" sz="2300" dirty="0" err="1"/>
              <a:t>segunda</a:t>
            </a:r>
            <a:r>
              <a:rPr lang="en-US" sz="2300" dirty="0"/>
              <a:t> </a:t>
            </a:r>
            <a:r>
              <a:rPr lang="en-US" sz="2300" dirty="0" err="1"/>
              <a:t>semilla</a:t>
            </a:r>
            <a:r>
              <a:rPr lang="en-US" sz="2300" dirty="0"/>
              <a:t> (x2) </a:t>
            </a:r>
            <a:r>
              <a:rPr lang="en-US" sz="2300" dirty="0" err="1"/>
              <a:t>será</a:t>
            </a:r>
            <a:r>
              <a:rPr lang="en-US" sz="2300" dirty="0"/>
              <a:t> </a:t>
            </a:r>
            <a:r>
              <a:rPr lang="en-US" sz="2300" dirty="0" err="1"/>
              <a:t>el</a:t>
            </a:r>
            <a:r>
              <a:rPr lang="en-US" sz="2300" dirty="0"/>
              <a:t> punto </a:t>
            </a:r>
            <a:r>
              <a:rPr lang="en-US" sz="2300" dirty="0" err="1"/>
              <a:t>más</a:t>
            </a:r>
            <a:r>
              <a:rPr lang="en-US" sz="2300" dirty="0"/>
              <a:t> </a:t>
            </a:r>
            <a:r>
              <a:rPr lang="en-US" sz="2300" dirty="0" err="1"/>
              <a:t>alejado</a:t>
            </a:r>
            <a:r>
              <a:rPr lang="en-US" sz="2300" dirty="0"/>
              <a:t> de x1, y </a:t>
            </a:r>
            <a:r>
              <a:rPr lang="en-US" sz="2300" dirty="0" err="1"/>
              <a:t>así</a:t>
            </a:r>
            <a:r>
              <a:rPr lang="en-US" sz="2300" dirty="0"/>
              <a:t> </a:t>
            </a:r>
            <a:r>
              <a:rPr lang="en-US" sz="2300" dirty="0" err="1"/>
              <a:t>sucesivamente</a:t>
            </a:r>
            <a:r>
              <a:rPr lang="en-US" sz="2300" dirty="0"/>
              <a:t>.</a:t>
            </a:r>
          </a:p>
          <a:p>
            <a:pPr algn="just"/>
            <a:endParaRPr lang="en-US" sz="2300" dirty="0">
              <a:highlight>
                <a:srgbClr val="FFFF00"/>
              </a:highlight>
            </a:endParaRPr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k-means Algorithm </a:t>
            </a:r>
            <a:r>
              <a:rPr lang="en-US" sz="2000" dirty="0"/>
              <a:t>(weaknesses)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906909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79512" y="987574"/>
            <a:ext cx="8712968" cy="3800491"/>
          </a:xfrm>
        </p:spPr>
        <p:txBody>
          <a:bodyPr>
            <a:noAutofit/>
          </a:bodyPr>
          <a:lstStyle/>
          <a:p>
            <a:r>
              <a:rPr lang="en-US" sz="2300" dirty="0"/>
              <a:t>Es </a:t>
            </a:r>
            <a:r>
              <a:rPr lang="en-US" sz="2300" dirty="0" err="1"/>
              <a:t>otro</a:t>
            </a:r>
            <a:r>
              <a:rPr lang="en-US" sz="2300" dirty="0"/>
              <a:t> </a:t>
            </a:r>
            <a:r>
              <a:rPr lang="en-US" sz="2300" dirty="0" err="1"/>
              <a:t>enfoque</a:t>
            </a:r>
            <a:r>
              <a:rPr lang="en-US" sz="2300" dirty="0"/>
              <a:t> </a:t>
            </a:r>
            <a:r>
              <a:rPr lang="en-US" sz="2300" dirty="0" err="1"/>
              <a:t>importante</a:t>
            </a:r>
            <a:r>
              <a:rPr lang="en-US" sz="2300" dirty="0"/>
              <a:t> de </a:t>
            </a:r>
            <a:r>
              <a:rPr lang="en-US" sz="2300" dirty="0" err="1"/>
              <a:t>agrupamiento</a:t>
            </a:r>
            <a:r>
              <a:rPr lang="en-US" sz="2300" dirty="0"/>
              <a:t>.</a:t>
            </a:r>
          </a:p>
          <a:p>
            <a:r>
              <a:rPr lang="en-US" sz="2300" dirty="0"/>
              <a:t>El </a:t>
            </a:r>
            <a:r>
              <a:rPr lang="en-US" sz="2300" dirty="0" err="1"/>
              <a:t>agrupamiento</a:t>
            </a:r>
            <a:r>
              <a:rPr lang="en-US" sz="2300" dirty="0"/>
              <a:t> se produce </a:t>
            </a:r>
            <a:r>
              <a:rPr lang="en-US" sz="2300" dirty="0" err="1"/>
              <a:t>mediante</a:t>
            </a:r>
            <a:r>
              <a:rPr lang="en-US" sz="2300" dirty="0"/>
              <a:t> </a:t>
            </a:r>
            <a:r>
              <a:rPr lang="en-US" sz="2300" dirty="0" err="1"/>
              <a:t>una</a:t>
            </a:r>
            <a:r>
              <a:rPr lang="en-US" sz="2300" dirty="0"/>
              <a:t> </a:t>
            </a:r>
            <a:r>
              <a:rPr lang="en-US" sz="2300" dirty="0" err="1"/>
              <a:t>secuencia</a:t>
            </a:r>
            <a:r>
              <a:rPr lang="en-US" sz="2300" dirty="0"/>
              <a:t> </a:t>
            </a:r>
            <a:r>
              <a:rPr lang="en-US" sz="2300" dirty="0" err="1"/>
              <a:t>anidada</a:t>
            </a:r>
            <a:r>
              <a:rPr lang="en-US" sz="2300" dirty="0"/>
              <a:t> de clusters, similar a un árbol (</a:t>
            </a:r>
            <a:r>
              <a:rPr lang="en-US" sz="2300" dirty="0" err="1"/>
              <a:t>también</a:t>
            </a:r>
            <a:r>
              <a:rPr lang="en-US" sz="2300" dirty="0"/>
              <a:t> </a:t>
            </a:r>
            <a:r>
              <a:rPr lang="en-US" sz="2300" dirty="0" err="1"/>
              <a:t>llamado</a:t>
            </a:r>
            <a:r>
              <a:rPr lang="en-US" sz="2300" dirty="0"/>
              <a:t> </a:t>
            </a:r>
            <a:r>
              <a:rPr lang="en-US" sz="2300" dirty="0" err="1"/>
              <a:t>dendograma</a:t>
            </a:r>
            <a:r>
              <a:rPr lang="en-US" sz="2300" dirty="0"/>
              <a:t>).</a:t>
            </a:r>
          </a:p>
          <a:p>
            <a:r>
              <a:rPr lang="en-US" sz="2300" dirty="0"/>
              <a:t>Los clusters simples (puntos </a:t>
            </a:r>
            <a:r>
              <a:rPr lang="en-US" sz="2300" dirty="0" err="1"/>
              <a:t>individuales</a:t>
            </a:r>
            <a:r>
              <a:rPr lang="en-US" sz="2300" dirty="0"/>
              <a:t>) se </a:t>
            </a:r>
            <a:r>
              <a:rPr lang="en-US" sz="2300" dirty="0" err="1"/>
              <a:t>encuentran</a:t>
            </a:r>
            <a:r>
              <a:rPr lang="en-US" sz="2300" dirty="0"/>
              <a:t> </a:t>
            </a:r>
            <a:r>
              <a:rPr lang="en-US" sz="2300" dirty="0" err="1"/>
              <a:t>en</a:t>
            </a:r>
            <a:r>
              <a:rPr lang="en-US" sz="2300" dirty="0"/>
              <a:t> </a:t>
            </a:r>
            <a:r>
              <a:rPr lang="en-US" sz="2300" dirty="0" err="1"/>
              <a:t>el</a:t>
            </a:r>
            <a:r>
              <a:rPr lang="en-US" sz="2300" dirty="0"/>
              <a:t> </a:t>
            </a:r>
            <a:r>
              <a:rPr lang="en-US" sz="2300" dirty="0" err="1"/>
              <a:t>extremo</a:t>
            </a:r>
            <a:r>
              <a:rPr lang="en-US" sz="2300" dirty="0"/>
              <a:t> inferior del árbol y un cluster </a:t>
            </a:r>
            <a:r>
              <a:rPr lang="en-US" sz="2300" dirty="0" err="1"/>
              <a:t>raíz</a:t>
            </a:r>
            <a:r>
              <a:rPr lang="en-US" sz="2300" dirty="0"/>
              <a:t> se </a:t>
            </a:r>
            <a:r>
              <a:rPr lang="en-US" sz="2300" dirty="0" err="1"/>
              <a:t>encuentra</a:t>
            </a:r>
            <a:r>
              <a:rPr lang="en-US" sz="2300" dirty="0"/>
              <a:t> </a:t>
            </a:r>
            <a:r>
              <a:rPr lang="en-US" sz="2300" dirty="0" err="1"/>
              <a:t>en</a:t>
            </a:r>
            <a:r>
              <a:rPr lang="en-US" sz="2300" dirty="0"/>
              <a:t> </a:t>
            </a:r>
            <a:r>
              <a:rPr lang="en-US" sz="2300" dirty="0" err="1"/>
              <a:t>el</a:t>
            </a:r>
            <a:r>
              <a:rPr lang="en-US" sz="2300" dirty="0"/>
              <a:t> </a:t>
            </a:r>
            <a:r>
              <a:rPr lang="en-US" sz="2300" dirty="0" err="1"/>
              <a:t>extremo</a:t>
            </a:r>
            <a:r>
              <a:rPr lang="en-US" sz="2300" dirty="0"/>
              <a:t> superior, </a:t>
            </a:r>
            <a:r>
              <a:rPr lang="en-US" sz="2300" dirty="0" err="1"/>
              <a:t>quien</a:t>
            </a:r>
            <a:r>
              <a:rPr lang="en-US" sz="2300" dirty="0"/>
              <a:t> </a:t>
            </a:r>
            <a:r>
              <a:rPr lang="en-US" sz="2300" dirty="0" err="1"/>
              <a:t>cubre</a:t>
            </a:r>
            <a:r>
              <a:rPr lang="en-US" sz="2300" dirty="0"/>
              <a:t> a </a:t>
            </a:r>
            <a:r>
              <a:rPr lang="en-US" sz="2300" dirty="0" err="1"/>
              <a:t>todos</a:t>
            </a:r>
            <a:r>
              <a:rPr lang="en-US" sz="2300" dirty="0"/>
              <a:t> </a:t>
            </a:r>
            <a:r>
              <a:rPr lang="en-US" sz="2300" dirty="0" err="1"/>
              <a:t>los</a:t>
            </a:r>
            <a:r>
              <a:rPr lang="en-US" sz="2300" dirty="0"/>
              <a:t> puntos del dataset.</a:t>
            </a:r>
          </a:p>
          <a:p>
            <a:r>
              <a:rPr lang="en-US" sz="2300" dirty="0" err="1"/>
              <a:t>Cada</a:t>
            </a:r>
            <a:r>
              <a:rPr lang="en-US" sz="2300" dirty="0"/>
              <a:t> cluster </a:t>
            </a:r>
            <a:r>
              <a:rPr lang="en-US" sz="2300" dirty="0" err="1"/>
              <a:t>interno</a:t>
            </a:r>
            <a:r>
              <a:rPr lang="en-US" sz="2300" dirty="0"/>
              <a:t> </a:t>
            </a:r>
            <a:r>
              <a:rPr lang="en-US" sz="2300" dirty="0" err="1"/>
              <a:t>contiene</a:t>
            </a:r>
            <a:r>
              <a:rPr lang="en-US" sz="2300" dirty="0"/>
              <a:t> a </a:t>
            </a:r>
            <a:r>
              <a:rPr lang="en-US" sz="2300" dirty="0" err="1"/>
              <a:t>otros</a:t>
            </a:r>
            <a:r>
              <a:rPr lang="en-US" sz="2300" dirty="0"/>
              <a:t> clusters. </a:t>
            </a:r>
          </a:p>
          <a:p>
            <a:r>
              <a:rPr lang="en-US" sz="2300" dirty="0"/>
              <a:t>Los cluster </a:t>
            </a:r>
            <a:r>
              <a:rPr lang="en-US" sz="2300" dirty="0" err="1"/>
              <a:t>hermanos</a:t>
            </a:r>
            <a:r>
              <a:rPr lang="en-US" sz="2300" dirty="0"/>
              <a:t> </a:t>
            </a:r>
            <a:r>
              <a:rPr lang="en-US" sz="2300" dirty="0" err="1"/>
              <a:t>particionan</a:t>
            </a:r>
            <a:r>
              <a:rPr lang="en-US" sz="2300" dirty="0"/>
              <a:t> a </a:t>
            </a:r>
            <a:r>
              <a:rPr lang="en-US" sz="2300" dirty="0" err="1"/>
              <a:t>los</a:t>
            </a:r>
            <a:r>
              <a:rPr lang="en-US" sz="2300" dirty="0"/>
              <a:t> </a:t>
            </a:r>
            <a:r>
              <a:rPr lang="en-US" sz="2300" dirty="0" err="1"/>
              <a:t>datos</a:t>
            </a:r>
            <a:r>
              <a:rPr lang="en-US" sz="2300" dirty="0"/>
              <a:t> </a:t>
            </a:r>
            <a:r>
              <a:rPr lang="en-US" sz="2300" dirty="0" err="1"/>
              <a:t>en</a:t>
            </a:r>
            <a:r>
              <a:rPr lang="en-US" sz="2300" dirty="0"/>
              <a:t> base al padre que </a:t>
            </a:r>
            <a:r>
              <a:rPr lang="en-US" sz="2300" dirty="0" err="1"/>
              <a:t>tienen</a:t>
            </a:r>
            <a:r>
              <a:rPr lang="en-US" sz="2300" dirty="0"/>
              <a:t> </a:t>
            </a:r>
            <a:r>
              <a:rPr lang="en-US" sz="2300" dirty="0" err="1"/>
              <a:t>en</a:t>
            </a:r>
            <a:r>
              <a:rPr lang="en-US" sz="2300" dirty="0"/>
              <a:t> </a:t>
            </a:r>
            <a:r>
              <a:rPr lang="en-US" sz="2300" dirty="0" err="1"/>
              <a:t>común</a:t>
            </a:r>
            <a:r>
              <a:rPr lang="en-US" sz="2300" dirty="0"/>
              <a:t>.</a:t>
            </a:r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Clustering </a:t>
            </a:r>
            <a:r>
              <a:rPr lang="en-US" dirty="0" err="1"/>
              <a:t>Jerárquico</a:t>
            </a:r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329642" cy="857250"/>
          </a:xfrm>
        </p:spPr>
        <p:txBody>
          <a:bodyPr/>
          <a:lstStyle/>
          <a:p>
            <a:r>
              <a:rPr lang="en-US" dirty="0"/>
              <a:t>Clustering </a:t>
            </a:r>
            <a:r>
              <a:rPr lang="en-US" dirty="0" err="1"/>
              <a:t>Jerárquico</a:t>
            </a:r>
            <a:endParaRPr lang="en-US" sz="2000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7704" y="1243013"/>
            <a:ext cx="4791905" cy="36329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752" y="915566"/>
            <a:ext cx="9036496" cy="3800491"/>
          </a:xfrm>
        </p:spPr>
        <p:txBody>
          <a:bodyPr>
            <a:noAutofit/>
          </a:bodyPr>
          <a:lstStyle/>
          <a:p>
            <a:r>
              <a:rPr lang="en-US" sz="2300" dirty="0" err="1"/>
              <a:t>Existen</a:t>
            </a:r>
            <a:r>
              <a:rPr lang="en-US" sz="2300" dirty="0"/>
              <a:t> dos </a:t>
            </a:r>
            <a:r>
              <a:rPr lang="en-US" sz="2300" dirty="0" err="1"/>
              <a:t>clases</a:t>
            </a:r>
            <a:r>
              <a:rPr lang="en-US" sz="2300" dirty="0"/>
              <a:t> de </a:t>
            </a:r>
            <a:r>
              <a:rPr lang="en-US" sz="2300" dirty="0" err="1"/>
              <a:t>métodos</a:t>
            </a:r>
            <a:r>
              <a:rPr lang="en-US" sz="2300" dirty="0"/>
              <a:t> para </a:t>
            </a:r>
            <a:r>
              <a:rPr lang="en-US" sz="2300" dirty="0" err="1"/>
              <a:t>aplicar</a:t>
            </a:r>
            <a:r>
              <a:rPr lang="en-US" sz="2300" dirty="0"/>
              <a:t> clustering </a:t>
            </a:r>
            <a:r>
              <a:rPr lang="en-US" sz="2300" dirty="0" err="1"/>
              <a:t>jerárquico</a:t>
            </a:r>
            <a:r>
              <a:rPr lang="en-US" sz="2300" dirty="0"/>
              <a:t>: </a:t>
            </a:r>
          </a:p>
          <a:p>
            <a:r>
              <a:rPr lang="en-US" sz="2300" dirty="0"/>
              <a:t>Clustering </a:t>
            </a:r>
            <a:r>
              <a:rPr lang="en-US" sz="2300" dirty="0" err="1"/>
              <a:t>aglomerativo</a:t>
            </a:r>
            <a:r>
              <a:rPr lang="en-US" sz="2300" dirty="0"/>
              <a:t> (de </a:t>
            </a:r>
            <a:r>
              <a:rPr lang="en-US" sz="2300" dirty="0" err="1"/>
              <a:t>abajo</a:t>
            </a:r>
            <a:r>
              <a:rPr lang="en-US" sz="2300" dirty="0"/>
              <a:t> </a:t>
            </a:r>
            <a:r>
              <a:rPr lang="en-US" sz="2300" dirty="0" err="1"/>
              <a:t>hacia</a:t>
            </a:r>
            <a:r>
              <a:rPr lang="en-US" sz="2300" dirty="0"/>
              <a:t> </a:t>
            </a:r>
            <a:r>
              <a:rPr lang="en-US" sz="2300" dirty="0" err="1"/>
              <a:t>arriba</a:t>
            </a:r>
            <a:r>
              <a:rPr lang="en-US" sz="2300" dirty="0"/>
              <a:t>): se </a:t>
            </a:r>
            <a:r>
              <a:rPr lang="en-US" sz="2300" dirty="0" err="1"/>
              <a:t>construye</a:t>
            </a:r>
            <a:r>
              <a:rPr lang="en-US" sz="2300" dirty="0"/>
              <a:t> </a:t>
            </a:r>
            <a:r>
              <a:rPr lang="en-US" sz="2300" dirty="0" err="1"/>
              <a:t>el</a:t>
            </a:r>
            <a:r>
              <a:rPr lang="en-US" sz="2300" dirty="0"/>
              <a:t> </a:t>
            </a:r>
            <a:r>
              <a:rPr lang="en-US" sz="2300" dirty="0" err="1"/>
              <a:t>dendograma</a:t>
            </a:r>
            <a:r>
              <a:rPr lang="en-US" sz="2300" dirty="0"/>
              <a:t> </a:t>
            </a:r>
            <a:r>
              <a:rPr lang="en-US" sz="2300" dirty="0" err="1"/>
              <a:t>desde</a:t>
            </a:r>
            <a:r>
              <a:rPr lang="en-US" sz="2300" dirty="0"/>
              <a:t> </a:t>
            </a:r>
            <a:r>
              <a:rPr lang="en-US" sz="2300" dirty="0" err="1"/>
              <a:t>el</a:t>
            </a:r>
            <a:r>
              <a:rPr lang="en-US" sz="2300" dirty="0"/>
              <a:t> </a:t>
            </a:r>
            <a:r>
              <a:rPr lang="en-US" sz="2300" dirty="0" err="1"/>
              <a:t>nivel</a:t>
            </a:r>
            <a:r>
              <a:rPr lang="en-US" sz="2300" dirty="0"/>
              <a:t> inferior (hojas del árbol), y se </a:t>
            </a:r>
            <a:r>
              <a:rPr lang="en-US" sz="2300" dirty="0" err="1"/>
              <a:t>agrupan</a:t>
            </a:r>
            <a:r>
              <a:rPr lang="en-US" sz="2300" dirty="0"/>
              <a:t> </a:t>
            </a:r>
            <a:r>
              <a:rPr lang="en-US" sz="2300" dirty="0" err="1"/>
              <a:t>los</a:t>
            </a:r>
            <a:r>
              <a:rPr lang="en-US" sz="2300" dirty="0"/>
              <a:t> pares de clusters </a:t>
            </a:r>
            <a:r>
              <a:rPr lang="en-US" sz="2300" dirty="0" err="1"/>
              <a:t>similares</a:t>
            </a:r>
            <a:r>
              <a:rPr lang="en-US" sz="2300" dirty="0"/>
              <a:t> (o </a:t>
            </a:r>
            <a:r>
              <a:rPr lang="en-US" sz="2300" dirty="0" err="1"/>
              <a:t>más</a:t>
            </a:r>
            <a:r>
              <a:rPr lang="en-US" sz="2300" dirty="0"/>
              <a:t> </a:t>
            </a:r>
            <a:r>
              <a:rPr lang="en-US" sz="2300" dirty="0" err="1"/>
              <a:t>cercanos</a:t>
            </a:r>
            <a:r>
              <a:rPr lang="en-US" sz="2300" dirty="0"/>
              <a:t>)  </a:t>
            </a:r>
            <a:r>
              <a:rPr lang="en-US" sz="2300" dirty="0" err="1"/>
              <a:t>en</a:t>
            </a:r>
            <a:r>
              <a:rPr lang="en-US" sz="2300" dirty="0"/>
              <a:t> </a:t>
            </a:r>
            <a:r>
              <a:rPr lang="en-US" sz="2300" dirty="0" err="1"/>
              <a:t>cada</a:t>
            </a:r>
            <a:r>
              <a:rPr lang="en-US" sz="2300" dirty="0"/>
              <a:t> </a:t>
            </a:r>
            <a:r>
              <a:rPr lang="en-US" sz="2300" dirty="0" err="1"/>
              <a:t>nivel</a:t>
            </a:r>
            <a:r>
              <a:rPr lang="en-US" sz="2300" dirty="0"/>
              <a:t> de </a:t>
            </a:r>
            <a:r>
              <a:rPr lang="en-US" sz="2300" dirty="0" err="1"/>
              <a:t>abajo</a:t>
            </a:r>
            <a:r>
              <a:rPr lang="en-US" sz="2300" dirty="0"/>
              <a:t> </a:t>
            </a:r>
            <a:r>
              <a:rPr lang="en-US" sz="2300" dirty="0" err="1"/>
              <a:t>hacia</a:t>
            </a:r>
            <a:r>
              <a:rPr lang="en-US" sz="2300" dirty="0"/>
              <a:t> </a:t>
            </a:r>
            <a:r>
              <a:rPr lang="en-US" sz="2300" dirty="0" err="1"/>
              <a:t>arriba</a:t>
            </a:r>
            <a:r>
              <a:rPr lang="en-US" sz="2300" dirty="0"/>
              <a:t>. El </a:t>
            </a:r>
            <a:r>
              <a:rPr lang="en-US" sz="2300" dirty="0" err="1"/>
              <a:t>proceso</a:t>
            </a:r>
            <a:r>
              <a:rPr lang="en-US" sz="2300" dirty="0"/>
              <a:t> continua hasta que </a:t>
            </a:r>
            <a:r>
              <a:rPr lang="en-US" sz="2300" dirty="0" err="1"/>
              <a:t>todos</a:t>
            </a:r>
            <a:r>
              <a:rPr lang="en-US" sz="2300" dirty="0"/>
              <a:t> </a:t>
            </a:r>
            <a:r>
              <a:rPr lang="en-US" sz="2300" dirty="0" err="1"/>
              <a:t>los</a:t>
            </a:r>
            <a:r>
              <a:rPr lang="en-US" sz="2300" dirty="0"/>
              <a:t> puntos del dataset </a:t>
            </a:r>
            <a:r>
              <a:rPr lang="en-US" sz="2300" dirty="0" err="1"/>
              <a:t>estén</a:t>
            </a:r>
            <a:r>
              <a:rPr lang="en-US" sz="2300" dirty="0"/>
              <a:t> </a:t>
            </a:r>
            <a:r>
              <a:rPr lang="en-US" sz="2300" dirty="0" err="1"/>
              <a:t>agrupados</a:t>
            </a:r>
            <a:r>
              <a:rPr lang="en-US" sz="2300" dirty="0"/>
              <a:t> un solo cluster (la </a:t>
            </a:r>
            <a:r>
              <a:rPr lang="en-US" sz="2300" dirty="0" err="1"/>
              <a:t>raíz</a:t>
            </a:r>
            <a:r>
              <a:rPr lang="en-US" sz="2300" dirty="0"/>
              <a:t>).</a:t>
            </a:r>
          </a:p>
          <a:p>
            <a:r>
              <a:rPr lang="en-US" sz="2300" dirty="0"/>
              <a:t>Clustering </a:t>
            </a:r>
            <a:r>
              <a:rPr lang="en-US" sz="2300" dirty="0" err="1"/>
              <a:t>divisivo</a:t>
            </a:r>
            <a:r>
              <a:rPr lang="en-US" sz="2300" dirty="0"/>
              <a:t> (de </a:t>
            </a:r>
            <a:r>
              <a:rPr lang="en-US" sz="2300" dirty="0" err="1"/>
              <a:t>arriba</a:t>
            </a:r>
            <a:r>
              <a:rPr lang="en-US" sz="2300" dirty="0"/>
              <a:t> </a:t>
            </a:r>
            <a:r>
              <a:rPr lang="en-US" sz="2300" dirty="0" err="1"/>
              <a:t>hacia</a:t>
            </a:r>
            <a:r>
              <a:rPr lang="en-US" sz="2300" dirty="0"/>
              <a:t> </a:t>
            </a:r>
            <a:r>
              <a:rPr lang="en-US" sz="2300" dirty="0" err="1"/>
              <a:t>abajo</a:t>
            </a:r>
            <a:r>
              <a:rPr lang="en-US" sz="2300" dirty="0"/>
              <a:t>): Este </a:t>
            </a:r>
            <a:r>
              <a:rPr lang="en-US" sz="2300" dirty="0" err="1"/>
              <a:t>método</a:t>
            </a:r>
            <a:r>
              <a:rPr lang="en-US" sz="2300" dirty="0"/>
              <a:t> </a:t>
            </a:r>
            <a:r>
              <a:rPr lang="en-US" sz="2300" dirty="0" err="1"/>
              <a:t>comienza</a:t>
            </a:r>
            <a:r>
              <a:rPr lang="en-US" sz="2300" dirty="0"/>
              <a:t> con </a:t>
            </a:r>
            <a:r>
              <a:rPr lang="en-US" sz="2300" dirty="0" err="1"/>
              <a:t>todos</a:t>
            </a:r>
            <a:r>
              <a:rPr lang="en-US" sz="2300" dirty="0"/>
              <a:t> </a:t>
            </a:r>
            <a:r>
              <a:rPr lang="en-US" sz="2300" dirty="0" err="1"/>
              <a:t>los</a:t>
            </a:r>
            <a:r>
              <a:rPr lang="en-US" sz="2300" dirty="0"/>
              <a:t> puntos </a:t>
            </a:r>
            <a:r>
              <a:rPr lang="en-US" sz="2300" dirty="0" err="1"/>
              <a:t>en</a:t>
            </a:r>
            <a:r>
              <a:rPr lang="en-US" sz="2300" dirty="0"/>
              <a:t> un solo cluster (la </a:t>
            </a:r>
            <a:r>
              <a:rPr lang="en-US" sz="2300" dirty="0" err="1"/>
              <a:t>raíz</a:t>
            </a:r>
            <a:r>
              <a:rPr lang="en-US" sz="2300" dirty="0"/>
              <a:t>) y divide </a:t>
            </a:r>
            <a:r>
              <a:rPr lang="en-US" sz="2300" dirty="0" err="1"/>
              <a:t>los</a:t>
            </a:r>
            <a:r>
              <a:rPr lang="en-US" sz="2300" dirty="0"/>
              <a:t> puntos </a:t>
            </a:r>
            <a:r>
              <a:rPr lang="en-US" sz="2300" dirty="0" err="1"/>
              <a:t>en</a:t>
            </a:r>
            <a:r>
              <a:rPr lang="en-US" sz="2300" dirty="0"/>
              <a:t> dos </a:t>
            </a:r>
            <a:r>
              <a:rPr lang="en-US" sz="2300" dirty="0" err="1"/>
              <a:t>subconjutos</a:t>
            </a:r>
            <a:r>
              <a:rPr lang="en-US" sz="2300" dirty="0"/>
              <a:t>. </a:t>
            </a:r>
            <a:r>
              <a:rPr lang="en-US" sz="2300" dirty="0" err="1"/>
              <a:t>Luego</a:t>
            </a:r>
            <a:r>
              <a:rPr lang="en-US" sz="2300" dirty="0"/>
              <a:t> </a:t>
            </a:r>
            <a:r>
              <a:rPr lang="en-US" sz="2300" dirty="0" err="1"/>
              <a:t>toma</a:t>
            </a:r>
            <a:r>
              <a:rPr lang="en-US" sz="2300" dirty="0"/>
              <a:t> </a:t>
            </a:r>
            <a:r>
              <a:rPr lang="en-US" sz="2300" dirty="0" err="1"/>
              <a:t>cada</a:t>
            </a:r>
            <a:r>
              <a:rPr lang="en-US" sz="2300" dirty="0"/>
              <a:t> </a:t>
            </a:r>
            <a:r>
              <a:rPr lang="en-US" sz="2300" dirty="0" err="1"/>
              <a:t>subconjunto</a:t>
            </a:r>
            <a:r>
              <a:rPr lang="en-US" sz="2300" dirty="0"/>
              <a:t>, </a:t>
            </a:r>
            <a:r>
              <a:rPr lang="en-US" sz="2300" dirty="0" err="1"/>
              <a:t>los</a:t>
            </a:r>
            <a:r>
              <a:rPr lang="en-US" sz="2300" dirty="0"/>
              <a:t> </a:t>
            </a:r>
            <a:r>
              <a:rPr lang="en-US" sz="2300" dirty="0" err="1"/>
              <a:t>vuelve</a:t>
            </a:r>
            <a:r>
              <a:rPr lang="en-US" sz="2300" dirty="0"/>
              <a:t> a </a:t>
            </a:r>
            <a:r>
              <a:rPr lang="en-US" sz="2300" dirty="0" err="1"/>
              <a:t>dividir</a:t>
            </a:r>
            <a:r>
              <a:rPr lang="en-US" sz="2300" dirty="0"/>
              <a:t>, y </a:t>
            </a:r>
            <a:r>
              <a:rPr lang="en-US" sz="2300" dirty="0" err="1"/>
              <a:t>así</a:t>
            </a:r>
            <a:r>
              <a:rPr lang="en-US" sz="2300" dirty="0"/>
              <a:t> </a:t>
            </a:r>
            <a:r>
              <a:rPr lang="en-US" sz="2300" dirty="0" err="1"/>
              <a:t>sucesivamente</a:t>
            </a:r>
            <a:r>
              <a:rPr lang="en-US" sz="2300" dirty="0"/>
              <a:t>.</a:t>
            </a:r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Clustering </a:t>
            </a:r>
            <a:r>
              <a:rPr lang="en-US" dirty="0" err="1"/>
              <a:t>Jerárquico</a:t>
            </a:r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329642" cy="857250"/>
          </a:xfrm>
        </p:spPr>
        <p:txBody>
          <a:bodyPr/>
          <a:lstStyle/>
          <a:p>
            <a:r>
              <a:rPr lang="en-US" dirty="0"/>
              <a:t>Clustering </a:t>
            </a:r>
            <a:r>
              <a:rPr lang="en-US" dirty="0" err="1"/>
              <a:t>Jerárquico</a:t>
            </a:r>
            <a:endParaRPr lang="en-US" sz="2000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3568" y="1203598"/>
            <a:ext cx="7920880" cy="31683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329642" cy="857250"/>
          </a:xfrm>
        </p:spPr>
        <p:txBody>
          <a:bodyPr/>
          <a:lstStyle/>
          <a:p>
            <a:r>
              <a:rPr lang="en-US" dirty="0"/>
              <a:t>Clustering </a:t>
            </a:r>
            <a:r>
              <a:rPr lang="en-US" dirty="0" err="1"/>
              <a:t>Jerárquico</a:t>
            </a:r>
            <a:endParaRPr lang="en-US" sz="20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987573"/>
            <a:ext cx="8064896" cy="3962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200150"/>
            <a:ext cx="8258204" cy="3800491"/>
          </a:xfrm>
        </p:spPr>
        <p:txBody>
          <a:bodyPr>
            <a:noAutofit/>
          </a:bodyPr>
          <a:lstStyle/>
          <a:p>
            <a:r>
              <a:rPr lang="en-US" sz="2300" dirty="0"/>
              <a:t>A </a:t>
            </a:r>
            <a:r>
              <a:rPr lang="en-US" sz="2300" dirty="0" err="1"/>
              <a:t>diferencia</a:t>
            </a:r>
            <a:r>
              <a:rPr lang="en-US" sz="2300" dirty="0"/>
              <a:t> de k-means, que </a:t>
            </a:r>
            <a:r>
              <a:rPr lang="en-US" sz="2300" dirty="0" err="1"/>
              <a:t>utiliza</a:t>
            </a:r>
            <a:r>
              <a:rPr lang="en-US" sz="2300" dirty="0"/>
              <a:t> solo el </a:t>
            </a:r>
            <a:r>
              <a:rPr lang="en-US" sz="2300" dirty="0" err="1"/>
              <a:t>centroide</a:t>
            </a:r>
            <a:r>
              <a:rPr lang="en-US" sz="2300" dirty="0"/>
              <a:t> </a:t>
            </a:r>
            <a:r>
              <a:rPr lang="en-US" sz="2300" dirty="0" err="1"/>
              <a:t>en</a:t>
            </a:r>
            <a:r>
              <a:rPr lang="en-US" sz="2300" dirty="0"/>
              <a:t> el </a:t>
            </a:r>
            <a:r>
              <a:rPr lang="en-US" sz="2300" dirty="0" err="1"/>
              <a:t>cálculo</a:t>
            </a:r>
            <a:r>
              <a:rPr lang="en-US" sz="2300" dirty="0"/>
              <a:t> de </a:t>
            </a:r>
            <a:r>
              <a:rPr lang="en-US" sz="2300" dirty="0" err="1"/>
              <a:t>distancia</a:t>
            </a:r>
            <a:r>
              <a:rPr lang="en-US" sz="2300" dirty="0"/>
              <a:t>, </a:t>
            </a:r>
            <a:r>
              <a:rPr lang="en-US" sz="2300" dirty="0" err="1"/>
              <a:t>este</a:t>
            </a:r>
            <a:r>
              <a:rPr lang="en-US" sz="2300" dirty="0"/>
              <a:t> </a:t>
            </a:r>
            <a:r>
              <a:rPr lang="en-US" sz="2300" dirty="0" err="1"/>
              <a:t>algoritmo</a:t>
            </a:r>
            <a:r>
              <a:rPr lang="en-US" sz="2300" dirty="0"/>
              <a:t> </a:t>
            </a:r>
            <a:r>
              <a:rPr lang="en-US" sz="2300" dirty="0" err="1"/>
              <a:t>puede</a:t>
            </a:r>
            <a:r>
              <a:rPr lang="en-US" sz="2300" dirty="0"/>
              <a:t> </a:t>
            </a:r>
            <a:r>
              <a:rPr lang="en-US" sz="2300" dirty="0" err="1"/>
              <a:t>utilizar</a:t>
            </a:r>
            <a:r>
              <a:rPr lang="en-US" sz="2300" dirty="0"/>
              <a:t> </a:t>
            </a:r>
            <a:r>
              <a:rPr lang="en-US" sz="2300" dirty="0" err="1"/>
              <a:t>diversos</a:t>
            </a:r>
            <a:r>
              <a:rPr lang="en-US" sz="2300" dirty="0"/>
              <a:t> </a:t>
            </a:r>
            <a:r>
              <a:rPr lang="en-US" sz="2300" dirty="0" err="1"/>
              <a:t>métodos</a:t>
            </a:r>
            <a:r>
              <a:rPr lang="en-US" sz="2300" dirty="0"/>
              <a:t> para </a:t>
            </a:r>
            <a:r>
              <a:rPr lang="en-US" sz="2300" dirty="0" err="1"/>
              <a:t>determinar</a:t>
            </a:r>
            <a:r>
              <a:rPr lang="en-US" sz="2300" dirty="0"/>
              <a:t> la </a:t>
            </a:r>
            <a:r>
              <a:rPr lang="en-US" sz="2300" dirty="0" err="1"/>
              <a:t>distancia</a:t>
            </a:r>
            <a:r>
              <a:rPr lang="en-US" sz="2300" dirty="0"/>
              <a:t> entre dos </a:t>
            </a:r>
            <a:r>
              <a:rPr lang="en-US" sz="2300" dirty="0" smtClean="0"/>
              <a:t>clusters, </a:t>
            </a:r>
            <a:r>
              <a:rPr lang="en-US" sz="2300" dirty="0" err="1" smtClean="0"/>
              <a:t>por</a:t>
            </a:r>
            <a:r>
              <a:rPr lang="en-US" sz="2300" dirty="0" smtClean="0"/>
              <a:t> </a:t>
            </a:r>
            <a:r>
              <a:rPr lang="en-US" sz="2300" dirty="0" err="1" smtClean="0"/>
              <a:t>ejemplo</a:t>
            </a:r>
            <a:r>
              <a:rPr lang="en-US" sz="2300" dirty="0" smtClean="0"/>
              <a:t>:</a:t>
            </a:r>
            <a:endParaRPr lang="en-US" sz="2300" dirty="0"/>
          </a:p>
          <a:p>
            <a:pPr marL="493776" indent="-457200">
              <a:buFont typeface="+mj-lt"/>
              <a:buAutoNum type="arabicPeriod"/>
            </a:pPr>
            <a:r>
              <a:rPr lang="en-US" sz="2300" dirty="0" err="1"/>
              <a:t>Método</a:t>
            </a:r>
            <a:r>
              <a:rPr lang="en-US" sz="2300" dirty="0"/>
              <a:t> Single-Link.</a:t>
            </a:r>
          </a:p>
          <a:p>
            <a:pPr marL="493776" indent="-457200">
              <a:buFont typeface="+mj-lt"/>
              <a:buAutoNum type="arabicPeriod"/>
            </a:pPr>
            <a:r>
              <a:rPr lang="en-US" sz="2300" dirty="0" err="1"/>
              <a:t>Método</a:t>
            </a:r>
            <a:r>
              <a:rPr lang="en-US" sz="2300" dirty="0"/>
              <a:t> Complete-Link.</a:t>
            </a:r>
          </a:p>
          <a:p>
            <a:pPr marL="493776" indent="-457200">
              <a:buFont typeface="+mj-lt"/>
              <a:buAutoNum type="arabicPeriod"/>
            </a:pPr>
            <a:r>
              <a:rPr lang="en-US" sz="2300" dirty="0" err="1"/>
              <a:t>Metod</a:t>
            </a:r>
            <a:r>
              <a:rPr lang="en-US" sz="2300" dirty="0"/>
              <a:t> Average-Link.</a:t>
            </a:r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Clustering </a:t>
            </a:r>
            <a:r>
              <a:rPr lang="en-US" dirty="0" err="1"/>
              <a:t>Jerárquico</a:t>
            </a:r>
            <a:endParaRPr lang="es-A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87858" y="1063229"/>
            <a:ext cx="8258204" cy="3452737"/>
          </a:xfrm>
        </p:spPr>
        <p:txBody>
          <a:bodyPr>
            <a:noAutofit/>
          </a:bodyPr>
          <a:lstStyle/>
          <a:p>
            <a:r>
              <a:rPr lang="en-US" sz="2300" dirty="0" err="1"/>
              <a:t>En</a:t>
            </a:r>
            <a:r>
              <a:rPr lang="en-US" sz="2300" dirty="0"/>
              <a:t> </a:t>
            </a:r>
            <a:r>
              <a:rPr lang="en-US" sz="2300" dirty="0" err="1"/>
              <a:t>el</a:t>
            </a:r>
            <a:r>
              <a:rPr lang="en-US" sz="2300" dirty="0"/>
              <a:t> </a:t>
            </a:r>
            <a:r>
              <a:rPr lang="en-US" sz="2300" dirty="0" err="1"/>
              <a:t>método</a:t>
            </a:r>
            <a:r>
              <a:rPr lang="en-US" sz="2300" dirty="0"/>
              <a:t> single-link, la </a:t>
            </a:r>
            <a:r>
              <a:rPr lang="en-US" sz="2300" dirty="0" err="1"/>
              <a:t>distancia</a:t>
            </a:r>
            <a:r>
              <a:rPr lang="en-US" sz="2300" dirty="0"/>
              <a:t> entre dos clusters es la </a:t>
            </a:r>
            <a:r>
              <a:rPr lang="en-US" sz="2300" dirty="0" err="1"/>
              <a:t>distancia</a:t>
            </a:r>
            <a:r>
              <a:rPr lang="en-US" sz="2300" dirty="0"/>
              <a:t> </a:t>
            </a:r>
            <a:r>
              <a:rPr lang="en-US" sz="2300" dirty="0" err="1"/>
              <a:t>más</a:t>
            </a:r>
            <a:r>
              <a:rPr lang="en-US" sz="2300" dirty="0"/>
              <a:t> </a:t>
            </a:r>
            <a:r>
              <a:rPr lang="en-US" sz="2300" dirty="0" err="1"/>
              <a:t>cercana</a:t>
            </a:r>
            <a:r>
              <a:rPr lang="en-US" sz="2300" dirty="0"/>
              <a:t> entre dos puntos (</a:t>
            </a:r>
            <a:r>
              <a:rPr lang="en-US" sz="2300" dirty="0" err="1"/>
              <a:t>datos</a:t>
            </a:r>
            <a:r>
              <a:rPr lang="en-US" sz="2300" dirty="0"/>
              <a:t>) de dos clusters </a:t>
            </a:r>
            <a:r>
              <a:rPr lang="en-US" sz="2300" dirty="0" err="1"/>
              <a:t>diferentes</a:t>
            </a:r>
            <a:r>
              <a:rPr lang="en-US" sz="2300" dirty="0"/>
              <a:t> (un punto </a:t>
            </a:r>
            <a:r>
              <a:rPr lang="en-US" sz="2300" dirty="0" err="1"/>
              <a:t>por</a:t>
            </a:r>
            <a:r>
              <a:rPr lang="en-US" sz="2300" dirty="0"/>
              <a:t> </a:t>
            </a:r>
            <a:r>
              <a:rPr lang="en-US" sz="2300" dirty="0" err="1"/>
              <a:t>cada</a:t>
            </a:r>
            <a:r>
              <a:rPr lang="en-US" sz="2300" dirty="0"/>
              <a:t> cluster).</a:t>
            </a:r>
          </a:p>
          <a:p>
            <a:r>
              <a:rPr lang="en-US" sz="2300" dirty="0" err="1"/>
              <a:t>En</a:t>
            </a:r>
            <a:r>
              <a:rPr lang="en-US" sz="2300" dirty="0"/>
              <a:t> </a:t>
            </a:r>
            <a:r>
              <a:rPr lang="en-US" sz="2300" dirty="0" err="1"/>
              <a:t>cada</a:t>
            </a:r>
            <a:r>
              <a:rPr lang="en-US" sz="2300" dirty="0"/>
              <a:t> paso se </a:t>
            </a:r>
            <a:r>
              <a:rPr lang="en-US" sz="2300" dirty="0" err="1"/>
              <a:t>agrupan</a:t>
            </a:r>
            <a:r>
              <a:rPr lang="en-US" sz="2300" dirty="0"/>
              <a:t> </a:t>
            </a:r>
            <a:r>
              <a:rPr lang="en-US" sz="2300" dirty="0" err="1"/>
              <a:t>los</a:t>
            </a:r>
            <a:r>
              <a:rPr lang="en-US" sz="2300" dirty="0"/>
              <a:t> dos clusters que </a:t>
            </a:r>
            <a:r>
              <a:rPr lang="en-US" sz="2300" dirty="0" err="1"/>
              <a:t>tienen</a:t>
            </a:r>
            <a:r>
              <a:rPr lang="en-US" sz="2300" dirty="0"/>
              <a:t> la </a:t>
            </a:r>
            <a:r>
              <a:rPr lang="en-US" sz="2300" dirty="0" err="1"/>
              <a:t>mínima</a:t>
            </a:r>
            <a:r>
              <a:rPr lang="en-US" sz="2300" dirty="0"/>
              <a:t> </a:t>
            </a:r>
            <a:r>
              <a:rPr lang="en-US" sz="2300" dirty="0" err="1"/>
              <a:t>distancia</a:t>
            </a:r>
            <a:r>
              <a:rPr lang="en-US" sz="2300" dirty="0"/>
              <a:t> entre dos </a:t>
            </a:r>
            <a:r>
              <a:rPr lang="en-US" sz="2300" dirty="0" err="1"/>
              <a:t>datos</a:t>
            </a:r>
            <a:r>
              <a:rPr lang="en-US" sz="2300" dirty="0"/>
              <a:t> de </a:t>
            </a:r>
            <a:r>
              <a:rPr lang="en-US" sz="2300" dirty="0" err="1"/>
              <a:t>cada</a:t>
            </a:r>
            <a:r>
              <a:rPr lang="en-US" sz="2300" dirty="0"/>
              <a:t> cluster.</a:t>
            </a:r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401080" cy="857250"/>
          </a:xfrm>
        </p:spPr>
        <p:txBody>
          <a:bodyPr>
            <a:normAutofit/>
          </a:bodyPr>
          <a:lstStyle/>
          <a:p>
            <a:r>
              <a:rPr lang="en-US" dirty="0"/>
              <a:t>Clustering </a:t>
            </a:r>
            <a:r>
              <a:rPr lang="en-US" dirty="0" err="1"/>
              <a:t>Jerárquico</a:t>
            </a:r>
            <a:r>
              <a:rPr lang="en-US" sz="2000" dirty="0"/>
              <a:t>(Single-Link Method)</a:t>
            </a:r>
            <a:endParaRPr lang="es-AR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200150"/>
            <a:ext cx="8258204" cy="3800491"/>
          </a:xfrm>
        </p:spPr>
        <p:txBody>
          <a:bodyPr>
            <a:noAutofit/>
          </a:bodyPr>
          <a:lstStyle/>
          <a:p>
            <a:r>
              <a:rPr lang="en-US" sz="2300" dirty="0" err="1"/>
              <a:t>En</a:t>
            </a:r>
            <a:r>
              <a:rPr lang="en-US" sz="2300" dirty="0"/>
              <a:t> </a:t>
            </a:r>
            <a:r>
              <a:rPr lang="en-US" sz="2300" dirty="0" err="1"/>
              <a:t>el</a:t>
            </a:r>
            <a:r>
              <a:rPr lang="en-US" sz="2300" dirty="0"/>
              <a:t> </a:t>
            </a:r>
            <a:r>
              <a:rPr lang="en-US" sz="2300" dirty="0" err="1"/>
              <a:t>método</a:t>
            </a:r>
            <a:r>
              <a:rPr lang="en-US" sz="2300" dirty="0"/>
              <a:t> complete-link, la </a:t>
            </a:r>
            <a:r>
              <a:rPr lang="en-US" sz="2300" dirty="0" err="1"/>
              <a:t>distancia</a:t>
            </a:r>
            <a:r>
              <a:rPr lang="en-US" sz="2300" dirty="0"/>
              <a:t> entre dos clusters es la </a:t>
            </a:r>
            <a:r>
              <a:rPr lang="en-US" sz="2300" dirty="0" err="1"/>
              <a:t>máxima</a:t>
            </a:r>
            <a:r>
              <a:rPr lang="en-US" sz="2300" dirty="0"/>
              <a:t> </a:t>
            </a:r>
            <a:r>
              <a:rPr lang="en-US" sz="2300" dirty="0" err="1"/>
              <a:t>distancia</a:t>
            </a:r>
            <a:r>
              <a:rPr lang="en-US" sz="2300" dirty="0"/>
              <a:t> entre </a:t>
            </a:r>
            <a:r>
              <a:rPr lang="en-US" sz="2300" dirty="0" err="1"/>
              <a:t>los</a:t>
            </a:r>
            <a:r>
              <a:rPr lang="en-US" sz="2300" dirty="0"/>
              <a:t> pares de </a:t>
            </a:r>
            <a:r>
              <a:rPr lang="en-US" sz="2300" dirty="0" err="1"/>
              <a:t>datos</a:t>
            </a:r>
            <a:r>
              <a:rPr lang="en-US" sz="2300" dirty="0"/>
              <a:t> de ambos clusters.</a:t>
            </a:r>
          </a:p>
          <a:p>
            <a:r>
              <a:rPr lang="en-US" sz="2300" dirty="0" err="1"/>
              <a:t>En</a:t>
            </a:r>
            <a:r>
              <a:rPr lang="en-US" sz="2300" dirty="0"/>
              <a:t> </a:t>
            </a:r>
            <a:r>
              <a:rPr lang="en-US" sz="2300" dirty="0" err="1"/>
              <a:t>otras</a:t>
            </a:r>
            <a:r>
              <a:rPr lang="en-US" sz="2300" dirty="0"/>
              <a:t> palabras, Complete-link </a:t>
            </a:r>
            <a:r>
              <a:rPr lang="en-US" sz="2300" dirty="0" err="1"/>
              <a:t>calcula</a:t>
            </a:r>
            <a:r>
              <a:rPr lang="en-US" sz="2300" dirty="0"/>
              <a:t> la </a:t>
            </a:r>
            <a:r>
              <a:rPr lang="en-US" sz="2300" dirty="0" err="1"/>
              <a:t>máxima</a:t>
            </a:r>
            <a:r>
              <a:rPr lang="en-US" sz="2300" dirty="0"/>
              <a:t> </a:t>
            </a:r>
            <a:r>
              <a:rPr lang="en-US" sz="2300" dirty="0" err="1"/>
              <a:t>distancia</a:t>
            </a:r>
            <a:r>
              <a:rPr lang="en-US" sz="2300" dirty="0"/>
              <a:t> entre </a:t>
            </a:r>
            <a:r>
              <a:rPr lang="en-US" sz="2300" dirty="0" err="1"/>
              <a:t>los</a:t>
            </a:r>
            <a:r>
              <a:rPr lang="en-US" sz="2300" dirty="0"/>
              <a:t> puntos de </a:t>
            </a:r>
            <a:r>
              <a:rPr lang="en-US" sz="2300" dirty="0" err="1"/>
              <a:t>cada</a:t>
            </a:r>
            <a:r>
              <a:rPr lang="en-US" sz="2300" dirty="0"/>
              <a:t> par de clusters y se </a:t>
            </a:r>
            <a:r>
              <a:rPr lang="en-US" sz="2300" dirty="0" err="1"/>
              <a:t>queda</a:t>
            </a:r>
            <a:r>
              <a:rPr lang="en-US" sz="2300" dirty="0"/>
              <a:t> con la </a:t>
            </a:r>
            <a:r>
              <a:rPr lang="en-US" sz="2300" dirty="0" err="1"/>
              <a:t>menor</a:t>
            </a:r>
            <a:r>
              <a:rPr lang="en-US" sz="2300" dirty="0"/>
              <a:t>. </a:t>
            </a:r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401080" cy="857250"/>
          </a:xfrm>
        </p:spPr>
        <p:txBody>
          <a:bodyPr>
            <a:normAutofit/>
          </a:bodyPr>
          <a:lstStyle/>
          <a:p>
            <a:r>
              <a:rPr lang="en-US" dirty="0"/>
              <a:t>Clustering </a:t>
            </a:r>
            <a:r>
              <a:rPr lang="en-US" dirty="0" err="1"/>
              <a:t>Jerárquico</a:t>
            </a:r>
            <a:r>
              <a:rPr lang="en-US" dirty="0"/>
              <a:t> </a:t>
            </a:r>
            <a:r>
              <a:rPr lang="en-US" sz="2000" dirty="0"/>
              <a:t>(Complete-Link Method)</a:t>
            </a:r>
            <a:endParaRPr lang="es-AR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200150"/>
            <a:ext cx="8258204" cy="3800491"/>
          </a:xfrm>
        </p:spPr>
        <p:txBody>
          <a:bodyPr>
            <a:noAutofit/>
          </a:bodyPr>
          <a:lstStyle/>
          <a:p>
            <a:r>
              <a:rPr lang="en-US" sz="2300" dirty="0" err="1"/>
              <a:t>En</a:t>
            </a:r>
            <a:r>
              <a:rPr lang="en-US" sz="2300" dirty="0"/>
              <a:t> </a:t>
            </a:r>
            <a:r>
              <a:rPr lang="en-US" sz="2300" dirty="0" err="1"/>
              <a:t>el</a:t>
            </a:r>
            <a:r>
              <a:rPr lang="en-US" sz="2300" dirty="0"/>
              <a:t> </a:t>
            </a:r>
            <a:r>
              <a:rPr lang="en-US" sz="2300" dirty="0" err="1"/>
              <a:t>método</a:t>
            </a:r>
            <a:r>
              <a:rPr lang="en-US" sz="2300" dirty="0"/>
              <a:t> Average-link la </a:t>
            </a:r>
            <a:r>
              <a:rPr lang="en-US" sz="2300" dirty="0" err="1"/>
              <a:t>distancia</a:t>
            </a:r>
            <a:r>
              <a:rPr lang="en-US" sz="2300" dirty="0"/>
              <a:t> entre dos clusters es la </a:t>
            </a:r>
            <a:r>
              <a:rPr lang="en-US" sz="2300" dirty="0" err="1"/>
              <a:t>distancia</a:t>
            </a:r>
            <a:r>
              <a:rPr lang="en-US" sz="2300" dirty="0"/>
              <a:t> </a:t>
            </a:r>
            <a:r>
              <a:rPr lang="en-US" sz="2300" dirty="0" err="1"/>
              <a:t>promedio</a:t>
            </a:r>
            <a:r>
              <a:rPr lang="en-US" sz="2300" dirty="0"/>
              <a:t> de </a:t>
            </a:r>
            <a:r>
              <a:rPr lang="en-US" sz="2300" dirty="0" err="1"/>
              <a:t>todos</a:t>
            </a:r>
            <a:r>
              <a:rPr lang="en-US" sz="2300" dirty="0"/>
              <a:t> </a:t>
            </a:r>
            <a:r>
              <a:rPr lang="en-US" sz="2300" dirty="0" err="1"/>
              <a:t>los</a:t>
            </a:r>
            <a:r>
              <a:rPr lang="en-US" sz="2300" dirty="0"/>
              <a:t> pares de </a:t>
            </a:r>
            <a:r>
              <a:rPr lang="en-US" sz="2300" dirty="0" err="1"/>
              <a:t>distancias</a:t>
            </a:r>
            <a:r>
              <a:rPr lang="en-US" sz="2300" dirty="0"/>
              <a:t> de </a:t>
            </a:r>
            <a:r>
              <a:rPr lang="en-US" sz="2300" dirty="0" err="1"/>
              <a:t>cada</a:t>
            </a:r>
            <a:r>
              <a:rPr lang="en-US" sz="2300" dirty="0"/>
              <a:t> </a:t>
            </a:r>
            <a:r>
              <a:rPr lang="en-US" sz="2300" dirty="0" err="1"/>
              <a:t>dato</a:t>
            </a:r>
            <a:r>
              <a:rPr lang="en-US" sz="2300" dirty="0"/>
              <a:t> entre dos clusters.</a:t>
            </a:r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401080" cy="857250"/>
          </a:xfrm>
        </p:spPr>
        <p:txBody>
          <a:bodyPr>
            <a:normAutofit/>
          </a:bodyPr>
          <a:lstStyle/>
          <a:p>
            <a:r>
              <a:rPr lang="en-US" dirty="0"/>
              <a:t>Clustering </a:t>
            </a:r>
            <a:r>
              <a:rPr lang="en-US" dirty="0" err="1"/>
              <a:t>Jerárquico</a:t>
            </a:r>
            <a:r>
              <a:rPr lang="en-US" dirty="0"/>
              <a:t> </a:t>
            </a:r>
            <a:r>
              <a:rPr lang="en-US" sz="2000" dirty="0"/>
              <a:t>(Average-Link Method)</a:t>
            </a:r>
            <a:endParaRPr lang="es-AR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200150"/>
            <a:ext cx="8258204" cy="3800491"/>
          </a:xfrm>
        </p:spPr>
        <p:txBody>
          <a:bodyPr>
            <a:noAutofit/>
          </a:bodyPr>
          <a:lstStyle/>
          <a:p>
            <a:r>
              <a:rPr lang="en-US" sz="2300" dirty="0"/>
              <a:t>Es </a:t>
            </a:r>
            <a:r>
              <a:rPr lang="en-US" sz="2300" dirty="0" err="1"/>
              <a:t>capaz</a:t>
            </a:r>
            <a:r>
              <a:rPr lang="en-US" sz="2300" dirty="0"/>
              <a:t> de </a:t>
            </a:r>
            <a:r>
              <a:rPr lang="en-US" sz="2300" dirty="0" err="1"/>
              <a:t>utilizar</a:t>
            </a:r>
            <a:r>
              <a:rPr lang="en-US" sz="2300" dirty="0"/>
              <a:t> </a:t>
            </a:r>
            <a:r>
              <a:rPr lang="en-US" sz="2300" dirty="0" err="1"/>
              <a:t>cualquier</a:t>
            </a:r>
            <a:r>
              <a:rPr lang="en-US" sz="2300" dirty="0"/>
              <a:t> </a:t>
            </a:r>
            <a:r>
              <a:rPr lang="en-US" sz="2300" dirty="0" err="1"/>
              <a:t>función</a:t>
            </a:r>
            <a:r>
              <a:rPr lang="en-US" sz="2300" dirty="0"/>
              <a:t> de </a:t>
            </a:r>
            <a:r>
              <a:rPr lang="en-US" sz="2300" dirty="0" err="1"/>
              <a:t>distancia</a:t>
            </a:r>
            <a:r>
              <a:rPr lang="en-US" sz="2300" dirty="0"/>
              <a:t> o </a:t>
            </a:r>
            <a:r>
              <a:rPr lang="en-US" sz="2300" dirty="0" err="1"/>
              <a:t>similaridad</a:t>
            </a:r>
            <a:r>
              <a:rPr lang="en-US" sz="2300" dirty="0"/>
              <a:t>.</a:t>
            </a:r>
          </a:p>
          <a:p>
            <a:r>
              <a:rPr lang="en-US" sz="2300" dirty="0"/>
              <a:t>A </a:t>
            </a:r>
            <a:r>
              <a:rPr lang="en-US" sz="2300" dirty="0" err="1"/>
              <a:t>diferencia</a:t>
            </a:r>
            <a:r>
              <a:rPr lang="en-US" sz="2300" dirty="0"/>
              <a:t> de k-means,  </a:t>
            </a:r>
            <a:r>
              <a:rPr lang="en-US" sz="2300" dirty="0" err="1"/>
              <a:t>el</a:t>
            </a:r>
            <a:r>
              <a:rPr lang="en-US" sz="2300" dirty="0"/>
              <a:t> </a:t>
            </a:r>
            <a:r>
              <a:rPr lang="en-US" sz="2300" dirty="0" err="1"/>
              <a:t>cual</a:t>
            </a:r>
            <a:r>
              <a:rPr lang="en-US" sz="2300" dirty="0"/>
              <a:t> </a:t>
            </a:r>
            <a:r>
              <a:rPr lang="en-US" sz="2300" dirty="0" err="1"/>
              <a:t>devuelve</a:t>
            </a:r>
            <a:r>
              <a:rPr lang="en-US" sz="2300" dirty="0"/>
              <a:t> solo </a:t>
            </a:r>
            <a:r>
              <a:rPr lang="en-US" sz="2300" dirty="0" err="1"/>
              <a:t>los</a:t>
            </a:r>
            <a:r>
              <a:rPr lang="en-US" sz="2300" dirty="0"/>
              <a:t> k clusters al final, la </a:t>
            </a:r>
            <a:r>
              <a:rPr lang="en-US" sz="2300" dirty="0" err="1"/>
              <a:t>jerarquía</a:t>
            </a:r>
            <a:r>
              <a:rPr lang="en-US" sz="2300" dirty="0"/>
              <a:t> de </a:t>
            </a:r>
            <a:r>
              <a:rPr lang="en-US" sz="2300" dirty="0" err="1"/>
              <a:t>los</a:t>
            </a:r>
            <a:r>
              <a:rPr lang="en-US" sz="2300" dirty="0"/>
              <a:t> clusters de </a:t>
            </a:r>
            <a:r>
              <a:rPr lang="en-US" sz="2300" dirty="0" err="1"/>
              <a:t>este</a:t>
            </a:r>
            <a:r>
              <a:rPr lang="en-US" sz="2300" dirty="0"/>
              <a:t> </a:t>
            </a:r>
            <a:r>
              <a:rPr lang="en-US" sz="2300" dirty="0" err="1"/>
              <a:t>algoritmo</a:t>
            </a:r>
            <a:r>
              <a:rPr lang="en-US" sz="2300" dirty="0"/>
              <a:t> </a:t>
            </a:r>
            <a:r>
              <a:rPr lang="en-US" sz="2300" dirty="0" err="1"/>
              <a:t>permite</a:t>
            </a:r>
            <a:r>
              <a:rPr lang="en-US" sz="2300" dirty="0"/>
              <a:t> al </a:t>
            </a:r>
            <a:r>
              <a:rPr lang="en-US" sz="2300" dirty="0" err="1"/>
              <a:t>usuario</a:t>
            </a:r>
            <a:r>
              <a:rPr lang="en-US" sz="2300" dirty="0"/>
              <a:t> </a:t>
            </a:r>
            <a:r>
              <a:rPr lang="en-US" sz="2300" dirty="0" err="1"/>
              <a:t>explorar</a:t>
            </a:r>
            <a:r>
              <a:rPr lang="en-US" sz="2300" dirty="0"/>
              <a:t> </a:t>
            </a:r>
            <a:r>
              <a:rPr lang="en-US" sz="2300" dirty="0" err="1"/>
              <a:t>los</a:t>
            </a:r>
            <a:r>
              <a:rPr lang="en-US" sz="2300" dirty="0"/>
              <a:t> </a:t>
            </a:r>
            <a:r>
              <a:rPr lang="en-US" sz="2300" dirty="0" err="1"/>
              <a:t>agrupamientos</a:t>
            </a:r>
            <a:r>
              <a:rPr lang="en-US" sz="2300" dirty="0"/>
              <a:t> </a:t>
            </a:r>
            <a:r>
              <a:rPr lang="en-US" sz="2300" dirty="0" err="1"/>
              <a:t>en</a:t>
            </a:r>
            <a:r>
              <a:rPr lang="en-US" sz="2300" dirty="0"/>
              <a:t> </a:t>
            </a:r>
            <a:r>
              <a:rPr lang="en-US" sz="2300" dirty="0" err="1"/>
              <a:t>cualquier</a:t>
            </a:r>
            <a:r>
              <a:rPr lang="en-US" sz="2300" dirty="0"/>
              <a:t> </a:t>
            </a:r>
            <a:r>
              <a:rPr lang="en-US" sz="2300" dirty="0" err="1"/>
              <a:t>nivel</a:t>
            </a:r>
            <a:r>
              <a:rPr lang="en-US" sz="2300" dirty="0"/>
              <a:t> de </a:t>
            </a:r>
            <a:r>
              <a:rPr lang="en-US" sz="2300" dirty="0" err="1"/>
              <a:t>detalle</a:t>
            </a:r>
            <a:r>
              <a:rPr lang="en-US" sz="2300" dirty="0"/>
              <a:t>.</a:t>
            </a:r>
          </a:p>
          <a:p>
            <a:r>
              <a:rPr lang="en-US" sz="2300" dirty="0"/>
              <a:t>Este </a:t>
            </a:r>
            <a:r>
              <a:rPr lang="en-US" sz="2300" dirty="0" err="1"/>
              <a:t>algoritmo</a:t>
            </a:r>
            <a:r>
              <a:rPr lang="en-US" sz="2300" dirty="0"/>
              <a:t> produce </a:t>
            </a:r>
            <a:r>
              <a:rPr lang="en-US" sz="2300" dirty="0" err="1"/>
              <a:t>mejores</a:t>
            </a:r>
            <a:r>
              <a:rPr lang="en-US" sz="2300" dirty="0"/>
              <a:t> </a:t>
            </a:r>
            <a:r>
              <a:rPr lang="en-US" sz="2300" dirty="0" err="1"/>
              <a:t>resultados</a:t>
            </a:r>
            <a:r>
              <a:rPr lang="en-US" sz="2300" dirty="0"/>
              <a:t> que </a:t>
            </a:r>
            <a:r>
              <a:rPr lang="en-US" sz="2300" dirty="0" err="1"/>
              <a:t>metodo</a:t>
            </a:r>
            <a:r>
              <a:rPr lang="en-US" sz="2300" dirty="0"/>
              <a:t> k-means.</a:t>
            </a:r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401080" cy="857250"/>
          </a:xfrm>
        </p:spPr>
        <p:txBody>
          <a:bodyPr>
            <a:normAutofit/>
          </a:bodyPr>
          <a:lstStyle/>
          <a:p>
            <a:r>
              <a:rPr lang="en-US" dirty="0"/>
              <a:t>Clustering </a:t>
            </a:r>
            <a:r>
              <a:rPr lang="en-US" dirty="0" err="1"/>
              <a:t>Jerárquico</a:t>
            </a:r>
            <a:r>
              <a:rPr lang="en-US" dirty="0"/>
              <a:t> </a:t>
            </a:r>
            <a:r>
              <a:rPr lang="en-US" sz="2000" dirty="0"/>
              <a:t>(Strengths)</a:t>
            </a:r>
            <a:endParaRPr lang="es-AR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200150"/>
            <a:ext cx="8258204" cy="3800491"/>
          </a:xfrm>
        </p:spPr>
        <p:txBody>
          <a:bodyPr>
            <a:noAutofit/>
          </a:bodyPr>
          <a:lstStyle/>
          <a:p>
            <a:r>
              <a:rPr lang="en-US" sz="2300" dirty="0"/>
              <a:t>Single-link clustering </a:t>
            </a:r>
            <a:r>
              <a:rPr lang="en-US" sz="2300" dirty="0" err="1"/>
              <a:t>puede</a:t>
            </a:r>
            <a:r>
              <a:rPr lang="en-US" sz="2300" dirty="0"/>
              <a:t> </a:t>
            </a:r>
            <a:r>
              <a:rPr lang="en-US" sz="2300" dirty="0" err="1"/>
              <a:t>sufrir</a:t>
            </a:r>
            <a:r>
              <a:rPr lang="en-US" sz="2300" dirty="0"/>
              <a:t> </a:t>
            </a:r>
            <a:r>
              <a:rPr lang="en-US" sz="2300" dirty="0" err="1"/>
              <a:t>el</a:t>
            </a:r>
            <a:r>
              <a:rPr lang="en-US" sz="2300" dirty="0"/>
              <a:t> “chain effect”.</a:t>
            </a:r>
          </a:p>
          <a:p>
            <a:r>
              <a:rPr lang="en-US" sz="2300" dirty="0"/>
              <a:t>Complete-link clustering es sensible a </a:t>
            </a:r>
            <a:r>
              <a:rPr lang="en-US" sz="2300" dirty="0" err="1"/>
              <a:t>los</a:t>
            </a:r>
            <a:r>
              <a:rPr lang="en-US" sz="2300" dirty="0"/>
              <a:t> outliers.</a:t>
            </a:r>
          </a:p>
          <a:p>
            <a:r>
              <a:rPr lang="en-US" sz="2300" dirty="0"/>
              <a:t>El </a:t>
            </a:r>
            <a:r>
              <a:rPr lang="en-US" sz="2300" dirty="0" err="1"/>
              <a:t>algoritmo</a:t>
            </a:r>
            <a:r>
              <a:rPr lang="en-US" sz="2300" dirty="0"/>
              <a:t> es </a:t>
            </a:r>
            <a:r>
              <a:rPr lang="en-US" sz="2300" dirty="0" err="1"/>
              <a:t>computacionalmente</a:t>
            </a:r>
            <a:r>
              <a:rPr lang="en-US" sz="2300" dirty="0"/>
              <a:t> </a:t>
            </a:r>
            <a:r>
              <a:rPr lang="en-US" sz="2300" dirty="0" err="1"/>
              <a:t>complejo</a:t>
            </a:r>
            <a:r>
              <a:rPr lang="en-US" sz="2300" dirty="0"/>
              <a:t>.</a:t>
            </a:r>
          </a:p>
          <a:p>
            <a:r>
              <a:rPr lang="en-US" sz="2300" dirty="0" err="1"/>
              <a:t>Requiere</a:t>
            </a:r>
            <a:r>
              <a:rPr lang="en-US" sz="2300" dirty="0"/>
              <a:t> </a:t>
            </a:r>
            <a:r>
              <a:rPr lang="en-US" sz="2300" dirty="0" err="1"/>
              <a:t>grandes</a:t>
            </a:r>
            <a:r>
              <a:rPr lang="en-US" sz="2300" dirty="0"/>
              <a:t> </a:t>
            </a:r>
            <a:r>
              <a:rPr lang="en-US" sz="2300" dirty="0" err="1"/>
              <a:t>capacidades</a:t>
            </a:r>
            <a:r>
              <a:rPr lang="en-US" sz="2300" dirty="0"/>
              <a:t> de </a:t>
            </a:r>
            <a:r>
              <a:rPr lang="en-US" sz="2300" dirty="0" err="1"/>
              <a:t>almacenamiento</a:t>
            </a:r>
            <a:r>
              <a:rPr lang="en-US" sz="2300" dirty="0"/>
              <a:t>.</a:t>
            </a:r>
          </a:p>
          <a:p>
            <a:r>
              <a:rPr lang="en-US" sz="2300" dirty="0"/>
              <a:t>Es </a:t>
            </a:r>
            <a:r>
              <a:rPr lang="en-US" sz="2300" dirty="0" err="1"/>
              <a:t>ineficiente</a:t>
            </a:r>
            <a:r>
              <a:rPr lang="en-US" sz="2300" dirty="0"/>
              <a:t> para </a:t>
            </a:r>
            <a:r>
              <a:rPr lang="en-US" sz="2300" dirty="0" err="1"/>
              <a:t>grandes</a:t>
            </a:r>
            <a:r>
              <a:rPr lang="en-US" sz="2300" dirty="0"/>
              <a:t> datasets (</a:t>
            </a:r>
            <a:r>
              <a:rPr lang="en-US" sz="2300" dirty="0" err="1"/>
              <a:t>comparado</a:t>
            </a:r>
            <a:r>
              <a:rPr lang="en-US" sz="2300" dirty="0"/>
              <a:t> con k-means).</a:t>
            </a:r>
          </a:p>
          <a:p>
            <a:endParaRPr lang="en-US" sz="2300" dirty="0"/>
          </a:p>
        </p:txBody>
      </p:sp>
      <p:sp>
        <p:nvSpPr>
          <p:cNvPr id="4" name="3 Título"/>
          <p:cNvSpPr>
            <a:spLocks noGrp="1"/>
          </p:cNvSpPr>
          <p:nvPr>
            <p:ph type="title"/>
          </p:nvPr>
        </p:nvSpPr>
        <p:spPr>
          <a:xfrm>
            <a:off x="457200" y="205979"/>
            <a:ext cx="8401080" cy="857250"/>
          </a:xfrm>
        </p:spPr>
        <p:txBody>
          <a:bodyPr>
            <a:normAutofit/>
          </a:bodyPr>
          <a:lstStyle/>
          <a:p>
            <a:r>
              <a:rPr lang="en-US" dirty="0"/>
              <a:t>Clustering </a:t>
            </a:r>
            <a:r>
              <a:rPr lang="en-US" dirty="0" err="1"/>
              <a:t>Jerárquico</a:t>
            </a:r>
            <a:r>
              <a:rPr lang="en-US" dirty="0"/>
              <a:t> </a:t>
            </a:r>
            <a:r>
              <a:rPr lang="en-US" sz="2000" dirty="0"/>
              <a:t>(Weaknesses)</a:t>
            </a:r>
            <a:endParaRPr lang="es-AR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End of Presentation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Unsupervised Learning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écnico">
  <a:themeElements>
    <a:clrScheme name="Técnico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Técnico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Técnico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11033</TotalTime>
  <Words>1580</Words>
  <Application>Microsoft Office PowerPoint</Application>
  <PresentationFormat>Presentación en pantalla (16:9)</PresentationFormat>
  <Paragraphs>117</Paragraphs>
  <Slides>35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35</vt:i4>
      </vt:variant>
    </vt:vector>
  </HeadingPairs>
  <TitlesOfParts>
    <vt:vector size="41" baseType="lpstr">
      <vt:lpstr>Arial</vt:lpstr>
      <vt:lpstr>Franklin Gothic Book</vt:lpstr>
      <vt:lpstr>Gill Sans MT</vt:lpstr>
      <vt:lpstr>Times New Roman</vt:lpstr>
      <vt:lpstr>Wingdings 2</vt:lpstr>
      <vt:lpstr>Técnico</vt:lpstr>
      <vt:lpstr>Unsupervised Learning (clustering)</vt:lpstr>
      <vt:lpstr>Preliminares</vt:lpstr>
      <vt:lpstr>Preliminares</vt:lpstr>
      <vt:lpstr>Conceptos Básicos</vt:lpstr>
      <vt:lpstr>Conceptos Básicos</vt:lpstr>
      <vt:lpstr>Conceptos Básicos</vt:lpstr>
      <vt:lpstr>Conceptos Básicos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K-means Algorithm</vt:lpstr>
      <vt:lpstr>Disk-k-means Algorithm (incremental)</vt:lpstr>
      <vt:lpstr>Disk-k-means Algorithm (incremental)</vt:lpstr>
      <vt:lpstr>k-means Algorithm (Strengths)</vt:lpstr>
      <vt:lpstr>k-means Algorithm (weaknesses)</vt:lpstr>
      <vt:lpstr>k-means Algorithm (weaknesses)</vt:lpstr>
      <vt:lpstr>k-means Algorithm (weaknesses)</vt:lpstr>
      <vt:lpstr>k-means Algorithm (weaknesses)</vt:lpstr>
      <vt:lpstr>k-means Algorithm (weaknesses)</vt:lpstr>
      <vt:lpstr>k-means Algorithm (weaknesses)</vt:lpstr>
      <vt:lpstr>Clustering Jerárquico</vt:lpstr>
      <vt:lpstr>Clustering Jerárquico</vt:lpstr>
      <vt:lpstr>Clustering Jerárquico</vt:lpstr>
      <vt:lpstr>Clustering Jerárquico</vt:lpstr>
      <vt:lpstr>Clustering Jerárquico</vt:lpstr>
      <vt:lpstr>Clustering Jerárquico</vt:lpstr>
      <vt:lpstr>Clustering Jerárquico(Single-Link Method)</vt:lpstr>
      <vt:lpstr>Clustering Jerárquico (Complete-Link Method)</vt:lpstr>
      <vt:lpstr>Clustering Jerárquico (Average-Link Method)</vt:lpstr>
      <vt:lpstr>Clustering Jerárquico (Strengths)</vt:lpstr>
      <vt:lpstr>Clustering Jerárquico (Weaknesses)</vt:lpstr>
      <vt:lpstr>End of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Unsupervised Learning</dc:title>
  <dc:creator>marce</dc:creator>
  <cp:lastModifiedBy>Usuario de Windows</cp:lastModifiedBy>
  <cp:revision>88</cp:revision>
  <dcterms:created xsi:type="dcterms:W3CDTF">2014-10-17T20:25:48Z</dcterms:created>
  <dcterms:modified xsi:type="dcterms:W3CDTF">2025-11-01T13:02:31Z</dcterms:modified>
</cp:coreProperties>
</file>