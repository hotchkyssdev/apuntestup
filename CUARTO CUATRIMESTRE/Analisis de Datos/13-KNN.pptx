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_rels/presentation.xml.rels" ContentType="application/vnd.openxmlformats-package.relationships+xml"/>
  <Override PartName="/ppt/charts/chart1.xml" ContentType="application/vnd.openxmlformats-officedocument.drawingml.chart+xml"/>
  <Override PartName="/ppt/media/image9.png" ContentType="image/png"/>
  <Override PartName="/ppt/media/image7.png" ContentType="image/png"/>
  <Override PartName="/ppt/media/image2.png" ContentType="image/png"/>
  <Override PartName="/ppt/media/image8.png" ContentType="image/png"/>
  <Override PartName="/ppt/media/image1.jpeg" ContentType="image/jpeg"/>
  <Override PartName="/ppt/media/image6.png" ContentType="image/png"/>
  <Override PartName="/ppt/media/image3.png" ContentType="image/png"/>
  <Override PartName="/ppt/media/image4.png" ContentType="image/png"/>
  <Override PartName="/ppt/media/image5.png" ContentType="image/png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plotArea>
      <c:scatterChart>
        <c:scatterStyle val="lineMarker"/>
        <c:varyColors val="0"/>
        <c:ser>
          <c:idx val="0"/>
          <c:order val="0"/>
          <c:tx>
            <c:strRef>
              <c:f>label 1</c:f>
              <c:strCache>
                <c:ptCount val="1"/>
                <c:pt idx="0">
                  <c:v>C0</c:v>
                </c:pt>
              </c:strCache>
            </c:strRef>
          </c:tx>
          <c:spPr>
            <a:solidFill>
              <a:srgbClr val="004586"/>
            </a:solidFill>
            <a:ln w="28800">
              <a:noFill/>
            </a:ln>
          </c:spPr>
          <c:marker>
            <c:symbol val="square"/>
            <c:size val="8"/>
            <c:spPr>
              <a:solidFill>
                <a:srgbClr val="004586"/>
              </a:solidFill>
            </c:spPr>
          </c:marker>
          <c:dLbls>
            <c:numFmt formatCode="General" sourceLinked="1"/>
            <c:showLegendKey val="0"/>
            <c:showVal val="0"/>
            <c:showCatName val="0"/>
            <c:showSerName val="0"/>
            <c:showPercent val="0"/>
            <c:showLeaderLines val="0"/>
          </c:dLbls>
          <c:xVal>
            <c:numRef>
              <c:f>0</c:f>
              <c:numCache>
                <c:formatCode>General</c:formatCode>
                <c:ptCount val="3"/>
                <c:pt idx="0">
                  <c:v>-5</c:v>
                </c:pt>
                <c:pt idx="1">
                  <c:v>-7</c:v>
                </c:pt>
                <c:pt idx="2">
                  <c:v>-8</c:v>
                </c:pt>
              </c:numCache>
            </c:numRef>
          </c:xVal>
          <c:yVal>
            <c:numRef>
              <c:f>1</c:f>
              <c:numCache>
                <c:formatCode>General</c:formatCode>
                <c:ptCount val="3"/>
                <c:pt idx="0">
                  <c:v>-2</c:v>
                </c:pt>
                <c:pt idx="1">
                  <c:v>-3</c:v>
                </c:pt>
                <c:pt idx="2">
                  <c:v>-1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label 3</c:f>
              <c:strCache>
                <c:ptCount val="1"/>
                <c:pt idx="0">
                  <c:v>C1</c:v>
                </c:pt>
              </c:strCache>
            </c:strRef>
          </c:tx>
          <c:spPr>
            <a:solidFill>
              <a:srgbClr val="ff420e"/>
            </a:solidFill>
            <a:ln w="28800">
              <a:noFill/>
            </a:ln>
          </c:spPr>
          <c:marker>
            <c:symbol val="diamond"/>
            <c:size val="8"/>
            <c:spPr>
              <a:solidFill>
                <a:srgbClr val="ff420e"/>
              </a:solidFill>
            </c:spPr>
          </c:marker>
          <c:dLbls>
            <c:numFmt formatCode="General" sourceLinked="1"/>
            <c:showLegendKey val="0"/>
            <c:showVal val="0"/>
            <c:showCatName val="0"/>
            <c:showSerName val="0"/>
            <c:showPercent val="0"/>
            <c:showLeaderLines val="0"/>
          </c:dLbls>
          <c:xVal>
            <c:numRef>
              <c:f>2</c:f>
              <c:numCache>
                <c:formatCode>General</c:formatCode>
                <c:ptCount val="3"/>
                <c:pt idx="0">
                  <c:v>-3</c:v>
                </c:pt>
                <c:pt idx="1">
                  <c:v>-2</c:v>
                </c:pt>
                <c:pt idx="2">
                  <c:v>-4</c:v>
                </c:pt>
              </c:numCache>
            </c:numRef>
          </c:xVal>
          <c:yVal>
            <c:numRef>
              <c:f>3</c:f>
              <c:numCache>
                <c:formatCode>General</c:formatCode>
                <c:ptCount val="3"/>
                <c:pt idx="0">
                  <c:v>-8</c:v>
                </c:pt>
                <c:pt idx="1">
                  <c:v>-9</c:v>
                </c:pt>
                <c:pt idx="2">
                  <c:v>-7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label 5</c:f>
              <c:strCache>
                <c:ptCount val="1"/>
                <c:pt idx="0">
                  <c:v>Cn</c:v>
                </c:pt>
              </c:strCache>
            </c:strRef>
          </c:tx>
          <c:spPr>
            <a:solidFill>
              <a:srgbClr val="ffd320"/>
            </a:solidFill>
            <a:ln w="28800">
              <a:noFill/>
            </a:ln>
          </c:spPr>
          <c:marker>
            <c:symbol val="triangle"/>
            <c:size val="8"/>
            <c:spPr>
              <a:solidFill>
                <a:srgbClr val="ffd320"/>
              </a:solidFill>
            </c:spPr>
          </c:marker>
          <c:dLbls>
            <c:numFmt formatCode="General" sourceLinked="1"/>
            <c:showLegendKey val="0"/>
            <c:showVal val="0"/>
            <c:showCatName val="0"/>
            <c:showSerName val="0"/>
            <c:showPercent val="0"/>
            <c:showLeaderLines val="0"/>
          </c:dLbls>
          <c:xVal>
            <c:numRef>
              <c:f>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5</c:f>
              <c:numCache>
                <c:formatCode>General</c:formatCode>
                <c:ptCount val="3"/>
                <c:pt idx="0">
                  <c:v>1</c:v>
                </c:pt>
                <c:pt idx="1">
                  <c:v/>
                </c:pt>
                <c:pt idx="2">
                  <c:v/>
                </c:pt>
              </c:numCache>
            </c:numRef>
          </c:yVal>
          <c:smooth val="0"/>
        </c:ser>
        <c:axId val="87631818"/>
        <c:axId val="19826085"/>
      </c:scatterChart>
      <c:valAx>
        <c:axId val="8763181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latin typeface="Arial"/>
              </a:defRPr>
            </a:pPr>
          </a:p>
        </c:txPr>
        <c:crossAx val="19826085"/>
        <c:crosses val="autoZero"/>
        <c:crossBetween val="midCat"/>
      </c:valAx>
      <c:valAx>
        <c:axId val="19826085"/>
        <c:scaling>
          <c:orientation val="minMax"/>
        </c:scaling>
        <c:delete val="0"/>
        <c:axPos val="l"/>
        <c:majorGridlines>
          <c:spPr>
            <a:ln>
              <a:solidFill>
                <a:srgbClr val="b3b3b3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latin typeface="Arial"/>
              </a:defRPr>
            </a:pPr>
          </a:p>
        </c:txPr>
        <c:crossAx val="87631818"/>
        <c:crosses val="autoZero"/>
        <c:crossBetween val="midCat"/>
      </c:valAx>
      <c:spPr>
        <a:noFill/>
        <a:ln>
          <a:solidFill>
            <a:srgbClr val="b3b3b3"/>
          </a:solidFill>
        </a:ln>
      </c:spPr>
    </c:plotArea>
    <c:legend>
      <c:legendPos val="r"/>
      <c:overlay val="0"/>
      <c:spPr>
        <a:noFill/>
        <a:ln>
          <a:noFill/>
        </a:ln>
      </c:spPr>
      <c:txPr>
        <a:bodyPr/>
        <a:lstStyle/>
        <a:p>
          <a:pPr>
            <a:defRPr b="0" sz="1000" spc="-1" strike="noStrike">
              <a:latin typeface="Arial"/>
            </a:defRPr>
          </a:pPr>
        </a:p>
      </c:txPr>
    </c:legend>
    <c:plotVisOnly val="1"/>
    <c:dispBlanksAs val="span"/>
  </c:chart>
  <c:spPr>
    <a:solidFill>
      <a:srgbClr val="ffffff"/>
    </a:solidFill>
    <a:ln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504000" y="225720"/>
            <a:ext cx="9071640" cy="22190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504000" y="225720"/>
            <a:ext cx="9071640" cy="22190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4354560"/>
            <a:ext cx="10079640" cy="1315800"/>
          </a:xfrm>
          <a:prstGeom prst="rect">
            <a:avLst/>
          </a:prstGeom>
          <a:ln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1755720"/>
            <a:ext cx="9071640" cy="946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AR" sz="3300" spc="-1" strike="noStrike">
                <a:solidFill>
                  <a:srgbClr val="006699"/>
                </a:solidFill>
                <a:latin typeface="Arial"/>
              </a:rPr>
              <a:t>Pu</a:t>
            </a:r>
            <a:r>
              <a:rPr b="0" lang="es-AR" sz="3300" spc="-1" strike="noStrike">
                <a:solidFill>
                  <a:srgbClr val="006699"/>
                </a:solidFill>
                <a:latin typeface="Arial"/>
              </a:rPr>
              <a:t>lse </a:t>
            </a:r>
            <a:r>
              <a:rPr b="0" lang="es-AR" sz="3300" spc="-1" strike="noStrike">
                <a:solidFill>
                  <a:srgbClr val="006699"/>
                </a:solidFill>
                <a:latin typeface="Arial"/>
              </a:rPr>
              <a:t>pa</a:t>
            </a:r>
            <a:r>
              <a:rPr b="0" lang="es-AR" sz="3300" spc="-1" strike="noStrike">
                <a:solidFill>
                  <a:srgbClr val="006699"/>
                </a:solidFill>
                <a:latin typeface="Arial"/>
              </a:rPr>
              <a:t>ra </a:t>
            </a:r>
            <a:r>
              <a:rPr b="0" lang="es-AR" sz="3300" spc="-1" strike="noStrike">
                <a:solidFill>
                  <a:srgbClr val="006699"/>
                </a:solidFill>
                <a:latin typeface="Arial"/>
              </a:rPr>
              <a:t>edi</a:t>
            </a:r>
            <a:r>
              <a:rPr b="0" lang="es-AR" sz="3300" spc="-1" strike="noStrike">
                <a:solidFill>
                  <a:srgbClr val="006699"/>
                </a:solidFill>
                <a:latin typeface="Arial"/>
              </a:rPr>
              <a:t>tar </a:t>
            </a:r>
            <a:r>
              <a:rPr b="0" lang="es-AR" sz="3300" spc="-1" strike="noStrike">
                <a:solidFill>
                  <a:srgbClr val="006699"/>
                </a:solidFill>
                <a:latin typeface="Arial"/>
              </a:rPr>
              <a:t>el </a:t>
            </a:r>
            <a:r>
              <a:rPr b="0" lang="es-AR" sz="3300" spc="-1" strike="noStrike">
                <a:solidFill>
                  <a:srgbClr val="006699"/>
                </a:solidFill>
                <a:latin typeface="Arial"/>
              </a:rPr>
              <a:t>for</a:t>
            </a:r>
            <a:r>
              <a:rPr b="0" lang="es-AR" sz="3300" spc="-1" strike="noStrike">
                <a:solidFill>
                  <a:srgbClr val="006699"/>
                </a:solidFill>
                <a:latin typeface="Arial"/>
              </a:rPr>
              <a:t>m</a:t>
            </a:r>
            <a:r>
              <a:rPr b="0" lang="es-AR" sz="3300" spc="-1" strike="noStrike">
                <a:solidFill>
                  <a:srgbClr val="006699"/>
                </a:solidFill>
                <a:latin typeface="Arial"/>
              </a:rPr>
              <a:t>ato </a:t>
            </a:r>
            <a:r>
              <a:rPr b="0" lang="es-AR" sz="3300" spc="-1" strike="noStrike">
                <a:solidFill>
                  <a:srgbClr val="006699"/>
                </a:solidFill>
                <a:latin typeface="Arial"/>
              </a:rPr>
              <a:t>del </a:t>
            </a:r>
            <a:r>
              <a:rPr b="0" lang="es-AR" sz="3300" spc="-1" strike="noStrike">
                <a:solidFill>
                  <a:srgbClr val="006699"/>
                </a:solidFill>
                <a:latin typeface="Arial"/>
              </a:rPr>
              <a:t>tex</a:t>
            </a:r>
            <a:r>
              <a:rPr b="0" lang="es-AR" sz="3300" spc="-1" strike="noStrike">
                <a:solidFill>
                  <a:srgbClr val="006699"/>
                </a:solidFill>
                <a:latin typeface="Arial"/>
              </a:rPr>
              <a:t>to </a:t>
            </a:r>
            <a:r>
              <a:rPr b="0" lang="es-AR" sz="3300" spc="-1" strike="noStrike">
                <a:solidFill>
                  <a:srgbClr val="006699"/>
                </a:solidFill>
                <a:latin typeface="Arial"/>
              </a:rPr>
              <a:t>de </a:t>
            </a:r>
            <a:r>
              <a:rPr b="0" lang="es-AR" sz="3300" spc="-1" strike="noStrike">
                <a:solidFill>
                  <a:srgbClr val="006699"/>
                </a:solidFill>
                <a:latin typeface="Arial"/>
              </a:rPr>
              <a:t>títu</a:t>
            </a:r>
            <a:r>
              <a:rPr b="0" lang="es-AR" sz="3300" spc="-1" strike="noStrike">
                <a:solidFill>
                  <a:srgbClr val="006699"/>
                </a:solidFill>
                <a:latin typeface="Arial"/>
              </a:rPr>
              <a:t>lo</a:t>
            </a:r>
            <a:endParaRPr b="0" lang="es-AR" sz="3300" spc="-1" strike="noStrike">
              <a:solidFill>
                <a:srgbClr val="006699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3042000"/>
            <a:ext cx="9071640" cy="15732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latin typeface="Arial"/>
              </a:rPr>
              <a:t>Pulse para editar el formato de esquema del texto</a:t>
            </a:r>
            <a:endParaRPr b="0" lang="es-AR" sz="2400" spc="-1" strike="noStrike"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100" spc="-1" strike="noStrike">
                <a:latin typeface="Arial"/>
              </a:rPr>
              <a:t>Segundo nivel del esquema</a:t>
            </a:r>
            <a:endParaRPr b="0" lang="es-AR" sz="2100" spc="-1" strike="noStrike"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latin typeface="Arial"/>
              </a:rPr>
              <a:t>Tercer nivel del esquema</a:t>
            </a:r>
            <a:endParaRPr b="0" lang="es-AR" sz="1800" spc="-1" strike="noStrike"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500" spc="-1" strike="noStrike">
                <a:latin typeface="Arial"/>
              </a:rPr>
              <a:t>Cuarto nivel del esquema</a:t>
            </a:r>
            <a:endParaRPr b="0" lang="es-AR" sz="1500" spc="-1" strike="noStrike"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500" spc="-1" strike="noStrike">
                <a:latin typeface="Arial"/>
              </a:rPr>
              <a:t>Quinto nivel del esquema</a:t>
            </a:r>
            <a:endParaRPr b="0" lang="es-AR" sz="1500" spc="-1" strike="noStrike"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500" spc="-1" strike="noStrike">
                <a:latin typeface="Arial"/>
              </a:rPr>
              <a:t>Sexto nivel del esquema</a:t>
            </a:r>
            <a:endParaRPr b="0" lang="es-AR" sz="1500" spc="-1" strike="noStrike"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500" spc="-1" strike="noStrike">
                <a:latin typeface="Arial"/>
              </a:rPr>
              <a:t>Séptimo nivel del esquema</a:t>
            </a:r>
            <a:endParaRPr b="0" lang="es-AR" sz="1500" spc="-1" strike="noStrike"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</p:spPr>
        <p:txBody>
          <a:bodyPr lIns="0" rIns="0" tIns="0" bIns="0"/>
          <a:p>
            <a:r>
              <a:rPr b="0" lang="es-AR" sz="1400" spc="-1" strike="noStrike">
                <a:latin typeface="Times New Roman"/>
              </a:rPr>
              <a:t>&lt;fecha/hora&gt;</a:t>
            </a:r>
            <a:endParaRPr b="0" lang="es-AR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AR" sz="1400" spc="-1" strike="noStrike">
                <a:latin typeface="Times New Roman"/>
              </a:rPr>
              <a:t>&lt;pie de página&gt;</a:t>
            </a:r>
            <a:endParaRPr b="0" lang="es-AR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</p:spPr>
        <p:txBody>
          <a:bodyPr lIns="0" rIns="0" tIns="0" bIns="0"/>
          <a:p>
            <a:pPr algn="r"/>
            <a:fld id="{DB27DCD9-A95B-4651-9AA9-95D8D7981EEC}" type="slidenum">
              <a:rPr b="0" lang="es-AR" sz="1400" spc="-1" strike="noStrike">
                <a:latin typeface="Times New Roman"/>
              </a:rPr>
              <a:t>&lt;número&gt;</a:t>
            </a:fld>
            <a:endParaRPr b="0" lang="es-A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0" y="0"/>
            <a:ext cx="10076760" cy="70632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CustomShape 2"/>
          <p:cNvSpPr/>
          <p:nvPr/>
        </p:nvSpPr>
        <p:spPr>
          <a:xfrm>
            <a:off x="0" y="4965120"/>
            <a:ext cx="10076760" cy="70632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PlaceHolder 3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478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AR" sz="3300" spc="-1" strike="noStrike">
                <a:solidFill>
                  <a:srgbClr val="ffffff"/>
                </a:solidFill>
                <a:latin typeface="Arial"/>
              </a:rPr>
              <a:t>Pulse para editar el formato del texto de título</a:t>
            </a:r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/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Pulse para editar el formato de esquema del texto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100" spc="-1" strike="noStrike">
                <a:solidFill>
                  <a:srgbClr val="0066cc"/>
                </a:solidFill>
                <a:latin typeface="Arial"/>
              </a:rPr>
              <a:t>Segundo nivel del esquema</a:t>
            </a:r>
            <a:endParaRPr b="0" lang="es-AR" sz="2100" spc="-1" strike="noStrike">
              <a:solidFill>
                <a:srgbClr val="0066cc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66cc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66cc"/>
              </a:solidFill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500" spc="-1" strike="noStrike">
                <a:solidFill>
                  <a:srgbClr val="0066cc"/>
                </a:solidFill>
                <a:latin typeface="Arial"/>
              </a:rPr>
              <a:t>Cuarto nivel del esquema</a:t>
            </a:r>
            <a:endParaRPr b="0" lang="es-AR" sz="1500" spc="-1" strike="noStrike">
              <a:solidFill>
                <a:srgbClr val="0066cc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500" spc="-1" strike="noStrike">
                <a:solidFill>
                  <a:srgbClr val="0066cc"/>
                </a:solidFill>
                <a:latin typeface="Arial"/>
              </a:rPr>
              <a:t>Quinto nivel del esquema</a:t>
            </a:r>
            <a:endParaRPr b="0" lang="es-AR" sz="1500" spc="-1" strike="noStrike">
              <a:solidFill>
                <a:srgbClr val="0066cc"/>
              </a:solidFill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500" spc="-1" strike="noStrike">
                <a:solidFill>
                  <a:srgbClr val="0066cc"/>
                </a:solidFill>
                <a:latin typeface="Arial"/>
              </a:rPr>
              <a:t>Sexto nivel del esquema</a:t>
            </a:r>
            <a:endParaRPr b="0" lang="es-AR" sz="1500" spc="-1" strike="noStrike">
              <a:solidFill>
                <a:srgbClr val="0066cc"/>
              </a:solidFill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500" spc="-1" strike="noStrike">
                <a:solidFill>
                  <a:srgbClr val="0066cc"/>
                </a:solidFill>
                <a:latin typeface="Arial"/>
              </a:rPr>
              <a:t>Séptimo nivel del esquema</a:t>
            </a:r>
            <a:endParaRPr b="0" lang="es-AR" sz="15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</p:spPr>
        <p:txBody>
          <a:bodyPr lIns="0" rIns="0" tIns="0" bIns="0"/>
          <a:p>
            <a:r>
              <a:rPr b="0" lang="es-AR" sz="1400" spc="-1" strike="noStrike">
                <a:latin typeface="Times New Roman"/>
              </a:rPr>
              <a:t>&lt;fecha/hora&gt;</a:t>
            </a:r>
            <a:endParaRPr b="0" lang="es-AR" sz="1400" spc="-1" strike="noStrike"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AR" sz="1400" spc="-1" strike="noStrike">
                <a:latin typeface="Times New Roman"/>
              </a:rPr>
              <a:t>&lt;pie de página&gt;</a:t>
            </a:r>
            <a:endParaRPr b="0" lang="es-AR" sz="1400" spc="-1" strike="noStrike"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</p:spPr>
        <p:txBody>
          <a:bodyPr lIns="0" rIns="0" tIns="0" bIns="0"/>
          <a:p>
            <a:pPr algn="r"/>
            <a:fld id="{5349A608-B7FE-40AF-AD27-C6E3EF88BB91}" type="slidenum">
              <a:rPr b="0" lang="es-AR" sz="1400" spc="-1" strike="noStrike">
                <a:latin typeface="Times New Roman"/>
              </a:rPr>
              <a:t>&lt;número&gt;</a:t>
            </a:fld>
            <a:endParaRPr b="0" lang="es-A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468000" y="1755720"/>
            <a:ext cx="9071640" cy="94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3300" spc="-1" strike="noStrike">
                <a:solidFill>
                  <a:srgbClr val="006699"/>
                </a:solidFill>
                <a:latin typeface="Arial"/>
              </a:rPr>
              <a:t>KNN</a:t>
            </a:r>
            <a:endParaRPr b="0" lang="es-AR" sz="3300" spc="-1" strike="noStrike">
              <a:solidFill>
                <a:srgbClr val="006699"/>
              </a:solidFill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504000" y="225720"/>
            <a:ext cx="9071640" cy="478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3300" spc="-1" strike="noStrike">
                <a:solidFill>
                  <a:srgbClr val="ffffff"/>
                </a:solidFill>
                <a:latin typeface="Arial"/>
              </a:rPr>
              <a:t>KNN</a:t>
            </a:r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504000" y="894600"/>
            <a:ext cx="9071640" cy="391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Ejercicio 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C1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C2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Media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4000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6000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Desvío estándar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2,1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1,1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3,4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0,9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-3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3,5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Ejercicio 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C1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C2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Media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4000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6000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Desvío estándar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2,1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1,1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3,4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0,9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-3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3,5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88" name="TextShape 3"/>
          <p:cNvSpPr txBox="1"/>
          <p:nvPr/>
        </p:nvSpPr>
        <p:spPr>
          <a:xfrm>
            <a:off x="144000" y="792000"/>
            <a:ext cx="9864000" cy="85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01.- Dados los siguientes ejemplos en un dominio R</a:t>
            </a:r>
            <a:r>
              <a:rPr b="0" lang="es-AR" sz="1800" spc="-1" strike="noStrike" baseline="33000">
                <a:latin typeface="Arial"/>
              </a:rPr>
              <a:t>2</a:t>
            </a:r>
            <a:r>
              <a:rPr b="0" lang="es-AR" sz="1800" spc="-1" strike="noStrike">
                <a:latin typeface="Arial"/>
              </a:rPr>
              <a:t> calcule a qué clase pertenece la nueva instancia N (x1 = 2, x2 = 1) utilizando el algoritmo KNN con k = 1, 2, 3, 4, 5 y 6. Grafique las clases y muestre a qué clase pertenece la nueva instancia.</a:t>
            </a:r>
            <a:endParaRPr b="0" lang="es-AR" sz="1800" spc="-1" strike="noStrike"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2880000" y="1839960"/>
            <a:ext cx="4266000" cy="2336040"/>
          </a:xfrm>
          <a:prstGeom prst="rect">
            <a:avLst/>
          </a:prstGeom>
          <a:ln>
            <a:noFill/>
          </a:ln>
        </p:spPr>
      </p:pic>
      <p:sp>
        <p:nvSpPr>
          <p:cNvPr id="90" name="TextShape 4"/>
          <p:cNvSpPr txBox="1"/>
          <p:nvPr/>
        </p:nvSpPr>
        <p:spPr>
          <a:xfrm>
            <a:off x="3888000" y="2376000"/>
            <a:ext cx="432000" cy="17384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i</a:t>
            </a:r>
            <a:r>
              <a:rPr b="0" lang="es-AR" sz="1600" spc="-1" strike="noStrike" baseline="-33000">
                <a:latin typeface="Arial"/>
              </a:rPr>
              <a:t>1</a:t>
            </a:r>
            <a:endParaRPr b="0" lang="es-AR" sz="1600" spc="-1" strike="noStrike">
              <a:latin typeface="Arial"/>
            </a:endParaRPr>
          </a:p>
          <a:p>
            <a:r>
              <a:rPr b="0" lang="es-AR" sz="1600" spc="-1" strike="noStrike">
                <a:latin typeface="Arial"/>
              </a:rPr>
              <a:t>i</a:t>
            </a:r>
            <a:r>
              <a:rPr b="0" lang="es-AR" sz="1600" spc="-1" strike="noStrike" baseline="-33000">
                <a:latin typeface="Arial"/>
              </a:rPr>
              <a:t>2</a:t>
            </a:r>
            <a:endParaRPr b="0" lang="es-AR" sz="1600" spc="-1" strike="noStrike">
              <a:latin typeface="Arial"/>
            </a:endParaRPr>
          </a:p>
          <a:p>
            <a:r>
              <a:rPr b="0" lang="es-AR" sz="1600" spc="-1" strike="noStrike">
                <a:latin typeface="Arial"/>
              </a:rPr>
              <a:t>i</a:t>
            </a:r>
            <a:r>
              <a:rPr b="0" lang="es-AR" sz="1600" spc="-1" strike="noStrike" baseline="-33000">
                <a:latin typeface="Arial"/>
              </a:rPr>
              <a:t>3</a:t>
            </a:r>
            <a:endParaRPr b="0" lang="es-AR" sz="1600" spc="-1" strike="noStrike">
              <a:latin typeface="Arial"/>
            </a:endParaRPr>
          </a:p>
          <a:p>
            <a:r>
              <a:rPr b="0" lang="es-AR" sz="1600" spc="-1" strike="noStrike">
                <a:latin typeface="Arial"/>
              </a:rPr>
              <a:t>i</a:t>
            </a:r>
            <a:r>
              <a:rPr b="0" lang="es-AR" sz="1600" spc="-1" strike="noStrike" baseline="-33000">
                <a:latin typeface="Arial"/>
              </a:rPr>
              <a:t>4</a:t>
            </a:r>
            <a:endParaRPr b="0" lang="es-AR" sz="1600" spc="-1" strike="noStrike">
              <a:latin typeface="Arial"/>
            </a:endParaRPr>
          </a:p>
          <a:p>
            <a:r>
              <a:rPr b="0" lang="es-AR" sz="1600" spc="-1" strike="noStrike">
                <a:latin typeface="Arial"/>
              </a:rPr>
              <a:t>i</a:t>
            </a:r>
            <a:r>
              <a:rPr b="0" lang="es-AR" sz="1600" spc="-1" strike="noStrike" baseline="-33000">
                <a:latin typeface="Arial"/>
              </a:rPr>
              <a:t>5</a:t>
            </a:r>
            <a:endParaRPr b="0" lang="es-AR" sz="1600" spc="-1" strike="noStrike">
              <a:latin typeface="Arial"/>
            </a:endParaRPr>
          </a:p>
          <a:p>
            <a:r>
              <a:rPr b="0" lang="es-AR" sz="1600" spc="-1" strike="noStrike">
                <a:latin typeface="Arial"/>
              </a:rPr>
              <a:t>i</a:t>
            </a:r>
            <a:r>
              <a:rPr b="0" lang="es-AR" sz="1600" spc="-1" strike="noStrike" baseline="-33000">
                <a:latin typeface="Arial"/>
              </a:rPr>
              <a:t>6</a:t>
            </a:r>
            <a:endParaRPr b="0" lang="es-AR" sz="1600" spc="-1" strike="noStrike"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504000" y="225720"/>
            <a:ext cx="9071640" cy="478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3300" spc="-1" strike="noStrike">
                <a:solidFill>
                  <a:srgbClr val="ffffff"/>
                </a:solidFill>
                <a:latin typeface="Arial"/>
              </a:rPr>
              <a:t>KNN</a:t>
            </a:r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504000" y="894600"/>
            <a:ext cx="9071640" cy="391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Ejercicio 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C1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C2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Media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4000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6000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Desvío estándar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2,1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1,1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3,4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0,9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-3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3,5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Ejercicio 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C1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C2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Media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4000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6000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Desvío estándar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2,1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1,1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3,4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0,9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-3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3,5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72000" y="792000"/>
            <a:ext cx="9936000" cy="9284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Calculo la distancia al nuevo punto: </a:t>
            </a:r>
            <a:endParaRPr b="0" lang="es-AR" sz="1600" spc="-1" strike="noStrike">
              <a:latin typeface="Arial"/>
            </a:endParaRPr>
          </a:p>
          <a:p>
            <a:endParaRPr b="0" lang="es-AR" sz="1600" spc="-1" strike="noStrike">
              <a:latin typeface="Arial"/>
            </a:endParaRPr>
          </a:p>
          <a:p>
            <a:r>
              <a:rPr b="0" lang="es-AR" sz="1600" spc="-1" strike="noStrike">
                <a:latin typeface="Arial"/>
                <a:ea typeface="Noto Sans CJK SC Regular"/>
              </a:rPr>
              <a:t>                                  </a:t>
            </a:r>
            <a:r>
              <a:rPr b="0" lang="es-AR" sz="1800" spc="-1" strike="noStrike">
                <a:latin typeface="Arial"/>
                <a:ea typeface="Noto Sans CJK SC Regular"/>
              </a:rPr>
              <a:t> </a:t>
            </a:r>
            <a:r>
              <a:rPr b="0" lang="es-AR" sz="1800" spc="-1" strike="noStrike">
                <a:latin typeface="Arial"/>
                <a:ea typeface="Arial"/>
              </a:rPr>
              <a:t> </a:t>
            </a:r>
            <a:r>
              <a:rPr b="0" lang="es-AR" sz="1800" spc="-1" strike="noStrike">
                <a:latin typeface="Arial"/>
                <a:ea typeface="Noto Sans CJK SC Regular"/>
              </a:rPr>
              <a:t>  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r>
              <a:rPr b="0" lang="es-AR" sz="1800" spc="-1" strike="noStrike" baseline="33000">
                <a:latin typeface="Arial"/>
                <a:ea typeface="Noto Sans CJK SC Regular"/>
              </a:rPr>
              <a:t>  </a:t>
            </a:r>
            <a:r>
              <a:rPr b="0" lang="es-AR" sz="1800" spc="-1" strike="noStrike">
                <a:latin typeface="Arial"/>
                <a:ea typeface="Arial"/>
              </a:rPr>
              <a:t> </a:t>
            </a:r>
            <a:r>
              <a:rPr b="0" lang="es-AR" sz="1800" spc="-1" strike="noStrike">
                <a:latin typeface="Arial"/>
                <a:ea typeface="Noto Sans CJK SC Regular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94" name="Line 4"/>
          <p:cNvSpPr/>
          <p:nvPr/>
        </p:nvSpPr>
        <p:spPr>
          <a:xfrm>
            <a:off x="2278440" y="1800000"/>
            <a:ext cx="1872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Shape 5"/>
          <p:cNvSpPr txBox="1"/>
          <p:nvPr/>
        </p:nvSpPr>
        <p:spPr>
          <a:xfrm>
            <a:off x="2037600" y="1755720"/>
            <a:ext cx="333000" cy="403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2200" spc="-1" strike="noStrike">
                <a:latin typeface="Arial"/>
                <a:ea typeface="Arial"/>
              </a:rPr>
              <a:t>√</a:t>
            </a:r>
            <a:endParaRPr b="0" lang="es-AR" sz="2200" spc="-1" strike="noStrike">
              <a:latin typeface="Arial"/>
            </a:endParaRPr>
          </a:p>
        </p:txBody>
      </p:sp>
      <p:sp>
        <p:nvSpPr>
          <p:cNvPr id="96" name="TextShape 6"/>
          <p:cNvSpPr txBox="1"/>
          <p:nvPr/>
        </p:nvSpPr>
        <p:spPr>
          <a:xfrm>
            <a:off x="128160" y="1827720"/>
            <a:ext cx="210384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Entonces: d(p,i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1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97" name="TextShape 7"/>
          <p:cNvSpPr txBox="1"/>
          <p:nvPr/>
        </p:nvSpPr>
        <p:spPr>
          <a:xfrm>
            <a:off x="4377960" y="1755720"/>
            <a:ext cx="333000" cy="403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2200" spc="-1" strike="noStrike">
                <a:latin typeface="Arial"/>
                <a:ea typeface="Arial"/>
              </a:rPr>
              <a:t>√</a:t>
            </a:r>
            <a:endParaRPr b="0" lang="es-AR" sz="2200" spc="-1" strike="noStrike">
              <a:latin typeface="Arial"/>
            </a:endParaRPr>
          </a:p>
        </p:txBody>
      </p:sp>
      <p:sp>
        <p:nvSpPr>
          <p:cNvPr id="98" name="Line 8"/>
          <p:cNvSpPr/>
          <p:nvPr/>
        </p:nvSpPr>
        <p:spPr>
          <a:xfrm flipV="1">
            <a:off x="4618440" y="1764000"/>
            <a:ext cx="2365560" cy="3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Shape 9"/>
          <p:cNvSpPr txBox="1"/>
          <p:nvPr/>
        </p:nvSpPr>
        <p:spPr>
          <a:xfrm>
            <a:off x="4618440" y="1791720"/>
            <a:ext cx="3340080" cy="346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  <a:ea typeface="Arial"/>
              </a:rPr>
              <a:t>(2 - (-5))</a:t>
            </a:r>
            <a:r>
              <a:rPr b="0" lang="es-AR" sz="1800" spc="-1" strike="noStrike" baseline="33000">
                <a:latin typeface="Arial"/>
                <a:ea typeface="Arial"/>
              </a:rPr>
              <a:t>2 </a:t>
            </a:r>
            <a:r>
              <a:rPr b="0" lang="es-AR" sz="1800" spc="-1" strike="noStrike">
                <a:latin typeface="Arial"/>
                <a:ea typeface="Arial"/>
              </a:rPr>
              <a:t>+ (1 – (-2))</a:t>
            </a:r>
            <a:r>
              <a:rPr b="0" lang="es-AR" sz="1800" spc="-1" strike="noStrike" baseline="33000">
                <a:latin typeface="Arial"/>
                <a:ea typeface="Arial"/>
              </a:rPr>
              <a:t>2   </a:t>
            </a:r>
            <a:r>
              <a:rPr b="0" lang="es-AR" sz="1800" spc="-1" strike="noStrike">
                <a:latin typeface="Arial"/>
                <a:ea typeface="Arial"/>
              </a:rPr>
              <a:t>= 7,62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888000" y="720000"/>
            <a:ext cx="4221360" cy="792000"/>
          </a:xfrm>
          <a:prstGeom prst="rect">
            <a:avLst/>
          </a:prstGeom>
          <a:ln>
            <a:noFill/>
          </a:ln>
        </p:spPr>
      </p:pic>
      <p:sp>
        <p:nvSpPr>
          <p:cNvPr id="101" name="TextShape 10"/>
          <p:cNvSpPr txBox="1"/>
          <p:nvPr/>
        </p:nvSpPr>
        <p:spPr>
          <a:xfrm>
            <a:off x="2158920" y="1775520"/>
            <a:ext cx="2377080" cy="657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  <a:ea typeface="Noto Sans CJK SC Regular"/>
              </a:rPr>
              <a:t> </a:t>
            </a:r>
            <a:r>
              <a:rPr b="0" lang="es-AR" sz="1800" spc="-1" strike="noStrike">
                <a:latin typeface="Arial"/>
                <a:ea typeface="Arial"/>
              </a:rPr>
              <a:t>(x</a:t>
            </a:r>
            <a:r>
              <a:rPr b="0" lang="es-AR" sz="1800" spc="-1" strike="noStrike" baseline="-33000">
                <a:latin typeface="Arial"/>
                <a:ea typeface="Arial"/>
              </a:rPr>
              <a:t>p1</a:t>
            </a:r>
            <a:r>
              <a:rPr b="0" lang="es-AR" sz="1800" spc="-1" strike="noStrike">
                <a:latin typeface="Arial"/>
                <a:ea typeface="Arial"/>
              </a:rPr>
              <a:t>-x</a:t>
            </a:r>
            <a:r>
              <a:rPr b="0" lang="es-AR" sz="1800" spc="-1" strike="noStrike" baseline="-33000">
                <a:latin typeface="Arial"/>
                <a:ea typeface="Arial"/>
              </a:rPr>
              <a:t>11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 </a:t>
            </a:r>
            <a:r>
              <a:rPr b="0" lang="es-AR" sz="1800" spc="-1" strike="noStrike">
                <a:latin typeface="Arial"/>
                <a:ea typeface="Arial"/>
              </a:rPr>
              <a:t>+ (x</a:t>
            </a:r>
            <a:r>
              <a:rPr b="0" lang="es-AR" sz="1800" spc="-1" strike="noStrike" baseline="-33000">
                <a:latin typeface="Arial"/>
                <a:ea typeface="Arial"/>
              </a:rPr>
              <a:t>p2</a:t>
            </a:r>
            <a:r>
              <a:rPr b="0" lang="es-AR" sz="1800" spc="-1" strike="noStrike">
                <a:latin typeface="Arial"/>
                <a:ea typeface="Arial"/>
              </a:rPr>
              <a:t>-x</a:t>
            </a:r>
            <a:r>
              <a:rPr b="0" lang="es-AR" sz="1800" spc="-1" strike="noStrike" baseline="-33000">
                <a:latin typeface="Arial"/>
                <a:ea typeface="Arial"/>
              </a:rPr>
              <a:t>12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 </a:t>
            </a:r>
            <a:r>
              <a:rPr b="0" lang="es-AR" sz="1800" spc="-1" strike="noStrike">
                <a:latin typeface="Arial"/>
                <a:ea typeface="Arial"/>
              </a:rPr>
              <a:t> =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02" name="TextShape 11"/>
          <p:cNvSpPr txBox="1"/>
          <p:nvPr/>
        </p:nvSpPr>
        <p:spPr>
          <a:xfrm>
            <a:off x="1121400" y="2167560"/>
            <a:ext cx="93060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d(p,i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03" name="Line 12"/>
          <p:cNvSpPr/>
          <p:nvPr/>
        </p:nvSpPr>
        <p:spPr>
          <a:xfrm>
            <a:off x="2275920" y="2182680"/>
            <a:ext cx="1872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Shape 13"/>
          <p:cNvSpPr txBox="1"/>
          <p:nvPr/>
        </p:nvSpPr>
        <p:spPr>
          <a:xfrm>
            <a:off x="2035080" y="2138400"/>
            <a:ext cx="333000" cy="403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2200" spc="-1" strike="noStrike">
                <a:latin typeface="Arial"/>
                <a:ea typeface="Arial"/>
              </a:rPr>
              <a:t>√</a:t>
            </a:r>
            <a:endParaRPr b="0" lang="es-AR" sz="2200" spc="-1" strike="noStrike">
              <a:latin typeface="Arial"/>
            </a:endParaRPr>
          </a:p>
        </p:txBody>
      </p:sp>
      <p:sp>
        <p:nvSpPr>
          <p:cNvPr id="105" name="TextShape 14"/>
          <p:cNvSpPr txBox="1"/>
          <p:nvPr/>
        </p:nvSpPr>
        <p:spPr>
          <a:xfrm>
            <a:off x="4375440" y="2138400"/>
            <a:ext cx="333000" cy="403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2200" spc="-1" strike="noStrike">
                <a:latin typeface="Arial"/>
                <a:ea typeface="Arial"/>
              </a:rPr>
              <a:t>√</a:t>
            </a:r>
            <a:endParaRPr b="0" lang="es-AR" sz="2200" spc="-1" strike="noStrike">
              <a:latin typeface="Arial"/>
            </a:endParaRPr>
          </a:p>
        </p:txBody>
      </p:sp>
      <p:sp>
        <p:nvSpPr>
          <p:cNvPr id="106" name="Line 15"/>
          <p:cNvSpPr/>
          <p:nvPr/>
        </p:nvSpPr>
        <p:spPr>
          <a:xfrm flipV="1">
            <a:off x="4615920" y="2146680"/>
            <a:ext cx="2365560" cy="3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Shape 16"/>
          <p:cNvSpPr txBox="1"/>
          <p:nvPr/>
        </p:nvSpPr>
        <p:spPr>
          <a:xfrm>
            <a:off x="4615920" y="2138400"/>
            <a:ext cx="3340080" cy="346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  <a:ea typeface="Arial"/>
              </a:rPr>
              <a:t>(2 - (-7))</a:t>
            </a:r>
            <a:r>
              <a:rPr b="0" lang="es-AR" sz="1800" spc="-1" strike="noStrike" baseline="33000">
                <a:latin typeface="Arial"/>
                <a:ea typeface="Arial"/>
              </a:rPr>
              <a:t>2 </a:t>
            </a:r>
            <a:r>
              <a:rPr b="0" lang="es-AR" sz="1800" spc="-1" strike="noStrike">
                <a:latin typeface="Arial"/>
                <a:ea typeface="Arial"/>
              </a:rPr>
              <a:t>+ (1 – (-3))</a:t>
            </a:r>
            <a:r>
              <a:rPr b="0" lang="es-AR" sz="1800" spc="-1" strike="noStrike" baseline="33000">
                <a:latin typeface="Arial"/>
                <a:ea typeface="Arial"/>
              </a:rPr>
              <a:t>2   </a:t>
            </a:r>
            <a:r>
              <a:rPr b="0" lang="es-AR" sz="1800" spc="-1" strike="noStrike">
                <a:latin typeface="Arial"/>
                <a:ea typeface="Arial"/>
              </a:rPr>
              <a:t>= 9,85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08" name="TextShape 17"/>
          <p:cNvSpPr txBox="1"/>
          <p:nvPr/>
        </p:nvSpPr>
        <p:spPr>
          <a:xfrm>
            <a:off x="2156400" y="2158200"/>
            <a:ext cx="2379600" cy="657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  <a:ea typeface="Noto Sans CJK SC Regular"/>
              </a:rPr>
              <a:t> </a:t>
            </a:r>
            <a:r>
              <a:rPr b="0" lang="es-AR" sz="1800" spc="-1" strike="noStrike">
                <a:latin typeface="Arial"/>
                <a:ea typeface="Arial"/>
              </a:rPr>
              <a:t>(x</a:t>
            </a:r>
            <a:r>
              <a:rPr b="0" lang="es-AR" sz="1800" spc="-1" strike="noStrike" baseline="-33000">
                <a:latin typeface="Arial"/>
                <a:ea typeface="Arial"/>
              </a:rPr>
              <a:t>p1</a:t>
            </a:r>
            <a:r>
              <a:rPr b="0" lang="es-AR" sz="1800" spc="-1" strike="noStrike">
                <a:latin typeface="Arial"/>
                <a:ea typeface="Arial"/>
              </a:rPr>
              <a:t>-x</a:t>
            </a:r>
            <a:r>
              <a:rPr b="0" lang="es-AR" sz="1800" spc="-1" strike="noStrike" baseline="-33000">
                <a:latin typeface="Arial"/>
                <a:ea typeface="Arial"/>
              </a:rPr>
              <a:t>21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 </a:t>
            </a:r>
            <a:r>
              <a:rPr b="0" lang="es-AR" sz="1800" spc="-1" strike="noStrike">
                <a:latin typeface="Arial"/>
                <a:ea typeface="Arial"/>
              </a:rPr>
              <a:t>+ (x</a:t>
            </a:r>
            <a:r>
              <a:rPr b="0" lang="es-AR" sz="1800" spc="-1" strike="noStrike" baseline="-33000">
                <a:latin typeface="Arial"/>
                <a:ea typeface="Arial"/>
              </a:rPr>
              <a:t>p2</a:t>
            </a:r>
            <a:r>
              <a:rPr b="0" lang="es-AR" sz="1800" spc="-1" strike="noStrike">
                <a:latin typeface="Arial"/>
                <a:ea typeface="Arial"/>
              </a:rPr>
              <a:t>-x</a:t>
            </a:r>
            <a:r>
              <a:rPr b="0" lang="es-AR" sz="1800" spc="-1" strike="noStrike" baseline="-33000">
                <a:latin typeface="Arial"/>
                <a:ea typeface="Arial"/>
              </a:rPr>
              <a:t>22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 </a:t>
            </a:r>
            <a:r>
              <a:rPr b="0" lang="es-AR" sz="1800" spc="-1" strike="noStrike">
                <a:latin typeface="Arial"/>
                <a:ea typeface="Arial"/>
              </a:rPr>
              <a:t> =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09" name="TextShape 18"/>
          <p:cNvSpPr txBox="1"/>
          <p:nvPr/>
        </p:nvSpPr>
        <p:spPr>
          <a:xfrm>
            <a:off x="1121760" y="2455920"/>
            <a:ext cx="93060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d(p,i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3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10" name="TextShape 19"/>
          <p:cNvSpPr txBox="1"/>
          <p:nvPr/>
        </p:nvSpPr>
        <p:spPr>
          <a:xfrm>
            <a:off x="1122120" y="2708280"/>
            <a:ext cx="93060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d(p,i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4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11" name="TextShape 20"/>
          <p:cNvSpPr txBox="1"/>
          <p:nvPr/>
        </p:nvSpPr>
        <p:spPr>
          <a:xfrm>
            <a:off x="1122480" y="2960640"/>
            <a:ext cx="93060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d(p,i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5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12" name="TextShape 21"/>
          <p:cNvSpPr txBox="1"/>
          <p:nvPr/>
        </p:nvSpPr>
        <p:spPr>
          <a:xfrm>
            <a:off x="1122840" y="3213000"/>
            <a:ext cx="93060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d(p,i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6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13" name="TextShape 22"/>
          <p:cNvSpPr txBox="1"/>
          <p:nvPr/>
        </p:nvSpPr>
        <p:spPr>
          <a:xfrm>
            <a:off x="7019280" y="2389680"/>
            <a:ext cx="7556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10,2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14" name="TextShape 23"/>
          <p:cNvSpPr txBox="1"/>
          <p:nvPr/>
        </p:nvSpPr>
        <p:spPr>
          <a:xfrm>
            <a:off x="7019640" y="2641680"/>
            <a:ext cx="7556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10,3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15" name="TextShape 24"/>
          <p:cNvSpPr txBox="1"/>
          <p:nvPr/>
        </p:nvSpPr>
        <p:spPr>
          <a:xfrm>
            <a:off x="7020000" y="2893680"/>
            <a:ext cx="7556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10,77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16" name="TextShape 25"/>
          <p:cNvSpPr txBox="1"/>
          <p:nvPr/>
        </p:nvSpPr>
        <p:spPr>
          <a:xfrm>
            <a:off x="7020360" y="3109680"/>
            <a:ext cx="7556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10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17" name="TextShape 26"/>
          <p:cNvSpPr txBox="1"/>
          <p:nvPr/>
        </p:nvSpPr>
        <p:spPr>
          <a:xfrm>
            <a:off x="7776000" y="1404000"/>
            <a:ext cx="100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Orden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18" name="TextShape 27"/>
          <p:cNvSpPr txBox="1"/>
          <p:nvPr/>
        </p:nvSpPr>
        <p:spPr>
          <a:xfrm>
            <a:off x="7776000" y="1791720"/>
            <a:ext cx="648000" cy="16981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>
              <a:lnSpc>
                <a:spcPct val="100000"/>
              </a:lnSpc>
              <a:spcAft>
                <a:spcPts val="283"/>
              </a:spcAft>
            </a:pPr>
            <a:r>
              <a:rPr b="0" lang="es-AR" sz="1800" spc="-1" strike="noStrike">
                <a:latin typeface="Arial"/>
              </a:rPr>
              <a:t>1°</a:t>
            </a:r>
            <a:endParaRPr b="0" lang="es-AR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83"/>
              </a:spcAft>
            </a:pPr>
            <a:r>
              <a:rPr b="0" lang="es-AR" sz="1800" spc="-1" strike="noStrike">
                <a:latin typeface="Arial"/>
              </a:rPr>
              <a:t>2°</a:t>
            </a:r>
            <a:endParaRPr b="0" lang="es-A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</a:rPr>
              <a:t>4°</a:t>
            </a:r>
            <a:endParaRPr b="0" lang="es-A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</a:rPr>
              <a:t>5°</a:t>
            </a:r>
            <a:endParaRPr b="0" lang="es-A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</a:rPr>
              <a:t>6°</a:t>
            </a:r>
            <a:endParaRPr b="0" lang="es-A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</a:rPr>
              <a:t>3°</a:t>
            </a:r>
            <a:endParaRPr b="0" lang="es-AR" sz="1800" spc="-1" strike="noStrike"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Shape 1"/>
          <p:cNvSpPr txBox="1"/>
          <p:nvPr/>
        </p:nvSpPr>
        <p:spPr>
          <a:xfrm>
            <a:off x="504000" y="225720"/>
            <a:ext cx="9071640" cy="478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3300" spc="-1" strike="noStrike">
                <a:solidFill>
                  <a:srgbClr val="ffffff"/>
                </a:solidFill>
                <a:latin typeface="Arial"/>
              </a:rPr>
              <a:t>KNN</a:t>
            </a:r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Shape 2"/>
          <p:cNvSpPr txBox="1"/>
          <p:nvPr/>
        </p:nvSpPr>
        <p:spPr>
          <a:xfrm>
            <a:off x="144000" y="684000"/>
            <a:ext cx="9792000" cy="396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400" spc="-1" strike="noStrike">
                <a:latin typeface="Arial"/>
                <a:ea typeface="Noto Sans CJK SC Regular"/>
              </a:rPr>
              <a:t>Luego determinamos a qué clase pertenece la nueva instancia utilizando el algoritmo de clasificación:</a:t>
            </a:r>
            <a:endParaRPr b="0" lang="es-AR" sz="1400" spc="-1" strike="noStrike">
              <a:latin typeface="Arial"/>
            </a:endParaRPr>
          </a:p>
        </p:txBody>
      </p:sp>
      <p:sp>
        <p:nvSpPr>
          <p:cNvPr id="121" name="TextShape 3"/>
          <p:cNvSpPr txBox="1"/>
          <p:nvPr/>
        </p:nvSpPr>
        <p:spPr>
          <a:xfrm>
            <a:off x="164160" y="2266560"/>
            <a:ext cx="6480000" cy="2811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350" spc="-1" strike="noStrike">
                <a:latin typeface="Arial"/>
              </a:rPr>
              <a:t>Entonces, si tomamos K=1:</a:t>
            </a:r>
            <a:endParaRPr b="0" lang="es-AR" sz="1350" spc="-1" strike="noStrike"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2700000" y="915120"/>
            <a:ext cx="4516920" cy="973440"/>
          </a:xfrm>
          <a:prstGeom prst="rect">
            <a:avLst/>
          </a:prstGeom>
          <a:ln>
            <a:noFill/>
          </a:ln>
        </p:spPr>
      </p:pic>
      <p:pic>
        <p:nvPicPr>
          <p:cNvPr id="123" name="" descr=""/>
          <p:cNvPicPr/>
          <p:nvPr/>
        </p:nvPicPr>
        <p:blipFill>
          <a:blip r:embed="rId2"/>
          <a:stretch/>
        </p:blipFill>
        <p:spPr>
          <a:xfrm>
            <a:off x="621720" y="1872000"/>
            <a:ext cx="8954280" cy="403560"/>
          </a:xfrm>
          <a:prstGeom prst="rect">
            <a:avLst/>
          </a:prstGeom>
          <a:ln>
            <a:noFill/>
          </a:ln>
        </p:spPr>
      </p:pic>
      <p:sp>
        <p:nvSpPr>
          <p:cNvPr id="124" name="TextShape 4"/>
          <p:cNvSpPr txBox="1"/>
          <p:nvPr/>
        </p:nvSpPr>
        <p:spPr>
          <a:xfrm>
            <a:off x="360000" y="2772000"/>
            <a:ext cx="792000" cy="401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f</a:t>
            </a:r>
            <a:r>
              <a:rPr b="0" lang="es-AR" sz="1800" spc="-1" strike="noStrike" baseline="-33000">
                <a:latin typeface="Arial"/>
              </a:rPr>
              <a:t>(xq)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25" name="CustomShape 5"/>
          <p:cNvSpPr/>
          <p:nvPr/>
        </p:nvSpPr>
        <p:spPr>
          <a:xfrm>
            <a:off x="864000" y="2628000"/>
            <a:ext cx="288000" cy="864000"/>
          </a:xfrm>
          <a:custGeom>
            <a:avLst/>
            <a:gdLst/>
            <a:ahLst/>
            <a:rect l="0" t="0" r="r" b="b"/>
            <a:pathLst>
              <a:path w="802" h="2402">
                <a:moveTo>
                  <a:pt x="801" y="0"/>
                </a:moveTo>
                <a:cubicBezTo>
                  <a:pt x="600" y="0"/>
                  <a:pt x="400" y="100"/>
                  <a:pt x="400" y="200"/>
                </a:cubicBezTo>
                <a:lnTo>
                  <a:pt x="400" y="1000"/>
                </a:lnTo>
                <a:cubicBezTo>
                  <a:pt x="400" y="1100"/>
                  <a:pt x="200" y="1200"/>
                  <a:pt x="0" y="1200"/>
                </a:cubicBezTo>
                <a:cubicBezTo>
                  <a:pt x="200" y="1200"/>
                  <a:pt x="400" y="1300"/>
                  <a:pt x="400" y="1400"/>
                </a:cubicBezTo>
                <a:lnTo>
                  <a:pt x="400" y="2200"/>
                </a:lnTo>
                <a:cubicBezTo>
                  <a:pt x="400" y="2300"/>
                  <a:pt x="600" y="2401"/>
                  <a:pt x="801" y="2401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Shape 6"/>
          <p:cNvSpPr txBox="1"/>
          <p:nvPr/>
        </p:nvSpPr>
        <p:spPr>
          <a:xfrm>
            <a:off x="1224000" y="2700000"/>
            <a:ext cx="381600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Para C</a:t>
            </a:r>
            <a:r>
              <a:rPr b="0" lang="es-AR" sz="1600" spc="-1" strike="noStrike" baseline="-33000">
                <a:latin typeface="Arial"/>
              </a:rPr>
              <a:t>0 </a:t>
            </a:r>
            <a:r>
              <a:rPr b="0" lang="es-AR" sz="1600" spc="-1" strike="noStrike">
                <a:latin typeface="Arial"/>
              </a:rPr>
              <a:t>= </a:t>
            </a:r>
            <a:r>
              <a:rPr b="0" lang="es-AR" sz="1600" spc="-1" strike="noStrike">
                <a:latin typeface="Arial"/>
                <a:ea typeface="Arial"/>
              </a:rPr>
              <a:t>∑ δ</a:t>
            </a:r>
            <a:r>
              <a:rPr b="0" lang="es-AR" sz="1600" spc="-1" strike="noStrike">
                <a:latin typeface="Arial"/>
              </a:rPr>
              <a:t> (v,f(xi)) = </a:t>
            </a:r>
            <a:r>
              <a:rPr b="0" lang="es-AR" sz="1600" spc="-1" strike="noStrike">
                <a:latin typeface="Arial"/>
                <a:ea typeface="Arial"/>
              </a:rPr>
              <a:t>δ</a:t>
            </a:r>
            <a:r>
              <a:rPr b="0" lang="es-AR" sz="1600" spc="-1" strike="noStrike">
                <a:latin typeface="Arial"/>
              </a:rPr>
              <a:t> (C</a:t>
            </a:r>
            <a:r>
              <a:rPr b="0" lang="es-AR" sz="1600" spc="-1" strike="noStrike" baseline="-33000">
                <a:latin typeface="Arial"/>
              </a:rPr>
              <a:t>0</a:t>
            </a:r>
            <a:r>
              <a:rPr b="0" lang="es-AR" sz="1600" spc="-1" strike="noStrike">
                <a:latin typeface="Arial"/>
              </a:rPr>
              <a:t> , C</a:t>
            </a:r>
            <a:r>
              <a:rPr b="0" lang="es-AR" sz="1600" spc="-1" strike="noStrike" baseline="-33000">
                <a:latin typeface="Arial"/>
              </a:rPr>
              <a:t>0</a:t>
            </a:r>
            <a:r>
              <a:rPr b="0" lang="es-AR" sz="1600" spc="-1" strike="noStrike">
                <a:latin typeface="Arial"/>
              </a:rPr>
              <a:t>) = 1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27" name="TextShape 7"/>
          <p:cNvSpPr txBox="1"/>
          <p:nvPr/>
        </p:nvSpPr>
        <p:spPr>
          <a:xfrm>
            <a:off x="1224000" y="3096000"/>
            <a:ext cx="381600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Para C</a:t>
            </a:r>
            <a:r>
              <a:rPr b="0" lang="es-AR" sz="1600" spc="-1" strike="noStrike" baseline="-33000">
                <a:latin typeface="Arial"/>
              </a:rPr>
              <a:t>1 </a:t>
            </a:r>
            <a:r>
              <a:rPr b="0" lang="es-AR" sz="1600" spc="-1" strike="noStrike">
                <a:latin typeface="Arial"/>
              </a:rPr>
              <a:t>= </a:t>
            </a:r>
            <a:r>
              <a:rPr b="0" lang="es-AR" sz="1600" spc="-1" strike="noStrike">
                <a:latin typeface="Arial"/>
                <a:ea typeface="Arial"/>
              </a:rPr>
              <a:t>∑ δ</a:t>
            </a:r>
            <a:r>
              <a:rPr b="0" lang="es-AR" sz="1600" spc="-1" strike="noStrike">
                <a:latin typeface="Arial"/>
              </a:rPr>
              <a:t> (v,f(xi)) = </a:t>
            </a:r>
            <a:r>
              <a:rPr b="0" lang="es-AR" sz="1600" spc="-1" strike="noStrike">
                <a:latin typeface="Arial"/>
                <a:ea typeface="Arial"/>
              </a:rPr>
              <a:t>δ</a:t>
            </a:r>
            <a:r>
              <a:rPr b="0" lang="es-AR" sz="1600" spc="-1" strike="noStrike">
                <a:latin typeface="Arial"/>
              </a:rPr>
              <a:t> (C</a:t>
            </a:r>
            <a:r>
              <a:rPr b="0" lang="es-AR" sz="1600" spc="-1" strike="noStrike" baseline="-33000">
                <a:latin typeface="Arial"/>
              </a:rPr>
              <a:t>1</a:t>
            </a:r>
            <a:r>
              <a:rPr b="0" lang="es-AR" sz="1600" spc="-1" strike="noStrike">
                <a:latin typeface="Arial"/>
              </a:rPr>
              <a:t> , C</a:t>
            </a:r>
            <a:r>
              <a:rPr b="0" lang="es-AR" sz="1600" spc="-1" strike="noStrike" baseline="-33000">
                <a:latin typeface="Arial"/>
              </a:rPr>
              <a:t>0</a:t>
            </a:r>
            <a:r>
              <a:rPr b="0" lang="es-AR" sz="1600" spc="-1" strike="noStrike">
                <a:latin typeface="Arial"/>
              </a:rPr>
              <a:t>) = 0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28" name="CustomShape 8"/>
          <p:cNvSpPr/>
          <p:nvPr/>
        </p:nvSpPr>
        <p:spPr>
          <a:xfrm rot="16642800">
            <a:off x="3789360" y="3006720"/>
            <a:ext cx="221760" cy="1051920"/>
          </a:xfrm>
          <a:custGeom>
            <a:avLst/>
            <a:gdLst/>
            <a:ahLst/>
            <a:rect l="0" t="0" r="r" b="b"/>
            <a:pathLst>
              <a:path w="827" h="2923">
                <a:moveTo>
                  <a:pt x="408" y="0"/>
                </a:moveTo>
                <a:cubicBezTo>
                  <a:pt x="253" y="0"/>
                  <a:pt x="117" y="121"/>
                  <a:pt x="134" y="243"/>
                </a:cubicBezTo>
                <a:lnTo>
                  <a:pt x="273" y="1217"/>
                </a:lnTo>
                <a:cubicBezTo>
                  <a:pt x="290" y="1339"/>
                  <a:pt x="154" y="1461"/>
                  <a:pt x="0" y="1460"/>
                </a:cubicBezTo>
                <a:cubicBezTo>
                  <a:pt x="154" y="1461"/>
                  <a:pt x="326" y="1582"/>
                  <a:pt x="343" y="1704"/>
                </a:cubicBezTo>
                <a:lnTo>
                  <a:pt x="482" y="2678"/>
                </a:lnTo>
                <a:cubicBezTo>
                  <a:pt x="499" y="2800"/>
                  <a:pt x="671" y="2922"/>
                  <a:pt x="826" y="2922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CustomShape 9"/>
          <p:cNvSpPr/>
          <p:nvPr/>
        </p:nvSpPr>
        <p:spPr>
          <a:xfrm rot="5820600">
            <a:off x="3808440" y="2065320"/>
            <a:ext cx="221760" cy="1051920"/>
          </a:xfrm>
          <a:custGeom>
            <a:avLst/>
            <a:gdLst/>
            <a:ahLst/>
            <a:rect l="0" t="0" r="r" b="b"/>
            <a:pathLst>
              <a:path w="829" h="2923">
                <a:moveTo>
                  <a:pt x="407" y="0"/>
                </a:moveTo>
                <a:cubicBezTo>
                  <a:pt x="252" y="0"/>
                  <a:pt x="116" y="122"/>
                  <a:pt x="133" y="243"/>
                </a:cubicBezTo>
                <a:lnTo>
                  <a:pt x="273" y="1218"/>
                </a:lnTo>
                <a:cubicBezTo>
                  <a:pt x="291" y="1339"/>
                  <a:pt x="154" y="1461"/>
                  <a:pt x="0" y="1461"/>
                </a:cubicBezTo>
                <a:cubicBezTo>
                  <a:pt x="154" y="1461"/>
                  <a:pt x="326" y="1583"/>
                  <a:pt x="344" y="1705"/>
                </a:cubicBezTo>
                <a:lnTo>
                  <a:pt x="485" y="2679"/>
                </a:lnTo>
                <a:cubicBezTo>
                  <a:pt x="502" y="2800"/>
                  <a:pt x="673" y="2922"/>
                  <a:pt x="828" y="2922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Shape 10"/>
          <p:cNvSpPr txBox="1"/>
          <p:nvPr/>
        </p:nvSpPr>
        <p:spPr>
          <a:xfrm>
            <a:off x="3744000" y="3503160"/>
            <a:ext cx="36000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0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31" name="TextShape 11"/>
          <p:cNvSpPr txBox="1"/>
          <p:nvPr/>
        </p:nvSpPr>
        <p:spPr>
          <a:xfrm>
            <a:off x="3780000" y="2279160"/>
            <a:ext cx="36000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1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32" name="Line 12"/>
          <p:cNvSpPr/>
          <p:nvPr/>
        </p:nvSpPr>
        <p:spPr>
          <a:xfrm>
            <a:off x="4896000" y="2844000"/>
            <a:ext cx="576000" cy="0"/>
          </a:xfrm>
          <a:prstGeom prst="line">
            <a:avLst/>
          </a:prstGeom>
          <a:ln w="360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Shape 13"/>
          <p:cNvSpPr txBox="1"/>
          <p:nvPr/>
        </p:nvSpPr>
        <p:spPr>
          <a:xfrm>
            <a:off x="189000" y="4500000"/>
            <a:ext cx="792000" cy="401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f</a:t>
            </a:r>
            <a:r>
              <a:rPr b="0" lang="es-AR" sz="1800" spc="-1" strike="noStrike" baseline="-33000">
                <a:latin typeface="Arial"/>
              </a:rPr>
              <a:t>(xq)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34" name="CustomShape 14"/>
          <p:cNvSpPr/>
          <p:nvPr/>
        </p:nvSpPr>
        <p:spPr>
          <a:xfrm>
            <a:off x="693000" y="4356000"/>
            <a:ext cx="288000" cy="864000"/>
          </a:xfrm>
          <a:custGeom>
            <a:avLst/>
            <a:gdLst/>
            <a:ahLst/>
            <a:rect l="0" t="0" r="r" b="b"/>
            <a:pathLst>
              <a:path w="802" h="2402">
                <a:moveTo>
                  <a:pt x="801" y="0"/>
                </a:moveTo>
                <a:cubicBezTo>
                  <a:pt x="600" y="0"/>
                  <a:pt x="400" y="100"/>
                  <a:pt x="400" y="200"/>
                </a:cubicBezTo>
                <a:lnTo>
                  <a:pt x="400" y="1000"/>
                </a:lnTo>
                <a:cubicBezTo>
                  <a:pt x="400" y="1100"/>
                  <a:pt x="200" y="1200"/>
                  <a:pt x="0" y="1200"/>
                </a:cubicBezTo>
                <a:cubicBezTo>
                  <a:pt x="200" y="1200"/>
                  <a:pt x="400" y="1300"/>
                  <a:pt x="400" y="1400"/>
                </a:cubicBezTo>
                <a:lnTo>
                  <a:pt x="400" y="2200"/>
                </a:lnTo>
                <a:cubicBezTo>
                  <a:pt x="400" y="2300"/>
                  <a:pt x="600" y="2401"/>
                  <a:pt x="801" y="2401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Shape 15"/>
          <p:cNvSpPr txBox="1"/>
          <p:nvPr/>
        </p:nvSpPr>
        <p:spPr>
          <a:xfrm>
            <a:off x="909000" y="4428000"/>
            <a:ext cx="8595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500" spc="-1" strike="noStrike">
                <a:latin typeface="Arial"/>
              </a:rPr>
              <a:t>Para C</a:t>
            </a:r>
            <a:r>
              <a:rPr b="0" lang="es-AR" sz="1500" spc="-1" strike="noStrike" baseline="-33000">
                <a:latin typeface="Arial"/>
              </a:rPr>
              <a:t>0 </a:t>
            </a:r>
            <a:r>
              <a:rPr b="0" lang="es-AR" sz="1500" spc="-1" strike="noStrike">
                <a:latin typeface="Arial"/>
              </a:rPr>
              <a:t>= </a:t>
            </a:r>
            <a:r>
              <a:rPr b="0" lang="es-AR" sz="1600" spc="-1" strike="noStrike">
                <a:latin typeface="Arial"/>
                <a:ea typeface="Arial"/>
              </a:rPr>
              <a:t>∑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(v,f(xi)) =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(C</a:t>
            </a:r>
            <a:r>
              <a:rPr b="0" lang="es-AR" sz="1500" spc="-1" strike="noStrike" baseline="-33000">
                <a:latin typeface="Arial"/>
              </a:rPr>
              <a:t>0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0</a:t>
            </a:r>
            <a:r>
              <a:rPr b="0" lang="es-AR" sz="1500" spc="-1" strike="noStrike">
                <a:latin typeface="Arial"/>
              </a:rPr>
              <a:t>)  +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(C</a:t>
            </a:r>
            <a:r>
              <a:rPr b="0" lang="es-AR" sz="1500" spc="-1" strike="noStrike" baseline="-33000">
                <a:latin typeface="Arial"/>
              </a:rPr>
              <a:t>0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0</a:t>
            </a:r>
            <a:r>
              <a:rPr b="0" lang="es-AR" sz="1500" spc="-1" strike="noStrike">
                <a:latin typeface="Arial"/>
              </a:rPr>
              <a:t>) +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(C</a:t>
            </a:r>
            <a:r>
              <a:rPr b="0" lang="es-AR" sz="1500" spc="-1" strike="noStrike" baseline="-33000">
                <a:latin typeface="Arial"/>
              </a:rPr>
              <a:t>0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1</a:t>
            </a:r>
            <a:r>
              <a:rPr b="0" lang="es-AR" sz="1500" spc="-1" strike="noStrike">
                <a:latin typeface="Arial"/>
              </a:rPr>
              <a:t>) = 2</a:t>
            </a:r>
            <a:endParaRPr b="0" lang="es-AR" sz="1500" spc="-1" strike="noStrike">
              <a:latin typeface="Arial"/>
            </a:endParaRPr>
          </a:p>
        </p:txBody>
      </p:sp>
      <p:sp>
        <p:nvSpPr>
          <p:cNvPr id="136" name="TextShape 16"/>
          <p:cNvSpPr txBox="1"/>
          <p:nvPr/>
        </p:nvSpPr>
        <p:spPr>
          <a:xfrm>
            <a:off x="909000" y="4824000"/>
            <a:ext cx="8523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500" spc="-1" strike="noStrike">
                <a:latin typeface="Arial"/>
              </a:rPr>
              <a:t>Para C</a:t>
            </a:r>
            <a:r>
              <a:rPr b="0" lang="es-AR" sz="1500" spc="-1" strike="noStrike" baseline="-33000">
                <a:latin typeface="Arial"/>
              </a:rPr>
              <a:t>1 </a:t>
            </a:r>
            <a:r>
              <a:rPr b="0" lang="es-AR" sz="1500" spc="-1" strike="noStrike">
                <a:latin typeface="Arial"/>
              </a:rPr>
              <a:t>= </a:t>
            </a:r>
            <a:r>
              <a:rPr b="0" lang="es-AR" sz="1600" spc="-1" strike="noStrike">
                <a:latin typeface="Arial"/>
                <a:ea typeface="Arial"/>
              </a:rPr>
              <a:t>∑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(v,f(xi)) =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(C</a:t>
            </a:r>
            <a:r>
              <a:rPr b="0" lang="es-AR" sz="1500" spc="-1" strike="noStrike" baseline="-33000">
                <a:latin typeface="Arial"/>
              </a:rPr>
              <a:t>1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0</a:t>
            </a:r>
            <a:r>
              <a:rPr b="0" lang="es-AR" sz="1500" spc="-1" strike="noStrike">
                <a:latin typeface="Arial"/>
              </a:rPr>
              <a:t>)  +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(C</a:t>
            </a:r>
            <a:r>
              <a:rPr b="0" lang="es-AR" sz="1500" spc="-1" strike="noStrike" baseline="-33000">
                <a:latin typeface="Arial"/>
              </a:rPr>
              <a:t>1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0</a:t>
            </a:r>
            <a:r>
              <a:rPr b="0" lang="es-AR" sz="1500" spc="-1" strike="noStrike">
                <a:latin typeface="Arial"/>
              </a:rPr>
              <a:t>) +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(C</a:t>
            </a:r>
            <a:r>
              <a:rPr b="0" lang="es-AR" sz="1500" spc="-1" strike="noStrike" baseline="-33000">
                <a:latin typeface="Arial"/>
              </a:rPr>
              <a:t>1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1</a:t>
            </a:r>
            <a:r>
              <a:rPr b="0" lang="es-AR" sz="1500" spc="-1" strike="noStrike">
                <a:latin typeface="Arial"/>
              </a:rPr>
              <a:t>) = 1</a:t>
            </a:r>
            <a:endParaRPr b="0" lang="es-AR" sz="1500" spc="-1" strike="noStrike">
              <a:latin typeface="Arial"/>
            </a:endParaRPr>
          </a:p>
        </p:txBody>
      </p:sp>
      <p:sp>
        <p:nvSpPr>
          <p:cNvPr id="137" name="CustomShape 17"/>
          <p:cNvSpPr/>
          <p:nvPr/>
        </p:nvSpPr>
        <p:spPr>
          <a:xfrm rot="16642800">
            <a:off x="3267000" y="4785840"/>
            <a:ext cx="221760" cy="851760"/>
          </a:xfrm>
          <a:custGeom>
            <a:avLst/>
            <a:gdLst/>
            <a:ahLst/>
            <a:rect l="0" t="0" r="r" b="b"/>
            <a:pathLst>
              <a:path w="787" h="2368">
                <a:moveTo>
                  <a:pt x="447" y="0"/>
                </a:moveTo>
                <a:cubicBezTo>
                  <a:pt x="292" y="0"/>
                  <a:pt x="152" y="98"/>
                  <a:pt x="166" y="197"/>
                </a:cubicBezTo>
                <a:lnTo>
                  <a:pt x="279" y="986"/>
                </a:lnTo>
                <a:cubicBezTo>
                  <a:pt x="294" y="1084"/>
                  <a:pt x="153" y="1183"/>
                  <a:pt x="0" y="1182"/>
                </a:cubicBezTo>
                <a:cubicBezTo>
                  <a:pt x="153" y="1183"/>
                  <a:pt x="321" y="1282"/>
                  <a:pt x="336" y="1380"/>
                </a:cubicBezTo>
                <a:lnTo>
                  <a:pt x="449" y="2169"/>
                </a:lnTo>
                <a:cubicBezTo>
                  <a:pt x="463" y="2268"/>
                  <a:pt x="631" y="2367"/>
                  <a:pt x="786" y="2367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CustomShape 18"/>
          <p:cNvSpPr/>
          <p:nvPr/>
        </p:nvSpPr>
        <p:spPr>
          <a:xfrm rot="5820600">
            <a:off x="3305160" y="3944880"/>
            <a:ext cx="221760" cy="828360"/>
          </a:xfrm>
          <a:custGeom>
            <a:avLst/>
            <a:gdLst/>
            <a:ahLst/>
            <a:rect l="0" t="0" r="r" b="b"/>
            <a:pathLst>
              <a:path w="784" h="2303">
                <a:moveTo>
                  <a:pt x="451" y="0"/>
                </a:moveTo>
                <a:cubicBezTo>
                  <a:pt x="297" y="0"/>
                  <a:pt x="157" y="96"/>
                  <a:pt x="170" y="192"/>
                </a:cubicBezTo>
                <a:lnTo>
                  <a:pt x="281" y="960"/>
                </a:lnTo>
                <a:cubicBezTo>
                  <a:pt x="295" y="1056"/>
                  <a:pt x="154" y="1152"/>
                  <a:pt x="0" y="1152"/>
                </a:cubicBezTo>
                <a:cubicBezTo>
                  <a:pt x="154" y="1152"/>
                  <a:pt x="322" y="1247"/>
                  <a:pt x="336" y="1343"/>
                </a:cubicBezTo>
                <a:lnTo>
                  <a:pt x="447" y="2111"/>
                </a:lnTo>
                <a:cubicBezTo>
                  <a:pt x="460" y="2206"/>
                  <a:pt x="628" y="2302"/>
                  <a:pt x="783" y="2302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Shape 19"/>
          <p:cNvSpPr txBox="1"/>
          <p:nvPr/>
        </p:nvSpPr>
        <p:spPr>
          <a:xfrm>
            <a:off x="3213000" y="5231160"/>
            <a:ext cx="36000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0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40" name="Line 20"/>
          <p:cNvSpPr/>
          <p:nvPr/>
        </p:nvSpPr>
        <p:spPr>
          <a:xfrm>
            <a:off x="6480000" y="4608000"/>
            <a:ext cx="576000" cy="0"/>
          </a:xfrm>
          <a:prstGeom prst="line">
            <a:avLst/>
          </a:prstGeom>
          <a:ln w="360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Shape 21"/>
          <p:cNvSpPr txBox="1"/>
          <p:nvPr/>
        </p:nvSpPr>
        <p:spPr>
          <a:xfrm>
            <a:off x="236160" y="3750840"/>
            <a:ext cx="1453320" cy="2815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350" spc="-1" strike="noStrike">
                <a:latin typeface="Arial"/>
              </a:rPr>
              <a:t>si tomamos K=3:</a:t>
            </a:r>
            <a:endParaRPr b="0" lang="es-AR" sz="1350" spc="-1" strike="noStrike">
              <a:latin typeface="Arial"/>
            </a:endParaRPr>
          </a:p>
        </p:txBody>
      </p:sp>
      <p:sp>
        <p:nvSpPr>
          <p:cNvPr id="142" name="TextShape 22"/>
          <p:cNvSpPr txBox="1"/>
          <p:nvPr/>
        </p:nvSpPr>
        <p:spPr>
          <a:xfrm>
            <a:off x="3285000" y="4043160"/>
            <a:ext cx="36000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1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43" name="CustomShape 23"/>
          <p:cNvSpPr/>
          <p:nvPr/>
        </p:nvSpPr>
        <p:spPr>
          <a:xfrm rot="5820600">
            <a:off x="4421160" y="3945600"/>
            <a:ext cx="221760" cy="828360"/>
          </a:xfrm>
          <a:custGeom>
            <a:avLst/>
            <a:gdLst/>
            <a:ahLst/>
            <a:rect l="0" t="0" r="r" b="b"/>
            <a:pathLst>
              <a:path w="784" h="2303">
                <a:moveTo>
                  <a:pt x="451" y="0"/>
                </a:moveTo>
                <a:cubicBezTo>
                  <a:pt x="297" y="0"/>
                  <a:pt x="157" y="96"/>
                  <a:pt x="170" y="191"/>
                </a:cubicBezTo>
                <a:lnTo>
                  <a:pt x="280" y="959"/>
                </a:lnTo>
                <a:cubicBezTo>
                  <a:pt x="294" y="1055"/>
                  <a:pt x="154" y="1151"/>
                  <a:pt x="0" y="1151"/>
                </a:cubicBezTo>
                <a:cubicBezTo>
                  <a:pt x="154" y="1151"/>
                  <a:pt x="322" y="1246"/>
                  <a:pt x="336" y="1342"/>
                </a:cubicBezTo>
                <a:lnTo>
                  <a:pt x="447" y="2111"/>
                </a:lnTo>
                <a:cubicBezTo>
                  <a:pt x="460" y="2206"/>
                  <a:pt x="628" y="2302"/>
                  <a:pt x="783" y="2301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Shape 24"/>
          <p:cNvSpPr txBox="1"/>
          <p:nvPr/>
        </p:nvSpPr>
        <p:spPr>
          <a:xfrm>
            <a:off x="4401000" y="4043880"/>
            <a:ext cx="36000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1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45" name="CustomShape 25"/>
          <p:cNvSpPr/>
          <p:nvPr/>
        </p:nvSpPr>
        <p:spPr>
          <a:xfrm rot="5820600">
            <a:off x="5465160" y="3946320"/>
            <a:ext cx="221760" cy="828360"/>
          </a:xfrm>
          <a:custGeom>
            <a:avLst/>
            <a:gdLst/>
            <a:ahLst/>
            <a:rect l="0" t="0" r="r" b="b"/>
            <a:pathLst>
              <a:path w="784" h="2303">
                <a:moveTo>
                  <a:pt x="451" y="0"/>
                </a:moveTo>
                <a:cubicBezTo>
                  <a:pt x="296" y="0"/>
                  <a:pt x="156" y="96"/>
                  <a:pt x="169" y="191"/>
                </a:cubicBezTo>
                <a:lnTo>
                  <a:pt x="280" y="959"/>
                </a:lnTo>
                <a:cubicBezTo>
                  <a:pt x="294" y="1055"/>
                  <a:pt x="154" y="1151"/>
                  <a:pt x="0" y="1151"/>
                </a:cubicBezTo>
                <a:cubicBezTo>
                  <a:pt x="154" y="1151"/>
                  <a:pt x="322" y="1246"/>
                  <a:pt x="336" y="1342"/>
                </a:cubicBezTo>
                <a:lnTo>
                  <a:pt x="446" y="2111"/>
                </a:lnTo>
                <a:cubicBezTo>
                  <a:pt x="459" y="2206"/>
                  <a:pt x="628" y="2302"/>
                  <a:pt x="783" y="2301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Shape 26"/>
          <p:cNvSpPr txBox="1"/>
          <p:nvPr/>
        </p:nvSpPr>
        <p:spPr>
          <a:xfrm>
            <a:off x="5445000" y="4044600"/>
            <a:ext cx="36000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0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47" name="CustomShape 27"/>
          <p:cNvSpPr/>
          <p:nvPr/>
        </p:nvSpPr>
        <p:spPr>
          <a:xfrm rot="16642800">
            <a:off x="3267360" y="4785840"/>
            <a:ext cx="221760" cy="851760"/>
          </a:xfrm>
          <a:custGeom>
            <a:avLst/>
            <a:gdLst/>
            <a:ahLst/>
            <a:rect l="0" t="0" r="r" b="b"/>
            <a:pathLst>
              <a:path w="787" h="2368">
                <a:moveTo>
                  <a:pt x="447" y="0"/>
                </a:moveTo>
                <a:cubicBezTo>
                  <a:pt x="292" y="0"/>
                  <a:pt x="153" y="98"/>
                  <a:pt x="166" y="197"/>
                </a:cubicBezTo>
                <a:lnTo>
                  <a:pt x="279" y="986"/>
                </a:lnTo>
                <a:cubicBezTo>
                  <a:pt x="294" y="1084"/>
                  <a:pt x="153" y="1183"/>
                  <a:pt x="0" y="1182"/>
                </a:cubicBezTo>
                <a:cubicBezTo>
                  <a:pt x="153" y="1183"/>
                  <a:pt x="322" y="1282"/>
                  <a:pt x="336" y="1380"/>
                </a:cubicBezTo>
                <a:lnTo>
                  <a:pt x="449" y="2169"/>
                </a:lnTo>
                <a:cubicBezTo>
                  <a:pt x="463" y="2268"/>
                  <a:pt x="631" y="2367"/>
                  <a:pt x="786" y="2367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Shape 28"/>
          <p:cNvSpPr txBox="1"/>
          <p:nvPr/>
        </p:nvSpPr>
        <p:spPr>
          <a:xfrm>
            <a:off x="4329360" y="5230800"/>
            <a:ext cx="36000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0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49" name="CustomShape 29"/>
          <p:cNvSpPr/>
          <p:nvPr/>
        </p:nvSpPr>
        <p:spPr>
          <a:xfrm rot="16642800">
            <a:off x="4383720" y="4785480"/>
            <a:ext cx="221760" cy="851760"/>
          </a:xfrm>
          <a:custGeom>
            <a:avLst/>
            <a:gdLst/>
            <a:ahLst/>
            <a:rect l="0" t="0" r="r" b="b"/>
            <a:pathLst>
              <a:path w="788" h="2368">
                <a:moveTo>
                  <a:pt x="448" y="0"/>
                </a:moveTo>
                <a:cubicBezTo>
                  <a:pt x="293" y="0"/>
                  <a:pt x="153" y="98"/>
                  <a:pt x="167" y="197"/>
                </a:cubicBezTo>
                <a:lnTo>
                  <a:pt x="279" y="986"/>
                </a:lnTo>
                <a:cubicBezTo>
                  <a:pt x="294" y="1084"/>
                  <a:pt x="154" y="1183"/>
                  <a:pt x="0" y="1182"/>
                </a:cubicBezTo>
                <a:cubicBezTo>
                  <a:pt x="154" y="1183"/>
                  <a:pt x="322" y="1282"/>
                  <a:pt x="337" y="1380"/>
                </a:cubicBezTo>
                <a:lnTo>
                  <a:pt x="449" y="2169"/>
                </a:lnTo>
                <a:cubicBezTo>
                  <a:pt x="463" y="2268"/>
                  <a:pt x="631" y="2367"/>
                  <a:pt x="787" y="2367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Shape 30"/>
          <p:cNvSpPr txBox="1"/>
          <p:nvPr/>
        </p:nvSpPr>
        <p:spPr>
          <a:xfrm>
            <a:off x="5409360" y="5230800"/>
            <a:ext cx="36000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1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51" name="CustomShape 31"/>
          <p:cNvSpPr/>
          <p:nvPr/>
        </p:nvSpPr>
        <p:spPr>
          <a:xfrm rot="16642800">
            <a:off x="5463720" y="4785480"/>
            <a:ext cx="221760" cy="851760"/>
          </a:xfrm>
          <a:custGeom>
            <a:avLst/>
            <a:gdLst/>
            <a:ahLst/>
            <a:rect l="0" t="0" r="r" b="b"/>
            <a:pathLst>
              <a:path w="787" h="2368">
                <a:moveTo>
                  <a:pt x="447" y="0"/>
                </a:moveTo>
                <a:cubicBezTo>
                  <a:pt x="292" y="0"/>
                  <a:pt x="152" y="98"/>
                  <a:pt x="166" y="197"/>
                </a:cubicBezTo>
                <a:lnTo>
                  <a:pt x="279" y="986"/>
                </a:lnTo>
                <a:cubicBezTo>
                  <a:pt x="294" y="1084"/>
                  <a:pt x="153" y="1183"/>
                  <a:pt x="0" y="1182"/>
                </a:cubicBezTo>
                <a:cubicBezTo>
                  <a:pt x="153" y="1183"/>
                  <a:pt x="321" y="1282"/>
                  <a:pt x="336" y="1380"/>
                </a:cubicBezTo>
                <a:lnTo>
                  <a:pt x="449" y="2169"/>
                </a:lnTo>
                <a:cubicBezTo>
                  <a:pt x="462" y="2268"/>
                  <a:pt x="631" y="2367"/>
                  <a:pt x="786" y="2367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Shape 32"/>
          <p:cNvSpPr txBox="1"/>
          <p:nvPr/>
        </p:nvSpPr>
        <p:spPr>
          <a:xfrm>
            <a:off x="1728000" y="4657680"/>
            <a:ext cx="720000" cy="238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050" spc="-1" strike="noStrike">
                <a:latin typeface="Arial"/>
              </a:rPr>
              <a:t>i=1,2,6</a:t>
            </a:r>
            <a:endParaRPr b="0" lang="es-AR" sz="1050" spc="-1" strike="noStrike">
              <a:latin typeface="Arial"/>
            </a:endParaRPr>
          </a:p>
        </p:txBody>
      </p:sp>
      <p:sp>
        <p:nvSpPr>
          <p:cNvPr id="153" name="TextShape 33"/>
          <p:cNvSpPr txBox="1"/>
          <p:nvPr/>
        </p:nvSpPr>
        <p:spPr>
          <a:xfrm>
            <a:off x="1692000" y="5089680"/>
            <a:ext cx="720000" cy="238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050" spc="-1" strike="noStrike">
                <a:latin typeface="Arial"/>
              </a:rPr>
              <a:t>i=1,2,6</a:t>
            </a:r>
            <a:endParaRPr b="0" lang="es-AR" sz="1050" spc="-1" strike="noStrike">
              <a:latin typeface="Arial"/>
            </a:endParaRPr>
          </a:p>
        </p:txBody>
      </p:sp>
      <p:sp>
        <p:nvSpPr>
          <p:cNvPr id="154" name="TextShape 34"/>
          <p:cNvSpPr txBox="1"/>
          <p:nvPr/>
        </p:nvSpPr>
        <p:spPr>
          <a:xfrm>
            <a:off x="2114280" y="3304440"/>
            <a:ext cx="360720" cy="238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050" spc="-1" strike="noStrike">
                <a:latin typeface="Arial"/>
              </a:rPr>
              <a:t>i=1</a:t>
            </a:r>
            <a:endParaRPr b="0" lang="es-AR" sz="1050" spc="-1" strike="noStrike">
              <a:latin typeface="Arial"/>
            </a:endParaRPr>
          </a:p>
        </p:txBody>
      </p:sp>
      <p:sp>
        <p:nvSpPr>
          <p:cNvPr id="155" name="TextShape 35"/>
          <p:cNvSpPr txBox="1"/>
          <p:nvPr/>
        </p:nvSpPr>
        <p:spPr>
          <a:xfrm>
            <a:off x="2114280" y="2908800"/>
            <a:ext cx="360720" cy="238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050" spc="-1" strike="noStrike">
                <a:latin typeface="Arial"/>
              </a:rPr>
              <a:t>i=1</a:t>
            </a:r>
            <a:endParaRPr b="0" lang="es-AR" sz="1050" spc="-1" strike="noStrike">
              <a:latin typeface="Arial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3"/>
          <a:srcRect l="19560" t="4715" r="21745" b="15"/>
          <a:stretch/>
        </p:blipFill>
        <p:spPr>
          <a:xfrm>
            <a:off x="6768360" y="2232000"/>
            <a:ext cx="2231640" cy="2052000"/>
          </a:xfrm>
          <a:prstGeom prst="rect">
            <a:avLst/>
          </a:prstGeom>
          <a:ln>
            <a:noFill/>
          </a:ln>
        </p:spPr>
      </p:pic>
      <p:sp>
        <p:nvSpPr>
          <p:cNvPr id="157" name="TextShape 36"/>
          <p:cNvSpPr txBox="1"/>
          <p:nvPr/>
        </p:nvSpPr>
        <p:spPr>
          <a:xfrm>
            <a:off x="6840000" y="2545560"/>
            <a:ext cx="432000" cy="17384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i</a:t>
            </a:r>
            <a:r>
              <a:rPr b="0" lang="es-AR" sz="1600" spc="-1" strike="noStrike" baseline="-33000">
                <a:latin typeface="Arial"/>
              </a:rPr>
              <a:t>1</a:t>
            </a:r>
            <a:endParaRPr b="0" lang="es-AR" sz="1600" spc="-1" strike="noStrike">
              <a:latin typeface="Arial"/>
            </a:endParaRPr>
          </a:p>
          <a:p>
            <a:r>
              <a:rPr b="0" lang="es-AR" sz="1600" spc="-1" strike="noStrike">
                <a:latin typeface="Arial"/>
              </a:rPr>
              <a:t>i</a:t>
            </a:r>
            <a:r>
              <a:rPr b="0" lang="es-AR" sz="1600" spc="-1" strike="noStrike" baseline="-33000">
                <a:latin typeface="Arial"/>
              </a:rPr>
              <a:t>2</a:t>
            </a:r>
            <a:endParaRPr b="0" lang="es-AR" sz="1600" spc="-1" strike="noStrike">
              <a:latin typeface="Arial"/>
            </a:endParaRPr>
          </a:p>
          <a:p>
            <a:r>
              <a:rPr b="0" lang="es-AR" sz="1600" spc="-1" strike="noStrike">
                <a:latin typeface="Arial"/>
              </a:rPr>
              <a:t>i</a:t>
            </a:r>
            <a:r>
              <a:rPr b="0" lang="es-AR" sz="1600" spc="-1" strike="noStrike" baseline="-33000">
                <a:latin typeface="Arial"/>
              </a:rPr>
              <a:t>3</a:t>
            </a:r>
            <a:endParaRPr b="0" lang="es-AR" sz="1600" spc="-1" strike="noStrike">
              <a:latin typeface="Arial"/>
            </a:endParaRPr>
          </a:p>
          <a:p>
            <a:r>
              <a:rPr b="0" lang="es-AR" sz="1600" spc="-1" strike="noStrike">
                <a:latin typeface="Arial"/>
              </a:rPr>
              <a:t>i</a:t>
            </a:r>
            <a:r>
              <a:rPr b="0" lang="es-AR" sz="1600" spc="-1" strike="noStrike" baseline="-33000">
                <a:latin typeface="Arial"/>
              </a:rPr>
              <a:t>4</a:t>
            </a:r>
            <a:endParaRPr b="0" lang="es-AR" sz="1600" spc="-1" strike="noStrike">
              <a:latin typeface="Arial"/>
            </a:endParaRPr>
          </a:p>
          <a:p>
            <a:r>
              <a:rPr b="0" lang="es-AR" sz="1600" spc="-1" strike="noStrike">
                <a:latin typeface="Arial"/>
              </a:rPr>
              <a:t>i</a:t>
            </a:r>
            <a:r>
              <a:rPr b="0" lang="es-AR" sz="1600" spc="-1" strike="noStrike" baseline="-33000">
                <a:latin typeface="Arial"/>
              </a:rPr>
              <a:t>5</a:t>
            </a:r>
            <a:endParaRPr b="0" lang="es-AR" sz="1600" spc="-1" strike="noStrike">
              <a:latin typeface="Arial"/>
            </a:endParaRPr>
          </a:p>
          <a:p>
            <a:r>
              <a:rPr b="0" lang="es-AR" sz="1600" spc="-1" strike="noStrike">
                <a:latin typeface="Arial"/>
              </a:rPr>
              <a:t>i</a:t>
            </a:r>
            <a:r>
              <a:rPr b="0" lang="es-AR" sz="1600" spc="-1" strike="noStrike" baseline="-33000">
                <a:latin typeface="Arial"/>
              </a:rPr>
              <a:t>6</a:t>
            </a:r>
            <a:endParaRPr b="0" lang="es-AR" sz="1600" spc="-1" strike="noStrike"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dur="indefinite" nodeType="mainSeq">
                <p:childTnLst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Shape 1"/>
          <p:cNvSpPr txBox="1"/>
          <p:nvPr/>
        </p:nvSpPr>
        <p:spPr>
          <a:xfrm>
            <a:off x="504000" y="225720"/>
            <a:ext cx="9071640" cy="478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3300" spc="-1" strike="noStrike">
                <a:solidFill>
                  <a:srgbClr val="ffffff"/>
                </a:solidFill>
                <a:latin typeface="Arial"/>
              </a:rPr>
              <a:t>KNN</a:t>
            </a:r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Shape 2"/>
          <p:cNvSpPr txBox="1"/>
          <p:nvPr/>
        </p:nvSpPr>
        <p:spPr>
          <a:xfrm>
            <a:off x="189000" y="1620000"/>
            <a:ext cx="792000" cy="401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f</a:t>
            </a:r>
            <a:r>
              <a:rPr b="0" lang="es-AR" sz="1800" spc="-1" strike="noStrike" baseline="-33000">
                <a:latin typeface="Arial"/>
              </a:rPr>
              <a:t>(xq)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60" name="CustomShape 3"/>
          <p:cNvSpPr/>
          <p:nvPr/>
        </p:nvSpPr>
        <p:spPr>
          <a:xfrm>
            <a:off x="693000" y="1476000"/>
            <a:ext cx="288000" cy="864000"/>
          </a:xfrm>
          <a:custGeom>
            <a:avLst/>
            <a:gdLst/>
            <a:ahLst/>
            <a:rect l="0" t="0" r="r" b="b"/>
            <a:pathLst>
              <a:path w="802" h="2402">
                <a:moveTo>
                  <a:pt x="801" y="0"/>
                </a:moveTo>
                <a:cubicBezTo>
                  <a:pt x="600" y="0"/>
                  <a:pt x="400" y="100"/>
                  <a:pt x="400" y="200"/>
                </a:cubicBezTo>
                <a:lnTo>
                  <a:pt x="400" y="1000"/>
                </a:lnTo>
                <a:cubicBezTo>
                  <a:pt x="400" y="1100"/>
                  <a:pt x="200" y="1200"/>
                  <a:pt x="0" y="1200"/>
                </a:cubicBezTo>
                <a:cubicBezTo>
                  <a:pt x="200" y="1200"/>
                  <a:pt x="400" y="1300"/>
                  <a:pt x="400" y="1400"/>
                </a:cubicBezTo>
                <a:lnTo>
                  <a:pt x="400" y="2200"/>
                </a:lnTo>
                <a:cubicBezTo>
                  <a:pt x="400" y="2300"/>
                  <a:pt x="600" y="2401"/>
                  <a:pt x="801" y="2401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Shape 4"/>
          <p:cNvSpPr txBox="1"/>
          <p:nvPr/>
        </p:nvSpPr>
        <p:spPr>
          <a:xfrm>
            <a:off x="945000" y="1548000"/>
            <a:ext cx="8595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500" spc="-1" strike="noStrike">
                <a:latin typeface="Arial"/>
              </a:rPr>
              <a:t>Para C</a:t>
            </a:r>
            <a:r>
              <a:rPr b="0" lang="es-AR" sz="1500" spc="-1" strike="noStrike" baseline="-33000">
                <a:latin typeface="Arial"/>
              </a:rPr>
              <a:t>0 </a:t>
            </a:r>
            <a:r>
              <a:rPr b="0" lang="es-AR" sz="1500" spc="-1" strike="noStrike">
                <a:latin typeface="Arial"/>
              </a:rPr>
              <a:t>= </a:t>
            </a:r>
            <a:r>
              <a:rPr b="0" lang="es-AR" sz="1600" spc="-1" strike="noStrike">
                <a:latin typeface="Arial"/>
                <a:ea typeface="Arial"/>
              </a:rPr>
              <a:t>∑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(v,f(xi)) =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(C</a:t>
            </a:r>
            <a:r>
              <a:rPr b="0" lang="es-AR" sz="1500" spc="-1" strike="noStrike" baseline="-33000">
                <a:latin typeface="Arial"/>
              </a:rPr>
              <a:t>0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0</a:t>
            </a:r>
            <a:r>
              <a:rPr b="0" lang="es-AR" sz="1500" spc="-1" strike="noStrike">
                <a:latin typeface="Arial"/>
              </a:rPr>
              <a:t>)  +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(C</a:t>
            </a:r>
            <a:r>
              <a:rPr b="0" lang="es-AR" sz="1500" spc="-1" strike="noStrike" baseline="-33000">
                <a:latin typeface="Arial"/>
              </a:rPr>
              <a:t>0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0</a:t>
            </a:r>
            <a:r>
              <a:rPr b="0" lang="es-AR" sz="1500" spc="-1" strike="noStrike">
                <a:latin typeface="Arial"/>
              </a:rPr>
              <a:t>) +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(C</a:t>
            </a:r>
            <a:r>
              <a:rPr b="0" lang="es-AR" sz="1500" spc="-1" strike="noStrike" baseline="-33000">
                <a:latin typeface="Arial"/>
              </a:rPr>
              <a:t>0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1</a:t>
            </a:r>
            <a:r>
              <a:rPr b="0" lang="es-AR" sz="1500" spc="-1" strike="noStrike">
                <a:latin typeface="Arial"/>
              </a:rPr>
              <a:t>) +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(C</a:t>
            </a:r>
            <a:r>
              <a:rPr b="0" lang="es-AR" sz="1500" spc="-1" strike="noStrike" baseline="-33000">
                <a:latin typeface="Arial"/>
              </a:rPr>
              <a:t>0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0</a:t>
            </a:r>
            <a:r>
              <a:rPr b="0" lang="es-AR" sz="1500" spc="-1" strike="noStrike">
                <a:latin typeface="Arial"/>
              </a:rPr>
              <a:t>) +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(C</a:t>
            </a:r>
            <a:r>
              <a:rPr b="0" lang="es-AR" sz="1500" spc="-1" strike="noStrike" baseline="-33000">
                <a:latin typeface="Arial"/>
              </a:rPr>
              <a:t>0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1</a:t>
            </a:r>
            <a:r>
              <a:rPr b="0" lang="es-AR" sz="1500" spc="-1" strike="noStrike">
                <a:latin typeface="Arial"/>
              </a:rPr>
              <a:t>)= 3</a:t>
            </a:r>
            <a:endParaRPr b="0" lang="es-AR" sz="1500" spc="-1" strike="noStrike">
              <a:latin typeface="Arial"/>
            </a:endParaRPr>
          </a:p>
        </p:txBody>
      </p:sp>
      <p:sp>
        <p:nvSpPr>
          <p:cNvPr id="162" name="TextShape 5"/>
          <p:cNvSpPr txBox="1"/>
          <p:nvPr/>
        </p:nvSpPr>
        <p:spPr>
          <a:xfrm>
            <a:off x="909000" y="1944000"/>
            <a:ext cx="8523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500" spc="-1" strike="noStrike">
                <a:latin typeface="Arial"/>
              </a:rPr>
              <a:t>Para C</a:t>
            </a:r>
            <a:r>
              <a:rPr b="0" lang="es-AR" sz="1500" spc="-1" strike="noStrike" baseline="-33000">
                <a:latin typeface="Arial"/>
              </a:rPr>
              <a:t>1 </a:t>
            </a:r>
            <a:r>
              <a:rPr b="0" lang="es-AR" sz="1500" spc="-1" strike="noStrike">
                <a:latin typeface="Arial"/>
              </a:rPr>
              <a:t>= </a:t>
            </a:r>
            <a:r>
              <a:rPr b="0" lang="es-AR" sz="1600" spc="-1" strike="noStrike">
                <a:latin typeface="Arial"/>
                <a:ea typeface="Arial"/>
              </a:rPr>
              <a:t>∑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(v,f(xi)) =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(C</a:t>
            </a:r>
            <a:r>
              <a:rPr b="0" lang="es-AR" sz="1500" spc="-1" strike="noStrike" baseline="-33000">
                <a:latin typeface="Arial"/>
              </a:rPr>
              <a:t>1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0</a:t>
            </a:r>
            <a:r>
              <a:rPr b="0" lang="es-AR" sz="1500" spc="-1" strike="noStrike">
                <a:latin typeface="Arial"/>
              </a:rPr>
              <a:t>)  +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(C</a:t>
            </a:r>
            <a:r>
              <a:rPr b="0" lang="es-AR" sz="1500" spc="-1" strike="noStrike" baseline="-33000">
                <a:latin typeface="Arial"/>
              </a:rPr>
              <a:t>1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0</a:t>
            </a:r>
            <a:r>
              <a:rPr b="0" lang="es-AR" sz="1500" spc="-1" strike="noStrike">
                <a:latin typeface="Arial"/>
              </a:rPr>
              <a:t>) +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(C</a:t>
            </a:r>
            <a:r>
              <a:rPr b="0" lang="es-AR" sz="1500" spc="-1" strike="noStrike" baseline="-33000">
                <a:latin typeface="Arial"/>
              </a:rPr>
              <a:t>1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1</a:t>
            </a:r>
            <a:r>
              <a:rPr b="0" lang="es-AR" sz="1500" spc="-1" strike="noStrike">
                <a:latin typeface="Arial"/>
              </a:rPr>
              <a:t>)  +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(C</a:t>
            </a:r>
            <a:r>
              <a:rPr b="0" lang="es-AR" sz="1500" spc="-1" strike="noStrike" baseline="-33000">
                <a:latin typeface="Arial"/>
              </a:rPr>
              <a:t>1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0</a:t>
            </a:r>
            <a:r>
              <a:rPr b="0" lang="es-AR" sz="1500" spc="-1" strike="noStrike">
                <a:latin typeface="Arial"/>
              </a:rPr>
              <a:t>) +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(C</a:t>
            </a:r>
            <a:r>
              <a:rPr b="0" lang="es-AR" sz="1500" spc="-1" strike="noStrike" baseline="-33000">
                <a:latin typeface="Arial"/>
              </a:rPr>
              <a:t>1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1</a:t>
            </a:r>
            <a:r>
              <a:rPr b="0" lang="es-AR" sz="1500" spc="-1" strike="noStrike">
                <a:latin typeface="Arial"/>
              </a:rPr>
              <a:t>)= 2</a:t>
            </a:r>
            <a:endParaRPr b="0" lang="es-AR" sz="1500" spc="-1" strike="noStrike">
              <a:latin typeface="Arial"/>
            </a:endParaRPr>
          </a:p>
        </p:txBody>
      </p:sp>
      <p:sp>
        <p:nvSpPr>
          <p:cNvPr id="163" name="CustomShape 6"/>
          <p:cNvSpPr/>
          <p:nvPr/>
        </p:nvSpPr>
        <p:spPr>
          <a:xfrm rot="16642800">
            <a:off x="3267000" y="1905840"/>
            <a:ext cx="221760" cy="851760"/>
          </a:xfrm>
          <a:custGeom>
            <a:avLst/>
            <a:gdLst/>
            <a:ahLst/>
            <a:rect l="0" t="0" r="r" b="b"/>
            <a:pathLst>
              <a:path w="787" h="2368">
                <a:moveTo>
                  <a:pt x="448" y="0"/>
                </a:moveTo>
                <a:cubicBezTo>
                  <a:pt x="292" y="0"/>
                  <a:pt x="153" y="97"/>
                  <a:pt x="167" y="196"/>
                </a:cubicBezTo>
                <a:lnTo>
                  <a:pt x="279" y="985"/>
                </a:lnTo>
                <a:cubicBezTo>
                  <a:pt x="294" y="1083"/>
                  <a:pt x="154" y="1182"/>
                  <a:pt x="0" y="1182"/>
                </a:cubicBezTo>
                <a:cubicBezTo>
                  <a:pt x="154" y="1182"/>
                  <a:pt x="322" y="1281"/>
                  <a:pt x="336" y="1379"/>
                </a:cubicBezTo>
                <a:lnTo>
                  <a:pt x="449" y="2168"/>
                </a:lnTo>
                <a:cubicBezTo>
                  <a:pt x="463" y="2267"/>
                  <a:pt x="631" y="2367"/>
                  <a:pt x="786" y="2367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CustomShape 7"/>
          <p:cNvSpPr/>
          <p:nvPr/>
        </p:nvSpPr>
        <p:spPr>
          <a:xfrm rot="5820600">
            <a:off x="3305160" y="1064880"/>
            <a:ext cx="221760" cy="828360"/>
          </a:xfrm>
          <a:custGeom>
            <a:avLst/>
            <a:gdLst/>
            <a:ahLst/>
            <a:rect l="0" t="0" r="r" b="b"/>
            <a:pathLst>
              <a:path w="784" h="2303">
                <a:moveTo>
                  <a:pt x="451" y="0"/>
                </a:moveTo>
                <a:cubicBezTo>
                  <a:pt x="296" y="0"/>
                  <a:pt x="156" y="96"/>
                  <a:pt x="169" y="191"/>
                </a:cubicBezTo>
                <a:lnTo>
                  <a:pt x="280" y="960"/>
                </a:lnTo>
                <a:cubicBezTo>
                  <a:pt x="294" y="1056"/>
                  <a:pt x="154" y="1152"/>
                  <a:pt x="0" y="1152"/>
                </a:cubicBezTo>
                <a:cubicBezTo>
                  <a:pt x="154" y="1152"/>
                  <a:pt x="322" y="1247"/>
                  <a:pt x="336" y="1343"/>
                </a:cubicBezTo>
                <a:lnTo>
                  <a:pt x="446" y="2111"/>
                </a:lnTo>
                <a:cubicBezTo>
                  <a:pt x="459" y="2206"/>
                  <a:pt x="627" y="2302"/>
                  <a:pt x="783" y="2302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Shape 8"/>
          <p:cNvSpPr txBox="1"/>
          <p:nvPr/>
        </p:nvSpPr>
        <p:spPr>
          <a:xfrm>
            <a:off x="3213000" y="2351160"/>
            <a:ext cx="36000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0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66" name="Line 9"/>
          <p:cNvSpPr/>
          <p:nvPr/>
        </p:nvSpPr>
        <p:spPr>
          <a:xfrm>
            <a:off x="8640000" y="1656000"/>
            <a:ext cx="576000" cy="0"/>
          </a:xfrm>
          <a:prstGeom prst="line">
            <a:avLst/>
          </a:prstGeom>
          <a:ln w="360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Shape 10"/>
          <p:cNvSpPr txBox="1"/>
          <p:nvPr/>
        </p:nvSpPr>
        <p:spPr>
          <a:xfrm>
            <a:off x="236160" y="870840"/>
            <a:ext cx="1453320" cy="2815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350" spc="-1" strike="noStrike">
                <a:latin typeface="Arial"/>
              </a:rPr>
              <a:t>si tomamos K=5:</a:t>
            </a:r>
            <a:endParaRPr b="0" lang="es-AR" sz="1350" spc="-1" strike="noStrike">
              <a:latin typeface="Arial"/>
            </a:endParaRPr>
          </a:p>
        </p:txBody>
      </p:sp>
      <p:sp>
        <p:nvSpPr>
          <p:cNvPr id="168" name="TextShape 11"/>
          <p:cNvSpPr txBox="1"/>
          <p:nvPr/>
        </p:nvSpPr>
        <p:spPr>
          <a:xfrm>
            <a:off x="3285000" y="1163160"/>
            <a:ext cx="36000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1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69" name="CustomShape 12"/>
          <p:cNvSpPr/>
          <p:nvPr/>
        </p:nvSpPr>
        <p:spPr>
          <a:xfrm rot="5820600">
            <a:off x="4421160" y="1065600"/>
            <a:ext cx="221760" cy="828360"/>
          </a:xfrm>
          <a:custGeom>
            <a:avLst/>
            <a:gdLst/>
            <a:ahLst/>
            <a:rect l="0" t="0" r="r" b="b"/>
            <a:pathLst>
              <a:path w="784" h="2302">
                <a:moveTo>
                  <a:pt x="451" y="0"/>
                </a:moveTo>
                <a:cubicBezTo>
                  <a:pt x="297" y="0"/>
                  <a:pt x="157" y="96"/>
                  <a:pt x="170" y="191"/>
                </a:cubicBezTo>
                <a:lnTo>
                  <a:pt x="281" y="959"/>
                </a:lnTo>
                <a:cubicBezTo>
                  <a:pt x="295" y="1055"/>
                  <a:pt x="155" y="1151"/>
                  <a:pt x="0" y="1151"/>
                </a:cubicBezTo>
                <a:cubicBezTo>
                  <a:pt x="155" y="1151"/>
                  <a:pt x="323" y="1246"/>
                  <a:pt x="337" y="1342"/>
                </a:cubicBezTo>
                <a:lnTo>
                  <a:pt x="447" y="2110"/>
                </a:lnTo>
                <a:cubicBezTo>
                  <a:pt x="460" y="2205"/>
                  <a:pt x="628" y="2301"/>
                  <a:pt x="783" y="2301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Shape 13"/>
          <p:cNvSpPr txBox="1"/>
          <p:nvPr/>
        </p:nvSpPr>
        <p:spPr>
          <a:xfrm>
            <a:off x="4401000" y="1163880"/>
            <a:ext cx="36000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1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71" name="CustomShape 14"/>
          <p:cNvSpPr/>
          <p:nvPr/>
        </p:nvSpPr>
        <p:spPr>
          <a:xfrm rot="5820600">
            <a:off x="5465160" y="1066320"/>
            <a:ext cx="221760" cy="828360"/>
          </a:xfrm>
          <a:custGeom>
            <a:avLst/>
            <a:gdLst/>
            <a:ahLst/>
            <a:rect l="0" t="0" r="r" b="b"/>
            <a:pathLst>
              <a:path w="784" h="2302">
                <a:moveTo>
                  <a:pt x="451" y="0"/>
                </a:moveTo>
                <a:cubicBezTo>
                  <a:pt x="297" y="0"/>
                  <a:pt x="157" y="96"/>
                  <a:pt x="169" y="191"/>
                </a:cubicBezTo>
                <a:lnTo>
                  <a:pt x="280" y="959"/>
                </a:lnTo>
                <a:cubicBezTo>
                  <a:pt x="294" y="1055"/>
                  <a:pt x="154" y="1151"/>
                  <a:pt x="0" y="1151"/>
                </a:cubicBezTo>
                <a:cubicBezTo>
                  <a:pt x="154" y="1151"/>
                  <a:pt x="322" y="1246"/>
                  <a:pt x="336" y="1342"/>
                </a:cubicBezTo>
                <a:lnTo>
                  <a:pt x="447" y="2110"/>
                </a:lnTo>
                <a:cubicBezTo>
                  <a:pt x="460" y="2205"/>
                  <a:pt x="628" y="2301"/>
                  <a:pt x="783" y="2301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Shape 15"/>
          <p:cNvSpPr txBox="1"/>
          <p:nvPr/>
        </p:nvSpPr>
        <p:spPr>
          <a:xfrm>
            <a:off x="5445000" y="1164600"/>
            <a:ext cx="36000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0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73" name="CustomShape 16"/>
          <p:cNvSpPr/>
          <p:nvPr/>
        </p:nvSpPr>
        <p:spPr>
          <a:xfrm rot="16642800">
            <a:off x="3267360" y="1905840"/>
            <a:ext cx="221760" cy="851760"/>
          </a:xfrm>
          <a:custGeom>
            <a:avLst/>
            <a:gdLst/>
            <a:ahLst/>
            <a:rect l="0" t="0" r="r" b="b"/>
            <a:pathLst>
              <a:path w="788" h="2369">
                <a:moveTo>
                  <a:pt x="448" y="0"/>
                </a:moveTo>
                <a:cubicBezTo>
                  <a:pt x="293" y="1"/>
                  <a:pt x="153" y="98"/>
                  <a:pt x="167" y="197"/>
                </a:cubicBezTo>
                <a:lnTo>
                  <a:pt x="279" y="986"/>
                </a:lnTo>
                <a:cubicBezTo>
                  <a:pt x="294" y="1084"/>
                  <a:pt x="154" y="1183"/>
                  <a:pt x="0" y="1183"/>
                </a:cubicBezTo>
                <a:cubicBezTo>
                  <a:pt x="154" y="1183"/>
                  <a:pt x="322" y="1282"/>
                  <a:pt x="337" y="1380"/>
                </a:cubicBezTo>
                <a:lnTo>
                  <a:pt x="449" y="2169"/>
                </a:lnTo>
                <a:cubicBezTo>
                  <a:pt x="463" y="2268"/>
                  <a:pt x="631" y="2368"/>
                  <a:pt x="787" y="2368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Shape 17"/>
          <p:cNvSpPr txBox="1"/>
          <p:nvPr/>
        </p:nvSpPr>
        <p:spPr>
          <a:xfrm>
            <a:off x="4329360" y="2350800"/>
            <a:ext cx="36000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0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75" name="CustomShape 18"/>
          <p:cNvSpPr/>
          <p:nvPr/>
        </p:nvSpPr>
        <p:spPr>
          <a:xfrm rot="16642800">
            <a:off x="4383720" y="1905480"/>
            <a:ext cx="221760" cy="851760"/>
          </a:xfrm>
          <a:custGeom>
            <a:avLst/>
            <a:gdLst/>
            <a:ahLst/>
            <a:rect l="0" t="0" r="r" b="b"/>
            <a:pathLst>
              <a:path w="787" h="2368">
                <a:moveTo>
                  <a:pt x="447" y="0"/>
                </a:moveTo>
                <a:cubicBezTo>
                  <a:pt x="292" y="0"/>
                  <a:pt x="152" y="97"/>
                  <a:pt x="166" y="196"/>
                </a:cubicBezTo>
                <a:lnTo>
                  <a:pt x="279" y="985"/>
                </a:lnTo>
                <a:cubicBezTo>
                  <a:pt x="294" y="1083"/>
                  <a:pt x="153" y="1182"/>
                  <a:pt x="0" y="1182"/>
                </a:cubicBezTo>
                <a:cubicBezTo>
                  <a:pt x="153" y="1182"/>
                  <a:pt x="321" y="1281"/>
                  <a:pt x="336" y="1379"/>
                </a:cubicBezTo>
                <a:lnTo>
                  <a:pt x="449" y="2168"/>
                </a:lnTo>
                <a:cubicBezTo>
                  <a:pt x="462" y="2267"/>
                  <a:pt x="631" y="2367"/>
                  <a:pt x="786" y="2367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Shape 19"/>
          <p:cNvSpPr txBox="1"/>
          <p:nvPr/>
        </p:nvSpPr>
        <p:spPr>
          <a:xfrm>
            <a:off x="5409360" y="2350800"/>
            <a:ext cx="36000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1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77" name="CustomShape 20"/>
          <p:cNvSpPr/>
          <p:nvPr/>
        </p:nvSpPr>
        <p:spPr>
          <a:xfrm rot="16642800">
            <a:off x="5463720" y="1905480"/>
            <a:ext cx="221760" cy="851760"/>
          </a:xfrm>
          <a:custGeom>
            <a:avLst/>
            <a:gdLst/>
            <a:ahLst/>
            <a:rect l="0" t="0" r="r" b="b"/>
            <a:pathLst>
              <a:path w="787" h="2368">
                <a:moveTo>
                  <a:pt x="448" y="0"/>
                </a:moveTo>
                <a:cubicBezTo>
                  <a:pt x="292" y="0"/>
                  <a:pt x="153" y="97"/>
                  <a:pt x="167" y="196"/>
                </a:cubicBezTo>
                <a:lnTo>
                  <a:pt x="279" y="985"/>
                </a:lnTo>
                <a:cubicBezTo>
                  <a:pt x="294" y="1083"/>
                  <a:pt x="153" y="1182"/>
                  <a:pt x="0" y="1182"/>
                </a:cubicBezTo>
                <a:cubicBezTo>
                  <a:pt x="153" y="1182"/>
                  <a:pt x="322" y="1281"/>
                  <a:pt x="336" y="1379"/>
                </a:cubicBezTo>
                <a:lnTo>
                  <a:pt x="449" y="2168"/>
                </a:lnTo>
                <a:cubicBezTo>
                  <a:pt x="463" y="2267"/>
                  <a:pt x="631" y="2367"/>
                  <a:pt x="786" y="2367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Shape 21"/>
          <p:cNvSpPr txBox="1"/>
          <p:nvPr/>
        </p:nvSpPr>
        <p:spPr>
          <a:xfrm>
            <a:off x="1692000" y="1777680"/>
            <a:ext cx="864000" cy="238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050" spc="-1" strike="noStrike">
                <a:latin typeface="Arial"/>
              </a:rPr>
              <a:t>I=1,2,6,3,4</a:t>
            </a:r>
            <a:endParaRPr b="0" lang="es-AR" sz="1050" spc="-1" strike="noStrike">
              <a:latin typeface="Arial"/>
            </a:endParaRPr>
          </a:p>
        </p:txBody>
      </p:sp>
      <p:sp>
        <p:nvSpPr>
          <p:cNvPr id="179" name="TextShape 22"/>
          <p:cNvSpPr txBox="1"/>
          <p:nvPr/>
        </p:nvSpPr>
        <p:spPr>
          <a:xfrm>
            <a:off x="1692000" y="2209680"/>
            <a:ext cx="900000" cy="238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050" spc="-1" strike="noStrike">
                <a:latin typeface="Arial"/>
              </a:rPr>
              <a:t>I=1,2,6,3,4</a:t>
            </a:r>
            <a:endParaRPr b="0" lang="es-AR" sz="1050" spc="-1" strike="noStrike">
              <a:latin typeface="Arial"/>
            </a:endParaRPr>
          </a:p>
        </p:txBody>
      </p:sp>
      <p:sp>
        <p:nvSpPr>
          <p:cNvPr id="180" name="CustomShape 23"/>
          <p:cNvSpPr/>
          <p:nvPr/>
        </p:nvSpPr>
        <p:spPr>
          <a:xfrm rot="5820600">
            <a:off x="6545160" y="1066680"/>
            <a:ext cx="221760" cy="828360"/>
          </a:xfrm>
          <a:custGeom>
            <a:avLst/>
            <a:gdLst/>
            <a:ahLst/>
            <a:rect l="0" t="0" r="r" b="b"/>
            <a:pathLst>
              <a:path w="784" h="2302">
                <a:moveTo>
                  <a:pt x="451" y="0"/>
                </a:moveTo>
                <a:cubicBezTo>
                  <a:pt x="297" y="0"/>
                  <a:pt x="157" y="96"/>
                  <a:pt x="170" y="191"/>
                </a:cubicBezTo>
                <a:lnTo>
                  <a:pt x="280" y="959"/>
                </a:lnTo>
                <a:cubicBezTo>
                  <a:pt x="294" y="1055"/>
                  <a:pt x="154" y="1151"/>
                  <a:pt x="0" y="1151"/>
                </a:cubicBezTo>
                <a:cubicBezTo>
                  <a:pt x="154" y="1151"/>
                  <a:pt x="322" y="1246"/>
                  <a:pt x="336" y="1342"/>
                </a:cubicBezTo>
                <a:lnTo>
                  <a:pt x="447" y="2110"/>
                </a:lnTo>
                <a:cubicBezTo>
                  <a:pt x="460" y="2205"/>
                  <a:pt x="628" y="2301"/>
                  <a:pt x="783" y="2301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CustomShape 24"/>
          <p:cNvSpPr/>
          <p:nvPr/>
        </p:nvSpPr>
        <p:spPr>
          <a:xfrm rot="5820600">
            <a:off x="7589160" y="1067040"/>
            <a:ext cx="221760" cy="828360"/>
          </a:xfrm>
          <a:custGeom>
            <a:avLst/>
            <a:gdLst/>
            <a:ahLst/>
            <a:rect l="0" t="0" r="r" b="b"/>
            <a:pathLst>
              <a:path w="784" h="2302">
                <a:moveTo>
                  <a:pt x="451" y="0"/>
                </a:moveTo>
                <a:cubicBezTo>
                  <a:pt x="297" y="0"/>
                  <a:pt x="156" y="96"/>
                  <a:pt x="169" y="191"/>
                </a:cubicBezTo>
                <a:lnTo>
                  <a:pt x="280" y="959"/>
                </a:lnTo>
                <a:cubicBezTo>
                  <a:pt x="294" y="1055"/>
                  <a:pt x="154" y="1151"/>
                  <a:pt x="0" y="1151"/>
                </a:cubicBezTo>
                <a:cubicBezTo>
                  <a:pt x="154" y="1151"/>
                  <a:pt x="322" y="1246"/>
                  <a:pt x="336" y="1342"/>
                </a:cubicBezTo>
                <a:lnTo>
                  <a:pt x="447" y="2110"/>
                </a:lnTo>
                <a:cubicBezTo>
                  <a:pt x="459" y="2205"/>
                  <a:pt x="628" y="2301"/>
                  <a:pt x="783" y="2301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CustomShape 25"/>
          <p:cNvSpPr/>
          <p:nvPr/>
        </p:nvSpPr>
        <p:spPr>
          <a:xfrm rot="16642800">
            <a:off x="6616080" y="1905480"/>
            <a:ext cx="221760" cy="851760"/>
          </a:xfrm>
          <a:custGeom>
            <a:avLst/>
            <a:gdLst/>
            <a:ahLst/>
            <a:rect l="0" t="0" r="r" b="b"/>
            <a:pathLst>
              <a:path w="788" h="2368">
                <a:moveTo>
                  <a:pt x="448" y="0"/>
                </a:moveTo>
                <a:cubicBezTo>
                  <a:pt x="293" y="0"/>
                  <a:pt x="153" y="98"/>
                  <a:pt x="167" y="197"/>
                </a:cubicBezTo>
                <a:lnTo>
                  <a:pt x="279" y="986"/>
                </a:lnTo>
                <a:cubicBezTo>
                  <a:pt x="294" y="1084"/>
                  <a:pt x="154" y="1183"/>
                  <a:pt x="0" y="1182"/>
                </a:cubicBezTo>
                <a:cubicBezTo>
                  <a:pt x="154" y="1183"/>
                  <a:pt x="322" y="1282"/>
                  <a:pt x="337" y="1380"/>
                </a:cubicBezTo>
                <a:lnTo>
                  <a:pt x="449" y="2169"/>
                </a:lnTo>
                <a:cubicBezTo>
                  <a:pt x="463" y="2268"/>
                  <a:pt x="631" y="2367"/>
                  <a:pt x="787" y="2367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CustomShape 26"/>
          <p:cNvSpPr/>
          <p:nvPr/>
        </p:nvSpPr>
        <p:spPr>
          <a:xfrm rot="16642800">
            <a:off x="7660440" y="1905480"/>
            <a:ext cx="221760" cy="851760"/>
          </a:xfrm>
          <a:custGeom>
            <a:avLst/>
            <a:gdLst/>
            <a:ahLst/>
            <a:rect l="0" t="0" r="r" b="b"/>
            <a:pathLst>
              <a:path w="787" h="2368">
                <a:moveTo>
                  <a:pt x="448" y="0"/>
                </a:moveTo>
                <a:cubicBezTo>
                  <a:pt x="292" y="0"/>
                  <a:pt x="153" y="98"/>
                  <a:pt x="167" y="197"/>
                </a:cubicBezTo>
                <a:lnTo>
                  <a:pt x="279" y="986"/>
                </a:lnTo>
                <a:cubicBezTo>
                  <a:pt x="294" y="1084"/>
                  <a:pt x="153" y="1182"/>
                  <a:pt x="0" y="1182"/>
                </a:cubicBezTo>
                <a:cubicBezTo>
                  <a:pt x="153" y="1182"/>
                  <a:pt x="322" y="1282"/>
                  <a:pt x="336" y="1380"/>
                </a:cubicBezTo>
                <a:lnTo>
                  <a:pt x="449" y="2169"/>
                </a:lnTo>
                <a:cubicBezTo>
                  <a:pt x="463" y="2268"/>
                  <a:pt x="631" y="2367"/>
                  <a:pt x="786" y="2367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Shape 27"/>
          <p:cNvSpPr txBox="1"/>
          <p:nvPr/>
        </p:nvSpPr>
        <p:spPr>
          <a:xfrm>
            <a:off x="6525000" y="1163880"/>
            <a:ext cx="36000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1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85" name="TextShape 28"/>
          <p:cNvSpPr txBox="1"/>
          <p:nvPr/>
        </p:nvSpPr>
        <p:spPr>
          <a:xfrm>
            <a:off x="7569000" y="1164600"/>
            <a:ext cx="36000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0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86" name="TextShape 29"/>
          <p:cNvSpPr txBox="1"/>
          <p:nvPr/>
        </p:nvSpPr>
        <p:spPr>
          <a:xfrm>
            <a:off x="7641360" y="2350800"/>
            <a:ext cx="36000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1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87" name="TextShape 30"/>
          <p:cNvSpPr txBox="1"/>
          <p:nvPr/>
        </p:nvSpPr>
        <p:spPr>
          <a:xfrm>
            <a:off x="6597360" y="2350800"/>
            <a:ext cx="36000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0</a:t>
            </a:r>
            <a:endParaRPr b="0" lang="es-AR" sz="1600" spc="-1" strike="noStrike">
              <a:latin typeface="Arial"/>
            </a:endParaRPr>
          </a:p>
        </p:txBody>
      </p:sp>
      <p:graphicFrame>
        <p:nvGraphicFramePr>
          <p:cNvPr id="188" name=""/>
          <p:cNvGraphicFramePr/>
          <p:nvPr/>
        </p:nvGraphicFramePr>
        <p:xfrm>
          <a:off x="2880000" y="2620800"/>
          <a:ext cx="3888000" cy="2891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9" name="CustomShape 31"/>
          <p:cNvSpPr/>
          <p:nvPr/>
        </p:nvSpPr>
        <p:spPr>
          <a:xfrm rot="20652000">
            <a:off x="3356280" y="2556360"/>
            <a:ext cx="3109320" cy="2343600"/>
          </a:xfrm>
          <a:prstGeom prst="ellipse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27" dur="indefinite" restart="never" nodeType="tmRoot">
          <p:childTnLst>
            <p:seq>
              <p:cTn id="28" dur="indefinite" nodeType="mainSeq">
                <p:childTnLst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Shape 1"/>
          <p:cNvSpPr txBox="1"/>
          <p:nvPr/>
        </p:nvSpPr>
        <p:spPr>
          <a:xfrm>
            <a:off x="504000" y="225720"/>
            <a:ext cx="9071640" cy="478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3300" spc="-1" strike="noStrike">
                <a:solidFill>
                  <a:srgbClr val="ffffff"/>
                </a:solidFill>
                <a:latin typeface="Arial"/>
              </a:rPr>
              <a:t>KNN</a:t>
            </a:r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Shape 2"/>
          <p:cNvSpPr txBox="1"/>
          <p:nvPr/>
        </p:nvSpPr>
        <p:spPr>
          <a:xfrm>
            <a:off x="144000" y="792000"/>
            <a:ext cx="986400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02.- Calcule el k óptimo para todos los conjuntos de datos del punto 1. Utilice el método k-fold cross validation</a:t>
            </a:r>
            <a:endParaRPr b="0" lang="es-AR" sz="1800" spc="-1" strike="noStrike">
              <a:latin typeface="Arial"/>
            </a:endParaRPr>
          </a:p>
        </p:txBody>
      </p:sp>
      <p:pic>
        <p:nvPicPr>
          <p:cNvPr id="192" name="" descr=""/>
          <p:cNvPicPr/>
          <p:nvPr/>
        </p:nvPicPr>
        <p:blipFill>
          <a:blip r:embed="rId1"/>
          <a:stretch/>
        </p:blipFill>
        <p:spPr>
          <a:xfrm>
            <a:off x="126000" y="1479960"/>
            <a:ext cx="4266000" cy="2336040"/>
          </a:xfrm>
          <a:prstGeom prst="rect">
            <a:avLst/>
          </a:prstGeom>
          <a:ln>
            <a:noFill/>
          </a:ln>
        </p:spPr>
      </p:pic>
      <p:sp>
        <p:nvSpPr>
          <p:cNvPr id="193" name="TextShape 3"/>
          <p:cNvSpPr txBox="1"/>
          <p:nvPr/>
        </p:nvSpPr>
        <p:spPr>
          <a:xfrm>
            <a:off x="1080000" y="2016000"/>
            <a:ext cx="432000" cy="17384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i</a:t>
            </a:r>
            <a:r>
              <a:rPr b="0" lang="es-AR" sz="1600" spc="-1" strike="noStrike" baseline="-33000">
                <a:latin typeface="Arial"/>
              </a:rPr>
              <a:t>1</a:t>
            </a:r>
            <a:endParaRPr b="0" lang="es-AR" sz="1600" spc="-1" strike="noStrike">
              <a:latin typeface="Arial"/>
            </a:endParaRPr>
          </a:p>
          <a:p>
            <a:r>
              <a:rPr b="0" lang="es-AR" sz="1600" spc="-1" strike="noStrike">
                <a:latin typeface="Arial"/>
              </a:rPr>
              <a:t>i</a:t>
            </a:r>
            <a:r>
              <a:rPr b="0" lang="es-AR" sz="1600" spc="-1" strike="noStrike" baseline="-33000">
                <a:latin typeface="Arial"/>
              </a:rPr>
              <a:t>2</a:t>
            </a:r>
            <a:endParaRPr b="0" lang="es-AR" sz="1600" spc="-1" strike="noStrike">
              <a:latin typeface="Arial"/>
            </a:endParaRPr>
          </a:p>
          <a:p>
            <a:r>
              <a:rPr b="0" lang="es-AR" sz="1600" spc="-1" strike="noStrike">
                <a:latin typeface="Arial"/>
              </a:rPr>
              <a:t>i</a:t>
            </a:r>
            <a:r>
              <a:rPr b="0" lang="es-AR" sz="1600" spc="-1" strike="noStrike" baseline="-33000">
                <a:latin typeface="Arial"/>
              </a:rPr>
              <a:t>3</a:t>
            </a:r>
            <a:endParaRPr b="0" lang="es-AR" sz="1600" spc="-1" strike="noStrike">
              <a:latin typeface="Arial"/>
            </a:endParaRPr>
          </a:p>
          <a:p>
            <a:r>
              <a:rPr b="0" lang="es-AR" sz="1600" spc="-1" strike="noStrike">
                <a:latin typeface="Arial"/>
              </a:rPr>
              <a:t>i</a:t>
            </a:r>
            <a:r>
              <a:rPr b="0" lang="es-AR" sz="1600" spc="-1" strike="noStrike" baseline="-33000">
                <a:latin typeface="Arial"/>
              </a:rPr>
              <a:t>4</a:t>
            </a:r>
            <a:endParaRPr b="0" lang="es-AR" sz="1600" spc="-1" strike="noStrike">
              <a:latin typeface="Arial"/>
            </a:endParaRPr>
          </a:p>
          <a:p>
            <a:r>
              <a:rPr b="0" lang="es-AR" sz="1600" spc="-1" strike="noStrike">
                <a:latin typeface="Arial"/>
              </a:rPr>
              <a:t>i</a:t>
            </a:r>
            <a:r>
              <a:rPr b="0" lang="es-AR" sz="1600" spc="-1" strike="noStrike" baseline="-33000">
                <a:latin typeface="Arial"/>
              </a:rPr>
              <a:t>5</a:t>
            </a:r>
            <a:endParaRPr b="0" lang="es-AR" sz="1600" spc="-1" strike="noStrike">
              <a:latin typeface="Arial"/>
            </a:endParaRPr>
          </a:p>
          <a:p>
            <a:r>
              <a:rPr b="0" lang="es-AR" sz="1600" spc="-1" strike="noStrike">
                <a:latin typeface="Arial"/>
              </a:rPr>
              <a:t>i</a:t>
            </a:r>
            <a:r>
              <a:rPr b="0" lang="es-AR" sz="1600" spc="-1" strike="noStrike" baseline="-33000">
                <a:latin typeface="Arial"/>
              </a:rPr>
              <a:t>6</a:t>
            </a:r>
            <a:endParaRPr b="0" lang="es-AR" sz="1600" spc="-1" strike="noStrike">
              <a:latin typeface="Arial"/>
            </a:endParaRPr>
          </a:p>
        </p:txBody>
      </p:sp>
      <p:graphicFrame>
        <p:nvGraphicFramePr>
          <p:cNvPr id="194" name="Table 4"/>
          <p:cNvGraphicFramePr/>
          <p:nvPr/>
        </p:nvGraphicFramePr>
        <p:xfrm>
          <a:off x="4832280" y="1833120"/>
          <a:ext cx="4823280" cy="2835360"/>
        </p:xfrm>
        <a:graphic>
          <a:graphicData uri="http://schemas.openxmlformats.org/drawingml/2006/table">
            <a:tbl>
              <a:tblPr/>
              <a:tblGrid>
                <a:gridCol w="602640"/>
                <a:gridCol w="602640"/>
                <a:gridCol w="602640"/>
                <a:gridCol w="602640"/>
                <a:gridCol w="602640"/>
                <a:gridCol w="602640"/>
                <a:gridCol w="602640"/>
                <a:gridCol w="605160"/>
              </a:tblGrid>
              <a:tr h="472680"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i3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i4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i5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i6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#k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solidFill>
                      <a:srgbClr val="b3b3b3"/>
                    </a:solidFill>
                  </a:tcPr>
                </a:tc>
              </a:tr>
              <a:tr h="472680"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k=1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i5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i4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i4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ctr"/>
                      <a:r>
                        <a:rPr b="0" lang="es-AR" sz="1800" spc="-1" strike="noStrike">
                          <a:latin typeface="Arial"/>
                        </a:rPr>
                        <a:t>6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a65d"/>
                    </a:solidFill>
                  </a:tcPr>
                </a:tc>
              </a:tr>
              <a:tr h="472680"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k=2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i3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i3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i6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i6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i5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ctr"/>
                      <a:r>
                        <a:rPr b="0" lang="es-AR" sz="1800" spc="-1" strike="noStrike">
                          <a:latin typeface="Arial"/>
                        </a:rPr>
                        <a:t>6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a65d"/>
                    </a:solidFill>
                  </a:tcPr>
                </a:tc>
              </a:tr>
              <a:tr h="472680"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k=3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i6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i6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i6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ctr"/>
                      <a:r>
                        <a:rPr b="0" lang="es-AR" sz="1800" spc="-1" strike="noStrike">
                          <a:latin typeface="Arial"/>
                        </a:rPr>
                        <a:t>6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00a65d"/>
                    </a:solidFill>
                  </a:tcPr>
                </a:tc>
              </a:tr>
              <a:tr h="472680"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k=4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i4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i4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i4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ctr"/>
                      <a:r>
                        <a:rPr b="0" lang="es-AR" sz="1800" spc="-1" strike="noStrike">
                          <a:latin typeface="Arial"/>
                        </a:rPr>
                        <a:t>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472320"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k=5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i5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i5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i5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i3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i3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i3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ctr"/>
                      <a:r>
                        <a:rPr b="0" lang="es-AR" sz="1800" spc="-1" strike="noStrike">
                          <a:latin typeface="Arial"/>
                        </a:rPr>
                        <a:t>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195" name="TextShape 5"/>
          <p:cNvSpPr txBox="1"/>
          <p:nvPr/>
        </p:nvSpPr>
        <p:spPr>
          <a:xfrm>
            <a:off x="4896000" y="1296000"/>
            <a:ext cx="883080" cy="3654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1</a:t>
            </a:r>
            <a:r>
              <a:rPr b="0" lang="es-AR" sz="1600" spc="-1" strike="noStrike">
                <a:latin typeface="Arial"/>
                <a:ea typeface="Noto Sans CJK SC Regular"/>
              </a:rPr>
              <a:t>,i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96" name="TextShape 6"/>
          <p:cNvSpPr txBox="1"/>
          <p:nvPr/>
        </p:nvSpPr>
        <p:spPr>
          <a:xfrm>
            <a:off x="5580000" y="1281240"/>
            <a:ext cx="3492000" cy="4467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  <a:ea typeface="Noto Sans CJK SC Regular"/>
              </a:rPr>
              <a:t> </a:t>
            </a:r>
            <a:r>
              <a:rPr b="0" lang="es-AR" sz="2200" spc="-1" strike="noStrike">
                <a:latin typeface="Arial"/>
                <a:ea typeface="Arial"/>
              </a:rPr>
              <a:t>√</a:t>
            </a:r>
            <a:r>
              <a:rPr b="0" lang="es-AR" sz="1800" spc="-1" strike="noStrike">
                <a:latin typeface="Arial"/>
                <a:ea typeface="Arial"/>
              </a:rPr>
              <a:t>(x</a:t>
            </a:r>
            <a:r>
              <a:rPr b="0" lang="es-AR" sz="1800" spc="-1" strike="noStrike" baseline="-33000">
                <a:latin typeface="Arial"/>
                <a:ea typeface="Arial"/>
              </a:rPr>
              <a:t>11</a:t>
            </a:r>
            <a:r>
              <a:rPr b="0" lang="es-AR" sz="1800" spc="-1" strike="noStrike">
                <a:latin typeface="Arial"/>
                <a:ea typeface="Arial"/>
              </a:rPr>
              <a:t>-x</a:t>
            </a:r>
            <a:r>
              <a:rPr b="0" lang="es-AR" sz="1800" spc="-1" strike="noStrike" baseline="-33000">
                <a:latin typeface="Arial"/>
                <a:ea typeface="Arial"/>
              </a:rPr>
              <a:t>21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 </a:t>
            </a:r>
            <a:r>
              <a:rPr b="0" lang="es-AR" sz="1800" spc="-1" strike="noStrike">
                <a:latin typeface="Arial"/>
                <a:ea typeface="Arial"/>
              </a:rPr>
              <a:t>+ (x</a:t>
            </a:r>
            <a:r>
              <a:rPr b="0" lang="es-AR" sz="1800" spc="-1" strike="noStrike" baseline="-33000">
                <a:latin typeface="Arial"/>
                <a:ea typeface="Arial"/>
              </a:rPr>
              <a:t>21</a:t>
            </a:r>
            <a:r>
              <a:rPr b="0" lang="es-AR" sz="1800" spc="-1" strike="noStrike">
                <a:latin typeface="Arial"/>
                <a:ea typeface="Arial"/>
              </a:rPr>
              <a:t>-x</a:t>
            </a:r>
            <a:r>
              <a:rPr b="0" lang="es-AR" sz="1800" spc="-1" strike="noStrike" baseline="-33000">
                <a:latin typeface="Arial"/>
                <a:ea typeface="Arial"/>
              </a:rPr>
              <a:t>22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 </a:t>
            </a:r>
            <a:r>
              <a:rPr b="0" lang="es-AR" sz="1800" spc="-1" strike="noStrike">
                <a:latin typeface="Arial"/>
                <a:ea typeface="Arial"/>
              </a:rPr>
              <a:t> =2,24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97" name="Line 7"/>
          <p:cNvSpPr/>
          <p:nvPr/>
        </p:nvSpPr>
        <p:spPr>
          <a:xfrm>
            <a:off x="5904000" y="1281240"/>
            <a:ext cx="180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Shape 1"/>
          <p:cNvSpPr txBox="1"/>
          <p:nvPr/>
        </p:nvSpPr>
        <p:spPr>
          <a:xfrm>
            <a:off x="504000" y="225720"/>
            <a:ext cx="9071640" cy="478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3300" spc="-1" strike="noStrike">
                <a:solidFill>
                  <a:srgbClr val="ffffff"/>
                </a:solidFill>
                <a:latin typeface="Arial"/>
              </a:rPr>
              <a:t>KNN Ponderado</a:t>
            </a:r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Shape 2"/>
          <p:cNvSpPr txBox="1"/>
          <p:nvPr/>
        </p:nvSpPr>
        <p:spPr>
          <a:xfrm>
            <a:off x="504000" y="894600"/>
            <a:ext cx="9071640" cy="391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Ejercicio 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C1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C2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Media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4000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6000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Desvío estándar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2,1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1,1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3,4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0,9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-3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3,5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Ejercicio 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C1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C2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Media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4000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6000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Desvío estándar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2,1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1,1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3,4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0,9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-3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3,5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200" name="TextShape 3"/>
          <p:cNvSpPr txBox="1"/>
          <p:nvPr/>
        </p:nvSpPr>
        <p:spPr>
          <a:xfrm>
            <a:off x="72000" y="792000"/>
            <a:ext cx="9936000" cy="10234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Calculo la distancia al nuevo punto: </a:t>
            </a:r>
            <a:endParaRPr b="0" lang="es-AR" sz="1600" spc="-1" strike="noStrike">
              <a:latin typeface="Arial"/>
            </a:endParaRPr>
          </a:p>
          <a:p>
            <a:r>
              <a:rPr b="0" lang="es-AR" sz="1600" spc="-1" strike="noStrike">
                <a:latin typeface="Arial"/>
                <a:ea typeface="Noto Sans CJK SC Regular"/>
              </a:rPr>
              <a:t>P= (0,86 ; 3,17)</a:t>
            </a:r>
            <a:endParaRPr b="0" lang="es-AR" sz="1600" spc="-1" strike="noStrike">
              <a:latin typeface="Arial"/>
            </a:endParaRPr>
          </a:p>
          <a:p>
            <a:r>
              <a:rPr b="0" lang="es-AR" sz="1600" spc="-1" strike="noStrike">
                <a:latin typeface="Arial"/>
                <a:ea typeface="Noto Sans CJK SC Regular"/>
              </a:rPr>
              <a:t>Con K=4</a:t>
            </a:r>
            <a:endParaRPr b="0" lang="es-AR" sz="1600" spc="-1" strike="noStrike">
              <a:latin typeface="Arial"/>
            </a:endParaRPr>
          </a:p>
          <a:p>
            <a:r>
              <a:rPr b="0" lang="es-AR" sz="1600" spc="-1" strike="noStrike">
                <a:latin typeface="Arial"/>
                <a:ea typeface="Noto Sans CJK SC Regular"/>
              </a:rPr>
              <a:t>                                  </a:t>
            </a:r>
            <a:r>
              <a:rPr b="0" lang="es-AR" sz="1800" spc="-1" strike="noStrike">
                <a:latin typeface="Arial"/>
                <a:ea typeface="Noto Sans CJK SC Regular"/>
              </a:rPr>
              <a:t> </a:t>
            </a:r>
            <a:r>
              <a:rPr b="0" lang="es-AR" sz="1800" spc="-1" strike="noStrike">
                <a:latin typeface="Arial"/>
                <a:ea typeface="Arial"/>
              </a:rPr>
              <a:t> </a:t>
            </a:r>
            <a:r>
              <a:rPr b="0" lang="es-AR" sz="1800" spc="-1" strike="noStrike">
                <a:latin typeface="Arial"/>
                <a:ea typeface="Noto Sans CJK SC Regular"/>
              </a:rPr>
              <a:t>  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r>
              <a:rPr b="0" lang="es-AR" sz="1800" spc="-1" strike="noStrike" baseline="33000">
                <a:latin typeface="Arial"/>
                <a:ea typeface="Noto Sans CJK SC Regular"/>
              </a:rPr>
              <a:t>  </a:t>
            </a:r>
            <a:r>
              <a:rPr b="0" lang="es-AR" sz="1800" spc="-1" strike="noStrike">
                <a:latin typeface="Arial"/>
                <a:ea typeface="Arial"/>
              </a:rPr>
              <a:t> </a:t>
            </a:r>
            <a:r>
              <a:rPr b="0" lang="es-AR" sz="1800" spc="-1" strike="noStrike">
                <a:latin typeface="Arial"/>
                <a:ea typeface="Noto Sans CJK SC Regular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01" name="Line 4"/>
          <p:cNvSpPr/>
          <p:nvPr/>
        </p:nvSpPr>
        <p:spPr>
          <a:xfrm>
            <a:off x="1882440" y="1800000"/>
            <a:ext cx="1872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Shape 5"/>
          <p:cNvSpPr txBox="1"/>
          <p:nvPr/>
        </p:nvSpPr>
        <p:spPr>
          <a:xfrm>
            <a:off x="-87840" y="1827720"/>
            <a:ext cx="210384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Entonces: 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1</a:t>
            </a:r>
            <a:r>
              <a:rPr b="0" lang="es-AR" sz="1600" spc="-1" strike="noStrike">
                <a:latin typeface="Arial"/>
                <a:ea typeface="Noto Sans CJK SC Regular"/>
              </a:rPr>
              <a:t>,p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03" name="Line 6"/>
          <p:cNvSpPr/>
          <p:nvPr/>
        </p:nvSpPr>
        <p:spPr>
          <a:xfrm flipV="1">
            <a:off x="4222440" y="1764000"/>
            <a:ext cx="2365560" cy="3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Shape 7"/>
          <p:cNvSpPr txBox="1"/>
          <p:nvPr/>
        </p:nvSpPr>
        <p:spPr>
          <a:xfrm>
            <a:off x="3751920" y="1775520"/>
            <a:ext cx="3952080" cy="658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2200" spc="-1" strike="noStrike">
                <a:latin typeface="Arial"/>
                <a:ea typeface="Arial"/>
              </a:rPr>
              <a:t>√</a:t>
            </a:r>
            <a:r>
              <a:rPr b="0" lang="es-AR" sz="1800" spc="-1" strike="noStrike">
                <a:latin typeface="Arial"/>
                <a:ea typeface="Arial"/>
              </a:rPr>
              <a:t>(4– (0,86))</a:t>
            </a:r>
            <a:r>
              <a:rPr b="0" lang="es-AR" sz="1800" spc="-1" strike="noStrike" baseline="33000">
                <a:latin typeface="Arial"/>
                <a:ea typeface="Arial"/>
              </a:rPr>
              <a:t>2 </a:t>
            </a:r>
            <a:r>
              <a:rPr b="0" lang="es-AR" sz="1800" spc="-1" strike="noStrike">
                <a:latin typeface="Arial"/>
                <a:ea typeface="Arial"/>
              </a:rPr>
              <a:t>+ (1 – (3,17))</a:t>
            </a:r>
            <a:r>
              <a:rPr b="0" lang="es-AR" sz="1800" spc="-1" strike="noStrike" baseline="33000">
                <a:latin typeface="Arial"/>
                <a:ea typeface="Arial"/>
              </a:rPr>
              <a:t>2 </a:t>
            </a:r>
            <a:r>
              <a:rPr b="0" lang="es-AR" sz="1800" spc="-1" strike="noStrike">
                <a:latin typeface="Arial"/>
                <a:ea typeface="Arial"/>
              </a:rPr>
              <a:t>=3,82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pic>
        <p:nvPicPr>
          <p:cNvPr id="205" name="" descr=""/>
          <p:cNvPicPr/>
          <p:nvPr/>
        </p:nvPicPr>
        <p:blipFill>
          <a:blip r:embed="rId1"/>
          <a:stretch/>
        </p:blipFill>
        <p:spPr>
          <a:xfrm>
            <a:off x="3672000" y="715680"/>
            <a:ext cx="3861360" cy="724320"/>
          </a:xfrm>
          <a:prstGeom prst="rect">
            <a:avLst/>
          </a:prstGeom>
          <a:ln>
            <a:noFill/>
          </a:ln>
        </p:spPr>
      </p:pic>
      <p:sp>
        <p:nvSpPr>
          <p:cNvPr id="206" name="TextShape 8"/>
          <p:cNvSpPr txBox="1"/>
          <p:nvPr/>
        </p:nvSpPr>
        <p:spPr>
          <a:xfrm>
            <a:off x="1548000" y="1775520"/>
            <a:ext cx="2484000" cy="4467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  <a:ea typeface="Noto Sans CJK SC Regular"/>
              </a:rPr>
              <a:t> </a:t>
            </a:r>
            <a:r>
              <a:rPr b="0" lang="es-AR" sz="2200" spc="-1" strike="noStrike">
                <a:latin typeface="Arial"/>
                <a:ea typeface="Arial"/>
              </a:rPr>
              <a:t>√</a:t>
            </a:r>
            <a:r>
              <a:rPr b="0" lang="es-AR" sz="1800" spc="-1" strike="noStrike">
                <a:latin typeface="Arial"/>
                <a:ea typeface="Arial"/>
              </a:rPr>
              <a:t>(x</a:t>
            </a:r>
            <a:r>
              <a:rPr b="0" lang="es-AR" sz="1800" spc="-1" strike="noStrike" baseline="-33000">
                <a:latin typeface="Arial"/>
                <a:ea typeface="Arial"/>
              </a:rPr>
              <a:t>11</a:t>
            </a:r>
            <a:r>
              <a:rPr b="0" lang="es-AR" sz="1800" spc="-1" strike="noStrike">
                <a:latin typeface="Arial"/>
                <a:ea typeface="Arial"/>
              </a:rPr>
              <a:t>-p</a:t>
            </a:r>
            <a:r>
              <a:rPr b="0" lang="es-AR" sz="1800" spc="-1" strike="noStrike" baseline="-33000">
                <a:latin typeface="Arial"/>
                <a:ea typeface="Arial"/>
              </a:rPr>
              <a:t>1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 </a:t>
            </a:r>
            <a:r>
              <a:rPr b="0" lang="es-AR" sz="1800" spc="-1" strike="noStrike">
                <a:latin typeface="Arial"/>
                <a:ea typeface="Arial"/>
              </a:rPr>
              <a:t>+ (x</a:t>
            </a:r>
            <a:r>
              <a:rPr b="0" lang="es-AR" sz="1800" spc="-1" strike="noStrike" baseline="-33000">
                <a:latin typeface="Arial"/>
                <a:ea typeface="Arial"/>
              </a:rPr>
              <a:t>21</a:t>
            </a:r>
            <a:r>
              <a:rPr b="0" lang="es-AR" sz="1800" spc="-1" strike="noStrike">
                <a:latin typeface="Arial"/>
                <a:ea typeface="Arial"/>
              </a:rPr>
              <a:t>-p</a:t>
            </a:r>
            <a:r>
              <a:rPr b="0" lang="es-AR" sz="1800" spc="-1" strike="noStrike" baseline="-33000">
                <a:latin typeface="Arial"/>
                <a:ea typeface="Arial"/>
              </a:rPr>
              <a:t>2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 </a:t>
            </a:r>
            <a:r>
              <a:rPr b="0" lang="es-AR" sz="1800" spc="-1" strike="noStrike">
                <a:latin typeface="Arial"/>
                <a:ea typeface="Arial"/>
              </a:rPr>
              <a:t> =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07" name="TextShape 9"/>
          <p:cNvSpPr txBox="1"/>
          <p:nvPr/>
        </p:nvSpPr>
        <p:spPr>
          <a:xfrm>
            <a:off x="869400" y="2167560"/>
            <a:ext cx="93060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,p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08" name="Line 10"/>
          <p:cNvSpPr/>
          <p:nvPr/>
        </p:nvSpPr>
        <p:spPr>
          <a:xfrm>
            <a:off x="1915920" y="2290680"/>
            <a:ext cx="1872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Shape 11"/>
          <p:cNvSpPr txBox="1"/>
          <p:nvPr/>
        </p:nvSpPr>
        <p:spPr>
          <a:xfrm>
            <a:off x="6588000" y="2101320"/>
            <a:ext cx="712080" cy="346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  <a:ea typeface="Arial"/>
              </a:rPr>
              <a:t> </a:t>
            </a:r>
            <a:r>
              <a:rPr b="0" lang="es-AR" sz="1800" spc="-1" strike="noStrike">
                <a:latin typeface="Arial"/>
                <a:ea typeface="Arial"/>
              </a:rPr>
              <a:t>4,68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10" name="TextShape 12"/>
          <p:cNvSpPr txBox="1"/>
          <p:nvPr/>
        </p:nvSpPr>
        <p:spPr>
          <a:xfrm>
            <a:off x="1652400" y="2230200"/>
            <a:ext cx="2379600" cy="4467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2200" spc="-1" strike="noStrike">
                <a:latin typeface="Arial"/>
                <a:ea typeface="Arial"/>
              </a:rPr>
              <a:t>√</a:t>
            </a:r>
            <a:r>
              <a:rPr b="0" lang="es-AR" sz="1800" spc="-1" strike="noStrike">
                <a:latin typeface="Arial"/>
                <a:ea typeface="Arial"/>
              </a:rPr>
              <a:t>(x</a:t>
            </a:r>
            <a:r>
              <a:rPr b="0" lang="es-AR" sz="1800" spc="-1" strike="noStrike" baseline="-33000">
                <a:latin typeface="Arial"/>
                <a:ea typeface="Arial"/>
              </a:rPr>
              <a:t>21</a:t>
            </a:r>
            <a:r>
              <a:rPr b="0" lang="es-AR" sz="1800" spc="-1" strike="noStrike">
                <a:latin typeface="Arial"/>
                <a:ea typeface="Arial"/>
              </a:rPr>
              <a:t>-p</a:t>
            </a:r>
            <a:r>
              <a:rPr b="0" lang="es-AR" sz="1800" spc="-1" strike="noStrike" baseline="-33000">
                <a:latin typeface="Arial"/>
                <a:ea typeface="Arial"/>
              </a:rPr>
              <a:t>1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 </a:t>
            </a:r>
            <a:r>
              <a:rPr b="0" lang="es-AR" sz="1800" spc="-1" strike="noStrike">
                <a:latin typeface="Arial"/>
                <a:ea typeface="Arial"/>
              </a:rPr>
              <a:t>+ (x</a:t>
            </a:r>
            <a:r>
              <a:rPr b="0" lang="es-AR" sz="1800" spc="-1" strike="noStrike" baseline="-33000">
                <a:latin typeface="Arial"/>
                <a:ea typeface="Arial"/>
              </a:rPr>
              <a:t>22</a:t>
            </a:r>
            <a:r>
              <a:rPr b="0" lang="es-AR" sz="1800" spc="-1" strike="noStrike">
                <a:latin typeface="Arial"/>
                <a:ea typeface="Arial"/>
              </a:rPr>
              <a:t>-p</a:t>
            </a:r>
            <a:r>
              <a:rPr b="0" lang="es-AR" sz="1800" spc="-1" strike="noStrike" baseline="-33000">
                <a:latin typeface="Arial"/>
                <a:ea typeface="Arial"/>
              </a:rPr>
              <a:t>2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 </a:t>
            </a:r>
            <a:r>
              <a:rPr b="0" lang="es-AR" sz="1800" spc="-1" strike="noStrike">
                <a:latin typeface="Arial"/>
                <a:ea typeface="Arial"/>
              </a:rPr>
              <a:t> =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11" name="TextShape 13"/>
          <p:cNvSpPr txBox="1"/>
          <p:nvPr/>
        </p:nvSpPr>
        <p:spPr>
          <a:xfrm>
            <a:off x="869760" y="2455920"/>
            <a:ext cx="93060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3</a:t>
            </a:r>
            <a:r>
              <a:rPr b="0" lang="es-AR" sz="1600" spc="-1" strike="noStrike">
                <a:latin typeface="Arial"/>
                <a:ea typeface="Noto Sans CJK SC Regular"/>
              </a:rPr>
              <a:t>,p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12" name="TextShape 14"/>
          <p:cNvSpPr txBox="1"/>
          <p:nvPr/>
        </p:nvSpPr>
        <p:spPr>
          <a:xfrm>
            <a:off x="870120" y="2708280"/>
            <a:ext cx="93060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4</a:t>
            </a:r>
            <a:r>
              <a:rPr b="0" lang="es-AR" sz="1600" spc="-1" strike="noStrike">
                <a:latin typeface="Arial"/>
                <a:ea typeface="Noto Sans CJK SC Regular"/>
              </a:rPr>
              <a:t>,p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13" name="TextShape 15"/>
          <p:cNvSpPr txBox="1"/>
          <p:nvPr/>
        </p:nvSpPr>
        <p:spPr>
          <a:xfrm>
            <a:off x="870480" y="2960640"/>
            <a:ext cx="93060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5</a:t>
            </a:r>
            <a:r>
              <a:rPr b="0" lang="es-AR" sz="1600" spc="-1" strike="noStrike">
                <a:latin typeface="Arial"/>
                <a:ea typeface="Noto Sans CJK SC Regular"/>
              </a:rPr>
              <a:t>,p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14" name="TextShape 16"/>
          <p:cNvSpPr txBox="1"/>
          <p:nvPr/>
        </p:nvSpPr>
        <p:spPr>
          <a:xfrm>
            <a:off x="870840" y="3213000"/>
            <a:ext cx="93060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6</a:t>
            </a:r>
            <a:r>
              <a:rPr b="0" lang="es-AR" sz="1600" spc="-1" strike="noStrike">
                <a:latin typeface="Arial"/>
                <a:ea typeface="Noto Sans CJK SC Regular"/>
              </a:rPr>
              <a:t>,p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15" name="TextShape 17"/>
          <p:cNvSpPr txBox="1"/>
          <p:nvPr/>
        </p:nvSpPr>
        <p:spPr>
          <a:xfrm>
            <a:off x="6659280" y="2389680"/>
            <a:ext cx="7556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5,29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16" name="TextShape 18"/>
          <p:cNvSpPr txBox="1"/>
          <p:nvPr/>
        </p:nvSpPr>
        <p:spPr>
          <a:xfrm>
            <a:off x="6659640" y="2641680"/>
            <a:ext cx="7556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2,85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17" name="TextShape 19"/>
          <p:cNvSpPr txBox="1"/>
          <p:nvPr/>
        </p:nvSpPr>
        <p:spPr>
          <a:xfrm>
            <a:off x="6696000" y="2893680"/>
            <a:ext cx="7556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5,68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18" name="TextShape 20"/>
          <p:cNvSpPr txBox="1"/>
          <p:nvPr/>
        </p:nvSpPr>
        <p:spPr>
          <a:xfrm>
            <a:off x="6696360" y="3109680"/>
            <a:ext cx="7556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5,90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19" name="TextShape 21"/>
          <p:cNvSpPr txBox="1"/>
          <p:nvPr/>
        </p:nvSpPr>
        <p:spPr>
          <a:xfrm>
            <a:off x="6984000" y="1404000"/>
            <a:ext cx="100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Orden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20" name="TextShape 22"/>
          <p:cNvSpPr txBox="1"/>
          <p:nvPr/>
        </p:nvSpPr>
        <p:spPr>
          <a:xfrm>
            <a:off x="7272000" y="1791720"/>
            <a:ext cx="648000" cy="16981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>
              <a:lnSpc>
                <a:spcPct val="100000"/>
              </a:lnSpc>
              <a:spcAft>
                <a:spcPts val="283"/>
              </a:spcAft>
            </a:pPr>
            <a:r>
              <a:rPr b="0" lang="es-AR" sz="1800" spc="-1" strike="noStrike">
                <a:latin typeface="Arial"/>
              </a:rPr>
              <a:t>2°</a:t>
            </a:r>
            <a:endParaRPr b="0" lang="es-AR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83"/>
              </a:spcAft>
            </a:pPr>
            <a:r>
              <a:rPr b="0" lang="es-AR" sz="1800" spc="-1" strike="noStrike">
                <a:latin typeface="Arial"/>
              </a:rPr>
              <a:t>3°</a:t>
            </a:r>
            <a:endParaRPr b="0" lang="es-A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</a:rPr>
              <a:t>4°</a:t>
            </a:r>
            <a:endParaRPr b="0" lang="es-A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</a:rPr>
              <a:t>1°</a:t>
            </a:r>
            <a:endParaRPr b="0" lang="es-A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</a:rPr>
              <a:t>5°</a:t>
            </a:r>
            <a:endParaRPr b="0" lang="es-A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</a:rPr>
              <a:t>6°</a:t>
            </a:r>
            <a:endParaRPr b="0" lang="es-AR" sz="1800" spc="-1" strike="noStrike">
              <a:latin typeface="Arial"/>
            </a:endParaRPr>
          </a:p>
        </p:txBody>
      </p:sp>
      <p:graphicFrame>
        <p:nvGraphicFramePr>
          <p:cNvPr id="221" name="Table 23"/>
          <p:cNvGraphicFramePr/>
          <p:nvPr/>
        </p:nvGraphicFramePr>
        <p:xfrm>
          <a:off x="7814880" y="109440"/>
          <a:ext cx="2213280" cy="2449080"/>
        </p:xfrm>
        <a:graphic>
          <a:graphicData uri="http://schemas.openxmlformats.org/drawingml/2006/table">
            <a:tbl>
              <a:tblPr/>
              <a:tblGrid>
                <a:gridCol w="708480"/>
                <a:gridCol w="797040"/>
                <a:gridCol w="708120"/>
              </a:tblGrid>
              <a:tr h="349920"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x1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x2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Azul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r"/>
                      <a:r>
                        <a:rPr b="0" lang="es-AR" sz="1800" spc="-1" strike="noStrike">
                          <a:latin typeface="Arial"/>
                        </a:rPr>
                        <a:t>4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r"/>
                      <a:r>
                        <a:rPr b="0" lang="es-AR" sz="1800" spc="-1" strike="noStrike">
                          <a:latin typeface="Arial"/>
                        </a:rPr>
                        <a:t>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Azul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r"/>
                      <a:r>
                        <a:rPr b="0" lang="es-AR" sz="1800" spc="-1" strike="noStrike">
                          <a:latin typeface="Arial"/>
                        </a:rPr>
                        <a:t>3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r"/>
                      <a:r>
                        <a:rPr b="0" lang="es-AR" sz="1800" spc="-1" strike="noStrike">
                          <a:latin typeface="Arial"/>
                        </a:rPr>
                        <a:t>-1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Azul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r"/>
                      <a:r>
                        <a:rPr b="0" lang="es-AR" sz="1800" spc="-1" strike="noStrike">
                          <a:latin typeface="Arial"/>
                        </a:rPr>
                        <a:t>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r"/>
                      <a:r>
                        <a:rPr b="0" lang="es-AR" sz="1800" spc="-1" strike="noStrike">
                          <a:latin typeface="Arial"/>
                        </a:rPr>
                        <a:t>-2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Rojo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r"/>
                      <a:r>
                        <a:rPr b="0" lang="es-AR" sz="1800" spc="-1" strike="noStrike">
                          <a:latin typeface="Arial"/>
                        </a:rPr>
                        <a:t>-1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r"/>
                      <a:r>
                        <a:rPr b="0" lang="es-AR" sz="1800" spc="-1" strike="noStrike">
                          <a:latin typeface="Arial"/>
                        </a:rPr>
                        <a:t>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Rojo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r"/>
                      <a:r>
                        <a:rPr b="0" lang="es-AR" sz="1800" spc="-1" strike="noStrike">
                          <a:latin typeface="Arial"/>
                        </a:rPr>
                        <a:t>-3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r"/>
                      <a:r>
                        <a:rPr b="0" lang="es-AR" sz="1800" spc="-1" strike="noStrike">
                          <a:latin typeface="Arial"/>
                        </a:rPr>
                        <a:t>-1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b="0" lang="es-AR" sz="1800" spc="-1" strike="noStrike">
                          <a:latin typeface="Arial"/>
                        </a:rPr>
                        <a:t>Rojo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r"/>
                      <a:r>
                        <a:rPr b="0" lang="es-AR" sz="1800" spc="-1" strike="noStrike">
                          <a:latin typeface="Arial"/>
                        </a:rPr>
                        <a:t>-2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pPr algn="r"/>
                      <a:r>
                        <a:rPr b="0" lang="es-AR" sz="1800" spc="-1" strike="noStrike">
                          <a:latin typeface="Arial"/>
                        </a:rPr>
                        <a:t>-2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33" dur="indefinite" restart="never" nodeType="tmRoot">
          <p:childTnLst>
            <p:seq>
              <p:cTn id="34" dur="indefinite" nodeType="mainSeq">
                <p:childTnLst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Shape 1"/>
          <p:cNvSpPr txBox="1"/>
          <p:nvPr/>
        </p:nvSpPr>
        <p:spPr>
          <a:xfrm>
            <a:off x="504000" y="9720"/>
            <a:ext cx="9071640" cy="478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3300" spc="-1" strike="noStrike">
                <a:solidFill>
                  <a:srgbClr val="ffffff"/>
                </a:solidFill>
                <a:latin typeface="Arial"/>
              </a:rPr>
              <a:t>KNN Ponderado</a:t>
            </a:r>
            <a:endParaRPr b="0" lang="es-AR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Shape 2"/>
          <p:cNvSpPr txBox="1"/>
          <p:nvPr/>
        </p:nvSpPr>
        <p:spPr>
          <a:xfrm>
            <a:off x="504000" y="894600"/>
            <a:ext cx="9071640" cy="391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Ejercicio 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C1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C2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Media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4000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6000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Desvío estándar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2,1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1,1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3,4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0,9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-3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3,5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Ejercicio 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C1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C2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Media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4000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6000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Desvío estándar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μ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σ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2,1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1,1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3,4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0,9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d2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3,1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2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-3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pPr algn="r">
              <a:spcBef>
                <a:spcPts val="1060"/>
              </a:spcBef>
            </a:pPr>
            <a:r>
              <a:rPr b="0" lang="es-AR" sz="2400" spc="-1" strike="noStrike">
                <a:solidFill>
                  <a:srgbClr val="0066cc"/>
                </a:solidFill>
                <a:latin typeface="Arial"/>
              </a:rPr>
              <a:t>3,5</a:t>
            </a:r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  <a:p>
            <a:endParaRPr b="0" lang="es-AR" sz="2400" spc="-1" strike="noStrike">
              <a:solidFill>
                <a:srgbClr val="0066cc"/>
              </a:solidFill>
              <a:latin typeface="Arial"/>
            </a:endParaRPr>
          </a:p>
        </p:txBody>
      </p:sp>
      <p:sp>
        <p:nvSpPr>
          <p:cNvPr id="224" name="TextShape 3"/>
          <p:cNvSpPr txBox="1"/>
          <p:nvPr/>
        </p:nvSpPr>
        <p:spPr>
          <a:xfrm>
            <a:off x="-15840" y="858960"/>
            <a:ext cx="210384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Entonces: 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1</a:t>
            </a:r>
            <a:r>
              <a:rPr b="0" lang="es-AR" sz="1600" spc="-1" strike="noStrike">
                <a:latin typeface="Arial"/>
                <a:ea typeface="Noto Sans CJK SC Regular"/>
              </a:rPr>
              <a:t>,p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25" name="TextShape 4"/>
          <p:cNvSpPr txBox="1"/>
          <p:nvPr/>
        </p:nvSpPr>
        <p:spPr>
          <a:xfrm>
            <a:off x="869760" y="1122120"/>
            <a:ext cx="93060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,p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26" name="TextShape 5"/>
          <p:cNvSpPr txBox="1"/>
          <p:nvPr/>
        </p:nvSpPr>
        <p:spPr>
          <a:xfrm>
            <a:off x="1944000" y="1168560"/>
            <a:ext cx="712080" cy="346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  <a:ea typeface="Arial"/>
              </a:rPr>
              <a:t> </a:t>
            </a:r>
            <a:r>
              <a:rPr b="0" lang="es-AR" sz="1800" spc="-1" strike="noStrike">
                <a:latin typeface="Arial"/>
                <a:ea typeface="Arial"/>
              </a:rPr>
              <a:t>4,68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27" name="TextShape 6"/>
          <p:cNvSpPr txBox="1"/>
          <p:nvPr/>
        </p:nvSpPr>
        <p:spPr>
          <a:xfrm>
            <a:off x="870120" y="1410480"/>
            <a:ext cx="93060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3</a:t>
            </a:r>
            <a:r>
              <a:rPr b="0" lang="es-AR" sz="1600" spc="-1" strike="noStrike">
                <a:latin typeface="Arial"/>
                <a:ea typeface="Noto Sans CJK SC Regular"/>
              </a:rPr>
              <a:t>,p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28" name="TextShape 7"/>
          <p:cNvSpPr txBox="1"/>
          <p:nvPr/>
        </p:nvSpPr>
        <p:spPr>
          <a:xfrm>
            <a:off x="870480" y="1662840"/>
            <a:ext cx="93060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4</a:t>
            </a:r>
            <a:r>
              <a:rPr b="0" lang="es-AR" sz="1600" spc="-1" strike="noStrike">
                <a:latin typeface="Arial"/>
                <a:ea typeface="Noto Sans CJK SC Regular"/>
              </a:rPr>
              <a:t>,p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29" name="TextShape 8"/>
          <p:cNvSpPr txBox="1"/>
          <p:nvPr/>
        </p:nvSpPr>
        <p:spPr>
          <a:xfrm>
            <a:off x="870840" y="1915200"/>
            <a:ext cx="93060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5</a:t>
            </a:r>
            <a:r>
              <a:rPr b="0" lang="es-AR" sz="1600" spc="-1" strike="noStrike">
                <a:latin typeface="Arial"/>
                <a:ea typeface="Noto Sans CJK SC Regular"/>
              </a:rPr>
              <a:t>,p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30" name="TextShape 9"/>
          <p:cNvSpPr txBox="1"/>
          <p:nvPr/>
        </p:nvSpPr>
        <p:spPr>
          <a:xfrm>
            <a:off x="871200" y="2167560"/>
            <a:ext cx="930600" cy="365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6</a:t>
            </a:r>
            <a:r>
              <a:rPr b="0" lang="es-AR" sz="1600" spc="-1" strike="noStrike">
                <a:latin typeface="Arial"/>
                <a:ea typeface="Noto Sans CJK SC Regular"/>
              </a:rPr>
              <a:t>,p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31" name="TextShape 10"/>
          <p:cNvSpPr txBox="1"/>
          <p:nvPr/>
        </p:nvSpPr>
        <p:spPr>
          <a:xfrm>
            <a:off x="2015280" y="1456920"/>
            <a:ext cx="7556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5,29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32" name="TextShape 11"/>
          <p:cNvSpPr txBox="1"/>
          <p:nvPr/>
        </p:nvSpPr>
        <p:spPr>
          <a:xfrm>
            <a:off x="2015640" y="1708920"/>
            <a:ext cx="7556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2,85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33" name="TextShape 12"/>
          <p:cNvSpPr txBox="1"/>
          <p:nvPr/>
        </p:nvSpPr>
        <p:spPr>
          <a:xfrm>
            <a:off x="2052000" y="1960920"/>
            <a:ext cx="7556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5,68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34" name="TextShape 13"/>
          <p:cNvSpPr txBox="1"/>
          <p:nvPr/>
        </p:nvSpPr>
        <p:spPr>
          <a:xfrm>
            <a:off x="2052360" y="2176920"/>
            <a:ext cx="7556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5,90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35" name="TextShape 14"/>
          <p:cNvSpPr txBox="1"/>
          <p:nvPr/>
        </p:nvSpPr>
        <p:spPr>
          <a:xfrm>
            <a:off x="2426760" y="654120"/>
            <a:ext cx="100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Orden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36" name="TextShape 15"/>
          <p:cNvSpPr txBox="1"/>
          <p:nvPr/>
        </p:nvSpPr>
        <p:spPr>
          <a:xfrm>
            <a:off x="2700000" y="858960"/>
            <a:ext cx="648000" cy="16981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>
              <a:lnSpc>
                <a:spcPct val="100000"/>
              </a:lnSpc>
              <a:spcAft>
                <a:spcPts val="283"/>
              </a:spcAft>
            </a:pPr>
            <a:r>
              <a:rPr b="0" lang="es-AR" sz="1800" spc="-1" strike="noStrike">
                <a:latin typeface="Arial"/>
              </a:rPr>
              <a:t>2°</a:t>
            </a:r>
            <a:endParaRPr b="0" lang="es-AR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83"/>
              </a:spcAft>
            </a:pPr>
            <a:r>
              <a:rPr b="0" lang="es-AR" sz="1800" spc="-1" strike="noStrike">
                <a:latin typeface="Arial"/>
              </a:rPr>
              <a:t>3°</a:t>
            </a:r>
            <a:endParaRPr b="0" lang="es-A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</a:rPr>
              <a:t>4°</a:t>
            </a:r>
            <a:endParaRPr b="0" lang="es-A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</a:rPr>
              <a:t>1°</a:t>
            </a:r>
            <a:endParaRPr b="0" lang="es-A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</a:rPr>
              <a:t>5°</a:t>
            </a:r>
            <a:endParaRPr b="0" lang="es-A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</a:rPr>
              <a:t>6°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37" name="TextShape 16"/>
          <p:cNvSpPr txBox="1"/>
          <p:nvPr/>
        </p:nvSpPr>
        <p:spPr>
          <a:xfrm>
            <a:off x="1995120" y="894600"/>
            <a:ext cx="660960" cy="346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  <a:ea typeface="Arial"/>
              </a:rPr>
              <a:t>3,82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38" name="TextShape 17"/>
          <p:cNvSpPr txBox="1"/>
          <p:nvPr/>
        </p:nvSpPr>
        <p:spPr>
          <a:xfrm>
            <a:off x="3204000" y="894600"/>
            <a:ext cx="972000" cy="16441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0,068</a:t>
            </a:r>
            <a:endParaRPr b="0" lang="es-AR" sz="1800" spc="-1" strike="noStrike">
              <a:latin typeface="Arial"/>
            </a:endParaRPr>
          </a:p>
          <a:p>
            <a:r>
              <a:rPr b="0" lang="es-AR" sz="1800" spc="-1" strike="noStrike">
                <a:latin typeface="Arial"/>
              </a:rPr>
              <a:t>0,045</a:t>
            </a:r>
            <a:endParaRPr b="0" lang="es-AR" sz="1800" spc="-1" strike="noStrike">
              <a:latin typeface="Arial"/>
            </a:endParaRPr>
          </a:p>
          <a:p>
            <a:r>
              <a:rPr b="0" lang="es-AR" sz="1800" spc="-1" strike="noStrike">
                <a:latin typeface="Arial"/>
              </a:rPr>
              <a:t>0,036</a:t>
            </a:r>
            <a:endParaRPr b="0" lang="es-AR" sz="1800" spc="-1" strike="noStrike">
              <a:latin typeface="Arial"/>
            </a:endParaRPr>
          </a:p>
          <a:p>
            <a:r>
              <a:rPr b="0" lang="es-AR" sz="1800" spc="-1" strike="noStrike">
                <a:latin typeface="Arial"/>
              </a:rPr>
              <a:t>0,122</a:t>
            </a:r>
            <a:endParaRPr b="0" lang="es-AR" sz="1800" spc="-1" strike="noStrike">
              <a:latin typeface="Arial"/>
            </a:endParaRPr>
          </a:p>
          <a:p>
            <a:r>
              <a:rPr b="0" lang="es-AR" sz="1800" spc="-1" strike="noStrike">
                <a:latin typeface="Arial"/>
              </a:rPr>
              <a:t>0,031</a:t>
            </a:r>
            <a:endParaRPr b="0" lang="es-AR" sz="1800" spc="-1" strike="noStrike">
              <a:latin typeface="Arial"/>
            </a:endParaRPr>
          </a:p>
          <a:p>
            <a:r>
              <a:rPr b="0" lang="es-AR" sz="1800" spc="-1" strike="noStrike">
                <a:latin typeface="Arial"/>
              </a:rPr>
              <a:t>0,029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39" name="TextShape 18"/>
          <p:cNvSpPr txBox="1"/>
          <p:nvPr/>
        </p:nvSpPr>
        <p:spPr>
          <a:xfrm>
            <a:off x="3312000" y="648000"/>
            <a:ext cx="576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1/d</a:t>
            </a:r>
            <a:r>
              <a:rPr b="0" lang="es-AR" sz="1800" spc="-1" strike="noStrike" baseline="33000">
                <a:latin typeface="Arial"/>
              </a:rPr>
              <a:t>2</a:t>
            </a:r>
            <a:endParaRPr b="0" lang="es-AR" sz="1800" spc="-1" strike="noStrike">
              <a:latin typeface="Arial"/>
            </a:endParaRPr>
          </a:p>
        </p:txBody>
      </p:sp>
      <p:pic>
        <p:nvPicPr>
          <p:cNvPr id="240" name="" descr=""/>
          <p:cNvPicPr/>
          <p:nvPr/>
        </p:nvPicPr>
        <p:blipFill>
          <a:blip r:embed="rId1"/>
          <a:stretch/>
        </p:blipFill>
        <p:spPr>
          <a:xfrm>
            <a:off x="4546080" y="792000"/>
            <a:ext cx="5317920" cy="1008000"/>
          </a:xfrm>
          <a:prstGeom prst="rect">
            <a:avLst/>
          </a:prstGeom>
          <a:ln>
            <a:noFill/>
          </a:ln>
        </p:spPr>
      </p:pic>
      <p:sp>
        <p:nvSpPr>
          <p:cNvPr id="241" name="TextShape 19"/>
          <p:cNvSpPr txBox="1"/>
          <p:nvPr/>
        </p:nvSpPr>
        <p:spPr>
          <a:xfrm>
            <a:off x="72000" y="2637720"/>
            <a:ext cx="9936000" cy="1250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800" spc="-1" strike="noStrike">
                <a:latin typeface="Arial"/>
              </a:rPr>
              <a:t>Para K=4</a:t>
            </a:r>
            <a:endParaRPr b="0" lang="es-AR" sz="1800" spc="-1" strike="noStrike">
              <a:latin typeface="Arial"/>
            </a:endParaRPr>
          </a:p>
          <a:p>
            <a:r>
              <a:rPr b="0" lang="es-AR" sz="1800" spc="-1" strike="noStrike">
                <a:latin typeface="Arial"/>
              </a:rPr>
              <a:t>	</a:t>
            </a:r>
            <a:r>
              <a:rPr b="0" lang="es-AR" sz="1600" spc="-1" strike="noStrike">
                <a:latin typeface="Arial"/>
              </a:rPr>
              <a:t>Azul= </a:t>
            </a:r>
            <a:r>
              <a:rPr b="0" lang="es-AR" sz="1500" spc="-1" strike="noStrike">
                <a:latin typeface="Arial"/>
                <a:ea typeface="Arial"/>
              </a:rPr>
              <a:t>∑ wi </a:t>
            </a:r>
            <a:r>
              <a:rPr b="0" lang="es-AR" sz="1400" spc="-1" strike="noStrike">
                <a:latin typeface="Arial"/>
                <a:ea typeface="Arial"/>
              </a:rPr>
              <a:t>δ</a:t>
            </a:r>
            <a:r>
              <a:rPr b="0" lang="es-AR" sz="1400" spc="-1" strike="noStrike">
                <a:latin typeface="Arial"/>
              </a:rPr>
              <a:t> (v,f(xi)) = 0,122 </a:t>
            </a:r>
            <a:r>
              <a:rPr b="0" lang="es-AR" sz="1400" spc="-1" strike="noStrike">
                <a:latin typeface="Arial"/>
                <a:ea typeface="Arial"/>
              </a:rPr>
              <a:t>δ</a:t>
            </a:r>
            <a:r>
              <a:rPr b="0" lang="es-AR" sz="1400" spc="-1" strike="noStrike">
                <a:latin typeface="Arial"/>
              </a:rPr>
              <a:t> (C</a:t>
            </a:r>
            <a:r>
              <a:rPr b="0" lang="es-AR" sz="1400" spc="-1" strike="noStrike" baseline="-33000">
                <a:latin typeface="Arial"/>
              </a:rPr>
              <a:t>A</a:t>
            </a:r>
            <a:r>
              <a:rPr b="0" lang="es-AR" sz="1400" spc="-1" strike="noStrike">
                <a:latin typeface="Arial"/>
              </a:rPr>
              <a:t> , C</a:t>
            </a:r>
            <a:r>
              <a:rPr b="0" lang="es-AR" sz="1400" spc="-1" strike="noStrike" baseline="-33000">
                <a:latin typeface="Arial"/>
              </a:rPr>
              <a:t>R</a:t>
            </a:r>
            <a:r>
              <a:rPr b="0" lang="es-AR" sz="1400" spc="-1" strike="noStrike">
                <a:latin typeface="Arial"/>
              </a:rPr>
              <a:t>)  +  0,068 </a:t>
            </a:r>
            <a:r>
              <a:rPr b="0" lang="es-AR" sz="1400" spc="-1" strike="noStrike">
                <a:latin typeface="Arial"/>
                <a:ea typeface="Arial"/>
              </a:rPr>
              <a:t>δ</a:t>
            </a:r>
            <a:r>
              <a:rPr b="0" lang="es-AR" sz="1400" spc="-1" strike="noStrike">
                <a:latin typeface="Arial"/>
              </a:rPr>
              <a:t> (C</a:t>
            </a:r>
            <a:r>
              <a:rPr b="0" lang="es-AR" sz="1400" spc="-1" strike="noStrike" baseline="-33000">
                <a:latin typeface="Arial"/>
              </a:rPr>
              <a:t>A</a:t>
            </a:r>
            <a:r>
              <a:rPr b="0" lang="es-AR" sz="1400" spc="-1" strike="noStrike">
                <a:latin typeface="Arial"/>
              </a:rPr>
              <a:t> , C</a:t>
            </a:r>
            <a:r>
              <a:rPr b="0" lang="es-AR" sz="1400" spc="-1" strike="noStrike" baseline="-33000">
                <a:latin typeface="Arial"/>
              </a:rPr>
              <a:t>A</a:t>
            </a:r>
            <a:r>
              <a:rPr b="0" lang="es-AR" sz="1400" spc="-1" strike="noStrike">
                <a:latin typeface="Arial"/>
              </a:rPr>
              <a:t>)  +  0,045 </a:t>
            </a:r>
            <a:r>
              <a:rPr b="0" lang="es-AR" sz="1400" spc="-1" strike="noStrike">
                <a:latin typeface="Arial"/>
                <a:ea typeface="Arial"/>
              </a:rPr>
              <a:t>δ</a:t>
            </a:r>
            <a:r>
              <a:rPr b="0" lang="es-AR" sz="1400" spc="-1" strike="noStrike">
                <a:latin typeface="Arial"/>
              </a:rPr>
              <a:t> (C</a:t>
            </a:r>
            <a:r>
              <a:rPr b="0" lang="es-AR" sz="1400" spc="-1" strike="noStrike" baseline="-33000">
                <a:latin typeface="Arial"/>
              </a:rPr>
              <a:t>A</a:t>
            </a:r>
            <a:r>
              <a:rPr b="0" lang="es-AR" sz="1400" spc="-1" strike="noStrike">
                <a:latin typeface="Arial"/>
              </a:rPr>
              <a:t> , C</a:t>
            </a:r>
            <a:r>
              <a:rPr b="0" lang="es-AR" sz="1400" spc="-1" strike="noStrike" baseline="-33000">
                <a:latin typeface="Arial"/>
              </a:rPr>
              <a:t>A</a:t>
            </a:r>
            <a:r>
              <a:rPr b="0" lang="es-AR" sz="1400" spc="-1" strike="noStrike">
                <a:latin typeface="Arial"/>
              </a:rPr>
              <a:t>)  +  0,036 </a:t>
            </a:r>
            <a:r>
              <a:rPr b="0" lang="es-AR" sz="1400" spc="-1" strike="noStrike">
                <a:latin typeface="Arial"/>
                <a:ea typeface="Arial"/>
              </a:rPr>
              <a:t>δ</a:t>
            </a:r>
            <a:r>
              <a:rPr b="0" lang="es-AR" sz="1400" spc="-1" strike="noStrike">
                <a:latin typeface="Arial"/>
              </a:rPr>
              <a:t> (C</a:t>
            </a:r>
            <a:r>
              <a:rPr b="0" lang="es-AR" sz="1400" spc="-1" strike="noStrike" baseline="-33000">
                <a:latin typeface="Arial"/>
              </a:rPr>
              <a:t>A</a:t>
            </a:r>
            <a:r>
              <a:rPr b="0" lang="es-AR" sz="1400" spc="-1" strike="noStrike">
                <a:latin typeface="Arial"/>
              </a:rPr>
              <a:t> , C</a:t>
            </a:r>
            <a:r>
              <a:rPr b="0" lang="es-AR" sz="1400" spc="-1" strike="noStrike" baseline="-33000">
                <a:latin typeface="Arial"/>
              </a:rPr>
              <a:t>A</a:t>
            </a:r>
            <a:r>
              <a:rPr b="0" lang="es-AR" sz="1400" spc="-1" strike="noStrike">
                <a:latin typeface="Arial"/>
              </a:rPr>
              <a:t>)  </a:t>
            </a:r>
            <a:r>
              <a:rPr b="0" lang="es-AR" sz="1400" spc="-1" strike="noStrike">
                <a:latin typeface="Arial"/>
              </a:rPr>
              <a:t>=  0,149</a:t>
            </a:r>
            <a:r>
              <a:rPr b="0" lang="es-AR" sz="1600" spc="-1" strike="noStrike">
                <a:latin typeface="Arial"/>
              </a:rPr>
              <a:t> </a:t>
            </a:r>
            <a:endParaRPr b="0" lang="es-AR" sz="1600" spc="-1" strike="noStrike">
              <a:latin typeface="Arial"/>
            </a:endParaRPr>
          </a:p>
          <a:p>
            <a:r>
              <a:rPr b="0" lang="es-AR" sz="1800" spc="-1" strike="noStrike">
                <a:latin typeface="Arial"/>
              </a:rPr>
              <a:t>fq= </a:t>
            </a:r>
            <a:endParaRPr b="0" lang="es-AR" sz="1800" spc="-1" strike="noStrike">
              <a:latin typeface="Arial"/>
            </a:endParaRPr>
          </a:p>
          <a:p>
            <a:r>
              <a:rPr b="0" lang="es-AR" sz="1800" spc="-1" strike="noStrike">
                <a:latin typeface="Arial"/>
              </a:rPr>
              <a:t>	</a:t>
            </a:r>
            <a:r>
              <a:rPr b="0" lang="es-AR" sz="1600" spc="-1" strike="noStrike">
                <a:latin typeface="Arial"/>
              </a:rPr>
              <a:t>Rojo</a:t>
            </a:r>
            <a:r>
              <a:rPr b="0" lang="es-AR" sz="1800" spc="-1" strike="noStrike">
                <a:latin typeface="Arial"/>
              </a:rPr>
              <a:t>= </a:t>
            </a:r>
            <a:r>
              <a:rPr b="0" lang="es-AR" sz="1600" spc="-1" strike="noStrike">
                <a:latin typeface="Arial"/>
                <a:ea typeface="Arial"/>
              </a:rPr>
              <a:t>∑ wi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(v,f(xi)) = 0,122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(C</a:t>
            </a:r>
            <a:r>
              <a:rPr b="0" lang="es-AR" sz="1500" spc="-1" strike="noStrike" baseline="-33000">
                <a:latin typeface="Arial"/>
              </a:rPr>
              <a:t>R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R</a:t>
            </a:r>
            <a:r>
              <a:rPr b="0" lang="es-AR" sz="1500" spc="-1" strike="noStrike">
                <a:latin typeface="Arial"/>
              </a:rPr>
              <a:t>) + </a:t>
            </a:r>
            <a:r>
              <a:rPr b="0" lang="es-AR" sz="1400" spc="-1" strike="noStrike">
                <a:latin typeface="Arial"/>
              </a:rPr>
              <a:t>0,068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(C</a:t>
            </a:r>
            <a:r>
              <a:rPr b="0" lang="es-AR" sz="1500" spc="-1" strike="noStrike" baseline="-33000">
                <a:latin typeface="Arial"/>
              </a:rPr>
              <a:t>R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A</a:t>
            </a:r>
            <a:r>
              <a:rPr b="0" lang="es-AR" sz="1500" spc="-1" strike="noStrike">
                <a:latin typeface="Arial"/>
              </a:rPr>
              <a:t>) + </a:t>
            </a:r>
            <a:r>
              <a:rPr b="0" lang="es-AR" sz="1400" spc="-1" strike="noStrike">
                <a:latin typeface="Arial"/>
              </a:rPr>
              <a:t>0,045</a:t>
            </a:r>
            <a:r>
              <a:rPr b="0" lang="es-AR" sz="1500" spc="-1" strike="noStrike">
                <a:latin typeface="Arial"/>
              </a:rPr>
              <a:t> </a:t>
            </a:r>
            <a:r>
              <a:rPr b="0" lang="es-AR" sz="1500" spc="-1" strike="noStrike">
                <a:latin typeface="Arial"/>
                <a:ea typeface="Arial"/>
              </a:rPr>
              <a:t>δ </a:t>
            </a:r>
            <a:r>
              <a:rPr b="0" lang="es-AR" sz="1500" spc="-1" strike="noStrike">
                <a:latin typeface="Arial"/>
              </a:rPr>
              <a:t>(C</a:t>
            </a:r>
            <a:r>
              <a:rPr b="0" lang="es-AR" sz="1500" spc="-1" strike="noStrike" baseline="-33000">
                <a:latin typeface="Arial"/>
              </a:rPr>
              <a:t>R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A</a:t>
            </a:r>
            <a:r>
              <a:rPr b="0" lang="es-AR" sz="1500" spc="-1" strike="noStrike">
                <a:latin typeface="Arial"/>
              </a:rPr>
              <a:t>) + </a:t>
            </a:r>
            <a:r>
              <a:rPr b="0" lang="es-AR" sz="1400" spc="-1" strike="noStrike">
                <a:latin typeface="Arial"/>
              </a:rPr>
              <a:t>0,036</a:t>
            </a:r>
            <a:r>
              <a:rPr b="0" lang="es-AR" sz="1500" spc="-1" strike="noStrike">
                <a:latin typeface="Arial"/>
              </a:rPr>
              <a:t> </a:t>
            </a:r>
            <a:r>
              <a:rPr b="0" lang="es-AR" sz="1500" spc="-1" strike="noStrike">
                <a:latin typeface="Arial"/>
                <a:ea typeface="Arial"/>
              </a:rPr>
              <a:t>δ</a:t>
            </a:r>
            <a:r>
              <a:rPr b="0" lang="es-AR" sz="1500" spc="-1" strike="noStrike">
                <a:latin typeface="Arial"/>
              </a:rPr>
              <a:t> (C</a:t>
            </a:r>
            <a:r>
              <a:rPr b="0" lang="es-AR" sz="1500" spc="-1" strike="noStrike" baseline="-33000">
                <a:latin typeface="Arial"/>
              </a:rPr>
              <a:t>R</a:t>
            </a:r>
            <a:r>
              <a:rPr b="0" lang="es-AR" sz="1500" spc="-1" strike="noStrike">
                <a:latin typeface="Arial"/>
              </a:rPr>
              <a:t> , C</a:t>
            </a:r>
            <a:r>
              <a:rPr b="0" lang="es-AR" sz="1500" spc="-1" strike="noStrike" baseline="-33000">
                <a:latin typeface="Arial"/>
              </a:rPr>
              <a:t>A</a:t>
            </a:r>
            <a:r>
              <a:rPr b="0" lang="es-AR" sz="1500" spc="-1" strike="noStrike">
                <a:latin typeface="Arial"/>
              </a:rPr>
              <a:t>) = 0,122</a:t>
            </a:r>
            <a:r>
              <a:rPr b="0" lang="es-AR" sz="1800" spc="-1" strike="noStrike">
                <a:latin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42" name="TextShape 20"/>
          <p:cNvSpPr txBox="1"/>
          <p:nvPr/>
        </p:nvSpPr>
        <p:spPr>
          <a:xfrm>
            <a:off x="1152000" y="3168000"/>
            <a:ext cx="864000" cy="238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050" spc="-1" strike="noStrike">
                <a:latin typeface="Arial"/>
              </a:rPr>
              <a:t>I=4,1,2,3</a:t>
            </a:r>
            <a:endParaRPr b="0" lang="es-AR" sz="1050" spc="-1" strike="noStrike">
              <a:latin typeface="Arial"/>
            </a:endParaRPr>
          </a:p>
        </p:txBody>
      </p:sp>
      <p:sp>
        <p:nvSpPr>
          <p:cNvPr id="243" name="TextShape 21"/>
          <p:cNvSpPr txBox="1"/>
          <p:nvPr/>
        </p:nvSpPr>
        <p:spPr>
          <a:xfrm>
            <a:off x="1152000" y="3672000"/>
            <a:ext cx="864000" cy="238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050" spc="-1" strike="noStrike">
                <a:latin typeface="Arial"/>
              </a:rPr>
              <a:t>I=4,1,2,3</a:t>
            </a:r>
            <a:endParaRPr b="0" lang="es-AR" sz="1050" spc="-1" strike="noStrike">
              <a:latin typeface="Arial"/>
            </a:endParaRPr>
          </a:p>
        </p:txBody>
      </p:sp>
      <p:sp>
        <p:nvSpPr>
          <p:cNvPr id="244" name="Line 22"/>
          <p:cNvSpPr/>
          <p:nvPr/>
        </p:nvSpPr>
        <p:spPr>
          <a:xfrm>
            <a:off x="9432000" y="3096000"/>
            <a:ext cx="576000" cy="0"/>
          </a:xfrm>
          <a:prstGeom prst="line">
            <a:avLst/>
          </a:prstGeom>
          <a:ln w="360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CustomShape 23"/>
          <p:cNvSpPr/>
          <p:nvPr/>
        </p:nvSpPr>
        <p:spPr>
          <a:xfrm>
            <a:off x="468000" y="2916000"/>
            <a:ext cx="288000" cy="864000"/>
          </a:xfrm>
          <a:custGeom>
            <a:avLst/>
            <a:gdLst/>
            <a:ahLst/>
            <a:rect l="0" t="0" r="r" b="b"/>
            <a:pathLst>
              <a:path w="802" h="2402">
                <a:moveTo>
                  <a:pt x="801" y="0"/>
                </a:moveTo>
                <a:cubicBezTo>
                  <a:pt x="600" y="0"/>
                  <a:pt x="400" y="100"/>
                  <a:pt x="400" y="200"/>
                </a:cubicBezTo>
                <a:lnTo>
                  <a:pt x="400" y="1000"/>
                </a:lnTo>
                <a:cubicBezTo>
                  <a:pt x="400" y="1100"/>
                  <a:pt x="200" y="1200"/>
                  <a:pt x="0" y="1200"/>
                </a:cubicBezTo>
                <a:cubicBezTo>
                  <a:pt x="200" y="1200"/>
                  <a:pt x="400" y="1300"/>
                  <a:pt x="400" y="1400"/>
                </a:cubicBezTo>
                <a:lnTo>
                  <a:pt x="400" y="2200"/>
                </a:lnTo>
                <a:cubicBezTo>
                  <a:pt x="400" y="2300"/>
                  <a:pt x="600" y="2401"/>
                  <a:pt x="801" y="2401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CustomShape 24"/>
          <p:cNvSpPr/>
          <p:nvPr/>
        </p:nvSpPr>
        <p:spPr>
          <a:xfrm rot="5820600">
            <a:off x="3305520" y="2432160"/>
            <a:ext cx="150480" cy="712800"/>
          </a:xfrm>
          <a:custGeom>
            <a:avLst/>
            <a:gdLst/>
            <a:ahLst/>
            <a:rect l="0" t="0" r="r" b="b"/>
            <a:pathLst>
              <a:path w="563" h="1982">
                <a:moveTo>
                  <a:pt x="276" y="0"/>
                </a:moveTo>
                <a:cubicBezTo>
                  <a:pt x="171" y="0"/>
                  <a:pt x="78" y="82"/>
                  <a:pt x="90" y="165"/>
                </a:cubicBezTo>
                <a:lnTo>
                  <a:pt x="185" y="825"/>
                </a:lnTo>
                <a:cubicBezTo>
                  <a:pt x="197" y="907"/>
                  <a:pt x="104" y="990"/>
                  <a:pt x="0" y="990"/>
                </a:cubicBezTo>
                <a:cubicBezTo>
                  <a:pt x="104" y="990"/>
                  <a:pt x="221" y="1073"/>
                  <a:pt x="233" y="1155"/>
                </a:cubicBezTo>
                <a:lnTo>
                  <a:pt x="328" y="1815"/>
                </a:lnTo>
                <a:cubicBezTo>
                  <a:pt x="340" y="1898"/>
                  <a:pt x="457" y="1981"/>
                  <a:pt x="562" y="1980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Shape 25"/>
          <p:cNvSpPr txBox="1"/>
          <p:nvPr/>
        </p:nvSpPr>
        <p:spPr>
          <a:xfrm>
            <a:off x="3250440" y="2505240"/>
            <a:ext cx="24408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0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48" name="CustomShape 26"/>
          <p:cNvSpPr/>
          <p:nvPr/>
        </p:nvSpPr>
        <p:spPr>
          <a:xfrm rot="5820600">
            <a:off x="4907880" y="2463120"/>
            <a:ext cx="150480" cy="712800"/>
          </a:xfrm>
          <a:custGeom>
            <a:avLst/>
            <a:gdLst/>
            <a:ahLst/>
            <a:rect l="0" t="0" r="r" b="b"/>
            <a:pathLst>
              <a:path w="563" h="1981">
                <a:moveTo>
                  <a:pt x="276" y="0"/>
                </a:moveTo>
                <a:cubicBezTo>
                  <a:pt x="171" y="0"/>
                  <a:pt x="78" y="82"/>
                  <a:pt x="90" y="165"/>
                </a:cubicBezTo>
                <a:lnTo>
                  <a:pt x="185" y="824"/>
                </a:lnTo>
                <a:cubicBezTo>
                  <a:pt x="197" y="906"/>
                  <a:pt x="104" y="989"/>
                  <a:pt x="0" y="989"/>
                </a:cubicBezTo>
                <a:cubicBezTo>
                  <a:pt x="104" y="989"/>
                  <a:pt x="221" y="1073"/>
                  <a:pt x="233" y="1155"/>
                </a:cubicBezTo>
                <a:lnTo>
                  <a:pt x="328" y="1814"/>
                </a:lnTo>
                <a:cubicBezTo>
                  <a:pt x="340" y="1897"/>
                  <a:pt x="457" y="1980"/>
                  <a:pt x="562" y="1979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Shape 27"/>
          <p:cNvSpPr txBox="1"/>
          <p:nvPr/>
        </p:nvSpPr>
        <p:spPr>
          <a:xfrm>
            <a:off x="4852800" y="2536200"/>
            <a:ext cx="24408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1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50" name="CustomShape 28"/>
          <p:cNvSpPr/>
          <p:nvPr/>
        </p:nvSpPr>
        <p:spPr>
          <a:xfrm rot="5820600">
            <a:off x="6545520" y="2463120"/>
            <a:ext cx="150480" cy="712800"/>
          </a:xfrm>
          <a:custGeom>
            <a:avLst/>
            <a:gdLst/>
            <a:ahLst/>
            <a:rect l="0" t="0" r="r" b="b"/>
            <a:pathLst>
              <a:path w="563" h="1982">
                <a:moveTo>
                  <a:pt x="276" y="1"/>
                </a:moveTo>
                <a:cubicBezTo>
                  <a:pt x="171" y="0"/>
                  <a:pt x="78" y="83"/>
                  <a:pt x="90" y="166"/>
                </a:cubicBezTo>
                <a:lnTo>
                  <a:pt x="185" y="825"/>
                </a:lnTo>
                <a:cubicBezTo>
                  <a:pt x="196" y="907"/>
                  <a:pt x="104" y="990"/>
                  <a:pt x="0" y="990"/>
                </a:cubicBezTo>
                <a:cubicBezTo>
                  <a:pt x="104" y="990"/>
                  <a:pt x="221" y="1074"/>
                  <a:pt x="232" y="1156"/>
                </a:cubicBezTo>
                <a:lnTo>
                  <a:pt x="328" y="1815"/>
                </a:lnTo>
                <a:cubicBezTo>
                  <a:pt x="340" y="1898"/>
                  <a:pt x="457" y="1981"/>
                  <a:pt x="562" y="1980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Shape 29"/>
          <p:cNvSpPr txBox="1"/>
          <p:nvPr/>
        </p:nvSpPr>
        <p:spPr>
          <a:xfrm>
            <a:off x="6490440" y="2536200"/>
            <a:ext cx="24408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1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52" name="CustomShape 30"/>
          <p:cNvSpPr/>
          <p:nvPr/>
        </p:nvSpPr>
        <p:spPr>
          <a:xfrm rot="5820600">
            <a:off x="8129520" y="2463120"/>
            <a:ext cx="150480" cy="712800"/>
          </a:xfrm>
          <a:custGeom>
            <a:avLst/>
            <a:gdLst/>
            <a:ahLst/>
            <a:rect l="0" t="0" r="r" b="b"/>
            <a:pathLst>
              <a:path w="563" h="1982">
                <a:moveTo>
                  <a:pt x="276" y="0"/>
                </a:moveTo>
                <a:cubicBezTo>
                  <a:pt x="171" y="0"/>
                  <a:pt x="78" y="82"/>
                  <a:pt x="90" y="166"/>
                </a:cubicBezTo>
                <a:lnTo>
                  <a:pt x="185" y="825"/>
                </a:lnTo>
                <a:cubicBezTo>
                  <a:pt x="197" y="907"/>
                  <a:pt x="104" y="990"/>
                  <a:pt x="0" y="990"/>
                </a:cubicBezTo>
                <a:cubicBezTo>
                  <a:pt x="104" y="990"/>
                  <a:pt x="221" y="1073"/>
                  <a:pt x="233" y="1156"/>
                </a:cubicBezTo>
                <a:lnTo>
                  <a:pt x="328" y="1815"/>
                </a:lnTo>
                <a:cubicBezTo>
                  <a:pt x="340" y="1898"/>
                  <a:pt x="457" y="1981"/>
                  <a:pt x="562" y="1980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Shape 31"/>
          <p:cNvSpPr txBox="1"/>
          <p:nvPr/>
        </p:nvSpPr>
        <p:spPr>
          <a:xfrm>
            <a:off x="8074440" y="2536200"/>
            <a:ext cx="24408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1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54" name="TextShape 32"/>
          <p:cNvSpPr txBox="1"/>
          <p:nvPr/>
        </p:nvSpPr>
        <p:spPr>
          <a:xfrm>
            <a:off x="3359520" y="3926520"/>
            <a:ext cx="34992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1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55" name="CustomShape 33"/>
          <p:cNvSpPr/>
          <p:nvPr/>
        </p:nvSpPr>
        <p:spPr>
          <a:xfrm rot="16642800">
            <a:off x="3412440" y="3493440"/>
            <a:ext cx="215640" cy="828000"/>
          </a:xfrm>
          <a:custGeom>
            <a:avLst/>
            <a:gdLst/>
            <a:ahLst/>
            <a:rect l="0" t="0" r="r" b="b"/>
            <a:pathLst>
              <a:path w="766" h="2302">
                <a:moveTo>
                  <a:pt x="435" y="0"/>
                </a:moveTo>
                <a:cubicBezTo>
                  <a:pt x="285" y="1"/>
                  <a:pt x="149" y="95"/>
                  <a:pt x="163" y="191"/>
                </a:cubicBezTo>
                <a:lnTo>
                  <a:pt x="272" y="958"/>
                </a:lnTo>
                <a:cubicBezTo>
                  <a:pt x="287" y="1054"/>
                  <a:pt x="150" y="1151"/>
                  <a:pt x="0" y="1150"/>
                </a:cubicBezTo>
                <a:cubicBezTo>
                  <a:pt x="150" y="1151"/>
                  <a:pt x="314" y="1246"/>
                  <a:pt x="328" y="1342"/>
                </a:cubicBezTo>
                <a:lnTo>
                  <a:pt x="438" y="2110"/>
                </a:lnTo>
                <a:cubicBezTo>
                  <a:pt x="451" y="2206"/>
                  <a:pt x="615" y="2301"/>
                  <a:pt x="765" y="2301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Shape 34"/>
          <p:cNvSpPr txBox="1"/>
          <p:nvPr/>
        </p:nvSpPr>
        <p:spPr>
          <a:xfrm>
            <a:off x="5015520" y="3931920"/>
            <a:ext cx="34992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0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57" name="CustomShape 35"/>
          <p:cNvSpPr/>
          <p:nvPr/>
        </p:nvSpPr>
        <p:spPr>
          <a:xfrm rot="16642800">
            <a:off x="5068440" y="3498840"/>
            <a:ext cx="215640" cy="828000"/>
          </a:xfrm>
          <a:custGeom>
            <a:avLst/>
            <a:gdLst/>
            <a:ahLst/>
            <a:rect l="0" t="0" r="r" b="b"/>
            <a:pathLst>
              <a:path w="767" h="2302">
                <a:moveTo>
                  <a:pt x="436" y="0"/>
                </a:moveTo>
                <a:cubicBezTo>
                  <a:pt x="286" y="0"/>
                  <a:pt x="150" y="95"/>
                  <a:pt x="163" y="191"/>
                </a:cubicBezTo>
                <a:lnTo>
                  <a:pt x="273" y="958"/>
                </a:lnTo>
                <a:cubicBezTo>
                  <a:pt x="287" y="1054"/>
                  <a:pt x="151" y="1150"/>
                  <a:pt x="0" y="1150"/>
                </a:cubicBezTo>
                <a:cubicBezTo>
                  <a:pt x="151" y="1150"/>
                  <a:pt x="314" y="1246"/>
                  <a:pt x="329" y="1342"/>
                </a:cubicBezTo>
                <a:lnTo>
                  <a:pt x="439" y="2109"/>
                </a:lnTo>
                <a:cubicBezTo>
                  <a:pt x="452" y="2205"/>
                  <a:pt x="616" y="2301"/>
                  <a:pt x="766" y="2301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Shape 36"/>
          <p:cNvSpPr txBox="1"/>
          <p:nvPr/>
        </p:nvSpPr>
        <p:spPr>
          <a:xfrm>
            <a:off x="6671520" y="3897720"/>
            <a:ext cx="34992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0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59" name="CustomShape 37"/>
          <p:cNvSpPr/>
          <p:nvPr/>
        </p:nvSpPr>
        <p:spPr>
          <a:xfrm rot="16642800">
            <a:off x="6688440" y="3464640"/>
            <a:ext cx="215640" cy="828000"/>
          </a:xfrm>
          <a:custGeom>
            <a:avLst/>
            <a:gdLst/>
            <a:ahLst/>
            <a:rect l="0" t="0" r="r" b="b"/>
            <a:pathLst>
              <a:path w="767" h="2302">
                <a:moveTo>
                  <a:pt x="436" y="0"/>
                </a:moveTo>
                <a:cubicBezTo>
                  <a:pt x="285" y="1"/>
                  <a:pt x="149" y="95"/>
                  <a:pt x="163" y="191"/>
                </a:cubicBezTo>
                <a:lnTo>
                  <a:pt x="273" y="958"/>
                </a:lnTo>
                <a:cubicBezTo>
                  <a:pt x="287" y="1054"/>
                  <a:pt x="150" y="1151"/>
                  <a:pt x="0" y="1150"/>
                </a:cubicBezTo>
                <a:cubicBezTo>
                  <a:pt x="150" y="1151"/>
                  <a:pt x="314" y="1246"/>
                  <a:pt x="329" y="1342"/>
                </a:cubicBezTo>
                <a:lnTo>
                  <a:pt x="438" y="2109"/>
                </a:lnTo>
                <a:cubicBezTo>
                  <a:pt x="452" y="2206"/>
                  <a:pt x="615" y="2301"/>
                  <a:pt x="766" y="2301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Shape 38"/>
          <p:cNvSpPr txBox="1"/>
          <p:nvPr/>
        </p:nvSpPr>
        <p:spPr>
          <a:xfrm>
            <a:off x="8255520" y="3933720"/>
            <a:ext cx="349920" cy="31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s-AR" sz="1600" spc="-1" strike="noStrike">
                <a:latin typeface="Arial"/>
              </a:rPr>
              <a:t>0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261" name="CustomShape 39"/>
          <p:cNvSpPr/>
          <p:nvPr/>
        </p:nvSpPr>
        <p:spPr>
          <a:xfrm rot="16642800">
            <a:off x="8272440" y="3500640"/>
            <a:ext cx="215640" cy="828000"/>
          </a:xfrm>
          <a:custGeom>
            <a:avLst/>
            <a:gdLst/>
            <a:ahLst/>
            <a:rect l="0" t="0" r="r" b="b"/>
            <a:pathLst>
              <a:path w="766" h="2302">
                <a:moveTo>
                  <a:pt x="435" y="0"/>
                </a:moveTo>
                <a:cubicBezTo>
                  <a:pt x="285" y="0"/>
                  <a:pt x="149" y="94"/>
                  <a:pt x="162" y="190"/>
                </a:cubicBezTo>
                <a:lnTo>
                  <a:pt x="272" y="957"/>
                </a:lnTo>
                <a:cubicBezTo>
                  <a:pt x="287" y="1053"/>
                  <a:pt x="150" y="1150"/>
                  <a:pt x="0" y="1149"/>
                </a:cubicBezTo>
                <a:cubicBezTo>
                  <a:pt x="150" y="1150"/>
                  <a:pt x="314" y="1246"/>
                  <a:pt x="328" y="1341"/>
                </a:cubicBezTo>
                <a:lnTo>
                  <a:pt x="438" y="2109"/>
                </a:lnTo>
                <a:cubicBezTo>
                  <a:pt x="451" y="2205"/>
                  <a:pt x="615" y="2301"/>
                  <a:pt x="765" y="2300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51" dur="indefinite" restart="never" nodeType="tmRoot">
          <p:childTnLst>
            <p:seq>
              <p:cTn id="52" dur="indefinite" nodeType="mainSeq">
                <p:childTnLst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1499</TotalTime>
  <Application>LibreOffice/6.0.7.3$Linux_X86_64 LibreOffice_project/00m0$Build-3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2020-10-07T18:54:31Z</dcterms:created>
  <dc:creator/>
  <dc:description/>
  <dc:language>es-AR</dc:language>
  <cp:lastModifiedBy/>
  <dcterms:modified xsi:type="dcterms:W3CDTF">2021-11-08T23:48:42Z</dcterms:modified>
  <cp:revision>42</cp:revision>
  <dc:subject/>
  <dc:title>Blue Curve</dc:title>
</cp:coreProperties>
</file>