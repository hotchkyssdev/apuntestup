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Poppins Medium" charset="1" panose="00000600000000000000"/>
      <p:regular r:id="rId20"/>
    </p:embeddedFont>
    <p:embeddedFont>
      <p:font typeface="Inter Extra-Light" charset="1" panose="02000503000000020004"/>
      <p:regular r:id="rId21"/>
    </p:embeddedFont>
    <p:embeddedFont>
      <p:font typeface="Inter" charset="1" panose="020B0502030000000004"/>
      <p:regular r:id="rId22"/>
    </p:embeddedFont>
    <p:embeddedFont>
      <p:font typeface="Poppins" charset="1" panose="00000500000000000000"/>
      <p:regular r:id="rId23"/>
    </p:embeddedFont>
    <p:embeddedFont>
      <p:font typeface="Inter Bold" charset="1" panose="020B0802030000000004"/>
      <p:regular r:id="rId24"/>
    </p:embeddedFont>
    <p:embeddedFont>
      <p:font typeface="Inter Bold Italics" charset="1" panose="020B0802030000000004"/>
      <p:regular r:id="rId25"/>
    </p:embeddedFont>
    <p:embeddedFont>
      <p:font typeface="Inter Medium" charset="1" panose="020005030000000200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0" y="8827108"/>
            <a:ext cx="18288000" cy="1459892"/>
            <a:chOff x="0" y="0"/>
            <a:chExt cx="4816593" cy="384498"/>
          </a:xfrm>
        </p:grpSpPr>
        <p:sp>
          <p:nvSpPr>
            <p:cNvPr name="Freeform 3" id="3"/>
            <p:cNvSpPr/>
            <p:nvPr/>
          </p:nvSpPr>
          <p:spPr>
            <a:xfrm flipH="false" flipV="false" rot="0">
              <a:off x="0" y="0"/>
              <a:ext cx="4816592" cy="384498"/>
            </a:xfrm>
            <a:custGeom>
              <a:avLst/>
              <a:gdLst/>
              <a:ahLst/>
              <a:cxnLst/>
              <a:rect r="r" b="b" t="t" l="l"/>
              <a:pathLst>
                <a:path h="384498" w="4816592">
                  <a:moveTo>
                    <a:pt x="0" y="0"/>
                  </a:moveTo>
                  <a:lnTo>
                    <a:pt x="4816592" y="0"/>
                  </a:lnTo>
                  <a:lnTo>
                    <a:pt x="4816592" y="384498"/>
                  </a:lnTo>
                  <a:lnTo>
                    <a:pt x="0" y="384498"/>
                  </a:lnTo>
                  <a:close/>
                </a:path>
              </a:pathLst>
            </a:custGeom>
            <a:solidFill>
              <a:srgbClr val="FFFFFF"/>
            </a:solidFill>
          </p:spPr>
        </p:sp>
        <p:sp>
          <p:nvSpPr>
            <p:cNvPr name="TextBox 4" id="4"/>
            <p:cNvSpPr txBox="true"/>
            <p:nvPr/>
          </p:nvSpPr>
          <p:spPr>
            <a:xfrm>
              <a:off x="0" y="-76200"/>
              <a:ext cx="4816593" cy="460698"/>
            </a:xfrm>
            <a:prstGeom prst="rect">
              <a:avLst/>
            </a:prstGeom>
          </p:spPr>
          <p:txBody>
            <a:bodyPr anchor="ctr" rtlCol="false" tIns="50800" lIns="50800" bIns="50800" rIns="50800"/>
            <a:lstStyle/>
            <a:p>
              <a:pPr algn="ctr">
                <a:lnSpc>
                  <a:spcPts val="3530"/>
                </a:lnSpc>
              </a:pPr>
            </a:p>
          </p:txBody>
        </p:sp>
      </p:grpSp>
      <p:sp>
        <p:nvSpPr>
          <p:cNvPr name="AutoShape 5" id="5"/>
          <p:cNvSpPr/>
          <p:nvPr/>
        </p:nvSpPr>
        <p:spPr>
          <a:xfrm flipV="true">
            <a:off x="0" y="8827108"/>
            <a:ext cx="18288000" cy="0"/>
          </a:xfrm>
          <a:prstGeom prst="line">
            <a:avLst/>
          </a:prstGeom>
          <a:ln cap="rnd" w="9525">
            <a:solidFill>
              <a:srgbClr val="F4F4F4"/>
            </a:solidFill>
            <a:prstDash val="solid"/>
            <a:headEnd type="none" len="sm" w="sm"/>
            <a:tailEnd type="none" len="sm" w="sm"/>
          </a:ln>
        </p:spPr>
      </p:sp>
      <p:sp>
        <p:nvSpPr>
          <p:cNvPr name="Freeform 6" id="6"/>
          <p:cNvSpPr/>
          <p:nvPr/>
        </p:nvSpPr>
        <p:spPr>
          <a:xfrm flipH="false" flipV="false" rot="0">
            <a:off x="285750" y="9258300"/>
            <a:ext cx="4334346" cy="828625"/>
          </a:xfrm>
          <a:custGeom>
            <a:avLst/>
            <a:gdLst/>
            <a:ahLst/>
            <a:cxnLst/>
            <a:rect r="r" b="b" t="t" l="l"/>
            <a:pathLst>
              <a:path h="828625" w="4334346">
                <a:moveTo>
                  <a:pt x="0" y="0"/>
                </a:moveTo>
                <a:lnTo>
                  <a:pt x="4334346" y="0"/>
                </a:lnTo>
                <a:lnTo>
                  <a:pt x="4334346" y="828625"/>
                </a:lnTo>
                <a:lnTo>
                  <a:pt x="0" y="828625"/>
                </a:lnTo>
                <a:lnTo>
                  <a:pt x="0" y="0"/>
                </a:lnTo>
                <a:close/>
              </a:path>
            </a:pathLst>
          </a:custGeom>
          <a:blipFill>
            <a:blip r:embed="rId2"/>
            <a:stretch>
              <a:fillRect l="0" t="0" r="0" b="0"/>
            </a:stretch>
          </a:blipFill>
        </p:spPr>
      </p:sp>
      <p:sp>
        <p:nvSpPr>
          <p:cNvPr name="TextBox 7" id="7"/>
          <p:cNvSpPr txBox="true"/>
          <p:nvPr/>
        </p:nvSpPr>
        <p:spPr>
          <a:xfrm rot="0">
            <a:off x="1895165" y="1152525"/>
            <a:ext cx="14926296" cy="2184961"/>
          </a:xfrm>
          <a:prstGeom prst="rect">
            <a:avLst/>
          </a:prstGeom>
        </p:spPr>
        <p:txBody>
          <a:bodyPr anchor="t" rtlCol="false" tIns="0" lIns="0" bIns="0" rIns="0">
            <a:spAutoFit/>
          </a:bodyPr>
          <a:lstStyle/>
          <a:p>
            <a:pPr algn="ctr">
              <a:lnSpc>
                <a:spcPts val="8091"/>
              </a:lnSpc>
            </a:pPr>
            <a:r>
              <a:rPr lang="en-US" b="true" sz="8517" spc="-357">
                <a:solidFill>
                  <a:srgbClr val="F4F4F4"/>
                </a:solidFill>
                <a:latin typeface="Poppins Medium"/>
                <a:ea typeface="Poppins Medium"/>
                <a:cs typeface="Poppins Medium"/>
                <a:sym typeface="Poppins Medium"/>
              </a:rPr>
              <a:t>Transformación y Enriquecimiento de los Datos: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V="true">
            <a:off x="0" y="4549133"/>
            <a:ext cx="18288000" cy="0"/>
          </a:xfrm>
          <a:prstGeom prst="line">
            <a:avLst/>
          </a:prstGeom>
          <a:ln cap="rnd" w="9525">
            <a:solidFill>
              <a:srgbClr val="F4F4F4"/>
            </a:solidFill>
            <a:prstDash val="solid"/>
            <a:headEnd type="none" len="sm" w="sm"/>
            <a:tailEnd type="none" len="sm" w="sm"/>
          </a:ln>
        </p:spPr>
      </p:sp>
      <p:sp>
        <p:nvSpPr>
          <p:cNvPr name="TextBox 3" id="3"/>
          <p:cNvSpPr txBox="true"/>
          <p:nvPr/>
        </p:nvSpPr>
        <p:spPr>
          <a:xfrm rot="0">
            <a:off x="1028700" y="1273665"/>
            <a:ext cx="8115300" cy="2466051"/>
          </a:xfrm>
          <a:prstGeom prst="rect">
            <a:avLst/>
          </a:prstGeom>
        </p:spPr>
        <p:txBody>
          <a:bodyPr anchor="t" rtlCol="false" tIns="0" lIns="0" bIns="0" rIns="0">
            <a:spAutoFit/>
          </a:bodyPr>
          <a:lstStyle/>
          <a:p>
            <a:pPr algn="l">
              <a:lnSpc>
                <a:spcPts val="9348"/>
              </a:lnSpc>
            </a:pPr>
            <a:r>
              <a:rPr lang="en-US" sz="8346" b="true">
                <a:solidFill>
                  <a:srgbClr val="F4F4F4"/>
                </a:solidFill>
                <a:latin typeface="Poppins Medium"/>
                <a:ea typeface="Poppins Medium"/>
                <a:cs typeface="Poppins Medium"/>
                <a:sym typeface="Poppins Medium"/>
              </a:rPr>
              <a:t>Agenda de Clase</a:t>
            </a:r>
          </a:p>
        </p:txBody>
      </p:sp>
      <p:sp>
        <p:nvSpPr>
          <p:cNvPr name="TextBox 4" id="4"/>
          <p:cNvSpPr txBox="true"/>
          <p:nvPr/>
        </p:nvSpPr>
        <p:spPr>
          <a:xfrm rot="0">
            <a:off x="211258" y="4701326"/>
            <a:ext cx="9110147" cy="4353177"/>
          </a:xfrm>
          <a:prstGeom prst="rect">
            <a:avLst/>
          </a:prstGeom>
        </p:spPr>
        <p:txBody>
          <a:bodyPr anchor="t" rtlCol="false" tIns="0" lIns="0" bIns="0" rIns="0">
            <a:spAutoFit/>
          </a:bodyPr>
          <a:lstStyle/>
          <a:p>
            <a:pPr algn="just" marL="529634" indent="-264817" lvl="1">
              <a:lnSpc>
                <a:spcPts val="3434"/>
              </a:lnSpc>
              <a:buFont typeface="Arial"/>
              <a:buChar char="•"/>
            </a:pPr>
            <a:r>
              <a:rPr lang="en-US" sz="2453">
                <a:solidFill>
                  <a:srgbClr val="F4F4F4"/>
                </a:solidFill>
                <a:latin typeface="Inter Extra-Light"/>
                <a:ea typeface="Inter Extra-Light"/>
                <a:cs typeface="Inter Extra-Light"/>
                <a:sym typeface="Inter Extra-Light"/>
              </a:rPr>
              <a:t>Aplicar funciones para transformar y crear nuevas columnas en un DataFrame.</a:t>
            </a:r>
          </a:p>
          <a:p>
            <a:pPr algn="just" marL="529634" indent="-264817" lvl="1">
              <a:lnSpc>
                <a:spcPts val="3434"/>
              </a:lnSpc>
              <a:buFont typeface="Arial"/>
              <a:buChar char="•"/>
            </a:pPr>
            <a:r>
              <a:rPr lang="en-US" sz="2453">
                <a:solidFill>
                  <a:srgbClr val="F4F4F4"/>
                </a:solidFill>
                <a:latin typeface="Inter Extra-Light"/>
                <a:ea typeface="Inter Extra-Light"/>
                <a:cs typeface="Inter Extra-Light"/>
                <a:sym typeface="Inter Extra-Light"/>
              </a:rPr>
              <a:t>Agrupar datos para realizar cálculos agregados y obtener insights.</a:t>
            </a:r>
          </a:p>
          <a:p>
            <a:pPr algn="just" marL="529634" indent="-264817" lvl="1">
              <a:lnSpc>
                <a:spcPts val="3434"/>
              </a:lnSpc>
              <a:buFont typeface="Arial"/>
              <a:buChar char="•"/>
            </a:pPr>
            <a:r>
              <a:rPr lang="en-US" sz="2453">
                <a:solidFill>
                  <a:srgbClr val="F4F4F4"/>
                </a:solidFill>
                <a:latin typeface="Inter Extra-Light"/>
                <a:ea typeface="Inter Extra-Light"/>
                <a:cs typeface="Inter Extra-Light"/>
                <a:sym typeface="Inter Extra-Light"/>
              </a:rPr>
              <a:t>Combinar diferentes conjuntos de datos utilizando una clave común.</a:t>
            </a:r>
          </a:p>
          <a:p>
            <a:pPr algn="just" marL="529634" indent="-264817" lvl="1">
              <a:lnSpc>
                <a:spcPts val="3434"/>
              </a:lnSpc>
              <a:buFont typeface="Arial"/>
              <a:buChar char="•"/>
            </a:pPr>
            <a:r>
              <a:rPr lang="en-US" sz="2453">
                <a:solidFill>
                  <a:srgbClr val="F4F4F4"/>
                </a:solidFill>
                <a:latin typeface="Inter Extra-Light"/>
                <a:ea typeface="Inter Extra-Light"/>
                <a:cs typeface="Inter Extra-Light"/>
                <a:sym typeface="Inter Extra-Light"/>
              </a:rPr>
              <a:t>Explicar los conceptos básicos de la ingeniería de características, incluyendo la creación de variables, el escalado, la normalización y la reducción de la dimensionalidad.</a:t>
            </a:r>
          </a:p>
        </p:txBody>
      </p:sp>
      <p:grpSp>
        <p:nvGrpSpPr>
          <p:cNvPr name="Group 5" id="5"/>
          <p:cNvGrpSpPr/>
          <p:nvPr/>
        </p:nvGrpSpPr>
        <p:grpSpPr>
          <a:xfrm rot="0">
            <a:off x="9586997" y="1028700"/>
            <a:ext cx="9297103" cy="8229600"/>
            <a:chOff x="0" y="0"/>
            <a:chExt cx="1440365" cy="1274980"/>
          </a:xfrm>
        </p:grpSpPr>
        <p:sp>
          <p:nvSpPr>
            <p:cNvPr name="Freeform 6" id="6"/>
            <p:cNvSpPr/>
            <p:nvPr/>
          </p:nvSpPr>
          <p:spPr>
            <a:xfrm flipH="false" flipV="false" rot="0">
              <a:off x="0" y="0"/>
              <a:ext cx="1440365" cy="1274980"/>
            </a:xfrm>
            <a:custGeom>
              <a:avLst/>
              <a:gdLst/>
              <a:ahLst/>
              <a:cxnLst/>
              <a:rect r="r" b="b" t="t" l="l"/>
              <a:pathLst>
                <a:path h="1274980" w="1440365">
                  <a:moveTo>
                    <a:pt x="50796" y="0"/>
                  </a:moveTo>
                  <a:lnTo>
                    <a:pt x="1389568" y="0"/>
                  </a:lnTo>
                  <a:cubicBezTo>
                    <a:pt x="1417622" y="0"/>
                    <a:pt x="1440365" y="22742"/>
                    <a:pt x="1440365" y="50796"/>
                  </a:cubicBezTo>
                  <a:lnTo>
                    <a:pt x="1440365" y="1224184"/>
                  </a:lnTo>
                  <a:cubicBezTo>
                    <a:pt x="1440365" y="1237656"/>
                    <a:pt x="1435013" y="1250576"/>
                    <a:pt x="1425487" y="1260103"/>
                  </a:cubicBezTo>
                  <a:cubicBezTo>
                    <a:pt x="1415961" y="1269629"/>
                    <a:pt x="1403040" y="1274980"/>
                    <a:pt x="1389568" y="1274980"/>
                  </a:cubicBezTo>
                  <a:lnTo>
                    <a:pt x="50796" y="1274980"/>
                  </a:lnTo>
                  <a:cubicBezTo>
                    <a:pt x="22742" y="1274980"/>
                    <a:pt x="0" y="1252238"/>
                    <a:pt x="0" y="1224184"/>
                  </a:cubicBezTo>
                  <a:lnTo>
                    <a:pt x="0" y="50796"/>
                  </a:lnTo>
                  <a:cubicBezTo>
                    <a:pt x="0" y="37324"/>
                    <a:pt x="5352" y="24404"/>
                    <a:pt x="14878" y="14878"/>
                  </a:cubicBezTo>
                  <a:cubicBezTo>
                    <a:pt x="24404" y="5352"/>
                    <a:pt x="37324" y="0"/>
                    <a:pt x="50796" y="0"/>
                  </a:cubicBezTo>
                  <a:close/>
                </a:path>
              </a:pathLst>
            </a:custGeom>
            <a:blipFill>
              <a:blip r:embed="rId2"/>
              <a:stretch>
                <a:fillRect l="0" t="-34781" r="0" b="-34781"/>
              </a:stretch>
            </a:blipFill>
            <a:ln w="9525" cap="rnd">
              <a:solidFill>
                <a:srgbClr val="FFFFFF"/>
              </a:solidFill>
              <a:prstDash val="solid"/>
              <a:round/>
            </a:ln>
          </p:spPr>
        </p:sp>
      </p:grpSp>
    </p:spTree>
  </p:cSld>
  <p:clrMapOvr>
    <a:masterClrMapping/>
  </p:clrMapOvr>
</p:sld>
</file>

<file path=ppt/slides/slide3.xml><?xml version="1.0" encoding="utf-8"?>
<p:sld xmlns:p="http://schemas.openxmlformats.org/presentationml/2006/main" xmlns:a="http://schemas.openxmlformats.org/drawingml/2006/main">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808509" y="3695929"/>
            <a:ext cx="15763225" cy="3060003"/>
          </a:xfrm>
          <a:prstGeom prst="rect">
            <a:avLst/>
          </a:prstGeom>
        </p:spPr>
        <p:txBody>
          <a:bodyPr anchor="t" rtlCol="false" tIns="0" lIns="0" bIns="0" rIns="0">
            <a:spAutoFit/>
          </a:bodyPr>
          <a:lstStyle/>
          <a:p>
            <a:pPr algn="just">
              <a:lnSpc>
                <a:spcPts val="4063"/>
              </a:lnSpc>
            </a:pPr>
            <a:r>
              <a:rPr lang="en-US" sz="2902">
                <a:solidFill>
                  <a:srgbClr val="F4F4F4"/>
                </a:solidFill>
                <a:latin typeface="Inter"/>
                <a:ea typeface="Inter"/>
                <a:cs typeface="Inter"/>
                <a:sym typeface="Inter"/>
              </a:rPr>
              <a:t>Ambos procesos son parte de la preparación de los datos para su posterior análisis.</a:t>
            </a:r>
          </a:p>
          <a:p>
            <a:pPr algn="just">
              <a:lnSpc>
                <a:spcPts val="4063"/>
              </a:lnSpc>
            </a:pPr>
            <a:r>
              <a:rPr lang="en-US" sz="2902">
                <a:solidFill>
                  <a:srgbClr val="F4F4F4"/>
                </a:solidFill>
                <a:latin typeface="Inter"/>
                <a:ea typeface="Inter"/>
                <a:cs typeface="Inter"/>
                <a:sym typeface="Inter"/>
              </a:rPr>
              <a:t>Ambos procesos permiten transformar los datos para adaptarlos a las necesidades del análisis de datos.</a:t>
            </a:r>
          </a:p>
          <a:p>
            <a:pPr algn="just">
              <a:lnSpc>
                <a:spcPts val="4063"/>
              </a:lnSpc>
            </a:pPr>
            <a:r>
              <a:rPr lang="en-US" sz="2902">
                <a:solidFill>
                  <a:srgbClr val="F4F4F4"/>
                </a:solidFill>
                <a:latin typeface="Inter"/>
                <a:ea typeface="Inter"/>
                <a:cs typeface="Inter"/>
                <a:sym typeface="Inter"/>
              </a:rPr>
              <a:t>Por lo cual en necesario tener muy en claro el objetivo del análisis.</a:t>
            </a:r>
          </a:p>
          <a:p>
            <a:pPr algn="just">
              <a:lnSpc>
                <a:spcPts val="4063"/>
              </a:lnSpc>
              <a:spcBef>
                <a:spcPct val="0"/>
              </a:spcBef>
            </a:pPr>
            <a:r>
              <a:rPr lang="en-US" sz="2902">
                <a:solidFill>
                  <a:srgbClr val="F4F4F4"/>
                </a:solidFill>
                <a:latin typeface="Inter"/>
                <a:ea typeface="Inter"/>
                <a:cs typeface="Inter"/>
                <a:sym typeface="Inter"/>
              </a:rPr>
              <a:t>El proceso puede incluir cambios como: modificar los tipos de datos, agregarlos o desagregarlos, escalar o normalizar valores y crear nuevas variables o características.</a:t>
            </a:r>
          </a:p>
        </p:txBody>
      </p:sp>
      <p:sp>
        <p:nvSpPr>
          <p:cNvPr name="AutoShape 3" id="3"/>
          <p:cNvSpPr/>
          <p:nvPr/>
        </p:nvSpPr>
        <p:spPr>
          <a:xfrm flipV="true">
            <a:off x="-22150" y="2507402"/>
            <a:ext cx="18288000" cy="0"/>
          </a:xfrm>
          <a:prstGeom prst="line">
            <a:avLst/>
          </a:prstGeom>
          <a:ln cap="rnd" w="9525">
            <a:solidFill>
              <a:srgbClr val="F4F4F4"/>
            </a:solidFill>
            <a:prstDash val="solid"/>
            <a:headEnd type="none" len="sm" w="sm"/>
            <a:tailEnd type="none" len="sm" w="sm"/>
          </a:ln>
        </p:spPr>
      </p:sp>
      <p:sp>
        <p:nvSpPr>
          <p:cNvPr name="TextBox 4" id="4"/>
          <p:cNvSpPr txBox="true"/>
          <p:nvPr/>
        </p:nvSpPr>
        <p:spPr>
          <a:xfrm rot="0">
            <a:off x="808509" y="2374052"/>
            <a:ext cx="8335491" cy="817872"/>
          </a:xfrm>
          <a:prstGeom prst="rect">
            <a:avLst/>
          </a:prstGeom>
        </p:spPr>
        <p:txBody>
          <a:bodyPr anchor="t" rtlCol="false" tIns="0" lIns="0" bIns="0" rIns="0">
            <a:spAutoFit/>
          </a:bodyPr>
          <a:lstStyle/>
          <a:p>
            <a:pPr algn="ctr">
              <a:lnSpc>
                <a:spcPts val="6370"/>
              </a:lnSpc>
              <a:spcBef>
                <a:spcPct val="0"/>
              </a:spcBef>
            </a:pPr>
            <a:r>
              <a:rPr lang="en-US" sz="4550" spc="-191">
                <a:solidFill>
                  <a:srgbClr val="F4F4F4"/>
                </a:solidFill>
                <a:latin typeface="Poppins"/>
                <a:ea typeface="Poppins"/>
                <a:cs typeface="Poppins"/>
                <a:sym typeface="Poppins"/>
              </a:rPr>
              <a:t>Qué implican estos procesos?</a:t>
            </a:r>
          </a:p>
        </p:txBody>
      </p:sp>
      <p:sp>
        <p:nvSpPr>
          <p:cNvPr name="TextBox 5" id="5"/>
          <p:cNvSpPr txBox="true"/>
          <p:nvPr/>
        </p:nvSpPr>
        <p:spPr>
          <a:xfrm rot="0">
            <a:off x="1017910" y="191778"/>
            <a:ext cx="14781312" cy="959477"/>
          </a:xfrm>
          <a:prstGeom prst="rect">
            <a:avLst/>
          </a:prstGeom>
        </p:spPr>
        <p:txBody>
          <a:bodyPr anchor="t" rtlCol="false" tIns="0" lIns="0" bIns="0" rIns="0">
            <a:spAutoFit/>
          </a:bodyPr>
          <a:lstStyle/>
          <a:p>
            <a:pPr algn="ctr">
              <a:lnSpc>
                <a:spcPts val="7490"/>
              </a:lnSpc>
              <a:spcBef>
                <a:spcPct val="0"/>
              </a:spcBef>
            </a:pPr>
            <a:r>
              <a:rPr lang="en-US" b="true" sz="5350" spc="-224">
                <a:solidFill>
                  <a:srgbClr val="F4F4F4"/>
                </a:solidFill>
                <a:latin typeface="Poppins Medium"/>
                <a:ea typeface="Poppins Medium"/>
                <a:cs typeface="Poppins Medium"/>
                <a:sym typeface="Poppins Medium"/>
              </a:rPr>
              <a:t>Data Wrangling e Ingeniería de Características</a:t>
            </a:r>
          </a:p>
        </p:txBody>
      </p:sp>
    </p:spTree>
  </p:cSld>
  <p:clrMapOvr>
    <a:masterClrMapping/>
  </p:clrMapOvr>
</p:sld>
</file>

<file path=ppt/slides/slide4.xml><?xml version="1.0" encoding="utf-8"?>
<p:sld xmlns:p="http://schemas.openxmlformats.org/presentationml/2006/main" xmlns:a="http://schemas.openxmlformats.org/drawingml/2006/main">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800100" y="3428935"/>
            <a:ext cx="16819636" cy="1127937"/>
          </a:xfrm>
          <a:prstGeom prst="rect">
            <a:avLst/>
          </a:prstGeom>
        </p:spPr>
        <p:txBody>
          <a:bodyPr anchor="t" rtlCol="false" tIns="0" lIns="0" bIns="0" rIns="0">
            <a:spAutoFit/>
          </a:bodyPr>
          <a:lstStyle/>
          <a:p>
            <a:pPr algn="just">
              <a:lnSpc>
                <a:spcPts val="4505"/>
              </a:lnSpc>
            </a:pPr>
            <a:r>
              <a:rPr lang="en-US" sz="3218">
                <a:solidFill>
                  <a:srgbClr val="F4F4F4"/>
                </a:solidFill>
                <a:latin typeface="Inter"/>
                <a:ea typeface="Inter"/>
                <a:cs typeface="Inter"/>
                <a:sym typeface="Inter"/>
              </a:rPr>
              <a:t>C</a:t>
            </a:r>
            <a:r>
              <a:rPr lang="en-US" sz="3218" strike="noStrike" u="none">
                <a:solidFill>
                  <a:srgbClr val="F4F4F4"/>
                </a:solidFill>
                <a:latin typeface="Inter"/>
                <a:ea typeface="Inter"/>
                <a:cs typeface="Inter"/>
                <a:sym typeface="Inter"/>
              </a:rPr>
              <a:t>onsiste en modificar los datos para adaptarl</a:t>
            </a:r>
            <a:r>
              <a:rPr lang="en-US" sz="3218" strike="noStrike" u="none">
                <a:solidFill>
                  <a:srgbClr val="F4F4F4"/>
                </a:solidFill>
                <a:latin typeface="Inter"/>
                <a:ea typeface="Inter"/>
                <a:cs typeface="Inter"/>
                <a:sym typeface="Inter"/>
              </a:rPr>
              <a:t>o</a:t>
            </a:r>
            <a:r>
              <a:rPr lang="en-US" sz="3218" strike="noStrike" u="none">
                <a:solidFill>
                  <a:srgbClr val="F4F4F4"/>
                </a:solidFill>
                <a:latin typeface="Inter"/>
                <a:ea typeface="Inter"/>
                <a:cs typeface="Inter"/>
                <a:sym typeface="Inter"/>
              </a:rPr>
              <a:t>s</a:t>
            </a:r>
            <a:r>
              <a:rPr lang="en-US" sz="3218" strike="noStrike" u="none">
                <a:solidFill>
                  <a:srgbClr val="F4F4F4"/>
                </a:solidFill>
                <a:latin typeface="Inter"/>
                <a:ea typeface="Inter"/>
                <a:cs typeface="Inter"/>
                <a:sym typeface="Inter"/>
              </a:rPr>
              <a:t> a </a:t>
            </a:r>
            <a:r>
              <a:rPr lang="en-US" sz="3218" strike="noStrike" u="none">
                <a:solidFill>
                  <a:srgbClr val="F4F4F4"/>
                </a:solidFill>
                <a:latin typeface="Inter"/>
                <a:ea typeface="Inter"/>
                <a:cs typeface="Inter"/>
                <a:sym typeface="Inter"/>
              </a:rPr>
              <a:t>n</a:t>
            </a:r>
            <a:r>
              <a:rPr lang="en-US" sz="3218" strike="noStrike" u="none">
                <a:solidFill>
                  <a:srgbClr val="F4F4F4"/>
                </a:solidFill>
                <a:latin typeface="Inter"/>
                <a:ea typeface="Inter"/>
                <a:cs typeface="Inter"/>
                <a:sym typeface="Inter"/>
              </a:rPr>
              <a:t>ue</a:t>
            </a:r>
            <a:r>
              <a:rPr lang="en-US" sz="3218" strike="noStrike" u="none">
                <a:solidFill>
                  <a:srgbClr val="F4F4F4"/>
                </a:solidFill>
                <a:latin typeface="Inter"/>
                <a:ea typeface="Inter"/>
                <a:cs typeface="Inter"/>
                <a:sym typeface="Inter"/>
              </a:rPr>
              <a:t>st</a:t>
            </a:r>
            <a:r>
              <a:rPr lang="en-US" sz="3218" strike="noStrike" u="none">
                <a:solidFill>
                  <a:srgbClr val="F4F4F4"/>
                </a:solidFill>
                <a:latin typeface="Inter"/>
                <a:ea typeface="Inter"/>
                <a:cs typeface="Inter"/>
                <a:sym typeface="Inter"/>
              </a:rPr>
              <a:t>ras n</a:t>
            </a:r>
            <a:r>
              <a:rPr lang="en-US" sz="3218" strike="noStrike" u="none">
                <a:solidFill>
                  <a:srgbClr val="F4F4F4"/>
                </a:solidFill>
                <a:latin typeface="Inter"/>
                <a:ea typeface="Inter"/>
                <a:cs typeface="Inter"/>
                <a:sym typeface="Inter"/>
              </a:rPr>
              <a:t>e</a:t>
            </a:r>
            <a:r>
              <a:rPr lang="en-US" sz="3218" strike="noStrike" u="none">
                <a:solidFill>
                  <a:srgbClr val="F4F4F4"/>
                </a:solidFill>
                <a:latin typeface="Inter"/>
                <a:ea typeface="Inter"/>
                <a:cs typeface="Inter"/>
                <a:sym typeface="Inter"/>
              </a:rPr>
              <a:t>c</a:t>
            </a:r>
            <a:r>
              <a:rPr lang="en-US" sz="3218" strike="noStrike" u="none">
                <a:solidFill>
                  <a:srgbClr val="F4F4F4"/>
                </a:solidFill>
                <a:latin typeface="Inter"/>
                <a:ea typeface="Inter"/>
                <a:cs typeface="Inter"/>
                <a:sym typeface="Inter"/>
              </a:rPr>
              <a:t>e</a:t>
            </a:r>
            <a:r>
              <a:rPr lang="en-US" sz="3218" strike="noStrike" u="none">
                <a:solidFill>
                  <a:srgbClr val="F4F4F4"/>
                </a:solidFill>
                <a:latin typeface="Inter"/>
                <a:ea typeface="Inter"/>
                <a:cs typeface="Inter"/>
                <a:sym typeface="Inter"/>
              </a:rPr>
              <a:t>sidad</a:t>
            </a:r>
            <a:r>
              <a:rPr lang="en-US" sz="3218" strike="noStrike" u="none">
                <a:solidFill>
                  <a:srgbClr val="F4F4F4"/>
                </a:solidFill>
                <a:latin typeface="Inter"/>
                <a:ea typeface="Inter"/>
                <a:cs typeface="Inter"/>
                <a:sym typeface="Inter"/>
              </a:rPr>
              <a:t>es</a:t>
            </a:r>
            <a:r>
              <a:rPr lang="en-US" sz="3218" strike="noStrike" u="none">
                <a:solidFill>
                  <a:srgbClr val="F4F4F4"/>
                </a:solidFill>
                <a:latin typeface="Inter"/>
                <a:ea typeface="Inter"/>
                <a:cs typeface="Inter"/>
                <a:sym typeface="Inter"/>
              </a:rPr>
              <a:t> </a:t>
            </a:r>
            <a:r>
              <a:rPr lang="en-US" sz="3218" strike="noStrike" u="none">
                <a:solidFill>
                  <a:srgbClr val="F4F4F4"/>
                </a:solidFill>
                <a:latin typeface="Inter"/>
                <a:ea typeface="Inter"/>
                <a:cs typeface="Inter"/>
                <a:sym typeface="Inter"/>
              </a:rPr>
              <a:t>de</a:t>
            </a:r>
            <a:r>
              <a:rPr lang="en-US" sz="3218" strike="noStrike" u="none">
                <a:solidFill>
                  <a:srgbClr val="F4F4F4"/>
                </a:solidFill>
                <a:latin typeface="Inter"/>
                <a:ea typeface="Inter"/>
                <a:cs typeface="Inter"/>
                <a:sym typeface="Inter"/>
              </a:rPr>
              <a:t> a</a:t>
            </a:r>
            <a:r>
              <a:rPr lang="en-US" sz="3218" strike="noStrike" u="none">
                <a:solidFill>
                  <a:srgbClr val="F4F4F4"/>
                </a:solidFill>
                <a:latin typeface="Inter"/>
                <a:ea typeface="Inter"/>
                <a:cs typeface="Inter"/>
                <a:sym typeface="Inter"/>
              </a:rPr>
              <a:t>ná</a:t>
            </a:r>
            <a:r>
              <a:rPr lang="en-US" sz="3218" strike="noStrike" u="none">
                <a:solidFill>
                  <a:srgbClr val="F4F4F4"/>
                </a:solidFill>
                <a:latin typeface="Inter"/>
                <a:ea typeface="Inter"/>
                <a:cs typeface="Inter"/>
                <a:sym typeface="Inter"/>
              </a:rPr>
              <a:t>l</a:t>
            </a:r>
            <a:r>
              <a:rPr lang="en-US" sz="3218" strike="noStrike" u="none">
                <a:solidFill>
                  <a:srgbClr val="F4F4F4"/>
                </a:solidFill>
                <a:latin typeface="Inter"/>
                <a:ea typeface="Inter"/>
                <a:cs typeface="Inter"/>
                <a:sym typeface="Inter"/>
              </a:rPr>
              <a:t>isis.</a:t>
            </a:r>
            <a:r>
              <a:rPr lang="en-US" sz="3218" strike="noStrike" u="none">
                <a:solidFill>
                  <a:srgbClr val="F4F4F4"/>
                </a:solidFill>
                <a:latin typeface="Inter"/>
                <a:ea typeface="Inter"/>
                <a:cs typeface="Inter"/>
                <a:sym typeface="Inter"/>
              </a:rPr>
              <a:t> Puede realizarse utilizando alguna de las siguientes técnicas:</a:t>
            </a:r>
          </a:p>
        </p:txBody>
      </p:sp>
      <p:sp>
        <p:nvSpPr>
          <p:cNvPr name="AutoShape 3" id="3"/>
          <p:cNvSpPr/>
          <p:nvPr/>
        </p:nvSpPr>
        <p:spPr>
          <a:xfrm flipV="true">
            <a:off x="-22150" y="2507402"/>
            <a:ext cx="18288000" cy="0"/>
          </a:xfrm>
          <a:prstGeom prst="line">
            <a:avLst/>
          </a:prstGeom>
          <a:ln cap="rnd" w="9525">
            <a:solidFill>
              <a:srgbClr val="F4F4F4"/>
            </a:solidFill>
            <a:prstDash val="solid"/>
            <a:headEnd type="none" len="sm" w="sm"/>
            <a:tailEnd type="none" len="sm" w="sm"/>
          </a:ln>
        </p:spPr>
      </p:sp>
      <p:sp>
        <p:nvSpPr>
          <p:cNvPr name="TextBox 4" id="4"/>
          <p:cNvSpPr txBox="true"/>
          <p:nvPr/>
        </p:nvSpPr>
        <p:spPr>
          <a:xfrm rot="0">
            <a:off x="4327327" y="191778"/>
            <a:ext cx="8162479" cy="959477"/>
          </a:xfrm>
          <a:prstGeom prst="rect">
            <a:avLst/>
          </a:prstGeom>
        </p:spPr>
        <p:txBody>
          <a:bodyPr anchor="t" rtlCol="false" tIns="0" lIns="0" bIns="0" rIns="0">
            <a:spAutoFit/>
          </a:bodyPr>
          <a:lstStyle/>
          <a:p>
            <a:pPr algn="ctr">
              <a:lnSpc>
                <a:spcPts val="7490"/>
              </a:lnSpc>
              <a:spcBef>
                <a:spcPct val="0"/>
              </a:spcBef>
            </a:pPr>
            <a:r>
              <a:rPr lang="en-US" b="true" sz="5350" spc="-224">
                <a:solidFill>
                  <a:srgbClr val="F4F4F4"/>
                </a:solidFill>
                <a:latin typeface="Poppins Medium"/>
                <a:ea typeface="Poppins Medium"/>
                <a:cs typeface="Poppins Medium"/>
                <a:sym typeface="Poppins Medium"/>
              </a:rPr>
              <a:t>Transformación de Datos:</a:t>
            </a:r>
          </a:p>
        </p:txBody>
      </p:sp>
      <p:sp>
        <p:nvSpPr>
          <p:cNvPr name="TextBox 5" id="5"/>
          <p:cNvSpPr txBox="true"/>
          <p:nvPr/>
        </p:nvSpPr>
        <p:spPr>
          <a:xfrm rot="0">
            <a:off x="800100" y="4876800"/>
            <a:ext cx="16391011" cy="2254427"/>
          </a:xfrm>
          <a:prstGeom prst="rect">
            <a:avLst/>
          </a:prstGeom>
        </p:spPr>
        <p:txBody>
          <a:bodyPr anchor="t" rtlCol="false" tIns="0" lIns="0" bIns="0" rIns="0">
            <a:spAutoFit/>
          </a:bodyPr>
          <a:lstStyle/>
          <a:p>
            <a:pPr algn="just">
              <a:lnSpc>
                <a:spcPts val="4505"/>
              </a:lnSpc>
            </a:pPr>
            <a:r>
              <a:rPr lang="en-US" b="true" sz="3218">
                <a:solidFill>
                  <a:srgbClr val="F4F4F4"/>
                </a:solidFill>
                <a:latin typeface="Inter Bold"/>
                <a:ea typeface="Inter Bold"/>
                <a:cs typeface="Inter Bold"/>
                <a:sym typeface="Inter Bold"/>
              </a:rPr>
              <a:t>a) Aplicación de Funciones</a:t>
            </a:r>
          </a:p>
          <a:p>
            <a:pPr algn="just">
              <a:lnSpc>
                <a:spcPts val="4505"/>
              </a:lnSpc>
            </a:pPr>
            <a:r>
              <a:rPr lang="en-US" sz="3218">
                <a:solidFill>
                  <a:srgbClr val="F4F4F4"/>
                </a:solidFill>
                <a:latin typeface="Inter Extra-Light"/>
                <a:ea typeface="Inter Extra-Light"/>
                <a:cs typeface="Inter Extra-Light"/>
                <a:sym typeface="Inter Extra-Light"/>
              </a:rPr>
              <a:t>En</a:t>
            </a:r>
            <a:r>
              <a:rPr lang="en-US" sz="3218">
                <a:solidFill>
                  <a:srgbClr val="F4F4F4"/>
                </a:solidFill>
                <a:latin typeface="Inter Extra-Light"/>
                <a:ea typeface="Inter Extra-Light"/>
                <a:cs typeface="Inter Extra-Light"/>
                <a:sym typeface="Inter Extra-Light"/>
              </a:rPr>
              <a:t> este proceso se aplica una operación a cada elemento de una columna. Un ejemplo es la utilizacipon del método</a:t>
            </a:r>
            <a:r>
              <a:rPr lang="en-US" b="true" sz="3218">
                <a:solidFill>
                  <a:srgbClr val="F4F4F4"/>
                </a:solidFill>
                <a:latin typeface="Inter Bold"/>
                <a:ea typeface="Inter Bold"/>
                <a:cs typeface="Inter Bold"/>
                <a:sym typeface="Inter Bold"/>
              </a:rPr>
              <a:t> </a:t>
            </a:r>
            <a:r>
              <a:rPr lang="en-US" b="true" sz="3218" i="true">
                <a:solidFill>
                  <a:srgbClr val="F4F4F4"/>
                </a:solidFill>
                <a:latin typeface="Inter Bold Italics"/>
                <a:ea typeface="Inter Bold Italics"/>
                <a:cs typeface="Inter Bold Italics"/>
                <a:sym typeface="Inter Bold Italics"/>
              </a:rPr>
              <a:t>.apply()</a:t>
            </a:r>
            <a:r>
              <a:rPr lang="en-US" sz="3218">
                <a:solidFill>
                  <a:srgbClr val="F4F4F4"/>
                </a:solidFill>
                <a:latin typeface="Inter Extra-Light"/>
                <a:ea typeface="Inter Extra-Light"/>
                <a:cs typeface="Inter Extra-Light"/>
                <a:sym typeface="Inter Extra-Light"/>
              </a:rPr>
              <a:t> junto con una función</a:t>
            </a:r>
            <a:r>
              <a:rPr lang="en-US" b="true" sz="3218" i="true">
                <a:solidFill>
                  <a:srgbClr val="F4F4F4"/>
                </a:solidFill>
                <a:latin typeface="Inter Bold Italics"/>
                <a:ea typeface="Inter Bold Italics"/>
                <a:cs typeface="Inter Bold Italics"/>
                <a:sym typeface="Inter Bold Italics"/>
              </a:rPr>
              <a:t> lambda</a:t>
            </a:r>
            <a:r>
              <a:rPr lang="en-US" sz="3218">
                <a:solidFill>
                  <a:srgbClr val="F4F4F4"/>
                </a:solidFill>
                <a:latin typeface="Inter Extra-Light"/>
                <a:ea typeface="Inter Extra-Light"/>
                <a:cs typeface="Inter Extra-Light"/>
                <a:sym typeface="Inter Extra-Light"/>
              </a:rPr>
              <a:t> de python.</a:t>
            </a:r>
          </a:p>
          <a:p>
            <a:pPr algn="just">
              <a:lnSpc>
                <a:spcPts val="4225"/>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V="true">
            <a:off x="-22150" y="2507402"/>
            <a:ext cx="18288000" cy="0"/>
          </a:xfrm>
          <a:prstGeom prst="line">
            <a:avLst/>
          </a:prstGeom>
          <a:ln cap="rnd" w="9525">
            <a:solidFill>
              <a:srgbClr val="F4F4F4"/>
            </a:solidFill>
            <a:prstDash val="solid"/>
            <a:headEnd type="none" len="sm" w="sm"/>
            <a:tailEnd type="none" len="sm" w="sm"/>
          </a:ln>
        </p:spPr>
      </p:sp>
      <p:sp>
        <p:nvSpPr>
          <p:cNvPr name="TextBox 3" id="3"/>
          <p:cNvSpPr txBox="true"/>
          <p:nvPr/>
        </p:nvSpPr>
        <p:spPr>
          <a:xfrm rot="0">
            <a:off x="800100" y="3428935"/>
            <a:ext cx="16819636" cy="1127937"/>
          </a:xfrm>
          <a:prstGeom prst="rect">
            <a:avLst/>
          </a:prstGeom>
        </p:spPr>
        <p:txBody>
          <a:bodyPr anchor="t" rtlCol="false" tIns="0" lIns="0" bIns="0" rIns="0">
            <a:spAutoFit/>
          </a:bodyPr>
          <a:lstStyle/>
          <a:p>
            <a:pPr algn="just">
              <a:lnSpc>
                <a:spcPts val="4505"/>
              </a:lnSpc>
            </a:pPr>
            <a:r>
              <a:rPr lang="en-US" sz="3218">
                <a:solidFill>
                  <a:srgbClr val="F4F4F4"/>
                </a:solidFill>
                <a:latin typeface="Inter"/>
                <a:ea typeface="Inter"/>
                <a:cs typeface="Inter"/>
                <a:sym typeface="Inter"/>
              </a:rPr>
              <a:t>C</a:t>
            </a:r>
            <a:r>
              <a:rPr lang="en-US" sz="3218" strike="noStrike" u="none">
                <a:solidFill>
                  <a:srgbClr val="F4F4F4"/>
                </a:solidFill>
                <a:latin typeface="Inter"/>
                <a:ea typeface="Inter"/>
                <a:cs typeface="Inter"/>
                <a:sym typeface="Inter"/>
              </a:rPr>
              <a:t>onsiste en</a:t>
            </a:r>
            <a:r>
              <a:rPr lang="en-US" sz="3218" strike="noStrike" u="none">
                <a:solidFill>
                  <a:srgbClr val="F4F4F4"/>
                </a:solidFill>
                <a:latin typeface="Inter"/>
                <a:ea typeface="Inter"/>
                <a:cs typeface="Inter"/>
                <a:sym typeface="Inter"/>
              </a:rPr>
              <a:t> dividir los datos en grupos para luego aplicar una función de agregación a cada grupo.</a:t>
            </a:r>
          </a:p>
        </p:txBody>
      </p:sp>
      <p:sp>
        <p:nvSpPr>
          <p:cNvPr name="TextBox 4" id="4"/>
          <p:cNvSpPr txBox="true"/>
          <p:nvPr/>
        </p:nvSpPr>
        <p:spPr>
          <a:xfrm rot="0">
            <a:off x="4327327" y="191778"/>
            <a:ext cx="8676829" cy="959477"/>
          </a:xfrm>
          <a:prstGeom prst="rect">
            <a:avLst/>
          </a:prstGeom>
        </p:spPr>
        <p:txBody>
          <a:bodyPr anchor="t" rtlCol="false" tIns="0" lIns="0" bIns="0" rIns="0">
            <a:spAutoFit/>
          </a:bodyPr>
          <a:lstStyle/>
          <a:p>
            <a:pPr algn="ctr">
              <a:lnSpc>
                <a:spcPts val="7490"/>
              </a:lnSpc>
              <a:spcBef>
                <a:spcPct val="0"/>
              </a:spcBef>
            </a:pPr>
            <a:r>
              <a:rPr lang="en-US" b="true" sz="5350" spc="-224">
                <a:solidFill>
                  <a:srgbClr val="F4F4F4"/>
                </a:solidFill>
                <a:latin typeface="Poppins Medium"/>
                <a:ea typeface="Poppins Medium"/>
                <a:cs typeface="Poppins Medium"/>
                <a:sym typeface="Poppins Medium"/>
              </a:rPr>
              <a:t>Transformación </a:t>
            </a:r>
            <a:r>
              <a:rPr lang="en-US" b="true" sz="5350" spc="-224">
                <a:solidFill>
                  <a:srgbClr val="F4F4F4"/>
                </a:solidFill>
                <a:latin typeface="Poppins Medium"/>
                <a:ea typeface="Poppins Medium"/>
                <a:cs typeface="Poppins Medium"/>
                <a:sym typeface="Poppins Medium"/>
              </a:rPr>
              <a:t>de Datos:</a:t>
            </a:r>
          </a:p>
        </p:txBody>
      </p:sp>
      <p:sp>
        <p:nvSpPr>
          <p:cNvPr name="TextBox 5" id="5"/>
          <p:cNvSpPr txBox="true"/>
          <p:nvPr/>
        </p:nvSpPr>
        <p:spPr>
          <a:xfrm rot="0">
            <a:off x="800100" y="4876800"/>
            <a:ext cx="16391011" cy="2309037"/>
          </a:xfrm>
          <a:prstGeom prst="rect">
            <a:avLst/>
          </a:prstGeom>
        </p:spPr>
        <p:txBody>
          <a:bodyPr anchor="t" rtlCol="false" tIns="0" lIns="0" bIns="0" rIns="0">
            <a:spAutoFit/>
          </a:bodyPr>
          <a:lstStyle/>
          <a:p>
            <a:pPr algn="just">
              <a:lnSpc>
                <a:spcPts val="4505"/>
              </a:lnSpc>
            </a:pPr>
            <a:r>
              <a:rPr lang="en-US" sz="3218">
                <a:solidFill>
                  <a:srgbClr val="F4F4F4"/>
                </a:solidFill>
                <a:latin typeface="Inter Extra-Light"/>
                <a:ea typeface="Inter Extra-Light"/>
                <a:cs typeface="Inter Extra-Light"/>
                <a:sym typeface="Inter Extra-Light"/>
              </a:rPr>
              <a:t>El proceso es el siguiente: </a:t>
            </a:r>
          </a:p>
          <a:p>
            <a:pPr algn="just" marL="694772" indent="-347386" lvl="1">
              <a:lnSpc>
                <a:spcPts val="4505"/>
              </a:lnSpc>
              <a:buAutoNum type="arabicPeriod" startAt="1"/>
            </a:pPr>
            <a:r>
              <a:rPr lang="en-US" sz="3218">
                <a:solidFill>
                  <a:srgbClr val="F4F4F4"/>
                </a:solidFill>
                <a:latin typeface="Inter Extra-Light"/>
                <a:ea typeface="Inter Extra-Light"/>
                <a:cs typeface="Inter Extra-Light"/>
                <a:sym typeface="Inter Extra-Light"/>
              </a:rPr>
              <a:t>Dividir los</a:t>
            </a:r>
            <a:r>
              <a:rPr lang="en-US" sz="3218">
                <a:solidFill>
                  <a:srgbClr val="F4F4F4"/>
                </a:solidFill>
                <a:latin typeface="Inter Extra-Light"/>
                <a:ea typeface="Inter Extra-Light"/>
                <a:cs typeface="Inter Extra-Light"/>
                <a:sym typeface="Inter Extra-Light"/>
              </a:rPr>
              <a:t> datos en grupos basados en un criterio.</a:t>
            </a:r>
          </a:p>
          <a:p>
            <a:pPr algn="just" marL="694772" indent="-347386" lvl="1">
              <a:lnSpc>
                <a:spcPts val="4505"/>
              </a:lnSpc>
              <a:buAutoNum type="arabicPeriod" startAt="1"/>
            </a:pPr>
            <a:r>
              <a:rPr lang="en-US" sz="3218">
                <a:solidFill>
                  <a:srgbClr val="F4F4F4"/>
                </a:solidFill>
                <a:latin typeface="Inter Extra-Light"/>
                <a:ea typeface="Inter Extra-Light"/>
                <a:cs typeface="Inter Extra-Light"/>
                <a:sym typeface="Inter Extra-Light"/>
              </a:rPr>
              <a:t>Aplicar una función a cada grupo (como contar, sumar, promediar)</a:t>
            </a:r>
          </a:p>
          <a:p>
            <a:pPr algn="just" marL="694772" indent="-347386" lvl="1">
              <a:lnSpc>
                <a:spcPts val="4505"/>
              </a:lnSpc>
              <a:buAutoNum type="arabicPeriod" startAt="1"/>
            </a:pPr>
            <a:r>
              <a:rPr lang="en-US" sz="3218">
                <a:solidFill>
                  <a:srgbClr val="F4F4F4"/>
                </a:solidFill>
                <a:latin typeface="Inter Extra-Light"/>
                <a:ea typeface="Inter Extra-Light"/>
                <a:cs typeface="Inter Extra-Light"/>
                <a:sym typeface="Inter Extra-Light"/>
              </a:rPr>
              <a:t>Combin</a:t>
            </a:r>
            <a:r>
              <a:rPr lang="en-US" sz="3218">
                <a:solidFill>
                  <a:srgbClr val="F4F4F4"/>
                </a:solidFill>
                <a:latin typeface="Inter Extra-Light"/>
                <a:ea typeface="Inter Extra-Light"/>
                <a:cs typeface="Inter Extra-Light"/>
                <a:sym typeface="Inter Extra-Light"/>
              </a:rPr>
              <a:t>a</a:t>
            </a:r>
            <a:r>
              <a:rPr lang="en-US" sz="3218">
                <a:solidFill>
                  <a:srgbClr val="F4F4F4"/>
                </a:solidFill>
                <a:latin typeface="Inter Extra-Light"/>
                <a:ea typeface="Inter Extra-Light"/>
                <a:cs typeface="Inter Extra-Light"/>
                <a:sym typeface="Inter Extra-Light"/>
              </a:rPr>
              <a:t>r </a:t>
            </a:r>
            <a:r>
              <a:rPr lang="en-US" sz="3218">
                <a:solidFill>
                  <a:srgbClr val="F4F4F4"/>
                </a:solidFill>
                <a:latin typeface="Inter Extra-Light"/>
                <a:ea typeface="Inter Extra-Light"/>
                <a:cs typeface="Inter Extra-Light"/>
                <a:sym typeface="Inter Extra-Light"/>
              </a:rPr>
              <a:t>l</a:t>
            </a:r>
            <a:r>
              <a:rPr lang="en-US" sz="3218">
                <a:solidFill>
                  <a:srgbClr val="F4F4F4"/>
                </a:solidFill>
                <a:latin typeface="Inter Extra-Light"/>
                <a:ea typeface="Inter Extra-Light"/>
                <a:cs typeface="Inter Extra-Light"/>
                <a:sym typeface="Inter Extra-Light"/>
              </a:rPr>
              <a:t>os resultados en una nueva</a:t>
            </a:r>
            <a:r>
              <a:rPr lang="en-US" sz="3218">
                <a:solidFill>
                  <a:srgbClr val="F4F4F4"/>
                </a:solidFill>
                <a:latin typeface="Inter Extra-Light"/>
                <a:ea typeface="Inter Extra-Light"/>
                <a:cs typeface="Inter Extra-Light"/>
                <a:sym typeface="Inter Extra-Light"/>
              </a:rPr>
              <a:t> </a:t>
            </a:r>
            <a:r>
              <a:rPr lang="en-US" sz="3218">
                <a:solidFill>
                  <a:srgbClr val="F4F4F4"/>
                </a:solidFill>
                <a:latin typeface="Inter Extra-Light"/>
                <a:ea typeface="Inter Extra-Light"/>
                <a:cs typeface="Inter Extra-Light"/>
                <a:sym typeface="Inter Extra-Light"/>
              </a:rPr>
              <a:t>t</a:t>
            </a:r>
            <a:r>
              <a:rPr lang="en-US" sz="3218">
                <a:solidFill>
                  <a:srgbClr val="F4F4F4"/>
                </a:solidFill>
                <a:latin typeface="Inter Extra-Light"/>
                <a:ea typeface="Inter Extra-Light"/>
                <a:cs typeface="Inter Extra-Light"/>
                <a:sym typeface="Inter Extra-Light"/>
              </a:rPr>
              <a:t>ab</a:t>
            </a:r>
            <a:r>
              <a:rPr lang="en-US" sz="3218">
                <a:solidFill>
                  <a:srgbClr val="F4F4F4"/>
                </a:solidFill>
                <a:latin typeface="Inter Extra-Light"/>
                <a:ea typeface="Inter Extra-Light"/>
                <a:cs typeface="Inter Extra-Light"/>
                <a:sym typeface="Inter Extra-Light"/>
              </a:rPr>
              <a:t>l</a:t>
            </a:r>
            <a:r>
              <a:rPr lang="en-US" sz="3218">
                <a:solidFill>
                  <a:srgbClr val="F4F4F4"/>
                </a:solidFill>
                <a:latin typeface="Inter Extra-Light"/>
                <a:ea typeface="Inter Extra-Light"/>
                <a:cs typeface="Inter Extra-Light"/>
                <a:sym typeface="Inter Extra-Light"/>
              </a:rPr>
              <a:t>a</a:t>
            </a:r>
            <a:r>
              <a:rPr lang="en-US" sz="3218">
                <a:solidFill>
                  <a:srgbClr val="F4F4F4"/>
                </a:solidFill>
                <a:latin typeface="Inter Extra-Light"/>
                <a:ea typeface="Inter Extra-Light"/>
                <a:cs typeface="Inter Extra-Light"/>
                <a:sym typeface="Inter Extra-Light"/>
              </a:rPr>
              <a:t>.</a:t>
            </a:r>
          </a:p>
        </p:txBody>
      </p:sp>
      <p:sp>
        <p:nvSpPr>
          <p:cNvPr name="TextBox 6" id="6"/>
          <p:cNvSpPr txBox="true"/>
          <p:nvPr/>
        </p:nvSpPr>
        <p:spPr>
          <a:xfrm rot="0">
            <a:off x="800100" y="2530419"/>
            <a:ext cx="7682359" cy="574666"/>
          </a:xfrm>
          <a:prstGeom prst="rect">
            <a:avLst/>
          </a:prstGeom>
        </p:spPr>
        <p:txBody>
          <a:bodyPr anchor="t" rtlCol="false" tIns="0" lIns="0" bIns="0" rIns="0">
            <a:spAutoFit/>
          </a:bodyPr>
          <a:lstStyle/>
          <a:p>
            <a:pPr algn="ctr">
              <a:lnSpc>
                <a:spcPts val="4550"/>
              </a:lnSpc>
              <a:spcBef>
                <a:spcPct val="0"/>
              </a:spcBef>
            </a:pPr>
            <a:r>
              <a:rPr lang="en-US" b="true" sz="3250" spc="-136">
                <a:solidFill>
                  <a:srgbClr val="F4F4F4"/>
                </a:solidFill>
                <a:latin typeface="Poppins Medium"/>
                <a:ea typeface="Poppins Medium"/>
                <a:cs typeface="Poppins Medium"/>
                <a:sym typeface="Poppins Medium"/>
              </a:rPr>
              <a:t>b) Agrupación y Agregación (Group By)</a:t>
            </a:r>
          </a:p>
        </p:txBody>
      </p:sp>
    </p:spTree>
  </p:cSld>
  <p:clrMapOvr>
    <a:masterClrMapping/>
  </p:clrMapOvr>
</p:sld>
</file>

<file path=ppt/slides/slide6.xml><?xml version="1.0" encoding="utf-8"?>
<p:sld xmlns:p="http://schemas.openxmlformats.org/presentationml/2006/main" xmlns:a="http://schemas.openxmlformats.org/drawingml/2006/main">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V="true">
            <a:off x="-22150" y="2507402"/>
            <a:ext cx="18288000" cy="0"/>
          </a:xfrm>
          <a:prstGeom prst="line">
            <a:avLst/>
          </a:prstGeom>
          <a:ln cap="rnd" w="9525">
            <a:solidFill>
              <a:srgbClr val="F4F4F4"/>
            </a:solidFill>
            <a:prstDash val="solid"/>
            <a:headEnd type="none" len="sm" w="sm"/>
            <a:tailEnd type="none" len="sm" w="sm"/>
          </a:ln>
        </p:spPr>
      </p:sp>
      <p:sp>
        <p:nvSpPr>
          <p:cNvPr name="TextBox 3" id="3"/>
          <p:cNvSpPr txBox="true"/>
          <p:nvPr/>
        </p:nvSpPr>
        <p:spPr>
          <a:xfrm rot="0">
            <a:off x="457200" y="2498307"/>
            <a:ext cx="12198697" cy="617211"/>
          </a:xfrm>
          <a:prstGeom prst="rect">
            <a:avLst/>
          </a:prstGeom>
        </p:spPr>
        <p:txBody>
          <a:bodyPr anchor="t" rtlCol="false" tIns="0" lIns="0" bIns="0" rIns="0">
            <a:spAutoFit/>
          </a:bodyPr>
          <a:lstStyle/>
          <a:p>
            <a:pPr algn="ctr">
              <a:lnSpc>
                <a:spcPts val="4830"/>
              </a:lnSpc>
              <a:spcBef>
                <a:spcPct val="0"/>
              </a:spcBef>
            </a:pPr>
            <a:r>
              <a:rPr lang="en-US" b="true" sz="3450" spc="-144">
                <a:solidFill>
                  <a:srgbClr val="F4F4F4"/>
                </a:solidFill>
                <a:latin typeface="Poppins Medium"/>
                <a:ea typeface="Poppins Medium"/>
                <a:cs typeface="Poppins Medium"/>
                <a:sym typeface="Poppins Medium"/>
              </a:rPr>
              <a:t>c-)Co</a:t>
            </a:r>
            <a:r>
              <a:rPr lang="en-US" b="true" sz="3450" spc="-144">
                <a:solidFill>
                  <a:srgbClr val="F4F4F4"/>
                </a:solidFill>
                <a:latin typeface="Poppins Medium"/>
                <a:ea typeface="Poppins Medium"/>
                <a:cs typeface="Poppins Medium"/>
                <a:sym typeface="Poppins Medium"/>
              </a:rPr>
              <a:t>mbinación de Conjuntos de Datos</a:t>
            </a:r>
            <a:r>
              <a:rPr lang="en-US" b="true" sz="3450" spc="-144">
                <a:solidFill>
                  <a:srgbClr val="F4F4F4"/>
                </a:solidFill>
                <a:latin typeface="Poppins Medium"/>
                <a:ea typeface="Poppins Medium"/>
                <a:cs typeface="Poppins Medium"/>
                <a:sym typeface="Poppins Medium"/>
              </a:rPr>
              <a:t> (Merging y Joins)</a:t>
            </a:r>
          </a:p>
        </p:txBody>
      </p:sp>
      <p:sp>
        <p:nvSpPr>
          <p:cNvPr name="TextBox 4" id="4"/>
          <p:cNvSpPr txBox="true"/>
          <p:nvPr/>
        </p:nvSpPr>
        <p:spPr>
          <a:xfrm rot="0">
            <a:off x="457200" y="3387411"/>
            <a:ext cx="16802100" cy="1698616"/>
          </a:xfrm>
          <a:prstGeom prst="rect">
            <a:avLst/>
          </a:prstGeom>
        </p:spPr>
        <p:txBody>
          <a:bodyPr anchor="t" rtlCol="false" tIns="0" lIns="0" bIns="0" rIns="0">
            <a:spAutoFit/>
          </a:bodyPr>
          <a:lstStyle/>
          <a:p>
            <a:pPr algn="l">
              <a:lnSpc>
                <a:spcPts val="4550"/>
              </a:lnSpc>
              <a:spcBef>
                <a:spcPct val="0"/>
              </a:spcBef>
            </a:pPr>
            <a:r>
              <a:rPr lang="en-US" sz="3250" spc="-136">
                <a:solidFill>
                  <a:srgbClr val="F4F4F4"/>
                </a:solidFill>
                <a:latin typeface="Inter"/>
                <a:ea typeface="Inter"/>
                <a:cs typeface="Inter"/>
                <a:sym typeface="Inter"/>
              </a:rPr>
              <a:t>La combinación de datasets o merging es el proceso de unir dos o más conjuntos de datos en uno solo, generalmente basándose en una variable o clave común para alinear las filas de forma precisa.</a:t>
            </a:r>
          </a:p>
        </p:txBody>
      </p:sp>
      <p:sp>
        <p:nvSpPr>
          <p:cNvPr name="TextBox 5" id="5"/>
          <p:cNvSpPr txBox="true"/>
          <p:nvPr/>
        </p:nvSpPr>
        <p:spPr>
          <a:xfrm rot="0">
            <a:off x="457200" y="5334000"/>
            <a:ext cx="16802100" cy="2841616"/>
          </a:xfrm>
          <a:prstGeom prst="rect">
            <a:avLst/>
          </a:prstGeom>
        </p:spPr>
        <p:txBody>
          <a:bodyPr anchor="t" rtlCol="false" tIns="0" lIns="0" bIns="0" rIns="0">
            <a:spAutoFit/>
          </a:bodyPr>
          <a:lstStyle/>
          <a:p>
            <a:pPr algn="l">
              <a:lnSpc>
                <a:spcPts val="4550"/>
              </a:lnSpc>
              <a:spcBef>
                <a:spcPct val="0"/>
              </a:spcBef>
            </a:pPr>
            <a:r>
              <a:rPr lang="en-US" sz="3250" spc="-136">
                <a:solidFill>
                  <a:srgbClr val="F4F4F4"/>
                </a:solidFill>
                <a:latin typeface="Inter"/>
                <a:ea typeface="Inter"/>
                <a:cs typeface="Inter"/>
                <a:sym typeface="Inter"/>
              </a:rPr>
              <a:t>El proceso general implica:</a:t>
            </a:r>
          </a:p>
          <a:p>
            <a:pPr algn="l">
              <a:lnSpc>
                <a:spcPts val="4550"/>
              </a:lnSpc>
              <a:spcBef>
                <a:spcPct val="0"/>
              </a:spcBef>
            </a:pPr>
            <a:r>
              <a:rPr lang="en-US" sz="3250" spc="-136">
                <a:solidFill>
                  <a:srgbClr val="F4F4F4"/>
                </a:solidFill>
                <a:latin typeface="Inter"/>
                <a:ea typeface="Inter"/>
                <a:cs typeface="Inter"/>
                <a:sym typeface="Inter"/>
              </a:rPr>
              <a:t>1. Identificar una clave común:</a:t>
            </a:r>
          </a:p>
          <a:p>
            <a:pPr algn="l">
              <a:lnSpc>
                <a:spcPts val="4550"/>
              </a:lnSpc>
              <a:spcBef>
                <a:spcPct val="0"/>
              </a:spcBef>
            </a:pPr>
            <a:r>
              <a:rPr lang="en-US" sz="3250" spc="-136">
                <a:solidFill>
                  <a:srgbClr val="F4F4F4"/>
                </a:solidFill>
                <a:latin typeface="Inter"/>
                <a:ea typeface="Inter"/>
                <a:cs typeface="Inter"/>
                <a:sym typeface="Inter"/>
              </a:rPr>
              <a:t>Se debe encontrar una columna o un conjunto de columnas que contengan valores únicos y consistentes en todos los datasets que se van a combinar. Por ejemplo, un ID de cliente, un ID de empleado o una fecha. </a:t>
            </a:r>
          </a:p>
        </p:txBody>
      </p:sp>
      <p:sp>
        <p:nvSpPr>
          <p:cNvPr name="TextBox 6" id="6"/>
          <p:cNvSpPr txBox="true"/>
          <p:nvPr/>
        </p:nvSpPr>
        <p:spPr>
          <a:xfrm rot="0">
            <a:off x="4327327" y="191778"/>
            <a:ext cx="8676829" cy="959477"/>
          </a:xfrm>
          <a:prstGeom prst="rect">
            <a:avLst/>
          </a:prstGeom>
        </p:spPr>
        <p:txBody>
          <a:bodyPr anchor="t" rtlCol="false" tIns="0" lIns="0" bIns="0" rIns="0">
            <a:spAutoFit/>
          </a:bodyPr>
          <a:lstStyle/>
          <a:p>
            <a:pPr algn="ctr">
              <a:lnSpc>
                <a:spcPts val="7490"/>
              </a:lnSpc>
              <a:spcBef>
                <a:spcPct val="0"/>
              </a:spcBef>
            </a:pPr>
            <a:r>
              <a:rPr lang="en-US" b="true" sz="5350" spc="-224">
                <a:solidFill>
                  <a:srgbClr val="F4F4F4"/>
                </a:solidFill>
                <a:latin typeface="Poppins Medium"/>
                <a:ea typeface="Poppins Medium"/>
                <a:cs typeface="Poppins Medium"/>
                <a:sym typeface="Poppins Medium"/>
              </a:rPr>
              <a:t>Transformación </a:t>
            </a:r>
            <a:r>
              <a:rPr lang="en-US" b="true" sz="5350" spc="-224">
                <a:solidFill>
                  <a:srgbClr val="F4F4F4"/>
                </a:solidFill>
                <a:latin typeface="Poppins Medium"/>
                <a:ea typeface="Poppins Medium"/>
                <a:cs typeface="Poppins Medium"/>
                <a:sym typeface="Poppins Medium"/>
              </a:rPr>
              <a:t>de Datos:</a:t>
            </a:r>
          </a:p>
        </p:txBody>
      </p:sp>
    </p:spTree>
  </p:cSld>
  <p:clrMapOvr>
    <a:masterClrMapping/>
  </p:clrMapOvr>
</p:sld>
</file>

<file path=ppt/slides/slide7.xml><?xml version="1.0" encoding="utf-8"?>
<p:sld xmlns:p="http://schemas.openxmlformats.org/presentationml/2006/main" xmlns:a="http://schemas.openxmlformats.org/drawingml/2006/main">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V="true">
            <a:off x="-22150" y="2507402"/>
            <a:ext cx="18288000" cy="0"/>
          </a:xfrm>
          <a:prstGeom prst="line">
            <a:avLst/>
          </a:prstGeom>
          <a:ln cap="rnd" w="9525">
            <a:solidFill>
              <a:srgbClr val="F4F4F4"/>
            </a:solidFill>
            <a:prstDash val="solid"/>
            <a:headEnd type="none" len="sm" w="sm"/>
            <a:tailEnd type="none" len="sm" w="sm"/>
          </a:ln>
        </p:spPr>
      </p:sp>
      <p:sp>
        <p:nvSpPr>
          <p:cNvPr name="TextBox 3" id="3"/>
          <p:cNvSpPr txBox="true"/>
          <p:nvPr/>
        </p:nvSpPr>
        <p:spPr>
          <a:xfrm rot="0">
            <a:off x="2561853" y="191778"/>
            <a:ext cx="11693426" cy="1902452"/>
          </a:xfrm>
          <a:prstGeom prst="rect">
            <a:avLst/>
          </a:prstGeom>
        </p:spPr>
        <p:txBody>
          <a:bodyPr anchor="t" rtlCol="false" tIns="0" lIns="0" bIns="0" rIns="0">
            <a:spAutoFit/>
          </a:bodyPr>
          <a:lstStyle/>
          <a:p>
            <a:pPr algn="ctr">
              <a:lnSpc>
                <a:spcPts val="7490"/>
              </a:lnSpc>
              <a:spcBef>
                <a:spcPct val="0"/>
              </a:spcBef>
            </a:pPr>
            <a:r>
              <a:rPr lang="en-US" b="true" sz="5350" spc="-224">
                <a:solidFill>
                  <a:srgbClr val="F4F4F4"/>
                </a:solidFill>
                <a:latin typeface="Poppins Medium"/>
                <a:ea typeface="Poppins Medium"/>
                <a:cs typeface="Poppins Medium"/>
                <a:sym typeface="Poppins Medium"/>
              </a:rPr>
              <a:t>Co</a:t>
            </a:r>
            <a:r>
              <a:rPr lang="en-US" b="true" sz="5350" spc="-224">
                <a:solidFill>
                  <a:srgbClr val="F4F4F4"/>
                </a:solidFill>
                <a:latin typeface="Poppins Medium"/>
                <a:ea typeface="Poppins Medium"/>
                <a:cs typeface="Poppins Medium"/>
                <a:sym typeface="Poppins Medium"/>
              </a:rPr>
              <a:t>mbinación de Conjuntos de Datos</a:t>
            </a:r>
          </a:p>
          <a:p>
            <a:pPr algn="ctr">
              <a:lnSpc>
                <a:spcPts val="7490"/>
              </a:lnSpc>
              <a:spcBef>
                <a:spcPct val="0"/>
              </a:spcBef>
            </a:pPr>
            <a:r>
              <a:rPr lang="en-US" b="true" sz="5350" spc="-224">
                <a:solidFill>
                  <a:srgbClr val="F4F4F4"/>
                </a:solidFill>
                <a:latin typeface="Poppins Medium"/>
                <a:ea typeface="Poppins Medium"/>
                <a:cs typeface="Poppins Medium"/>
                <a:sym typeface="Poppins Medium"/>
              </a:rPr>
              <a:t> (Merging y Joins)</a:t>
            </a:r>
          </a:p>
        </p:txBody>
      </p:sp>
      <p:sp>
        <p:nvSpPr>
          <p:cNvPr name="TextBox 4" id="4"/>
          <p:cNvSpPr txBox="true"/>
          <p:nvPr/>
        </p:nvSpPr>
        <p:spPr>
          <a:xfrm rot="0">
            <a:off x="435050" y="2855065"/>
            <a:ext cx="17230725" cy="6680191"/>
          </a:xfrm>
          <a:prstGeom prst="rect">
            <a:avLst/>
          </a:prstGeom>
        </p:spPr>
        <p:txBody>
          <a:bodyPr anchor="t" rtlCol="false" tIns="0" lIns="0" bIns="0" rIns="0">
            <a:spAutoFit/>
          </a:bodyPr>
          <a:lstStyle/>
          <a:p>
            <a:pPr algn="l">
              <a:lnSpc>
                <a:spcPts val="4550"/>
              </a:lnSpc>
              <a:spcBef>
                <a:spcPct val="0"/>
              </a:spcBef>
            </a:pPr>
            <a:r>
              <a:rPr lang="en-US" sz="3250" spc="-136">
                <a:solidFill>
                  <a:srgbClr val="F4F4F4"/>
                </a:solidFill>
                <a:latin typeface="Inter"/>
                <a:ea typeface="Inter"/>
                <a:cs typeface="Inter"/>
                <a:sym typeface="Inter"/>
              </a:rPr>
              <a:t>2 Especificar el tipo de unión:</a:t>
            </a:r>
          </a:p>
          <a:p>
            <a:pPr algn="l">
              <a:lnSpc>
                <a:spcPts val="3250"/>
              </a:lnSpc>
            </a:pPr>
            <a:r>
              <a:rPr lang="en-US" sz="3250" spc="-136">
                <a:solidFill>
                  <a:srgbClr val="F4F4F4"/>
                </a:solidFill>
                <a:latin typeface="Inter"/>
                <a:ea typeface="Inter"/>
                <a:cs typeface="Inter"/>
                <a:sym typeface="Inter"/>
              </a:rPr>
              <a:t>Se elige cómo se van a relacionar los datasets. Los tipos más comunes son: </a:t>
            </a:r>
          </a:p>
          <a:p>
            <a:pPr algn="l">
              <a:lnSpc>
                <a:spcPts val="4550"/>
              </a:lnSpc>
              <a:spcBef>
                <a:spcPct val="0"/>
              </a:spcBef>
            </a:pPr>
          </a:p>
          <a:p>
            <a:pPr algn="l" marL="701752" indent="-350876" lvl="1">
              <a:lnSpc>
                <a:spcPts val="4550"/>
              </a:lnSpc>
              <a:spcBef>
                <a:spcPct val="0"/>
              </a:spcBef>
              <a:buFont typeface="Arial"/>
              <a:buChar char="•"/>
            </a:pPr>
            <a:r>
              <a:rPr lang="en-US" sz="3250" spc="-136">
                <a:solidFill>
                  <a:srgbClr val="F4F4F4"/>
                </a:solidFill>
                <a:latin typeface="Inter"/>
                <a:ea typeface="Inter"/>
                <a:cs typeface="Inter"/>
                <a:sym typeface="Inter"/>
              </a:rPr>
              <a:t>Inner Join (Unión Interna): Mantiene solo las filas que tienen una coincidencia exacta en la clave común en ambos datasets. </a:t>
            </a:r>
          </a:p>
          <a:p>
            <a:pPr algn="l" marL="701752" indent="-350876" lvl="1">
              <a:lnSpc>
                <a:spcPts val="4550"/>
              </a:lnSpc>
              <a:spcBef>
                <a:spcPct val="0"/>
              </a:spcBef>
              <a:buFont typeface="Arial"/>
              <a:buChar char="•"/>
            </a:pPr>
            <a:r>
              <a:rPr lang="en-US" sz="3250" spc="-136">
                <a:solidFill>
                  <a:srgbClr val="F4F4F4"/>
                </a:solidFill>
                <a:latin typeface="Inter"/>
                <a:ea typeface="Inter"/>
                <a:cs typeface="Inter"/>
                <a:sym typeface="Inter"/>
              </a:rPr>
              <a:t>Left Join (Unión Izquierda): Incluye todas las filas del primer dataset y las filas coincidentes del segundo. </a:t>
            </a:r>
          </a:p>
          <a:p>
            <a:pPr algn="l" marL="701752" indent="-350876" lvl="1">
              <a:lnSpc>
                <a:spcPts val="4550"/>
              </a:lnSpc>
              <a:spcBef>
                <a:spcPct val="0"/>
              </a:spcBef>
              <a:buFont typeface="Arial"/>
              <a:buChar char="•"/>
            </a:pPr>
            <a:r>
              <a:rPr lang="en-US" sz="3250" spc="-136">
                <a:solidFill>
                  <a:srgbClr val="F4F4F4"/>
                </a:solidFill>
                <a:latin typeface="Inter"/>
                <a:ea typeface="Inter"/>
                <a:cs typeface="Inter"/>
                <a:sym typeface="Inter"/>
              </a:rPr>
              <a:t>Right Join (Unión Derecha): Incluye todas las filas del segundo dataset y las filas coincidentes del primero. </a:t>
            </a:r>
          </a:p>
          <a:p>
            <a:pPr algn="l" marL="701752" indent="-350876" lvl="1">
              <a:lnSpc>
                <a:spcPts val="4550"/>
              </a:lnSpc>
              <a:spcBef>
                <a:spcPct val="0"/>
              </a:spcBef>
              <a:buFont typeface="Arial"/>
              <a:buChar char="•"/>
            </a:pPr>
            <a:r>
              <a:rPr lang="en-US" sz="3250" spc="-136">
                <a:solidFill>
                  <a:srgbClr val="F4F4F4"/>
                </a:solidFill>
                <a:latin typeface="Inter"/>
                <a:ea typeface="Inter"/>
                <a:cs typeface="Inter"/>
                <a:sym typeface="Inter"/>
              </a:rPr>
              <a:t>Outer Join (Unión Externa): Incluye todas las filas de ambos datasets, rellenando con valores nulos (NaN) donde no haya coincidencias. </a:t>
            </a:r>
          </a:p>
          <a:p>
            <a:pPr algn="l">
              <a:lnSpc>
                <a:spcPts val="455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V="true">
            <a:off x="-22150" y="2507402"/>
            <a:ext cx="18288000" cy="0"/>
          </a:xfrm>
          <a:prstGeom prst="line">
            <a:avLst/>
          </a:prstGeom>
          <a:ln cap="rnd" w="9525">
            <a:solidFill>
              <a:srgbClr val="F4F4F4"/>
            </a:solidFill>
            <a:prstDash val="solid"/>
            <a:headEnd type="none" len="sm" w="sm"/>
            <a:tailEnd type="none" len="sm" w="sm"/>
          </a:ln>
        </p:spPr>
      </p:sp>
      <p:sp>
        <p:nvSpPr>
          <p:cNvPr name="TextBox 3" id="3"/>
          <p:cNvSpPr txBox="true"/>
          <p:nvPr/>
        </p:nvSpPr>
        <p:spPr>
          <a:xfrm rot="0">
            <a:off x="2561853" y="191778"/>
            <a:ext cx="11693426" cy="1902452"/>
          </a:xfrm>
          <a:prstGeom prst="rect">
            <a:avLst/>
          </a:prstGeom>
        </p:spPr>
        <p:txBody>
          <a:bodyPr anchor="t" rtlCol="false" tIns="0" lIns="0" bIns="0" rIns="0">
            <a:spAutoFit/>
          </a:bodyPr>
          <a:lstStyle/>
          <a:p>
            <a:pPr algn="ctr">
              <a:lnSpc>
                <a:spcPts val="7490"/>
              </a:lnSpc>
              <a:spcBef>
                <a:spcPct val="0"/>
              </a:spcBef>
            </a:pPr>
            <a:r>
              <a:rPr lang="en-US" b="true" sz="5350" spc="-224">
                <a:solidFill>
                  <a:srgbClr val="F4F4F4"/>
                </a:solidFill>
                <a:latin typeface="Poppins Medium"/>
                <a:ea typeface="Poppins Medium"/>
                <a:cs typeface="Poppins Medium"/>
                <a:sym typeface="Poppins Medium"/>
              </a:rPr>
              <a:t>Co</a:t>
            </a:r>
            <a:r>
              <a:rPr lang="en-US" b="true" sz="5350" spc="-224">
                <a:solidFill>
                  <a:srgbClr val="F4F4F4"/>
                </a:solidFill>
                <a:latin typeface="Poppins Medium"/>
                <a:ea typeface="Poppins Medium"/>
                <a:cs typeface="Poppins Medium"/>
                <a:sym typeface="Poppins Medium"/>
              </a:rPr>
              <a:t>mbinación de Conjuntos de Datos</a:t>
            </a:r>
          </a:p>
          <a:p>
            <a:pPr algn="ctr">
              <a:lnSpc>
                <a:spcPts val="7490"/>
              </a:lnSpc>
              <a:spcBef>
                <a:spcPct val="0"/>
              </a:spcBef>
            </a:pPr>
            <a:r>
              <a:rPr lang="en-US" b="true" sz="5350" spc="-224">
                <a:solidFill>
                  <a:srgbClr val="F4F4F4"/>
                </a:solidFill>
                <a:latin typeface="Poppins Medium"/>
                <a:ea typeface="Poppins Medium"/>
                <a:cs typeface="Poppins Medium"/>
                <a:sym typeface="Poppins Medium"/>
              </a:rPr>
              <a:t> (Merging y Joins)</a:t>
            </a:r>
          </a:p>
        </p:txBody>
      </p:sp>
      <p:sp>
        <p:nvSpPr>
          <p:cNvPr name="TextBox 4" id="4"/>
          <p:cNvSpPr txBox="true"/>
          <p:nvPr/>
        </p:nvSpPr>
        <p:spPr>
          <a:xfrm rot="0">
            <a:off x="435050" y="2855065"/>
            <a:ext cx="17289114" cy="5698836"/>
          </a:xfrm>
          <a:prstGeom prst="rect">
            <a:avLst/>
          </a:prstGeom>
        </p:spPr>
        <p:txBody>
          <a:bodyPr anchor="t" rtlCol="false" tIns="0" lIns="0" bIns="0" rIns="0">
            <a:spAutoFit/>
          </a:bodyPr>
          <a:lstStyle/>
          <a:p>
            <a:pPr algn="l">
              <a:lnSpc>
                <a:spcPts val="4565"/>
              </a:lnSpc>
              <a:spcBef>
                <a:spcPct val="0"/>
              </a:spcBef>
            </a:pPr>
            <a:r>
              <a:rPr lang="en-US" sz="3261" spc="-136">
                <a:solidFill>
                  <a:srgbClr val="F4F4F4"/>
                </a:solidFill>
                <a:latin typeface="Inter"/>
                <a:ea typeface="Inter"/>
                <a:cs typeface="Inter"/>
                <a:sym typeface="Inter"/>
              </a:rPr>
              <a:t>3. Ejecu</a:t>
            </a:r>
            <a:r>
              <a:rPr lang="en-US" sz="3261" spc="-136">
                <a:solidFill>
                  <a:srgbClr val="F4F4F4"/>
                </a:solidFill>
                <a:latin typeface="Inter"/>
                <a:ea typeface="Inter"/>
                <a:cs typeface="Inter"/>
                <a:sym typeface="Inter"/>
              </a:rPr>
              <a:t>ta</a:t>
            </a:r>
            <a:r>
              <a:rPr lang="en-US" sz="3261" spc="-136">
                <a:solidFill>
                  <a:srgbClr val="F4F4F4"/>
                </a:solidFill>
                <a:latin typeface="Inter"/>
                <a:ea typeface="Inter"/>
                <a:cs typeface="Inter"/>
                <a:sym typeface="Inter"/>
              </a:rPr>
              <a:t>r la operación:</a:t>
            </a:r>
          </a:p>
          <a:p>
            <a:pPr algn="l" marL="704131" indent="-352065" lvl="1">
              <a:lnSpc>
                <a:spcPts val="4565"/>
              </a:lnSpc>
              <a:spcBef>
                <a:spcPct val="0"/>
              </a:spcBef>
              <a:buFont typeface="Arial"/>
              <a:buChar char="•"/>
            </a:pPr>
            <a:r>
              <a:rPr lang="en-US" sz="3261" spc="-136">
                <a:solidFill>
                  <a:srgbClr val="F4F4F4"/>
                </a:solidFill>
                <a:latin typeface="Inter"/>
                <a:ea typeface="Inter"/>
                <a:cs typeface="Inter"/>
                <a:sym typeface="Inter"/>
              </a:rPr>
              <a:t>En Python (Pandas): La función pandas.merge() se utiliza para unir DataFrames basándose en una o más claves, de forma similar a SQL. </a:t>
            </a:r>
          </a:p>
          <a:p>
            <a:pPr algn="l">
              <a:lnSpc>
                <a:spcPts val="4565"/>
              </a:lnSpc>
              <a:spcBef>
                <a:spcPct val="0"/>
              </a:spcBef>
            </a:pPr>
          </a:p>
          <a:p>
            <a:pPr algn="l">
              <a:lnSpc>
                <a:spcPts val="4565"/>
              </a:lnSpc>
              <a:spcBef>
                <a:spcPct val="0"/>
              </a:spcBef>
            </a:pPr>
            <a:r>
              <a:rPr lang="en-US" sz="3261" spc="-136">
                <a:solidFill>
                  <a:srgbClr val="F4F4F4"/>
                </a:solidFill>
                <a:latin typeface="Inter"/>
                <a:ea typeface="Inter"/>
                <a:cs typeface="Inter"/>
                <a:sym typeface="Inter"/>
              </a:rPr>
              <a:t>4- Verificación:</a:t>
            </a:r>
          </a:p>
          <a:p>
            <a:pPr algn="l" marL="704131" indent="-352065" lvl="1">
              <a:lnSpc>
                <a:spcPts val="4565"/>
              </a:lnSpc>
              <a:spcBef>
                <a:spcPct val="0"/>
              </a:spcBef>
              <a:buFont typeface="Arial"/>
              <a:buChar char="•"/>
            </a:pPr>
            <a:r>
              <a:rPr lang="en-US" sz="3261" spc="-136">
                <a:solidFill>
                  <a:srgbClr val="F4F4F4"/>
                </a:solidFill>
                <a:latin typeface="Inter"/>
                <a:ea typeface="Inter"/>
                <a:cs typeface="Inter"/>
                <a:sym typeface="Inter"/>
              </a:rPr>
              <a:t>Manejo de valores faltantes o atípicos: el resultado de una unión puede incluir valores nulos (NaN) si no hay una coincidencia en todos los datasets, especialmente en uniones externas. </a:t>
            </a:r>
          </a:p>
          <a:p>
            <a:pPr algn="l">
              <a:lnSpc>
                <a:spcPts val="4565"/>
              </a:lnSpc>
              <a:spcBef>
                <a:spcPct val="0"/>
              </a:spcBef>
            </a:pPr>
          </a:p>
          <a:p>
            <a:pPr algn="l">
              <a:lnSpc>
                <a:spcPts val="4565"/>
              </a:lnSpc>
              <a:spcBef>
                <a:spcPct val="0"/>
              </a:spcBef>
            </a:pPr>
          </a:p>
          <a:p>
            <a:pPr algn="l">
              <a:lnSpc>
                <a:spcPts val="4565"/>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V="true">
            <a:off x="-22150" y="2507402"/>
            <a:ext cx="18288000" cy="0"/>
          </a:xfrm>
          <a:prstGeom prst="line">
            <a:avLst/>
          </a:prstGeom>
          <a:ln cap="rnd" w="9525">
            <a:solidFill>
              <a:srgbClr val="F4F4F4"/>
            </a:solidFill>
            <a:prstDash val="solid"/>
            <a:headEnd type="none" len="sm" w="sm"/>
            <a:tailEnd type="none" len="sm" w="sm"/>
          </a:ln>
        </p:spPr>
      </p:sp>
      <p:sp>
        <p:nvSpPr>
          <p:cNvPr name="TextBox 3" id="3"/>
          <p:cNvSpPr txBox="true"/>
          <p:nvPr/>
        </p:nvSpPr>
        <p:spPr>
          <a:xfrm rot="0">
            <a:off x="1104156" y="472761"/>
            <a:ext cx="16155144" cy="959477"/>
          </a:xfrm>
          <a:prstGeom prst="rect">
            <a:avLst/>
          </a:prstGeom>
        </p:spPr>
        <p:txBody>
          <a:bodyPr anchor="t" rtlCol="false" tIns="0" lIns="0" bIns="0" rIns="0">
            <a:spAutoFit/>
          </a:bodyPr>
          <a:lstStyle/>
          <a:p>
            <a:pPr algn="ctr">
              <a:lnSpc>
                <a:spcPts val="7490"/>
              </a:lnSpc>
              <a:spcBef>
                <a:spcPct val="0"/>
              </a:spcBef>
            </a:pPr>
            <a:r>
              <a:rPr lang="en-US" b="true" sz="5350" spc="-224">
                <a:solidFill>
                  <a:srgbClr val="F4F4F4"/>
                </a:solidFill>
                <a:latin typeface="Poppins Medium"/>
                <a:ea typeface="Poppins Medium"/>
                <a:cs typeface="Poppins Medium"/>
                <a:sym typeface="Poppins Medium"/>
              </a:rPr>
              <a:t>Ingeniería de Características (Feature Engineering)</a:t>
            </a:r>
          </a:p>
        </p:txBody>
      </p:sp>
      <p:sp>
        <p:nvSpPr>
          <p:cNvPr name="TextBox 4" id="4"/>
          <p:cNvSpPr txBox="true"/>
          <p:nvPr/>
        </p:nvSpPr>
        <p:spPr>
          <a:xfrm rot="0">
            <a:off x="435050" y="2855065"/>
            <a:ext cx="17289114" cy="5698836"/>
          </a:xfrm>
          <a:prstGeom prst="rect">
            <a:avLst/>
          </a:prstGeom>
        </p:spPr>
        <p:txBody>
          <a:bodyPr anchor="t" rtlCol="false" tIns="0" lIns="0" bIns="0" rIns="0">
            <a:spAutoFit/>
          </a:bodyPr>
          <a:lstStyle/>
          <a:p>
            <a:pPr algn="l">
              <a:lnSpc>
                <a:spcPts val="4565"/>
              </a:lnSpc>
              <a:spcBef>
                <a:spcPct val="0"/>
              </a:spcBef>
            </a:pPr>
            <a:r>
              <a:rPr lang="en-US" sz="3261" spc="-136">
                <a:solidFill>
                  <a:srgbClr val="F4F4F4"/>
                </a:solidFill>
                <a:latin typeface="Inter"/>
                <a:ea typeface="Inter"/>
                <a:cs typeface="Inter"/>
                <a:sym typeface="Inter"/>
              </a:rPr>
              <a:t>La</a:t>
            </a:r>
            <a:r>
              <a:rPr lang="en-US" sz="3261" spc="-136">
                <a:solidFill>
                  <a:srgbClr val="F4F4F4"/>
                </a:solidFill>
                <a:latin typeface="Inter"/>
                <a:ea typeface="Inter"/>
                <a:cs typeface="Inter"/>
                <a:sym typeface="Inter"/>
              </a:rPr>
              <a:t> ingeniería de c</a:t>
            </a:r>
            <a:r>
              <a:rPr lang="en-US" sz="3261" spc="-136">
                <a:solidFill>
                  <a:srgbClr val="F4F4F4"/>
                </a:solidFill>
                <a:latin typeface="Inter"/>
                <a:ea typeface="Inter"/>
                <a:cs typeface="Inter"/>
                <a:sym typeface="Inter"/>
              </a:rPr>
              <a:t>a</a:t>
            </a:r>
            <a:r>
              <a:rPr lang="en-US" sz="3261" spc="-136">
                <a:solidFill>
                  <a:srgbClr val="F4F4F4"/>
                </a:solidFill>
                <a:latin typeface="Inter"/>
                <a:ea typeface="Inter"/>
                <a:cs typeface="Inter"/>
                <a:sym typeface="Inter"/>
              </a:rPr>
              <a:t>racterísticas es el proceso de usar el conocimiento del dominio para crear nuevas variables o transformar variables existentes que hagan que nuestros futuros modelos de machine learning sean más precisos.</a:t>
            </a:r>
          </a:p>
          <a:p>
            <a:pPr algn="l">
              <a:lnSpc>
                <a:spcPts val="4565"/>
              </a:lnSpc>
              <a:spcBef>
                <a:spcPct val="0"/>
              </a:spcBef>
            </a:pPr>
            <a:r>
              <a:rPr lang="en-US" sz="3261" spc="-136">
                <a:solidFill>
                  <a:srgbClr val="F4F4F4"/>
                </a:solidFill>
                <a:latin typeface="Inter"/>
                <a:ea typeface="Inter"/>
                <a:cs typeface="Inter"/>
                <a:sym typeface="Inter"/>
              </a:rPr>
              <a:t>La ingeniería de características implica alguno de los siguientes procesos.</a:t>
            </a:r>
          </a:p>
          <a:p>
            <a:pPr algn="l">
              <a:lnSpc>
                <a:spcPts val="4565"/>
              </a:lnSpc>
              <a:spcBef>
                <a:spcPct val="0"/>
              </a:spcBef>
            </a:pPr>
            <a:r>
              <a:rPr lang="en-US" sz="3261" spc="-136">
                <a:solidFill>
                  <a:srgbClr val="F4F4F4"/>
                </a:solidFill>
                <a:latin typeface="Inter"/>
                <a:ea typeface="Inter"/>
                <a:cs typeface="Inter"/>
                <a:sym typeface="Inter"/>
              </a:rPr>
              <a:t>a) Creación de Nuevas Variables / Transformación de variables existentes: en este caso  se crean nuevas columnas a partir de las existentes para capturar información que no está explícita.</a:t>
            </a:r>
          </a:p>
          <a:p>
            <a:pPr algn="l">
              <a:lnSpc>
                <a:spcPts val="4565"/>
              </a:lnSpc>
              <a:spcBef>
                <a:spcPct val="0"/>
              </a:spcBef>
            </a:pPr>
            <a:r>
              <a:rPr lang="en-US" sz="3261" spc="-136">
                <a:solidFill>
                  <a:srgbClr val="F4F4F4"/>
                </a:solidFill>
                <a:latin typeface="Inter"/>
                <a:ea typeface="Inter"/>
                <a:cs typeface="Inter"/>
                <a:sym typeface="Inter"/>
              </a:rPr>
              <a:t>Ejemplo: Crear una variable categórica Nivel_Salarial para clasificar los sueldos en 'Bajo', 'Medio' y 'Alto', lo cual puede ser más útil que el número exacto, en ciertos casos.</a:t>
            </a:r>
          </a:p>
          <a:p>
            <a:pPr algn="l">
              <a:lnSpc>
                <a:spcPts val="4565"/>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V="true">
            <a:off x="-22150" y="2507402"/>
            <a:ext cx="18288000" cy="0"/>
          </a:xfrm>
          <a:prstGeom prst="line">
            <a:avLst/>
          </a:prstGeom>
          <a:ln cap="rnd" w="9525">
            <a:solidFill>
              <a:srgbClr val="F4F4F4"/>
            </a:solidFill>
            <a:prstDash val="solid"/>
            <a:headEnd type="none" len="sm" w="sm"/>
            <a:tailEnd type="none" len="sm" w="sm"/>
          </a:ln>
        </p:spPr>
      </p:sp>
      <p:sp>
        <p:nvSpPr>
          <p:cNvPr name="TextBox 3" id="3"/>
          <p:cNvSpPr txBox="true"/>
          <p:nvPr/>
        </p:nvSpPr>
        <p:spPr>
          <a:xfrm rot="0">
            <a:off x="1104156" y="472761"/>
            <a:ext cx="16155144" cy="959477"/>
          </a:xfrm>
          <a:prstGeom prst="rect">
            <a:avLst/>
          </a:prstGeom>
        </p:spPr>
        <p:txBody>
          <a:bodyPr anchor="t" rtlCol="false" tIns="0" lIns="0" bIns="0" rIns="0">
            <a:spAutoFit/>
          </a:bodyPr>
          <a:lstStyle/>
          <a:p>
            <a:pPr algn="ctr">
              <a:lnSpc>
                <a:spcPts val="7490"/>
              </a:lnSpc>
              <a:spcBef>
                <a:spcPct val="0"/>
              </a:spcBef>
            </a:pPr>
            <a:r>
              <a:rPr lang="en-US" b="true" sz="5350" spc="-224">
                <a:solidFill>
                  <a:srgbClr val="F4F4F4"/>
                </a:solidFill>
                <a:latin typeface="Poppins Medium"/>
                <a:ea typeface="Poppins Medium"/>
                <a:cs typeface="Poppins Medium"/>
                <a:sym typeface="Poppins Medium"/>
              </a:rPr>
              <a:t>Ingeniería de Características (Feature Engineering)</a:t>
            </a:r>
          </a:p>
        </p:txBody>
      </p:sp>
      <p:sp>
        <p:nvSpPr>
          <p:cNvPr name="TextBox 4" id="4"/>
          <p:cNvSpPr txBox="true"/>
          <p:nvPr/>
        </p:nvSpPr>
        <p:spPr>
          <a:xfrm rot="0">
            <a:off x="537171" y="2440727"/>
            <a:ext cx="17289114" cy="6270336"/>
          </a:xfrm>
          <a:prstGeom prst="rect">
            <a:avLst/>
          </a:prstGeom>
        </p:spPr>
        <p:txBody>
          <a:bodyPr anchor="t" rtlCol="false" tIns="0" lIns="0" bIns="0" rIns="0">
            <a:spAutoFit/>
          </a:bodyPr>
          <a:lstStyle/>
          <a:p>
            <a:pPr algn="l">
              <a:lnSpc>
                <a:spcPts val="4565"/>
              </a:lnSpc>
              <a:spcBef>
                <a:spcPct val="0"/>
              </a:spcBef>
            </a:pPr>
            <a:r>
              <a:rPr lang="en-US" sz="3261" spc="-136">
                <a:solidFill>
                  <a:srgbClr val="F4F4F4"/>
                </a:solidFill>
                <a:latin typeface="Inter"/>
                <a:ea typeface="Inter"/>
                <a:cs typeface="Inter"/>
                <a:sym typeface="Inter"/>
              </a:rPr>
              <a:t>b) Escalado y Normalización:</a:t>
            </a:r>
          </a:p>
          <a:p>
            <a:pPr algn="l">
              <a:lnSpc>
                <a:spcPts val="4565"/>
              </a:lnSpc>
              <a:spcBef>
                <a:spcPct val="0"/>
              </a:spcBef>
            </a:pPr>
            <a:r>
              <a:rPr lang="en-US" sz="3261" spc="-136">
                <a:solidFill>
                  <a:srgbClr val="F4F4F4"/>
                </a:solidFill>
                <a:latin typeface="Inter"/>
                <a:ea typeface="Inter"/>
                <a:cs typeface="Inter"/>
                <a:sym typeface="Inter"/>
              </a:rPr>
              <a:t>Muchos algoritmos de machine learning son sensibles a la escala de los datos. Si una variable va de 0 a 1.000.000 (como por ejemplo el salario) y otra de 0 a 20 (como los años de antigüedad), el algoritmo podría darle más importancia al salario solo por su escala, si está analizando ambas variables a la vez.</a:t>
            </a:r>
          </a:p>
          <a:p>
            <a:pPr algn="l">
              <a:lnSpc>
                <a:spcPts val="4565"/>
              </a:lnSpc>
              <a:spcBef>
                <a:spcPct val="0"/>
              </a:spcBef>
            </a:pPr>
            <a:r>
              <a:rPr lang="en-US" sz="3261" spc="-136">
                <a:solidFill>
                  <a:srgbClr val="F4F4F4"/>
                </a:solidFill>
                <a:latin typeface="Inter"/>
                <a:ea typeface="Inter"/>
                <a:cs typeface="Inter"/>
                <a:sym typeface="Inter"/>
              </a:rPr>
              <a:t>Técnicas de normalización: </a:t>
            </a:r>
          </a:p>
          <a:p>
            <a:pPr algn="l" marL="704131" indent="-352065" lvl="1">
              <a:lnSpc>
                <a:spcPts val="4565"/>
              </a:lnSpc>
              <a:buAutoNum type="arabicPeriod" startAt="1"/>
            </a:pPr>
            <a:r>
              <a:rPr lang="en-US" sz="3261" spc="-136">
                <a:solidFill>
                  <a:srgbClr val="F4F4F4"/>
                </a:solidFill>
                <a:latin typeface="Inter"/>
                <a:ea typeface="Inter"/>
                <a:cs typeface="Inter"/>
                <a:sym typeface="Inter"/>
              </a:rPr>
              <a:t> </a:t>
            </a:r>
            <a:r>
              <a:rPr lang="en-US" sz="3261" spc="-136">
                <a:solidFill>
                  <a:srgbClr val="F4F4F4"/>
                </a:solidFill>
                <a:latin typeface="Inter"/>
                <a:ea typeface="Inter"/>
                <a:cs typeface="Inter"/>
                <a:sym typeface="Inter"/>
              </a:rPr>
              <a:t>Normalización Min-Max: Escala los datos a un rango fijo [0, 1] utilizando la siguiente fórmula:</a:t>
            </a:r>
          </a:p>
          <a:p>
            <a:pPr algn="l">
              <a:lnSpc>
                <a:spcPts val="4565"/>
              </a:lnSpc>
            </a:pPr>
            <a:r>
              <a:rPr lang="en-US" sz="3261" spc="-136">
                <a:solidFill>
                  <a:srgbClr val="F4F4F4"/>
                </a:solidFill>
                <a:latin typeface="Inter"/>
                <a:ea typeface="Inter"/>
                <a:cs typeface="Inter"/>
                <a:sym typeface="Inter"/>
              </a:rPr>
              <a:t> </a:t>
            </a:r>
          </a:p>
          <a:p>
            <a:pPr algn="l" marL="704131" indent="-352065" lvl="1">
              <a:lnSpc>
                <a:spcPts val="4565"/>
              </a:lnSpc>
              <a:buAutoNum type="arabicPeriod" startAt="1"/>
            </a:pPr>
            <a:r>
              <a:rPr lang="en-US" sz="3261" spc="-136">
                <a:solidFill>
                  <a:srgbClr val="F4F4F4"/>
                </a:solidFill>
                <a:latin typeface="Inter"/>
                <a:ea typeface="Inter"/>
                <a:cs typeface="Inter"/>
                <a:sym typeface="Inter"/>
              </a:rPr>
              <a:t>Estandarización (Z-score): Transforma los datos para que tengan una media de 0 y una desviación estándar de 1. La formula utilizada en este caso es: z = (X - μ) / σ que puede dar resultado positivo, negativo o cero.</a:t>
            </a:r>
          </a:p>
        </p:txBody>
      </p:sp>
      <p:sp>
        <p:nvSpPr>
          <p:cNvPr name="TextBox 5" id="5"/>
          <p:cNvSpPr txBox="true"/>
          <p:nvPr/>
        </p:nvSpPr>
        <p:spPr>
          <a:xfrm rot="0">
            <a:off x="5851327" y="6436502"/>
            <a:ext cx="7099697" cy="555616"/>
          </a:xfrm>
          <a:prstGeom prst="rect">
            <a:avLst/>
          </a:prstGeom>
        </p:spPr>
        <p:txBody>
          <a:bodyPr anchor="t" rtlCol="false" tIns="0" lIns="0" bIns="0" rIns="0">
            <a:spAutoFit/>
          </a:bodyPr>
          <a:lstStyle/>
          <a:p>
            <a:pPr algn="ctr">
              <a:lnSpc>
                <a:spcPts val="4550"/>
              </a:lnSpc>
              <a:spcBef>
                <a:spcPct val="0"/>
              </a:spcBef>
            </a:pPr>
            <a:r>
              <a:rPr lang="en-US" b="true" sz="3250" spc="-136">
                <a:solidFill>
                  <a:srgbClr val="F4F4F4"/>
                </a:solidFill>
                <a:latin typeface="Inter Medium"/>
                <a:ea typeface="Inter Medium"/>
                <a:cs typeface="Inter Medium"/>
                <a:sym typeface="Inter Medium"/>
              </a:rPr>
              <a:t>Xnormalizado = X - Xmín / Xmáx - Xmín</a:t>
            </a:r>
          </a:p>
        </p:txBody>
      </p:sp>
    </p:spTree>
  </p:cSld>
  <p:clrMapOvr>
    <a:masterClrMapping/>
  </p:clrMapOvr>
</p:sld>
</file>

<file path=ppt/slides/slide11.xml><?xml version="1.0" encoding="utf-8"?>
<p:sld xmlns:p="http://schemas.openxmlformats.org/presentationml/2006/main" xmlns:a="http://schemas.openxmlformats.org/drawingml/2006/main">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V="true">
            <a:off x="-22150" y="2507402"/>
            <a:ext cx="18288000" cy="0"/>
          </a:xfrm>
          <a:prstGeom prst="line">
            <a:avLst/>
          </a:prstGeom>
          <a:ln cap="rnd" w="9525">
            <a:solidFill>
              <a:srgbClr val="F4F4F4"/>
            </a:solidFill>
            <a:prstDash val="solid"/>
            <a:headEnd type="none" len="sm" w="sm"/>
            <a:tailEnd type="none" len="sm" w="sm"/>
          </a:ln>
        </p:spPr>
      </p:sp>
      <p:sp>
        <p:nvSpPr>
          <p:cNvPr name="TextBox 3" id="3"/>
          <p:cNvSpPr txBox="true"/>
          <p:nvPr/>
        </p:nvSpPr>
        <p:spPr>
          <a:xfrm rot="0">
            <a:off x="1104156" y="472761"/>
            <a:ext cx="16155144" cy="959477"/>
          </a:xfrm>
          <a:prstGeom prst="rect">
            <a:avLst/>
          </a:prstGeom>
        </p:spPr>
        <p:txBody>
          <a:bodyPr anchor="t" rtlCol="false" tIns="0" lIns="0" bIns="0" rIns="0">
            <a:spAutoFit/>
          </a:bodyPr>
          <a:lstStyle/>
          <a:p>
            <a:pPr algn="ctr">
              <a:lnSpc>
                <a:spcPts val="7490"/>
              </a:lnSpc>
              <a:spcBef>
                <a:spcPct val="0"/>
              </a:spcBef>
            </a:pPr>
            <a:r>
              <a:rPr lang="en-US" b="true" sz="5350" spc="-224">
                <a:solidFill>
                  <a:srgbClr val="F4F4F4"/>
                </a:solidFill>
                <a:latin typeface="Poppins Medium"/>
                <a:ea typeface="Poppins Medium"/>
                <a:cs typeface="Poppins Medium"/>
                <a:sym typeface="Poppins Medium"/>
              </a:rPr>
              <a:t>Ingeniería de Características (Feature Engineering)</a:t>
            </a:r>
          </a:p>
        </p:txBody>
      </p:sp>
      <p:sp>
        <p:nvSpPr>
          <p:cNvPr name="TextBox 4" id="4"/>
          <p:cNvSpPr txBox="true"/>
          <p:nvPr/>
        </p:nvSpPr>
        <p:spPr>
          <a:xfrm rot="0">
            <a:off x="537171" y="2440727"/>
            <a:ext cx="17665190" cy="2841633"/>
          </a:xfrm>
          <a:prstGeom prst="rect">
            <a:avLst/>
          </a:prstGeom>
        </p:spPr>
        <p:txBody>
          <a:bodyPr anchor="t" rtlCol="false" tIns="0" lIns="0" bIns="0" rIns="0">
            <a:spAutoFit/>
          </a:bodyPr>
          <a:lstStyle/>
          <a:p>
            <a:pPr algn="l">
              <a:lnSpc>
                <a:spcPts val="4549"/>
              </a:lnSpc>
              <a:spcBef>
                <a:spcPct val="0"/>
              </a:spcBef>
            </a:pPr>
            <a:r>
              <a:rPr lang="en-US" sz="3249" spc="-136">
                <a:solidFill>
                  <a:srgbClr val="F4F4F4"/>
                </a:solidFill>
                <a:latin typeface="Inter"/>
                <a:ea typeface="Inter"/>
                <a:cs typeface="Inter"/>
                <a:sym typeface="Inter"/>
              </a:rPr>
              <a:t>c</a:t>
            </a:r>
            <a:r>
              <a:rPr lang="en-US" sz="3249" spc="-136">
                <a:solidFill>
                  <a:srgbClr val="F4F4F4"/>
                </a:solidFill>
                <a:latin typeface="Inter"/>
                <a:ea typeface="Inter"/>
                <a:cs typeface="Inter"/>
                <a:sym typeface="Inter"/>
              </a:rPr>
              <a:t>) Reducción de la Dimensionalidad</a:t>
            </a:r>
          </a:p>
          <a:p>
            <a:pPr algn="l">
              <a:lnSpc>
                <a:spcPts val="4549"/>
              </a:lnSpc>
              <a:spcBef>
                <a:spcPct val="0"/>
              </a:spcBef>
            </a:pPr>
            <a:r>
              <a:rPr lang="en-US" sz="3249" spc="-136">
                <a:solidFill>
                  <a:srgbClr val="F4F4F4"/>
                </a:solidFill>
                <a:latin typeface="Inter"/>
                <a:ea typeface="Inter"/>
                <a:cs typeface="Inter"/>
                <a:sym typeface="Inter"/>
              </a:rPr>
              <a:t>Responde a la denominada maldición de la dimensionalidad que es cuando se tienen demasiadas variables a anlizar (alta dimensionalidad), lo que puede hacer que los modelos sean lentos, ineficientes e imprecisos. </a:t>
            </a:r>
          </a:p>
          <a:p>
            <a:pPr algn="l">
              <a:lnSpc>
                <a:spcPts val="4549"/>
              </a:lnSpc>
            </a:pPr>
            <a:r>
              <a:rPr lang="en-US" sz="3249" spc="-136">
                <a:solidFill>
                  <a:srgbClr val="F4F4F4"/>
                </a:solidFill>
                <a:latin typeface="Inter"/>
                <a:ea typeface="Inter"/>
                <a:cs typeface="Inter"/>
                <a:sym typeface="Inter"/>
              </a:rPr>
              <a:t>Existen diversas técnicas para reducir la dimensionalidad de un problema de Análsis de Datos. </a:t>
            </a:r>
          </a:p>
        </p:txBody>
      </p:sp>
    </p:spTree>
  </p:cSld>
  <p:clrMapOvr>
    <a:masterClrMapping/>
  </p:clrMapOvr>
</p:sld>
</file>

<file path=ppt/slides/slide12.xml><?xml version="1.0" encoding="utf-8"?>
<p:sld xmlns:p="http://schemas.openxmlformats.org/presentationml/2006/main" xmlns:a="http://schemas.openxmlformats.org/drawingml/2006/main">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V="true">
            <a:off x="-22150" y="2507402"/>
            <a:ext cx="18288000" cy="0"/>
          </a:xfrm>
          <a:prstGeom prst="line">
            <a:avLst/>
          </a:prstGeom>
          <a:ln cap="rnd" w="9525">
            <a:solidFill>
              <a:srgbClr val="F4F4F4"/>
            </a:solidFill>
            <a:prstDash val="solid"/>
            <a:headEnd type="none" len="sm" w="sm"/>
            <a:tailEnd type="none" len="sm" w="sm"/>
          </a:ln>
        </p:spPr>
      </p:sp>
      <p:sp>
        <p:nvSpPr>
          <p:cNvPr name="TextBox 3" id="3"/>
          <p:cNvSpPr txBox="true"/>
          <p:nvPr/>
        </p:nvSpPr>
        <p:spPr>
          <a:xfrm rot="0">
            <a:off x="1104156" y="472761"/>
            <a:ext cx="16155144" cy="959477"/>
          </a:xfrm>
          <a:prstGeom prst="rect">
            <a:avLst/>
          </a:prstGeom>
        </p:spPr>
        <p:txBody>
          <a:bodyPr anchor="t" rtlCol="false" tIns="0" lIns="0" bIns="0" rIns="0">
            <a:spAutoFit/>
          </a:bodyPr>
          <a:lstStyle/>
          <a:p>
            <a:pPr algn="ctr">
              <a:lnSpc>
                <a:spcPts val="7490"/>
              </a:lnSpc>
              <a:spcBef>
                <a:spcPct val="0"/>
              </a:spcBef>
            </a:pPr>
            <a:r>
              <a:rPr lang="en-US" b="true" sz="5350" spc="-224">
                <a:solidFill>
                  <a:srgbClr val="F4F4F4"/>
                </a:solidFill>
                <a:latin typeface="Poppins Medium"/>
                <a:ea typeface="Poppins Medium"/>
                <a:cs typeface="Poppins Medium"/>
                <a:sym typeface="Poppins Medium"/>
              </a:rPr>
              <a:t>Ingeniería de Características (Feature Engineering)</a:t>
            </a:r>
          </a:p>
        </p:txBody>
      </p:sp>
      <p:sp>
        <p:nvSpPr>
          <p:cNvPr name="TextBox 4" id="4"/>
          <p:cNvSpPr txBox="true"/>
          <p:nvPr/>
        </p:nvSpPr>
        <p:spPr>
          <a:xfrm rot="0">
            <a:off x="311405" y="2440727"/>
            <a:ext cx="17665190" cy="3984633"/>
          </a:xfrm>
          <a:prstGeom prst="rect">
            <a:avLst/>
          </a:prstGeom>
        </p:spPr>
        <p:txBody>
          <a:bodyPr anchor="t" rtlCol="false" tIns="0" lIns="0" bIns="0" rIns="0">
            <a:spAutoFit/>
          </a:bodyPr>
          <a:lstStyle/>
          <a:p>
            <a:pPr algn="l">
              <a:lnSpc>
                <a:spcPts val="4549"/>
              </a:lnSpc>
              <a:spcBef>
                <a:spcPct val="0"/>
              </a:spcBef>
            </a:pPr>
            <a:r>
              <a:rPr lang="en-US" sz="3249" spc="-136">
                <a:solidFill>
                  <a:srgbClr val="F4F4F4"/>
                </a:solidFill>
                <a:latin typeface="Inter"/>
                <a:ea typeface="Inter"/>
                <a:cs typeface="Inter"/>
                <a:sym typeface="Inter"/>
              </a:rPr>
              <a:t>La</a:t>
            </a:r>
            <a:r>
              <a:rPr lang="en-US" sz="3249" spc="-136">
                <a:solidFill>
                  <a:srgbClr val="F4F4F4"/>
                </a:solidFill>
                <a:latin typeface="Inter"/>
                <a:ea typeface="Inter"/>
                <a:cs typeface="Inter"/>
                <a:sym typeface="Inter"/>
              </a:rPr>
              <a:t> técnica más comunmente utilizada es el Análisis de Componentes Principales (PCA) que permiten combinar múltiples variables correlacionadas en un número menor de "componentes" que resumen la mayor parte de la información original. </a:t>
            </a:r>
          </a:p>
          <a:p>
            <a:pPr algn="l">
              <a:lnSpc>
                <a:spcPts val="4549"/>
              </a:lnSpc>
              <a:spcBef>
                <a:spcPct val="0"/>
              </a:spcBef>
            </a:pPr>
            <a:r>
              <a:rPr lang="en-US" sz="3249" spc="-136">
                <a:solidFill>
                  <a:srgbClr val="F4F4F4"/>
                </a:solidFill>
                <a:latin typeface="Inter"/>
                <a:ea typeface="Inter"/>
                <a:cs typeface="Inter"/>
                <a:sym typeface="Inter"/>
              </a:rPr>
              <a:t>Básicamente, el PCA selecciona un subconjunto de variables de un modelo que juntas comprenden la mayoría o la totalidad de la varianza presente en el conjunto original de variables. Luego, el PCA proyecta los datos en un nuevo espacio definido por este subconjunto de variables</a:t>
            </a:r>
          </a:p>
          <a:p>
            <a:pPr algn="l">
              <a:lnSpc>
                <a:spcPts val="4549"/>
              </a:lnSpc>
            </a:pPr>
          </a:p>
        </p:txBody>
      </p:sp>
    </p:spTree>
  </p:cSld>
  <p:clrMapOvr>
    <a:masterClrMapping/>
  </p:clrMapOvr>
</p:sld>
</file>

<file path=ppt/slides/slide13.xml><?xml version="1.0" encoding="utf-8"?>
<p:sld xmlns:p="http://schemas.openxmlformats.org/presentationml/2006/main" xmlns:a="http://schemas.openxmlformats.org/drawingml/2006/main">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V="true">
            <a:off x="-22150" y="2507402"/>
            <a:ext cx="18288000" cy="0"/>
          </a:xfrm>
          <a:prstGeom prst="line">
            <a:avLst/>
          </a:prstGeom>
          <a:ln cap="rnd" w="9525">
            <a:solidFill>
              <a:srgbClr val="F4F4F4"/>
            </a:solidFill>
            <a:prstDash val="solid"/>
            <a:headEnd type="none" len="sm" w="sm"/>
            <a:tailEnd type="none" len="sm" w="sm"/>
          </a:ln>
        </p:spPr>
      </p:sp>
      <p:sp>
        <p:nvSpPr>
          <p:cNvPr name="TextBox 3" id="3"/>
          <p:cNvSpPr txBox="true"/>
          <p:nvPr/>
        </p:nvSpPr>
        <p:spPr>
          <a:xfrm rot="0">
            <a:off x="1104156" y="472761"/>
            <a:ext cx="16155144" cy="959477"/>
          </a:xfrm>
          <a:prstGeom prst="rect">
            <a:avLst/>
          </a:prstGeom>
        </p:spPr>
        <p:txBody>
          <a:bodyPr anchor="t" rtlCol="false" tIns="0" lIns="0" bIns="0" rIns="0">
            <a:spAutoFit/>
          </a:bodyPr>
          <a:lstStyle/>
          <a:p>
            <a:pPr algn="ctr">
              <a:lnSpc>
                <a:spcPts val="7490"/>
              </a:lnSpc>
              <a:spcBef>
                <a:spcPct val="0"/>
              </a:spcBef>
            </a:pPr>
            <a:r>
              <a:rPr lang="en-US" b="true" sz="5350" spc="-224">
                <a:solidFill>
                  <a:srgbClr val="F4F4F4"/>
                </a:solidFill>
                <a:latin typeface="Poppins Medium"/>
                <a:ea typeface="Poppins Medium"/>
                <a:cs typeface="Poppins Medium"/>
                <a:sym typeface="Poppins Medium"/>
              </a:rPr>
              <a:t>Ingeniería de Características (Feature Engineering)</a:t>
            </a:r>
          </a:p>
        </p:txBody>
      </p:sp>
      <p:sp>
        <p:nvSpPr>
          <p:cNvPr name="TextBox 4" id="4"/>
          <p:cNvSpPr txBox="true"/>
          <p:nvPr/>
        </p:nvSpPr>
        <p:spPr>
          <a:xfrm rot="0">
            <a:off x="311405" y="2440727"/>
            <a:ext cx="17665190" cy="4689483"/>
          </a:xfrm>
          <a:prstGeom prst="rect">
            <a:avLst/>
          </a:prstGeom>
        </p:spPr>
        <p:txBody>
          <a:bodyPr anchor="t" rtlCol="false" tIns="0" lIns="0" bIns="0" rIns="0">
            <a:spAutoFit/>
          </a:bodyPr>
          <a:lstStyle/>
          <a:p>
            <a:pPr algn="l">
              <a:lnSpc>
                <a:spcPts val="4549"/>
              </a:lnSpc>
            </a:pPr>
            <a:r>
              <a:rPr lang="en-US" sz="3249" spc="-136">
                <a:solidFill>
                  <a:srgbClr val="F4F4F4"/>
                </a:solidFill>
                <a:latin typeface="Inter"/>
                <a:ea typeface="Inter"/>
                <a:cs typeface="Inter"/>
                <a:sym typeface="Inter"/>
              </a:rPr>
              <a:t>Ejemplo:  Si tenemos un conjunto de datos sobre serpientes con cinco variables: longitud corporal (X</a:t>
            </a:r>
            <a:r>
              <a:rPr lang="en-US" sz="3249" spc="-136">
                <a:solidFill>
                  <a:srgbClr val="F4F4F4"/>
                </a:solidFill>
                <a:latin typeface="Inter"/>
                <a:ea typeface="Inter"/>
                <a:cs typeface="Inter"/>
                <a:sym typeface="Inter"/>
              </a:rPr>
              <a:t>1</a:t>
            </a:r>
            <a:r>
              <a:rPr lang="en-US" sz="3249" spc="-136">
                <a:solidFill>
                  <a:srgbClr val="F4F4F4"/>
                </a:solidFill>
                <a:latin typeface="Inter"/>
                <a:ea typeface="Inter"/>
                <a:cs typeface="Inter"/>
                <a:sym typeface="Inter"/>
              </a:rPr>
              <a:t>), diámetro corporal (X</a:t>
            </a:r>
            <a:r>
              <a:rPr lang="en-US" sz="3249" spc="-136">
                <a:solidFill>
                  <a:srgbClr val="F4F4F4"/>
                </a:solidFill>
                <a:latin typeface="Inter"/>
                <a:ea typeface="Inter"/>
                <a:cs typeface="Inter"/>
                <a:sym typeface="Inter"/>
              </a:rPr>
              <a:t>2</a:t>
            </a:r>
            <a:r>
              <a:rPr lang="en-US" sz="3249" spc="-136">
                <a:solidFill>
                  <a:srgbClr val="F4F4F4"/>
                </a:solidFill>
                <a:latin typeface="Inter"/>
                <a:ea typeface="Inter"/>
                <a:cs typeface="Inter"/>
                <a:sym typeface="Inter"/>
              </a:rPr>
              <a:t>), longitud del colmillo (X</a:t>
            </a:r>
            <a:r>
              <a:rPr lang="en-US" sz="3249" spc="-136">
                <a:solidFill>
                  <a:srgbClr val="F4F4F4"/>
                </a:solidFill>
                <a:latin typeface="Inter"/>
                <a:ea typeface="Inter"/>
                <a:cs typeface="Inter"/>
                <a:sym typeface="Inter"/>
              </a:rPr>
              <a:t>3</a:t>
            </a:r>
            <a:r>
              <a:rPr lang="en-US" sz="3249" spc="-136">
                <a:solidFill>
                  <a:srgbClr val="F4F4F4"/>
                </a:solidFill>
                <a:latin typeface="Inter"/>
                <a:ea typeface="Inter"/>
                <a:cs typeface="Inter"/>
                <a:sym typeface="Inter"/>
              </a:rPr>
              <a:t>), peso (X</a:t>
            </a:r>
            <a:r>
              <a:rPr lang="en-US" sz="3249" spc="-136">
                <a:solidFill>
                  <a:srgbClr val="F4F4F4"/>
                </a:solidFill>
                <a:latin typeface="Inter"/>
                <a:ea typeface="Inter"/>
                <a:cs typeface="Inter"/>
                <a:sym typeface="Inter"/>
              </a:rPr>
              <a:t>4</a:t>
            </a:r>
            <a:r>
              <a:rPr lang="en-US" sz="3249" spc="-136">
                <a:solidFill>
                  <a:srgbClr val="F4F4F4"/>
                </a:solidFill>
                <a:latin typeface="Inter"/>
                <a:ea typeface="Inter"/>
                <a:cs typeface="Inter"/>
                <a:sym typeface="Inter"/>
              </a:rPr>
              <a:t>) y edad (X</a:t>
            </a:r>
            <a:r>
              <a:rPr lang="en-US" sz="3249" spc="-136">
                <a:solidFill>
                  <a:srgbClr val="F4F4F4"/>
                </a:solidFill>
                <a:latin typeface="Inter"/>
                <a:ea typeface="Inter"/>
                <a:cs typeface="Inter"/>
                <a:sym typeface="Inter"/>
              </a:rPr>
              <a:t>5</a:t>
            </a:r>
            <a:r>
              <a:rPr lang="en-US" sz="3249" spc="-136">
                <a:solidFill>
                  <a:srgbClr val="F4F4F4"/>
                </a:solidFill>
                <a:latin typeface="Inter"/>
                <a:ea typeface="Inter"/>
                <a:cs typeface="Inter"/>
                <a:sym typeface="Inter"/>
              </a:rPr>
              <a:t>). Por supuesto, algunas de estas cinco características pueden estar correlacionadas, como la longitud corporal, el diámetro y el peso. Esta redundancia en las características puede provocar datos dispersos y un sobreajuste, lo que reduce la varianza (o la generalización) de un modelo generado a partir de esos datos. El PCA calcula una nueva variable (PC</a:t>
            </a:r>
            <a:r>
              <a:rPr lang="en-US" sz="3249" spc="-136">
                <a:solidFill>
                  <a:srgbClr val="F4F4F4"/>
                </a:solidFill>
                <a:latin typeface="Inter"/>
                <a:ea typeface="Inter"/>
                <a:cs typeface="Inter"/>
                <a:sym typeface="Inter"/>
              </a:rPr>
              <a:t>1</a:t>
            </a:r>
            <a:r>
              <a:rPr lang="en-US" sz="3249" spc="-136">
                <a:solidFill>
                  <a:srgbClr val="F4F4F4"/>
                </a:solidFill>
                <a:latin typeface="Inter"/>
                <a:ea typeface="Inter"/>
                <a:cs typeface="Inter"/>
                <a:sym typeface="Inter"/>
              </a:rPr>
              <a:t>) a partir de estos datos que combina dos o más variables (utilizando combinación lineal) y maximiza la varianza de los datos.</a:t>
            </a:r>
          </a:p>
          <a:p>
            <a:pPr algn="l">
              <a:lnSpc>
                <a:spcPts val="4549"/>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V="true">
            <a:off x="0" y="3624397"/>
            <a:ext cx="18288000" cy="0"/>
          </a:xfrm>
          <a:prstGeom prst="line">
            <a:avLst/>
          </a:prstGeom>
          <a:ln cap="rnd" w="9525">
            <a:solidFill>
              <a:srgbClr val="F4F4F4"/>
            </a:solidFill>
            <a:prstDash val="solid"/>
            <a:headEnd type="none" len="sm" w="sm"/>
            <a:tailEnd type="none" len="sm" w="sm"/>
          </a:ln>
        </p:spPr>
      </p:sp>
      <p:sp>
        <p:nvSpPr>
          <p:cNvPr name="TextBox 3" id="3"/>
          <p:cNvSpPr txBox="true"/>
          <p:nvPr/>
        </p:nvSpPr>
        <p:spPr>
          <a:xfrm rot="0">
            <a:off x="1028700" y="6913678"/>
            <a:ext cx="8612695" cy="1185862"/>
          </a:xfrm>
          <a:prstGeom prst="rect">
            <a:avLst/>
          </a:prstGeom>
        </p:spPr>
        <p:txBody>
          <a:bodyPr anchor="t" rtlCol="false" tIns="0" lIns="0" bIns="0" rIns="0">
            <a:spAutoFit/>
          </a:bodyPr>
          <a:lstStyle/>
          <a:p>
            <a:pPr algn="l">
              <a:lnSpc>
                <a:spcPts val="8122"/>
              </a:lnSpc>
            </a:pPr>
            <a:r>
              <a:rPr lang="en-US" sz="8550" spc="-359" b="true">
                <a:solidFill>
                  <a:srgbClr val="F4F4F4"/>
                </a:solidFill>
                <a:latin typeface="Poppins Medium"/>
                <a:ea typeface="Poppins Medium"/>
                <a:cs typeface="Poppins Medium"/>
                <a:sym typeface="Poppins Medium"/>
              </a:rPr>
              <a:t>FIN DE LA CLASE</a:t>
            </a:r>
          </a:p>
        </p:txBody>
      </p:sp>
      <p:grpSp>
        <p:nvGrpSpPr>
          <p:cNvPr name="Group 4" id="4"/>
          <p:cNvGrpSpPr/>
          <p:nvPr/>
        </p:nvGrpSpPr>
        <p:grpSpPr>
          <a:xfrm rot="0">
            <a:off x="1028700" y="1092278"/>
            <a:ext cx="16230600" cy="5073762"/>
            <a:chOff x="0" y="0"/>
            <a:chExt cx="2514545" cy="786059"/>
          </a:xfrm>
        </p:grpSpPr>
        <p:sp>
          <p:nvSpPr>
            <p:cNvPr name="Freeform 5" id="5"/>
            <p:cNvSpPr/>
            <p:nvPr/>
          </p:nvSpPr>
          <p:spPr>
            <a:xfrm flipH="false" flipV="false" rot="0">
              <a:off x="0" y="0"/>
              <a:ext cx="2514545" cy="786059"/>
            </a:xfrm>
            <a:custGeom>
              <a:avLst/>
              <a:gdLst/>
              <a:ahLst/>
              <a:cxnLst/>
              <a:rect r="r" b="b" t="t" l="l"/>
              <a:pathLst>
                <a:path h="786059" w="2514545">
                  <a:moveTo>
                    <a:pt x="29097" y="0"/>
                  </a:moveTo>
                  <a:lnTo>
                    <a:pt x="2485448" y="0"/>
                  </a:lnTo>
                  <a:cubicBezTo>
                    <a:pt x="2493165" y="0"/>
                    <a:pt x="2500566" y="3066"/>
                    <a:pt x="2506022" y="8522"/>
                  </a:cubicBezTo>
                  <a:cubicBezTo>
                    <a:pt x="2511479" y="13979"/>
                    <a:pt x="2514545" y="21380"/>
                    <a:pt x="2514545" y="29097"/>
                  </a:cubicBezTo>
                  <a:lnTo>
                    <a:pt x="2514545" y="756962"/>
                  </a:lnTo>
                  <a:cubicBezTo>
                    <a:pt x="2514545" y="764679"/>
                    <a:pt x="2511479" y="772080"/>
                    <a:pt x="2506022" y="777536"/>
                  </a:cubicBezTo>
                  <a:cubicBezTo>
                    <a:pt x="2500566" y="782993"/>
                    <a:pt x="2493165" y="786059"/>
                    <a:pt x="2485448" y="786059"/>
                  </a:cubicBezTo>
                  <a:lnTo>
                    <a:pt x="29097" y="786059"/>
                  </a:lnTo>
                  <a:cubicBezTo>
                    <a:pt x="21380" y="786059"/>
                    <a:pt x="13979" y="782993"/>
                    <a:pt x="8522" y="777536"/>
                  </a:cubicBezTo>
                  <a:cubicBezTo>
                    <a:pt x="3066" y="772080"/>
                    <a:pt x="0" y="764679"/>
                    <a:pt x="0" y="756962"/>
                  </a:cubicBezTo>
                  <a:lnTo>
                    <a:pt x="0" y="29097"/>
                  </a:lnTo>
                  <a:cubicBezTo>
                    <a:pt x="0" y="21380"/>
                    <a:pt x="3066" y="13979"/>
                    <a:pt x="8522" y="8522"/>
                  </a:cubicBezTo>
                  <a:cubicBezTo>
                    <a:pt x="13979" y="3066"/>
                    <a:pt x="21380" y="0"/>
                    <a:pt x="29097" y="0"/>
                  </a:cubicBezTo>
                  <a:close/>
                </a:path>
              </a:pathLst>
            </a:custGeom>
            <a:blipFill>
              <a:blip r:embed="rId2"/>
              <a:stretch>
                <a:fillRect l="-6797" t="-49383" r="0" b="-78374"/>
              </a:stretch>
            </a:blipFill>
            <a:ln w="9525" cap="rnd">
              <a:solidFill>
                <a:srgbClr val="FFFFFF"/>
              </a:solidFill>
              <a:prstDash val="solid"/>
              <a:round/>
            </a:ln>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DAGy8-NFm5Y</dc:identifier>
  <dcterms:modified xsi:type="dcterms:W3CDTF">2011-08-01T06:04:30Z</dcterms:modified>
  <cp:revision>1</cp:revision>
  <dc:title>Transformación y Enriquecimiento de los Datos</dc:title>
</cp:coreProperties>
</file>