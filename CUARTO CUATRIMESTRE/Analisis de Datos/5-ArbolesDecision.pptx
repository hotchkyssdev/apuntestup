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_rels/presentation.xml.rels" ContentType="application/vnd.openxmlformats-package.relationships+xml"/>
  <Override PartName="/ppt/media/image7.png" ContentType="image/png"/>
  <Override PartName="/ppt/media/image2.png" ContentType="image/png"/>
  <Override PartName="/ppt/media/image1.jpeg" ContentType="image/jpeg"/>
  <Override PartName="/ppt/media/image6.png" ContentType="image/png"/>
  <Override PartName="/ppt/media/image3.png" ContentType="image/png"/>
  <Override PartName="/ppt/media/image4.png" ContentType="image/png"/>
  <Override PartName="/ppt/media/image5.png" ContentType="image/png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entation.xml" ContentType="application/vnd.openxmlformats-officedocument.presentationml.presentation.main+xml"/>
  <Override PartName="/ppt/theme/theme2.xml" ContentType="application/vnd.openxmlformats-officedocument.theme+xml"/>
  <Override PartName="/ppt/theme/theme1.xml" ContentType="application/vnd.openxmlformats-officedocument.theme+xml"/>
  <Override PartName="/ppt/slideLayouts/_rels/slideLayout2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6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0080625" cy="75596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6375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6375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6375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6375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640" cy="29566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6375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6375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6375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6375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6375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6375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292068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3571200" y="1769040"/>
            <a:ext cx="292068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6638040" y="1769040"/>
            <a:ext cx="292068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504000" y="4059360"/>
            <a:ext cx="292068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body"/>
          </p:nvPr>
        </p:nvSpPr>
        <p:spPr>
          <a:xfrm>
            <a:off x="3571200" y="4059360"/>
            <a:ext cx="292068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 type="body"/>
          </p:nvPr>
        </p:nvSpPr>
        <p:spPr>
          <a:xfrm>
            <a:off x="6638040" y="4059360"/>
            <a:ext cx="292068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6375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6375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6375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6375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640" cy="29566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6375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6375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6375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6375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6375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6375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292068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3571200" y="1769040"/>
            <a:ext cx="292068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6638040" y="1769040"/>
            <a:ext cx="292068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body"/>
          </p:nvPr>
        </p:nvSpPr>
        <p:spPr>
          <a:xfrm>
            <a:off x="504000" y="4059360"/>
            <a:ext cx="292068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body"/>
          </p:nvPr>
        </p:nvSpPr>
        <p:spPr>
          <a:xfrm>
            <a:off x="3571200" y="4059360"/>
            <a:ext cx="292068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 type="body"/>
          </p:nvPr>
        </p:nvSpPr>
        <p:spPr>
          <a:xfrm>
            <a:off x="6638040" y="4059360"/>
            <a:ext cx="292068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66cc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0" y="5806440"/>
            <a:ext cx="10079640" cy="1754280"/>
          </a:xfrm>
          <a:prstGeom prst="rect">
            <a:avLst/>
          </a:prstGeom>
          <a:ln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0" y="234108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s-AR" sz="4400" spc="-1" strike="noStrike">
                <a:solidFill>
                  <a:srgbClr val="006699"/>
                </a:solidFill>
                <a:latin typeface="Arial"/>
              </a:rPr>
              <a:t>Pulse para </a:t>
            </a:r>
            <a:r>
              <a:rPr b="0" lang="es-AR" sz="4400" spc="-1" strike="noStrike">
                <a:solidFill>
                  <a:srgbClr val="006699"/>
                </a:solidFill>
                <a:latin typeface="Arial"/>
              </a:rPr>
              <a:t>editar el formato </a:t>
            </a:r>
            <a:r>
              <a:rPr b="0" lang="es-AR" sz="4400" spc="-1" strike="noStrike">
                <a:solidFill>
                  <a:srgbClr val="006699"/>
                </a:solidFill>
                <a:latin typeface="Arial"/>
              </a:rPr>
              <a:t>del texto de </a:t>
            </a:r>
            <a:r>
              <a:rPr b="0" lang="es-AR" sz="4400" spc="-1" strike="noStrike">
                <a:solidFill>
                  <a:srgbClr val="006699"/>
                </a:solidFill>
                <a:latin typeface="Arial"/>
              </a:rPr>
              <a:t>título</a:t>
            </a:r>
            <a:endParaRPr b="0" lang="es-AR" sz="4400" spc="-1" strike="noStrike">
              <a:solidFill>
                <a:srgbClr val="006699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4056120"/>
            <a:ext cx="9071640" cy="2097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latin typeface="Arial"/>
              </a:rPr>
              <a:t>Pulse para editar el formato de esquema del </a:t>
            </a:r>
            <a:r>
              <a:rPr b="0" lang="es-AR" sz="3200" spc="-1" strike="noStrike">
                <a:latin typeface="Arial"/>
              </a:rPr>
              <a:t>texto</a:t>
            </a:r>
            <a:endParaRPr b="0" lang="es-A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latin typeface="Arial"/>
              </a:rPr>
              <a:t>Segundo nivel del esquema</a:t>
            </a:r>
            <a:endParaRPr b="0" lang="es-A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latin typeface="Arial"/>
              </a:rPr>
              <a:t>Tercer nivel del esquema</a:t>
            </a:r>
            <a:endParaRPr b="0" lang="es-A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latin typeface="Arial"/>
              </a:rPr>
              <a:t>Cuarto nivel del esquema</a:t>
            </a:r>
            <a:endParaRPr b="0" lang="es-A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latin typeface="Arial"/>
              </a:rPr>
              <a:t>Quinto nivel del esquema</a:t>
            </a:r>
            <a:endParaRPr b="0" lang="es-A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latin typeface="Arial"/>
              </a:rPr>
              <a:t>Sexto nivel del esquema</a:t>
            </a:r>
            <a:endParaRPr b="0" lang="es-A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latin typeface="Arial"/>
              </a:rPr>
              <a:t>Séptimo nivel del esquema</a:t>
            </a:r>
            <a:endParaRPr b="0" lang="es-AR" sz="2000" spc="-1" strike="noStrike"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r>
              <a:rPr b="0" lang="es-AR" sz="1400" spc="-1" strike="noStrike">
                <a:latin typeface="Times New Roman"/>
              </a:rPr>
              <a:t>&lt;fecha/hora&gt;</a:t>
            </a:r>
            <a:endParaRPr b="0" lang="es-AR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 lIns="0" rIns="0" tIns="0" bIns="0"/>
          <a:p>
            <a:pPr algn="ctr"/>
            <a:r>
              <a:rPr b="0" lang="es-AR" sz="1400" spc="-1" strike="noStrike">
                <a:latin typeface="Times New Roman"/>
              </a:rPr>
              <a:t>&lt;pie de página&gt;</a:t>
            </a:r>
            <a:endParaRPr b="0" lang="es-AR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pPr algn="r"/>
            <a:fld id="{2AEFC1B5-BBF5-40D5-AD68-60F093219D09}" type="slidenum">
              <a:rPr b="0" lang="es-AR" sz="1400" spc="-1" strike="noStrike">
                <a:latin typeface="Times New Roman"/>
              </a:rPr>
              <a:t>&lt;número&gt;</a:t>
            </a:fld>
            <a:endParaRPr b="0" lang="es-A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/>
          <p:cNvSpPr/>
          <p:nvPr/>
        </p:nvSpPr>
        <p:spPr>
          <a:xfrm>
            <a:off x="0" y="0"/>
            <a:ext cx="10076760" cy="9417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" name="CustomShape 2"/>
          <p:cNvSpPr/>
          <p:nvPr/>
        </p:nvSpPr>
        <p:spPr>
          <a:xfrm>
            <a:off x="0" y="6620400"/>
            <a:ext cx="10076760" cy="9417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" name="PlaceHolder 3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63756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s-AR" sz="4400" spc="-1" strike="noStrike">
                <a:solidFill>
                  <a:srgbClr val="ffffff"/>
                </a:solidFill>
                <a:latin typeface="Arial"/>
              </a:rPr>
              <a:t>Pulse para editar el formato del </a:t>
            </a:r>
            <a:r>
              <a:rPr b="0" lang="es-AR" sz="4400" spc="-1" strike="noStrike">
                <a:solidFill>
                  <a:srgbClr val="ffffff"/>
                </a:solidFill>
                <a:latin typeface="Arial"/>
              </a:rPr>
              <a:t>texto de título</a:t>
            </a:r>
            <a:endParaRPr b="0" lang="es-A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66cc"/>
                </a:solidFill>
                <a:latin typeface="Arial"/>
              </a:rPr>
              <a:t>Pulse para editar el formato de esquema del texto</a:t>
            </a:r>
            <a:endParaRPr b="0" lang="es-AR" sz="3200" spc="-1" strike="noStrike">
              <a:solidFill>
                <a:srgbClr val="0066cc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66cc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66cc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66cc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66cc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66cc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66cc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r>
              <a:rPr b="0" lang="es-AR" sz="1400" spc="-1" strike="noStrike">
                <a:latin typeface="Times New Roman"/>
              </a:rPr>
              <a:t>&lt;fecha/hora&gt;</a:t>
            </a:r>
            <a:endParaRPr b="0" lang="es-AR" sz="1400" spc="-1" strike="noStrike"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 lIns="0" rIns="0" tIns="0" bIns="0"/>
          <a:p>
            <a:pPr algn="ctr"/>
            <a:r>
              <a:rPr b="0" lang="es-AR" sz="1400" spc="-1" strike="noStrike">
                <a:latin typeface="Times New Roman"/>
              </a:rPr>
              <a:t>&lt;pie de página&gt;</a:t>
            </a:r>
            <a:endParaRPr b="0" lang="es-AR" sz="1400" spc="-1" strike="noStrike">
              <a:latin typeface="Times New Roman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pPr algn="r"/>
            <a:fld id="{8B602DB1-BDB3-45D4-B882-F7FF55BBCD71}" type="slidenum">
              <a:rPr b="0" lang="es-AR" sz="1400" spc="-1" strike="noStrike">
                <a:latin typeface="Times New Roman"/>
              </a:rPr>
              <a:t>&lt;número&gt;</a:t>
            </a:fld>
            <a:endParaRPr b="0" lang="es-A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Shape 1"/>
          <p:cNvSpPr txBox="1"/>
          <p:nvPr/>
        </p:nvSpPr>
        <p:spPr>
          <a:xfrm>
            <a:off x="468000" y="234108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AR" sz="6000" spc="-1" strike="noStrike">
                <a:solidFill>
                  <a:srgbClr val="006699"/>
                </a:solidFill>
                <a:latin typeface="Arial"/>
              </a:rPr>
              <a:t>Árboles de Decisión</a:t>
            </a:r>
            <a:endParaRPr b="0" lang="es-AR" sz="6000" spc="-1" strike="noStrike">
              <a:solidFill>
                <a:srgbClr val="006699"/>
              </a:solidFill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Shape 1"/>
          <p:cNvSpPr txBox="1"/>
          <p:nvPr/>
        </p:nvSpPr>
        <p:spPr>
          <a:xfrm>
            <a:off x="504000" y="279360"/>
            <a:ext cx="9071640" cy="6814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Árboles de Decisión</a:t>
            </a:r>
            <a:endParaRPr b="0" lang="es-AR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Shape 2"/>
          <p:cNvSpPr txBox="1"/>
          <p:nvPr/>
        </p:nvSpPr>
        <p:spPr>
          <a:xfrm>
            <a:off x="270000" y="1175040"/>
            <a:ext cx="9522000" cy="696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r>
              <a:rPr b="0" lang="es-AR" sz="2400" spc="-1" strike="noStrike">
                <a:solidFill>
                  <a:srgbClr val="003d73"/>
                </a:solidFill>
                <a:latin typeface="Arial"/>
              </a:rPr>
              <a:t>Ejercicio 4: Construya el árbol de decisión asociado a la siguiente tabla utilizando el algoritmo C4.5: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17640" y="2077560"/>
            <a:ext cx="10079640" cy="34376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" dur="indefinite" restart="never" nodeType="tmRoot">
          <p:childTnLst>
            <p:seq>
              <p:cTn id="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Shape 1"/>
          <p:cNvSpPr txBox="1"/>
          <p:nvPr/>
        </p:nvSpPr>
        <p:spPr>
          <a:xfrm>
            <a:off x="504000" y="279360"/>
            <a:ext cx="9071640" cy="6814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Árboles de Decisión</a:t>
            </a:r>
            <a:endParaRPr b="0" lang="es-AR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Shape 2"/>
          <p:cNvSpPr txBox="1"/>
          <p:nvPr/>
        </p:nvSpPr>
        <p:spPr>
          <a:xfrm>
            <a:off x="270000" y="1175040"/>
            <a:ext cx="9522000" cy="696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Inicialmente hallamos la Entropía del conjunto D:</a:t>
            </a:r>
            <a:endParaRPr b="0" lang="es-AR" sz="22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2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2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Entropía (D) = -p (SI) x log</a:t>
            </a:r>
            <a:r>
              <a:rPr b="0" lang="es-AR" sz="1400" spc="-1" strike="noStrike">
                <a:solidFill>
                  <a:srgbClr val="003d73"/>
                </a:solidFill>
                <a:latin typeface="Arial"/>
              </a:rPr>
              <a:t>2</a:t>
            </a:r>
            <a:r>
              <a:rPr b="0" lang="es-AR" sz="1300" spc="-1" strike="noStrike">
                <a:solidFill>
                  <a:srgbClr val="003d73"/>
                </a:solidFill>
                <a:latin typeface="Arial"/>
              </a:rPr>
              <a:t> </a:t>
            </a:r>
            <a:r>
              <a:rPr b="0" lang="es-AR" sz="1200" spc="-1" strike="noStrike">
                <a:solidFill>
                  <a:srgbClr val="003d73"/>
                </a:solidFill>
                <a:latin typeface="Arial"/>
              </a:rPr>
              <a:t> 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p(SI)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-p (NO) x log</a:t>
            </a:r>
            <a:r>
              <a:rPr b="0" lang="es-AR" sz="1400" spc="-1" strike="noStrike">
                <a:solidFill>
                  <a:srgbClr val="003d73"/>
                </a:solidFill>
                <a:latin typeface="Arial"/>
              </a:rPr>
              <a:t>2</a:t>
            </a:r>
            <a:r>
              <a:rPr b="0" lang="es-AR" sz="1300" spc="-1" strike="noStrike">
                <a:solidFill>
                  <a:srgbClr val="003d73"/>
                </a:solidFill>
                <a:latin typeface="Arial"/>
              </a:rPr>
              <a:t> </a:t>
            </a:r>
            <a:r>
              <a:rPr b="0" lang="es-AR" sz="1200" spc="-1" strike="noStrike">
                <a:solidFill>
                  <a:srgbClr val="003d73"/>
                </a:solidFill>
                <a:latin typeface="Arial"/>
              </a:rPr>
              <a:t> 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p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(NO)</a:t>
            </a:r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Entropía (D) = -(6/10) x log</a:t>
            </a:r>
            <a:r>
              <a:rPr b="0" lang="es-AR" sz="1400" spc="-1" strike="noStrike">
                <a:solidFill>
                  <a:srgbClr val="003d73"/>
                </a:solidFill>
                <a:latin typeface="Arial"/>
              </a:rPr>
              <a:t>2</a:t>
            </a:r>
            <a:r>
              <a:rPr b="0" lang="es-AR" sz="1300" spc="-1" strike="noStrike">
                <a:solidFill>
                  <a:srgbClr val="003d73"/>
                </a:solidFill>
                <a:latin typeface="Arial"/>
              </a:rPr>
              <a:t> 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(6/10) – (4/10) x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log</a:t>
            </a:r>
            <a:r>
              <a:rPr b="0" lang="es-AR" sz="1400" spc="-1" strike="noStrike">
                <a:solidFill>
                  <a:srgbClr val="003d73"/>
                </a:solidFill>
                <a:latin typeface="Arial"/>
              </a:rPr>
              <a:t>2</a:t>
            </a:r>
            <a:r>
              <a:rPr b="0" lang="es-AR" sz="1300" spc="-1" strike="noStrike">
                <a:solidFill>
                  <a:srgbClr val="003d73"/>
                </a:solidFill>
                <a:latin typeface="Arial"/>
              </a:rPr>
              <a:t>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(4/10)= </a:t>
            </a:r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1800" spc="-1" strike="noStrike">
                <a:solidFill>
                  <a:srgbClr val="003d73"/>
                </a:solidFill>
                <a:latin typeface="Arial"/>
              </a:rPr>
              <a:t>Entropía</a:t>
            </a:r>
            <a:r>
              <a:rPr b="0" lang="es-AR" sz="2200" spc="-1" strike="noStrike" baseline="-33000">
                <a:solidFill>
                  <a:srgbClr val="003d73"/>
                </a:solidFill>
                <a:latin typeface="Arial"/>
              </a:rPr>
              <a:t>Hip</a:t>
            </a:r>
            <a:r>
              <a:rPr b="0" lang="es-AR" sz="1800" spc="-1" strike="noStrike">
                <a:solidFill>
                  <a:srgbClr val="003d73"/>
                </a:solidFill>
                <a:latin typeface="Arial"/>
              </a:rPr>
              <a:t> (D):</a:t>
            </a:r>
            <a:endParaRPr b="0" lang="es-AR" sz="18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Entropía (SI) = </a:t>
            </a:r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Entropía (No) = </a:t>
            </a:r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Entropía</a:t>
            </a:r>
            <a:r>
              <a:rPr b="0" lang="es-AR" sz="2000" spc="-1" strike="noStrike" baseline="-33000">
                <a:solidFill>
                  <a:srgbClr val="003d73"/>
                </a:solidFill>
                <a:latin typeface="Arial"/>
              </a:rPr>
              <a:t>Hip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 (D) = |SI| / |D| x Ent (SI) +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|NO| / |D| x Ent (NO) =</a:t>
            </a:r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                            </a:t>
            </a:r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0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91" name="CustomShape 3"/>
          <p:cNvSpPr/>
          <p:nvPr/>
        </p:nvSpPr>
        <p:spPr>
          <a:xfrm>
            <a:off x="169200" y="3390840"/>
            <a:ext cx="7523280" cy="312840"/>
          </a:xfrm>
          <a:prstGeom prst="rect">
            <a:avLst/>
          </a:prstGeom>
          <a:solidFill>
            <a:srgbClr val="adc5e7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/>
          <a:p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Ahora calculamos la entropía de D respecto de cada atributo</a:t>
            </a:r>
            <a:endParaRPr b="0" lang="es-AR" sz="2200" spc="-1" strike="noStrike">
              <a:latin typeface="Arial"/>
            </a:endParaRPr>
          </a:p>
        </p:txBody>
      </p:sp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2037600" y="3831480"/>
            <a:ext cx="4802400" cy="815040"/>
          </a:xfrm>
          <a:prstGeom prst="rect">
            <a:avLst/>
          </a:prstGeom>
          <a:ln>
            <a:noFill/>
          </a:ln>
        </p:spPr>
      </p:pic>
      <p:pic>
        <p:nvPicPr>
          <p:cNvPr id="93" name="" descr=""/>
          <p:cNvPicPr/>
          <p:nvPr/>
        </p:nvPicPr>
        <p:blipFill>
          <a:blip r:embed="rId2"/>
          <a:stretch/>
        </p:blipFill>
        <p:spPr>
          <a:xfrm>
            <a:off x="788400" y="1418760"/>
            <a:ext cx="5403600" cy="1122120"/>
          </a:xfrm>
          <a:prstGeom prst="rect">
            <a:avLst/>
          </a:prstGeom>
          <a:ln>
            <a:noFill/>
          </a:ln>
        </p:spPr>
      </p:pic>
      <p:sp>
        <p:nvSpPr>
          <p:cNvPr id="94" name="TextShape 4"/>
          <p:cNvSpPr txBox="1"/>
          <p:nvPr/>
        </p:nvSpPr>
        <p:spPr>
          <a:xfrm>
            <a:off x="7174080" y="2952000"/>
            <a:ext cx="817920" cy="3740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0,971</a:t>
            </a:r>
            <a:endParaRPr b="0" lang="es-AR" sz="2000" spc="-1" strike="noStrike">
              <a:latin typeface="Arial"/>
            </a:endParaRPr>
          </a:p>
        </p:txBody>
      </p:sp>
      <p:sp>
        <p:nvSpPr>
          <p:cNvPr id="95" name="TextShape 5"/>
          <p:cNvSpPr txBox="1"/>
          <p:nvPr/>
        </p:nvSpPr>
        <p:spPr>
          <a:xfrm>
            <a:off x="1985040" y="4527000"/>
            <a:ext cx="4951080" cy="949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-(5/6) x log</a:t>
            </a:r>
            <a:r>
              <a:rPr b="0" lang="es-AR" sz="2000" spc="-1" strike="noStrike" baseline="-33000">
                <a:solidFill>
                  <a:srgbClr val="003d73"/>
                </a:solidFill>
                <a:latin typeface="Arial"/>
              </a:rPr>
              <a:t>2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(5/6) – (1/6) x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log</a:t>
            </a:r>
            <a:r>
              <a:rPr b="0" lang="es-AR" sz="2000" spc="-1" strike="noStrike" baseline="-33000">
                <a:solidFill>
                  <a:srgbClr val="003d73"/>
                </a:solidFill>
                <a:latin typeface="Arial"/>
              </a:rPr>
              <a:t>2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(1/6) = </a:t>
            </a:r>
            <a:endParaRPr b="0" lang="es-AR" sz="2000" spc="-1" strike="noStrike">
              <a:latin typeface="Arial"/>
            </a:endParaRPr>
          </a:p>
          <a:p>
            <a:endParaRPr b="0" lang="es-AR" sz="2000" spc="-1" strike="noStrike">
              <a:latin typeface="Arial"/>
            </a:endParaRPr>
          </a:p>
          <a:p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-(1/4) x log</a:t>
            </a:r>
            <a:r>
              <a:rPr b="0" lang="es-AR" sz="2000" spc="-1" strike="noStrike" baseline="-33000">
                <a:solidFill>
                  <a:srgbClr val="003d73"/>
                </a:solidFill>
                <a:latin typeface="Arial"/>
              </a:rPr>
              <a:t>2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(1/4) – (3/4) x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log</a:t>
            </a:r>
            <a:r>
              <a:rPr b="0" lang="es-AR" sz="2000" spc="-1" strike="noStrike" baseline="-33000">
                <a:solidFill>
                  <a:srgbClr val="003d73"/>
                </a:solidFill>
                <a:latin typeface="Arial"/>
              </a:rPr>
              <a:t>2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(3/4) = </a:t>
            </a:r>
            <a:endParaRPr b="0" lang="es-AR" sz="2000" spc="-1" strike="noStrike">
              <a:latin typeface="Arial"/>
            </a:endParaRPr>
          </a:p>
        </p:txBody>
      </p:sp>
      <p:sp>
        <p:nvSpPr>
          <p:cNvPr id="96" name="TextShape 6"/>
          <p:cNvSpPr txBox="1"/>
          <p:nvPr/>
        </p:nvSpPr>
        <p:spPr>
          <a:xfrm>
            <a:off x="1879920" y="5978880"/>
            <a:ext cx="4405320" cy="3740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=(6/10) x 0,65 + (4/10) x 0,81 = 0,714</a:t>
            </a:r>
            <a:endParaRPr b="0" lang="es-AR" sz="2000" spc="-1" strike="noStrike">
              <a:latin typeface="Arial"/>
            </a:endParaRPr>
          </a:p>
        </p:txBody>
      </p:sp>
      <p:sp>
        <p:nvSpPr>
          <p:cNvPr id="97" name="TextShape 7"/>
          <p:cNvSpPr txBox="1"/>
          <p:nvPr/>
        </p:nvSpPr>
        <p:spPr>
          <a:xfrm>
            <a:off x="6324840" y="4523400"/>
            <a:ext cx="676080" cy="8827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0,65</a:t>
            </a:r>
            <a:endParaRPr b="0" lang="es-AR" sz="2000" spc="-1" strike="noStrike">
              <a:latin typeface="Arial"/>
            </a:endParaRPr>
          </a:p>
          <a:p>
            <a:endParaRPr b="0" lang="es-AR" sz="2000" spc="-1" strike="noStrike">
              <a:latin typeface="Arial"/>
            </a:endParaRPr>
          </a:p>
          <a:p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0,81</a:t>
            </a:r>
            <a:endParaRPr b="0" lang="es-AR" sz="2000" spc="-1" strike="noStrike">
              <a:latin typeface="Arial"/>
            </a:endParaRPr>
          </a:p>
        </p:txBody>
      </p:sp>
    </p:spTree>
  </p:cSld>
  <p:timing>
    <p:tnLst>
      <p:par>
        <p:cTn id="5" dur="indefinite" restart="never" nodeType="tmRoot">
          <p:childTnLst>
            <p:seq>
              <p:cTn id="6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Shape 1"/>
          <p:cNvSpPr txBox="1"/>
          <p:nvPr/>
        </p:nvSpPr>
        <p:spPr>
          <a:xfrm>
            <a:off x="504000" y="279360"/>
            <a:ext cx="9071640" cy="6814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Árboles de Decisión</a:t>
            </a:r>
            <a:endParaRPr b="0" lang="es-AR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Shape 2"/>
          <p:cNvSpPr txBox="1"/>
          <p:nvPr/>
        </p:nvSpPr>
        <p:spPr>
          <a:xfrm>
            <a:off x="270000" y="1175040"/>
            <a:ext cx="9522000" cy="696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r>
              <a:rPr b="0" lang="es-AR" sz="1800" spc="-1" strike="noStrike">
                <a:solidFill>
                  <a:srgbClr val="003d73"/>
                </a:solidFill>
                <a:latin typeface="Arial"/>
              </a:rPr>
              <a:t>Entropía</a:t>
            </a:r>
            <a:r>
              <a:rPr b="0" lang="es-AR" sz="2200" spc="-1" strike="noStrike" baseline="-33000">
                <a:solidFill>
                  <a:srgbClr val="003d73"/>
                </a:solidFill>
                <a:latin typeface="Arial"/>
              </a:rPr>
              <a:t>Col</a:t>
            </a:r>
            <a:r>
              <a:rPr b="0" lang="es-AR" sz="1800" spc="-1" strike="noStrike">
                <a:solidFill>
                  <a:srgbClr val="003d73"/>
                </a:solidFill>
                <a:latin typeface="Arial"/>
              </a:rPr>
              <a:t> (D):</a:t>
            </a:r>
            <a:endParaRPr b="0" lang="es-AR" sz="18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Entropía (BA)=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-(1/3) x log</a:t>
            </a:r>
            <a:r>
              <a:rPr b="0" lang="es-AR" sz="2000" spc="-1" strike="noStrike" baseline="-33000">
                <a:solidFill>
                  <a:srgbClr val="003d73"/>
                </a:solidFill>
                <a:latin typeface="Arial"/>
              </a:rPr>
              <a:t>2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(1/3) – (2/3) x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log</a:t>
            </a:r>
            <a:r>
              <a:rPr b="0" lang="es-AR" sz="2000" spc="-1" strike="noStrike" baseline="-33000">
                <a:solidFill>
                  <a:srgbClr val="003d73"/>
                </a:solidFill>
                <a:latin typeface="Arial"/>
              </a:rPr>
              <a:t>2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(2/3) = 0,918</a:t>
            </a:r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Entropía (MED)=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-(2/3) x log</a:t>
            </a:r>
            <a:r>
              <a:rPr b="0" lang="es-AR" sz="2000" spc="-1" strike="noStrike" baseline="-33000">
                <a:solidFill>
                  <a:srgbClr val="003d73"/>
                </a:solidFill>
                <a:latin typeface="Arial"/>
              </a:rPr>
              <a:t>2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(2/3) – (1/3) x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log</a:t>
            </a:r>
            <a:r>
              <a:rPr b="0" lang="es-AR" sz="2000" spc="-1" strike="noStrike" baseline="-33000">
                <a:solidFill>
                  <a:srgbClr val="003d73"/>
                </a:solidFill>
                <a:latin typeface="Arial"/>
              </a:rPr>
              <a:t>2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(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1/3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) = 0,918</a:t>
            </a:r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Entropía (AL)=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-(3/4) x log</a:t>
            </a:r>
            <a:r>
              <a:rPr b="0" lang="es-AR" sz="2000" spc="-1" strike="noStrike" baseline="-33000">
                <a:solidFill>
                  <a:srgbClr val="003d73"/>
                </a:solidFill>
                <a:latin typeface="Arial"/>
              </a:rPr>
              <a:t>2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(3/4) – (1/4) x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log</a:t>
            </a:r>
            <a:r>
              <a:rPr b="0" lang="es-AR" sz="2000" spc="-1" strike="noStrike" baseline="-33000">
                <a:solidFill>
                  <a:srgbClr val="003d73"/>
                </a:solidFill>
                <a:latin typeface="Arial"/>
              </a:rPr>
              <a:t>2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(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1/4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) = 0,81</a:t>
            </a:r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Entropía</a:t>
            </a:r>
            <a:r>
              <a:rPr b="0" lang="es-AR" sz="2000" spc="-1" strike="noStrike" baseline="-33000">
                <a:solidFill>
                  <a:srgbClr val="003d73"/>
                </a:solidFill>
                <a:latin typeface="Arial"/>
              </a:rPr>
              <a:t>Col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 (D) = </a:t>
            </a:r>
            <a:r>
              <a:rPr b="0" lang="es-AR" sz="1800" spc="-1" strike="noStrike">
                <a:solidFill>
                  <a:srgbClr val="003d73"/>
                </a:solidFill>
                <a:latin typeface="Arial"/>
              </a:rPr>
              <a:t>|BA| / |D| x Ent (BA) + |ME| / |D| x Ent (ME) + </a:t>
            </a:r>
            <a:r>
              <a:rPr b="0" lang="es-AR" sz="1800" spc="-1" strike="noStrike">
                <a:solidFill>
                  <a:srgbClr val="003d73"/>
                </a:solidFill>
                <a:latin typeface="Arial"/>
              </a:rPr>
              <a:t>|AL| / |D| x Ent (AL)=</a:t>
            </a:r>
            <a:endParaRPr b="0" lang="es-AR" sz="18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                       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=(3/10) x 0,918 + (3/10) x 0,918 +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(4/10) x 0,81= 0,875</a:t>
            </a:r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000" spc="-1" strike="noStrike">
              <a:solidFill>
                <a:srgbClr val="0066cc"/>
              </a:solidFill>
              <a:latin typeface="Arial"/>
            </a:endParaRPr>
          </a:p>
        </p:txBody>
      </p:sp>
    </p:spTree>
  </p:cSld>
  <p:timing>
    <p:tnLst>
      <p:par>
        <p:cTn id="67" dur="indefinite" restart="never" nodeType="tmRoot">
          <p:childTnLst>
            <p:seq>
              <p:cTn id="6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Shape 1"/>
          <p:cNvSpPr txBox="1"/>
          <p:nvPr/>
        </p:nvSpPr>
        <p:spPr>
          <a:xfrm>
            <a:off x="504000" y="279360"/>
            <a:ext cx="9071640" cy="6814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Árboles de Decisión</a:t>
            </a:r>
            <a:endParaRPr b="0" lang="es-AR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Shape 2"/>
          <p:cNvSpPr txBox="1"/>
          <p:nvPr/>
        </p:nvSpPr>
        <p:spPr>
          <a:xfrm>
            <a:off x="270000" y="1175040"/>
            <a:ext cx="9522000" cy="2856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r>
              <a:rPr b="0" lang="es-AR" sz="1800" spc="-1" strike="noStrike">
                <a:solidFill>
                  <a:srgbClr val="003d73"/>
                </a:solidFill>
                <a:latin typeface="Arial"/>
              </a:rPr>
              <a:t>Entropía</a:t>
            </a:r>
            <a:r>
              <a:rPr b="0" lang="es-AR" sz="2200" spc="-1" strike="noStrike" baseline="-33000">
                <a:solidFill>
                  <a:srgbClr val="003d73"/>
                </a:solidFill>
                <a:latin typeface="Arial"/>
              </a:rPr>
              <a:t>Trig</a:t>
            </a:r>
            <a:r>
              <a:rPr b="0" lang="es-AR" sz="1800" spc="-1" strike="noStrike">
                <a:solidFill>
                  <a:srgbClr val="003d73"/>
                </a:solidFill>
                <a:latin typeface="Arial"/>
              </a:rPr>
              <a:t> (D):</a:t>
            </a:r>
            <a:endParaRPr b="0" lang="es-AR" sz="18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Entropía (NOR)=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-(2/5) x log</a:t>
            </a:r>
            <a:r>
              <a:rPr b="0" lang="es-AR" sz="2000" spc="-1" strike="noStrike" baseline="-33000">
                <a:solidFill>
                  <a:srgbClr val="003d73"/>
                </a:solidFill>
                <a:latin typeface="Arial"/>
              </a:rPr>
              <a:t>2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(2/5) – (3/5) x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log</a:t>
            </a:r>
            <a:r>
              <a:rPr b="0" lang="es-AR" sz="2000" spc="-1" strike="noStrike" baseline="-33000">
                <a:solidFill>
                  <a:srgbClr val="003d73"/>
                </a:solidFill>
                <a:latin typeface="Arial"/>
              </a:rPr>
              <a:t>2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(3/5) = 0,971</a:t>
            </a:r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Entropía (ELEV)=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-(4/5) x log</a:t>
            </a:r>
            <a:r>
              <a:rPr b="0" lang="es-AR" sz="2000" spc="-1" strike="noStrike" baseline="-33000">
                <a:solidFill>
                  <a:srgbClr val="003d73"/>
                </a:solidFill>
                <a:latin typeface="Arial"/>
              </a:rPr>
              <a:t>2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(4/5) – (1/5) x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log</a:t>
            </a:r>
            <a:r>
              <a:rPr b="0" lang="es-AR" sz="2000" spc="-1" strike="noStrike" baseline="-33000">
                <a:solidFill>
                  <a:srgbClr val="003d73"/>
                </a:solidFill>
                <a:latin typeface="Arial"/>
              </a:rPr>
              <a:t>2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(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1/5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) = 0,722</a:t>
            </a:r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Entropía</a:t>
            </a:r>
            <a:r>
              <a:rPr b="0" lang="es-AR" sz="2000" spc="-1" strike="noStrike" baseline="-33000">
                <a:solidFill>
                  <a:srgbClr val="003d73"/>
                </a:solidFill>
                <a:latin typeface="Arial"/>
              </a:rPr>
              <a:t>Trig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 (D) = </a:t>
            </a:r>
            <a:r>
              <a:rPr b="0" lang="es-AR" sz="1800" spc="-1" strike="noStrike">
                <a:solidFill>
                  <a:srgbClr val="003d73"/>
                </a:solidFill>
                <a:latin typeface="Arial"/>
              </a:rPr>
              <a:t>|NOR| / |D| x Ent (NOR) + |ELEV| / |D| x Ent (ELEV) </a:t>
            </a:r>
            <a:r>
              <a:rPr b="0" lang="es-AR" sz="1800" spc="-1" strike="noStrike">
                <a:solidFill>
                  <a:srgbClr val="003d73"/>
                </a:solidFill>
                <a:latin typeface="Arial"/>
              </a:rPr>
              <a:t>=</a:t>
            </a:r>
            <a:endParaRPr b="0" lang="es-AR" sz="18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                       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=(5/10) x 0,971 + (5/10) x 0,722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= 0,846</a:t>
            </a:r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000" spc="-1" strike="noStrike">
              <a:solidFill>
                <a:srgbClr val="0066cc"/>
              </a:solidFill>
              <a:latin typeface="Arial"/>
            </a:endParaRPr>
          </a:p>
        </p:txBody>
      </p:sp>
    </p:spTree>
  </p:cSld>
  <p:timing>
    <p:tnLst>
      <p:par>
        <p:cTn id="69" dur="indefinite" restart="never" nodeType="tmRoot">
          <p:childTnLst>
            <p:seq>
              <p:cTn id="7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Shape 1"/>
          <p:cNvSpPr txBox="1"/>
          <p:nvPr/>
        </p:nvSpPr>
        <p:spPr>
          <a:xfrm>
            <a:off x="504000" y="279360"/>
            <a:ext cx="9071640" cy="6814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Árboles de Decisión</a:t>
            </a:r>
            <a:endParaRPr b="0" lang="es-AR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Shape 2"/>
          <p:cNvSpPr txBox="1"/>
          <p:nvPr/>
        </p:nvSpPr>
        <p:spPr>
          <a:xfrm>
            <a:off x="270000" y="1175040"/>
            <a:ext cx="9522000" cy="696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r>
              <a:rPr b="0" lang="es-AR" sz="1800" spc="-1" strike="noStrike">
                <a:solidFill>
                  <a:srgbClr val="003d73"/>
                </a:solidFill>
                <a:latin typeface="Arial"/>
              </a:rPr>
              <a:t>Entropía</a:t>
            </a:r>
            <a:r>
              <a:rPr b="0" lang="es-AR" sz="2200" spc="-1" strike="noStrike" baseline="-33000">
                <a:solidFill>
                  <a:srgbClr val="003d73"/>
                </a:solidFill>
                <a:latin typeface="Arial"/>
              </a:rPr>
              <a:t>Ed</a:t>
            </a:r>
            <a:r>
              <a:rPr b="0" lang="es-AR" sz="1800" spc="-1" strike="noStrike">
                <a:solidFill>
                  <a:srgbClr val="003d73"/>
                </a:solidFill>
                <a:latin typeface="Arial"/>
              </a:rPr>
              <a:t> (D):</a:t>
            </a:r>
            <a:endParaRPr b="0" lang="es-AR" sz="18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Entropía (&lt;40) =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-(1/4) x log</a:t>
            </a:r>
            <a:r>
              <a:rPr b="0" lang="es-AR" sz="2000" spc="-1" strike="noStrike" baseline="-33000">
                <a:solidFill>
                  <a:srgbClr val="003d73"/>
                </a:solidFill>
                <a:latin typeface="Arial"/>
              </a:rPr>
              <a:t>2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(1/4) – (3/4) x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log</a:t>
            </a:r>
            <a:r>
              <a:rPr b="0" lang="es-AR" sz="2000" spc="-1" strike="noStrike" baseline="-33000">
                <a:solidFill>
                  <a:srgbClr val="003d73"/>
                </a:solidFill>
                <a:latin typeface="Arial"/>
              </a:rPr>
              <a:t>2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(3/4) = 0,811</a:t>
            </a:r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Entropía (&gt;60) =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-(3/3) x log</a:t>
            </a:r>
            <a:r>
              <a:rPr b="0" lang="es-AR" sz="2000" spc="-1" strike="noStrike" baseline="-33000">
                <a:solidFill>
                  <a:srgbClr val="003d73"/>
                </a:solidFill>
                <a:latin typeface="Arial"/>
              </a:rPr>
              <a:t>2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(3/3) – 0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 = 0</a:t>
            </a:r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Entropía (40-60) =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-(2/3) x log</a:t>
            </a:r>
            <a:r>
              <a:rPr b="0" lang="es-AR" sz="2000" spc="-1" strike="noStrike" baseline="-33000">
                <a:solidFill>
                  <a:srgbClr val="003d73"/>
                </a:solidFill>
                <a:latin typeface="Arial"/>
              </a:rPr>
              <a:t>2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(2/3) – (1/3) x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log</a:t>
            </a:r>
            <a:r>
              <a:rPr b="0" lang="es-AR" sz="2000" spc="-1" strike="noStrike" baseline="-33000">
                <a:solidFill>
                  <a:srgbClr val="003d73"/>
                </a:solidFill>
                <a:latin typeface="Arial"/>
              </a:rPr>
              <a:t>2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(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1/3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) = 0,918</a:t>
            </a:r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Entropía</a:t>
            </a:r>
            <a:r>
              <a:rPr b="0" lang="es-AR" sz="2000" spc="-1" strike="noStrike" baseline="-33000">
                <a:solidFill>
                  <a:srgbClr val="003d73"/>
                </a:solidFill>
                <a:latin typeface="Arial"/>
              </a:rPr>
              <a:t>Ed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 (D) = </a:t>
            </a:r>
            <a:r>
              <a:rPr b="0" lang="es-AR" sz="1600" spc="-1" strike="noStrike">
                <a:solidFill>
                  <a:srgbClr val="003d73"/>
                </a:solidFill>
                <a:latin typeface="Arial"/>
              </a:rPr>
              <a:t>|</a:t>
            </a:r>
            <a:r>
              <a:rPr b="0" lang="es-AR" sz="1800" spc="-1" strike="noStrike">
                <a:solidFill>
                  <a:srgbClr val="003d73"/>
                </a:solidFill>
                <a:latin typeface="Arial"/>
              </a:rPr>
              <a:t>&lt;40</a:t>
            </a:r>
            <a:r>
              <a:rPr b="0" lang="es-AR" sz="1600" spc="-1" strike="noStrike">
                <a:solidFill>
                  <a:srgbClr val="003d73"/>
                </a:solidFill>
                <a:latin typeface="Arial"/>
              </a:rPr>
              <a:t>| / |D| x Ent (</a:t>
            </a:r>
            <a:r>
              <a:rPr b="0" lang="es-AR" sz="1800" spc="-1" strike="noStrike">
                <a:solidFill>
                  <a:srgbClr val="003d73"/>
                </a:solidFill>
                <a:latin typeface="Arial"/>
              </a:rPr>
              <a:t>&lt;40</a:t>
            </a:r>
            <a:r>
              <a:rPr b="0" lang="es-AR" sz="1600" spc="-1" strike="noStrike">
                <a:solidFill>
                  <a:srgbClr val="003d73"/>
                </a:solidFill>
                <a:latin typeface="Arial"/>
              </a:rPr>
              <a:t>) + |</a:t>
            </a:r>
            <a:r>
              <a:rPr b="0" lang="es-AR" sz="1800" spc="-1" strike="noStrike">
                <a:solidFill>
                  <a:srgbClr val="003d73"/>
                </a:solidFill>
                <a:latin typeface="Arial"/>
              </a:rPr>
              <a:t>&gt;60</a:t>
            </a:r>
            <a:r>
              <a:rPr b="0" lang="es-AR" sz="1600" spc="-1" strike="noStrike">
                <a:solidFill>
                  <a:srgbClr val="003d73"/>
                </a:solidFill>
                <a:latin typeface="Arial"/>
              </a:rPr>
              <a:t>| / |D| x Ent (</a:t>
            </a:r>
            <a:r>
              <a:rPr b="0" lang="es-AR" sz="1800" spc="-1" strike="noStrike">
                <a:solidFill>
                  <a:srgbClr val="003d73"/>
                </a:solidFill>
                <a:latin typeface="Arial"/>
              </a:rPr>
              <a:t>&gt;60</a:t>
            </a:r>
            <a:r>
              <a:rPr b="0" lang="es-AR" sz="1600" spc="-1" strike="noStrike">
                <a:solidFill>
                  <a:srgbClr val="003d73"/>
                </a:solidFill>
                <a:latin typeface="Arial"/>
              </a:rPr>
              <a:t>) + |</a:t>
            </a:r>
            <a:r>
              <a:rPr b="0" lang="es-AR" sz="1800" spc="-1" strike="noStrike">
                <a:solidFill>
                  <a:srgbClr val="003d73"/>
                </a:solidFill>
                <a:latin typeface="Arial"/>
              </a:rPr>
              <a:t>40-60</a:t>
            </a:r>
            <a:r>
              <a:rPr b="0" lang="es-AR" sz="1600" spc="-1" strike="noStrike">
                <a:solidFill>
                  <a:srgbClr val="003d73"/>
                </a:solidFill>
                <a:latin typeface="Arial"/>
              </a:rPr>
              <a:t>| / |D| x Ent (</a:t>
            </a:r>
            <a:r>
              <a:rPr b="0" lang="es-AR" sz="1800" spc="-1" strike="noStrike">
                <a:solidFill>
                  <a:srgbClr val="003d73"/>
                </a:solidFill>
                <a:latin typeface="Arial"/>
              </a:rPr>
              <a:t>40-60</a:t>
            </a:r>
            <a:r>
              <a:rPr b="0" lang="es-AR" sz="1600" spc="-1" strike="noStrike">
                <a:solidFill>
                  <a:srgbClr val="003d73"/>
                </a:solidFill>
                <a:latin typeface="Arial"/>
              </a:rPr>
              <a:t>)=</a:t>
            </a:r>
            <a:endParaRPr b="0" lang="es-AR" sz="16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                       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=(4/10) x 0,811 + (3/10) x 0 +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(3/10) x 0,918= 0,6</a:t>
            </a:r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000" spc="-1" strike="noStrike">
              <a:solidFill>
                <a:srgbClr val="0066cc"/>
              </a:solidFill>
              <a:latin typeface="Arial"/>
            </a:endParaRPr>
          </a:p>
        </p:txBody>
      </p:sp>
    </p:spTree>
  </p:cSld>
  <p:timing>
    <p:tnLst>
      <p:par>
        <p:cTn id="71" dur="indefinite" restart="never" nodeType="tmRoot">
          <p:childTnLst>
            <p:seq>
              <p:cTn id="7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/>
          <p:cNvSpPr txBox="1"/>
          <p:nvPr/>
        </p:nvSpPr>
        <p:spPr>
          <a:xfrm>
            <a:off x="504000" y="279360"/>
            <a:ext cx="9071640" cy="6814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Árboles de Decisión</a:t>
            </a:r>
            <a:endParaRPr b="0" lang="es-AR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Shape 2"/>
          <p:cNvSpPr txBox="1"/>
          <p:nvPr/>
        </p:nvSpPr>
        <p:spPr>
          <a:xfrm>
            <a:off x="270000" y="1175040"/>
            <a:ext cx="9522000" cy="696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r>
              <a:rPr b="0" lang="es-AR" sz="1800" spc="-1" strike="noStrike">
                <a:solidFill>
                  <a:srgbClr val="003d73"/>
                </a:solidFill>
                <a:latin typeface="Arial"/>
              </a:rPr>
              <a:t>Entropía</a:t>
            </a:r>
            <a:r>
              <a:rPr b="0" lang="es-AR" sz="2200" spc="-1" strike="noStrike" baseline="-33000">
                <a:solidFill>
                  <a:srgbClr val="003d73"/>
                </a:solidFill>
                <a:latin typeface="Arial"/>
              </a:rPr>
              <a:t>Diab</a:t>
            </a:r>
            <a:r>
              <a:rPr b="0" lang="es-AR" sz="1800" spc="-1" strike="noStrike">
                <a:solidFill>
                  <a:srgbClr val="003d73"/>
                </a:solidFill>
                <a:latin typeface="Arial"/>
              </a:rPr>
              <a:t> (D):</a:t>
            </a:r>
            <a:endParaRPr b="0" lang="es-AR" sz="18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Entropía (SI) =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-(3/6) x log</a:t>
            </a:r>
            <a:r>
              <a:rPr b="0" lang="es-AR" sz="2000" spc="-1" strike="noStrike" baseline="-33000">
                <a:solidFill>
                  <a:srgbClr val="003d73"/>
                </a:solidFill>
                <a:latin typeface="Arial"/>
              </a:rPr>
              <a:t>2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(3/6) – (3/6) x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log</a:t>
            </a:r>
            <a:r>
              <a:rPr b="0" lang="es-AR" sz="2000" spc="-1" strike="noStrike" baseline="-33000">
                <a:solidFill>
                  <a:srgbClr val="003d73"/>
                </a:solidFill>
                <a:latin typeface="Arial"/>
              </a:rPr>
              <a:t>2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(3/6) = 1</a:t>
            </a:r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Entropía (No) =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-(3/4) x log</a:t>
            </a:r>
            <a:r>
              <a:rPr b="0" lang="es-AR" sz="2000" spc="-1" strike="noStrike" baseline="-33000">
                <a:solidFill>
                  <a:srgbClr val="003d73"/>
                </a:solidFill>
                <a:latin typeface="Arial"/>
              </a:rPr>
              <a:t>2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(3/4) – (1/4) x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log</a:t>
            </a:r>
            <a:r>
              <a:rPr b="0" lang="es-AR" sz="2000" spc="-1" strike="noStrike" baseline="-33000">
                <a:solidFill>
                  <a:srgbClr val="003d73"/>
                </a:solidFill>
                <a:latin typeface="Arial"/>
              </a:rPr>
              <a:t>2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(1/4) = 0,81</a:t>
            </a:r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Entropía</a:t>
            </a:r>
            <a:r>
              <a:rPr b="0" lang="es-AR" sz="2000" spc="-1" strike="noStrike" baseline="-33000">
                <a:solidFill>
                  <a:srgbClr val="003d73"/>
                </a:solidFill>
                <a:latin typeface="Arial"/>
              </a:rPr>
              <a:t>Diab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 (D) = |SI| / |D| x Ent (SI) +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|NO| / |D| x Ent (NO) =</a:t>
            </a:r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                           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=(6/10) x 1 + (4/10) x 0,81 = 0,924</a:t>
            </a:r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000" spc="-1" strike="noStrike">
              <a:solidFill>
                <a:srgbClr val="0066cc"/>
              </a:solidFill>
              <a:latin typeface="Arial"/>
            </a:endParaRPr>
          </a:p>
        </p:txBody>
      </p:sp>
    </p:spTree>
  </p:cSld>
  <p:timing>
    <p:tnLst>
      <p:par>
        <p:cTn id="73" dur="indefinite" restart="never" nodeType="tmRoot">
          <p:childTnLst>
            <p:seq>
              <p:cTn id="7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Shape 1"/>
          <p:cNvSpPr txBox="1"/>
          <p:nvPr/>
        </p:nvSpPr>
        <p:spPr>
          <a:xfrm>
            <a:off x="504000" y="279360"/>
            <a:ext cx="9071640" cy="6814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Árboles de Decisión</a:t>
            </a:r>
            <a:endParaRPr b="0" lang="es-AR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CustomShape 2"/>
          <p:cNvSpPr/>
          <p:nvPr/>
        </p:nvSpPr>
        <p:spPr>
          <a:xfrm>
            <a:off x="6768000" y="3636000"/>
            <a:ext cx="1152000" cy="576000"/>
          </a:xfrm>
          <a:prstGeom prst="horizontalScroll">
            <a:avLst>
              <a:gd name="adj" fmla="val 12500"/>
            </a:avLst>
          </a:prstGeom>
          <a:solidFill>
            <a:srgbClr val="faa61a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Shape 3"/>
          <p:cNvSpPr txBox="1"/>
          <p:nvPr/>
        </p:nvSpPr>
        <p:spPr>
          <a:xfrm>
            <a:off x="270000" y="1175040"/>
            <a:ext cx="9522000" cy="696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Luego calculamos la ganancia de información:</a:t>
            </a:r>
            <a:endParaRPr b="0" lang="es-AR" sz="22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2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1800" spc="-1" strike="noStrike">
                <a:solidFill>
                  <a:srgbClr val="003d73"/>
                </a:solidFill>
                <a:latin typeface="Arial"/>
              </a:rPr>
              <a:t>Gan(D, Hip ) = Entropía (D) - Entropía</a:t>
            </a:r>
            <a:r>
              <a:rPr b="0" lang="es-AR" sz="2200" spc="-1" strike="noStrike" baseline="-33000">
                <a:solidFill>
                  <a:srgbClr val="003d73"/>
                </a:solidFill>
                <a:latin typeface="Arial"/>
              </a:rPr>
              <a:t>Hip</a:t>
            </a:r>
            <a:r>
              <a:rPr b="0" lang="es-AR" sz="1800" spc="-1" strike="noStrike">
                <a:solidFill>
                  <a:srgbClr val="003d73"/>
                </a:solidFill>
                <a:latin typeface="Arial"/>
              </a:rPr>
              <a:t> (D) = 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0,971 – 0,714 = 0,256</a:t>
            </a:r>
            <a:r>
              <a:rPr b="0" lang="es-AR" sz="1800" spc="-1" strike="noStrike">
                <a:solidFill>
                  <a:srgbClr val="003d73"/>
                </a:solidFill>
                <a:latin typeface="Arial"/>
              </a:rPr>
              <a:t>  </a:t>
            </a:r>
            <a:endParaRPr b="0" lang="es-AR" sz="18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1800" spc="-1" strike="noStrike">
                <a:solidFill>
                  <a:srgbClr val="003d73"/>
                </a:solidFill>
                <a:latin typeface="Arial"/>
              </a:rPr>
              <a:t>Gan(D, Col ) = Entropía (D) - Entropía</a:t>
            </a:r>
            <a:r>
              <a:rPr b="0" lang="es-AR" sz="2200" spc="-1" strike="noStrike" baseline="-33000">
                <a:solidFill>
                  <a:srgbClr val="003d73"/>
                </a:solidFill>
                <a:latin typeface="Arial"/>
              </a:rPr>
              <a:t>Col</a:t>
            </a:r>
            <a:r>
              <a:rPr b="0" lang="es-AR" sz="1800" spc="-1" strike="noStrike">
                <a:solidFill>
                  <a:srgbClr val="003d73"/>
                </a:solidFill>
                <a:latin typeface="Arial"/>
              </a:rPr>
              <a:t> (D) = 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0,971 – 0,875 = 0,095</a:t>
            </a:r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1800" spc="-1" strike="noStrike">
                <a:solidFill>
                  <a:srgbClr val="003d73"/>
                </a:solidFill>
                <a:latin typeface="Arial"/>
              </a:rPr>
              <a:t>Gan(D, Trig) = Entropía (D) - Entropía</a:t>
            </a:r>
            <a:r>
              <a:rPr b="0" lang="es-AR" sz="2200" spc="-1" strike="noStrike" baseline="-33000">
                <a:solidFill>
                  <a:srgbClr val="003d73"/>
                </a:solidFill>
                <a:latin typeface="Arial"/>
              </a:rPr>
              <a:t>Trig</a:t>
            </a:r>
            <a:r>
              <a:rPr b="0" lang="es-AR" sz="1800" spc="-1" strike="noStrike">
                <a:solidFill>
                  <a:srgbClr val="003d73"/>
                </a:solidFill>
                <a:latin typeface="Arial"/>
              </a:rPr>
              <a:t> (D) = 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0,971 – 0,846 = 0,124</a:t>
            </a:r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1800" spc="-1" strike="noStrike">
                <a:solidFill>
                  <a:srgbClr val="003d73"/>
                </a:solidFill>
                <a:latin typeface="Arial"/>
              </a:rPr>
              <a:t>Gan(D, Ed) = Entropía (D) - Entropía</a:t>
            </a:r>
            <a:r>
              <a:rPr b="0" lang="es-AR" sz="2200" spc="-1" strike="noStrike" baseline="-33000">
                <a:solidFill>
                  <a:srgbClr val="003d73"/>
                </a:solidFill>
                <a:latin typeface="Arial"/>
              </a:rPr>
              <a:t>Ed</a:t>
            </a:r>
            <a:r>
              <a:rPr b="0" lang="es-AR" sz="1800" spc="-1" strike="noStrike">
                <a:solidFill>
                  <a:srgbClr val="003d73"/>
                </a:solidFill>
                <a:latin typeface="Arial"/>
              </a:rPr>
              <a:t> (D)  =   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0,971 – 0,6   =   0,371</a:t>
            </a:r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1800" spc="-1" strike="noStrike">
                <a:solidFill>
                  <a:srgbClr val="003d73"/>
                </a:solidFill>
                <a:latin typeface="Arial"/>
              </a:rPr>
              <a:t>Gan(D, Diab) = Entropía (D) - Entropía</a:t>
            </a:r>
            <a:r>
              <a:rPr b="0" lang="es-AR" sz="2200" spc="-1" strike="noStrike" baseline="-33000">
                <a:solidFill>
                  <a:srgbClr val="003d73"/>
                </a:solidFill>
                <a:latin typeface="Arial"/>
              </a:rPr>
              <a:t>Diab</a:t>
            </a:r>
            <a:r>
              <a:rPr b="0" lang="es-AR" sz="1800" spc="-1" strike="noStrike">
                <a:solidFill>
                  <a:srgbClr val="003d73"/>
                </a:solidFill>
                <a:latin typeface="Arial"/>
              </a:rPr>
              <a:t> (D) = 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0,971 – 0,924 = 0,046</a:t>
            </a:r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0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0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109" name="TextShape 4"/>
          <p:cNvSpPr txBox="1"/>
          <p:nvPr/>
        </p:nvSpPr>
        <p:spPr>
          <a:xfrm>
            <a:off x="8100000" y="3744000"/>
            <a:ext cx="1800000" cy="34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Nodo Raíz</a:t>
            </a:r>
            <a:endParaRPr b="0" lang="es-AR" sz="2400" spc="-1" strike="noStrike">
              <a:latin typeface="Arial"/>
            </a:endParaRPr>
          </a:p>
        </p:txBody>
      </p:sp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1599840" y="1611360"/>
            <a:ext cx="5528160" cy="3650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75" dur="indefinite" restart="never" nodeType="tmRoot">
          <p:childTnLst>
            <p:seq>
              <p:cTn id="76" dur="indefinite" nodeType="mainSeq">
                <p:childTnLst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Shape 1"/>
          <p:cNvSpPr txBox="1"/>
          <p:nvPr/>
        </p:nvSpPr>
        <p:spPr>
          <a:xfrm>
            <a:off x="504000" y="279360"/>
            <a:ext cx="9071640" cy="6814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Árboles de Decisión</a:t>
            </a:r>
            <a:endParaRPr b="0" lang="es-AR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CustomShape 2"/>
          <p:cNvSpPr/>
          <p:nvPr/>
        </p:nvSpPr>
        <p:spPr>
          <a:xfrm>
            <a:off x="3996000" y="1980000"/>
            <a:ext cx="1512000" cy="432000"/>
          </a:xfrm>
          <a:custGeom>
            <a:avLst/>
            <a:gdLst/>
            <a:ahLst/>
            <a:rect l="0" t="0" r="r" b="b"/>
            <a:pathLst>
              <a:path w="4202" h="1202">
                <a:moveTo>
                  <a:pt x="200" y="0"/>
                </a:moveTo>
                <a:cubicBezTo>
                  <a:pt x="100" y="0"/>
                  <a:pt x="0" y="100"/>
                  <a:pt x="0" y="200"/>
                </a:cubicBezTo>
                <a:lnTo>
                  <a:pt x="0" y="1000"/>
                </a:lnTo>
                <a:cubicBezTo>
                  <a:pt x="0" y="1100"/>
                  <a:pt x="100" y="1201"/>
                  <a:pt x="200" y="1201"/>
                </a:cubicBezTo>
                <a:lnTo>
                  <a:pt x="4000" y="1201"/>
                </a:lnTo>
                <a:cubicBezTo>
                  <a:pt x="4100" y="1201"/>
                  <a:pt x="4201" y="1100"/>
                  <a:pt x="4201" y="1000"/>
                </a:cubicBezTo>
                <a:lnTo>
                  <a:pt x="4201" y="200"/>
                </a:lnTo>
                <a:cubicBezTo>
                  <a:pt x="4201" y="100"/>
                  <a:pt x="4100" y="0"/>
                  <a:pt x="4000" y="0"/>
                </a:cubicBezTo>
                <a:lnTo>
                  <a:pt x="200" y="0"/>
                </a:lnTo>
              </a:path>
            </a:pathLst>
          </a:cu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s-AR" sz="1800" spc="-1" strike="noStrike">
                <a:latin typeface="Arial"/>
              </a:rPr>
              <a:t>Edad</a:t>
            </a:r>
            <a:endParaRPr b="0" lang="es-AR" sz="1800" spc="-1" strike="noStrike">
              <a:latin typeface="Arial"/>
            </a:endParaRPr>
          </a:p>
        </p:txBody>
      </p:sp>
      <p:cxnSp>
        <p:nvCxnSpPr>
          <p:cNvPr id="113" name="Line 3"/>
          <p:cNvCxnSpPr>
            <a:stCxn id="112" idx="2"/>
          </p:cNvCxnSpPr>
          <p:nvPr/>
        </p:nvCxnSpPr>
        <p:spPr>
          <a:xfrm flipH="1">
            <a:off x="2589480" y="2412000"/>
            <a:ext cx="2162880" cy="709200"/>
          </a:xfrm>
          <a:prstGeom prst="straightConnector1">
            <a:avLst/>
          </a:prstGeom>
          <a:ln>
            <a:solidFill>
              <a:srgbClr val="000000"/>
            </a:solidFill>
            <a:tailEnd len="med" type="triangle" w="med"/>
          </a:ln>
        </p:spPr>
        <p:txBody>
          <a:bodyPr lIns="90000" rIns="90000" tIns="45000" bIns="45000" anchor="ctr"/>
          <a:p>
            <a:pPr algn="ctr"/>
            <a:r>
              <a:rPr b="0" lang="es-AR" sz="1800" spc="-1" strike="noStrike">
                <a:latin typeface="Arial"/>
              </a:rPr>
              <a:t>&lt; 40</a:t>
            </a:r>
            <a:endParaRPr b="0" lang="es-AR" sz="1800" spc="-1" strike="noStrike">
              <a:latin typeface="Arial"/>
            </a:endParaRPr>
          </a:p>
          <a:p>
            <a:pPr algn="ctr"/>
            <a:endParaRPr b="0" lang="es-AR" sz="1800" spc="-1" strike="noStrike">
              <a:latin typeface="Arial"/>
            </a:endParaRPr>
          </a:p>
        </p:txBody>
      </p:cxnSp>
      <p:cxnSp>
        <p:nvCxnSpPr>
          <p:cNvPr id="114" name="Line 4"/>
          <p:cNvCxnSpPr>
            <a:stCxn id="112" idx="2"/>
          </p:cNvCxnSpPr>
          <p:nvPr/>
        </p:nvCxnSpPr>
        <p:spPr>
          <a:xfrm>
            <a:off x="4752000" y="2412000"/>
            <a:ext cx="24480" cy="950760"/>
          </a:xfrm>
          <a:prstGeom prst="straightConnector1">
            <a:avLst/>
          </a:prstGeom>
          <a:ln>
            <a:solidFill>
              <a:srgbClr val="000000"/>
            </a:solidFill>
            <a:tailEnd len="med" type="triangle" w="med"/>
          </a:ln>
        </p:spPr>
        <p:txBody>
          <a:bodyPr lIns="90000" rIns="90000" tIns="45000" bIns="45000" anchor="ctr"/>
          <a:p>
            <a:pPr algn="ctr"/>
            <a:r>
              <a:rPr b="0" lang="es-AR" sz="1800" spc="-1" strike="noStrike">
                <a:latin typeface="Arial"/>
              </a:rPr>
              <a:t>(40-60)</a:t>
            </a:r>
            <a:endParaRPr b="0" lang="es-AR" sz="1800" spc="-1" strike="noStrike">
              <a:latin typeface="Arial"/>
            </a:endParaRPr>
          </a:p>
        </p:txBody>
      </p:cxnSp>
      <p:cxnSp>
        <p:nvCxnSpPr>
          <p:cNvPr id="115" name="Line 5"/>
          <p:cNvCxnSpPr>
            <a:stCxn id="112" idx="2"/>
          </p:cNvCxnSpPr>
          <p:nvPr/>
        </p:nvCxnSpPr>
        <p:spPr>
          <a:xfrm>
            <a:off x="4752000" y="2412000"/>
            <a:ext cx="2090520" cy="896760"/>
          </a:xfrm>
          <a:prstGeom prst="straightConnector1">
            <a:avLst/>
          </a:prstGeom>
          <a:ln>
            <a:solidFill>
              <a:srgbClr val="000000"/>
            </a:solidFill>
            <a:tailEnd len="med" type="triangle" w="med"/>
          </a:ln>
        </p:spPr>
        <p:txBody>
          <a:bodyPr lIns="90000" rIns="90000" tIns="45000" bIns="45000" anchor="ctr"/>
          <a:p>
            <a:pPr algn="ctr"/>
            <a:r>
              <a:rPr b="0" lang="es-AR" sz="1800" spc="-1" strike="noStrike">
                <a:latin typeface="Arial"/>
              </a:rPr>
              <a:t>&gt;60</a:t>
            </a:r>
            <a:endParaRPr b="0" lang="es-AR" sz="1800" spc="-1" strike="noStrike">
              <a:latin typeface="Arial"/>
            </a:endParaRPr>
          </a:p>
          <a:p>
            <a:pPr algn="ctr"/>
            <a:endParaRPr b="0" lang="es-AR" sz="1800" spc="-1" strike="noStrike">
              <a:latin typeface="Arial"/>
            </a:endParaRPr>
          </a:p>
        </p:txBody>
      </p:cxnSp>
      <p:sp>
        <p:nvSpPr>
          <p:cNvPr id="116" name="TextShape 6"/>
          <p:cNvSpPr txBox="1"/>
          <p:nvPr/>
        </p:nvSpPr>
        <p:spPr>
          <a:xfrm>
            <a:off x="1980000" y="2520000"/>
            <a:ext cx="792000" cy="6022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800" spc="-1" strike="noStrike">
                <a:latin typeface="Arial"/>
              </a:rPr>
              <a:t>Si: 1</a:t>
            </a:r>
            <a:endParaRPr b="0" lang="es-AR" sz="1800" spc="-1" strike="noStrike">
              <a:latin typeface="Arial"/>
            </a:endParaRPr>
          </a:p>
          <a:p>
            <a:r>
              <a:rPr b="0" lang="es-AR" sz="1800" spc="-1" strike="noStrike">
                <a:latin typeface="Arial"/>
              </a:rPr>
              <a:t>No: 3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17" name="TextShape 7"/>
          <p:cNvSpPr txBox="1"/>
          <p:nvPr/>
        </p:nvSpPr>
        <p:spPr>
          <a:xfrm>
            <a:off x="4860000" y="2952360"/>
            <a:ext cx="792000" cy="6022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800" spc="-1" strike="noStrike">
                <a:latin typeface="Arial"/>
              </a:rPr>
              <a:t>Si: 2</a:t>
            </a:r>
            <a:endParaRPr b="0" lang="es-AR" sz="1800" spc="-1" strike="noStrike">
              <a:latin typeface="Arial"/>
            </a:endParaRPr>
          </a:p>
          <a:p>
            <a:r>
              <a:rPr b="0" lang="es-AR" sz="1800" spc="-1" strike="noStrike">
                <a:latin typeface="Arial"/>
              </a:rPr>
              <a:t>No: 1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18" name="TextShape 8"/>
          <p:cNvSpPr txBox="1"/>
          <p:nvPr/>
        </p:nvSpPr>
        <p:spPr>
          <a:xfrm>
            <a:off x="6768000" y="2772720"/>
            <a:ext cx="792000" cy="6022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800" spc="-1" strike="noStrike">
                <a:latin typeface="Arial"/>
              </a:rPr>
              <a:t>Si: 3</a:t>
            </a:r>
            <a:endParaRPr b="0" lang="es-AR" sz="1800" spc="-1" strike="noStrike">
              <a:latin typeface="Arial"/>
            </a:endParaRPr>
          </a:p>
          <a:p>
            <a:r>
              <a:rPr b="0" lang="es-AR" sz="1800" spc="-1" strike="noStrike">
                <a:latin typeface="Arial"/>
              </a:rPr>
              <a:t>No: 0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19" name="TextShape 9"/>
          <p:cNvSpPr txBox="1"/>
          <p:nvPr/>
        </p:nvSpPr>
        <p:spPr>
          <a:xfrm>
            <a:off x="1008000" y="1116000"/>
            <a:ext cx="3384000" cy="4302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Árbol generado</a:t>
            </a:r>
            <a:endParaRPr b="0" lang="es-AR" sz="2400" spc="-1" strike="noStrike">
              <a:latin typeface="Arial"/>
            </a:endParaRPr>
          </a:p>
        </p:txBody>
      </p:sp>
      <p:sp>
        <p:nvSpPr>
          <p:cNvPr id="120" name="CustomShape 10"/>
          <p:cNvSpPr/>
          <p:nvPr/>
        </p:nvSpPr>
        <p:spPr>
          <a:xfrm>
            <a:off x="6624000" y="3308400"/>
            <a:ext cx="792000" cy="579600"/>
          </a:xfrm>
          <a:prstGeom prst="ellipse">
            <a:avLst/>
          </a:prstGeom>
          <a:solidFill>
            <a:srgbClr val="72bf44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s-AR" sz="1800" spc="-1" strike="noStrike">
                <a:latin typeface="Arial"/>
              </a:rPr>
              <a:t>Si: 3/3</a:t>
            </a:r>
            <a:endParaRPr b="0" lang="es-AR" sz="1800" spc="-1" strike="noStrike">
              <a:latin typeface="Arial"/>
            </a:endParaRPr>
          </a:p>
        </p:txBody>
      </p:sp>
    </p:spTree>
  </p:cSld>
  <p:timing>
    <p:tnLst>
      <p:par>
        <p:cTn id="99" dur="indefinite" restart="never" nodeType="tmRoot">
          <p:childTnLst>
            <p:seq>
              <p:cTn id="100" dur="indefinite" nodeType="mainSeq">
                <p:childTnLst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Shape 1"/>
          <p:cNvSpPr txBox="1"/>
          <p:nvPr/>
        </p:nvSpPr>
        <p:spPr>
          <a:xfrm>
            <a:off x="504000" y="279360"/>
            <a:ext cx="9071640" cy="6814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Árboles de Decisión</a:t>
            </a:r>
            <a:endParaRPr b="0" lang="es-AR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Shape 2"/>
          <p:cNvSpPr txBox="1"/>
          <p:nvPr/>
        </p:nvSpPr>
        <p:spPr>
          <a:xfrm>
            <a:off x="270000" y="1175040"/>
            <a:ext cx="9522000" cy="696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r>
              <a:rPr b="0" lang="es-AR" sz="2400" spc="-1" strike="noStrike">
                <a:solidFill>
                  <a:srgbClr val="003d73"/>
                </a:solidFill>
                <a:latin typeface="Arial"/>
              </a:rPr>
              <a:t>Nueva tabla: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17640" y="2077560"/>
            <a:ext cx="10079640" cy="3437640"/>
          </a:xfrm>
          <a:prstGeom prst="rect">
            <a:avLst/>
          </a:prstGeom>
          <a:ln>
            <a:noFill/>
          </a:ln>
        </p:spPr>
      </p:pic>
      <p:sp>
        <p:nvSpPr>
          <p:cNvPr id="124" name="CustomShape 3"/>
          <p:cNvSpPr/>
          <p:nvPr/>
        </p:nvSpPr>
        <p:spPr>
          <a:xfrm>
            <a:off x="5426280" y="2114640"/>
            <a:ext cx="936000" cy="3437640"/>
          </a:xfrm>
          <a:custGeom>
            <a:avLst/>
            <a:gdLst/>
            <a:ahLst/>
            <a:rect l="0" t="0" r="r" b="b"/>
            <a:pathLst>
              <a:path w="2602" h="9551">
                <a:moveTo>
                  <a:pt x="433" y="0"/>
                </a:moveTo>
                <a:cubicBezTo>
                  <a:pt x="216" y="0"/>
                  <a:pt x="0" y="216"/>
                  <a:pt x="0" y="433"/>
                </a:cubicBezTo>
                <a:lnTo>
                  <a:pt x="0" y="9116"/>
                </a:lnTo>
                <a:cubicBezTo>
                  <a:pt x="0" y="9333"/>
                  <a:pt x="216" y="9550"/>
                  <a:pt x="433" y="9550"/>
                </a:cubicBezTo>
                <a:lnTo>
                  <a:pt x="2167" y="9550"/>
                </a:lnTo>
                <a:cubicBezTo>
                  <a:pt x="2384" y="9550"/>
                  <a:pt x="2601" y="9333"/>
                  <a:pt x="2601" y="9116"/>
                </a:cubicBezTo>
                <a:lnTo>
                  <a:pt x="2601" y="433"/>
                </a:lnTo>
                <a:cubicBezTo>
                  <a:pt x="2601" y="216"/>
                  <a:pt x="2384" y="0"/>
                  <a:pt x="2167" y="0"/>
                </a:cubicBezTo>
                <a:lnTo>
                  <a:pt x="433" y="0"/>
                </a:lnTo>
              </a:path>
            </a:pathLst>
          </a:cu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CustomShape 4"/>
          <p:cNvSpPr/>
          <p:nvPr/>
        </p:nvSpPr>
        <p:spPr>
          <a:xfrm>
            <a:off x="144000" y="3132000"/>
            <a:ext cx="9792000" cy="144000"/>
          </a:xfrm>
          <a:custGeom>
            <a:avLst/>
            <a:gdLst/>
            <a:ahLst/>
            <a:rect l="0" t="0" r="r" b="b"/>
            <a:pathLst>
              <a:path w="27201" h="402">
                <a:moveTo>
                  <a:pt x="66" y="0"/>
                </a:moveTo>
                <a:cubicBezTo>
                  <a:pt x="33" y="0"/>
                  <a:pt x="0" y="33"/>
                  <a:pt x="0" y="66"/>
                </a:cubicBezTo>
                <a:lnTo>
                  <a:pt x="0" y="334"/>
                </a:lnTo>
                <a:cubicBezTo>
                  <a:pt x="0" y="367"/>
                  <a:pt x="33" y="401"/>
                  <a:pt x="66" y="401"/>
                </a:cubicBezTo>
                <a:lnTo>
                  <a:pt x="27134" y="401"/>
                </a:lnTo>
                <a:cubicBezTo>
                  <a:pt x="27167" y="401"/>
                  <a:pt x="27200" y="367"/>
                  <a:pt x="27200" y="334"/>
                </a:cubicBezTo>
                <a:lnTo>
                  <a:pt x="27200" y="66"/>
                </a:lnTo>
                <a:cubicBezTo>
                  <a:pt x="27200" y="33"/>
                  <a:pt x="27167" y="0"/>
                  <a:pt x="27134" y="0"/>
                </a:cubicBezTo>
                <a:lnTo>
                  <a:pt x="66" y="0"/>
                </a:lnTo>
              </a:path>
            </a:pathLst>
          </a:cu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CustomShape 5"/>
          <p:cNvSpPr/>
          <p:nvPr/>
        </p:nvSpPr>
        <p:spPr>
          <a:xfrm>
            <a:off x="144360" y="3420360"/>
            <a:ext cx="9792000" cy="144000"/>
          </a:xfrm>
          <a:custGeom>
            <a:avLst/>
            <a:gdLst/>
            <a:ahLst/>
            <a:rect l="0" t="0" r="r" b="b"/>
            <a:pathLst>
              <a:path w="27201" h="402">
                <a:moveTo>
                  <a:pt x="66" y="0"/>
                </a:moveTo>
                <a:cubicBezTo>
                  <a:pt x="33" y="0"/>
                  <a:pt x="0" y="33"/>
                  <a:pt x="0" y="66"/>
                </a:cubicBezTo>
                <a:lnTo>
                  <a:pt x="0" y="334"/>
                </a:lnTo>
                <a:cubicBezTo>
                  <a:pt x="0" y="367"/>
                  <a:pt x="33" y="401"/>
                  <a:pt x="66" y="401"/>
                </a:cubicBezTo>
                <a:lnTo>
                  <a:pt x="27134" y="401"/>
                </a:lnTo>
                <a:cubicBezTo>
                  <a:pt x="27167" y="401"/>
                  <a:pt x="27200" y="367"/>
                  <a:pt x="27200" y="334"/>
                </a:cubicBezTo>
                <a:lnTo>
                  <a:pt x="27200" y="66"/>
                </a:lnTo>
                <a:cubicBezTo>
                  <a:pt x="27200" y="33"/>
                  <a:pt x="27167" y="0"/>
                  <a:pt x="27134" y="0"/>
                </a:cubicBezTo>
                <a:lnTo>
                  <a:pt x="66" y="0"/>
                </a:lnTo>
              </a:path>
            </a:pathLst>
          </a:cu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CustomShape 6"/>
          <p:cNvSpPr/>
          <p:nvPr/>
        </p:nvSpPr>
        <p:spPr>
          <a:xfrm>
            <a:off x="144720" y="4932720"/>
            <a:ext cx="9792000" cy="144000"/>
          </a:xfrm>
          <a:custGeom>
            <a:avLst/>
            <a:gdLst/>
            <a:ahLst/>
            <a:rect l="0" t="0" r="r" b="b"/>
            <a:pathLst>
              <a:path w="27201" h="402">
                <a:moveTo>
                  <a:pt x="66" y="0"/>
                </a:moveTo>
                <a:cubicBezTo>
                  <a:pt x="33" y="0"/>
                  <a:pt x="0" y="33"/>
                  <a:pt x="0" y="66"/>
                </a:cubicBezTo>
                <a:lnTo>
                  <a:pt x="0" y="334"/>
                </a:lnTo>
                <a:cubicBezTo>
                  <a:pt x="0" y="367"/>
                  <a:pt x="33" y="401"/>
                  <a:pt x="66" y="401"/>
                </a:cubicBezTo>
                <a:lnTo>
                  <a:pt x="27134" y="401"/>
                </a:lnTo>
                <a:cubicBezTo>
                  <a:pt x="27167" y="401"/>
                  <a:pt x="27200" y="367"/>
                  <a:pt x="27200" y="334"/>
                </a:cubicBezTo>
                <a:lnTo>
                  <a:pt x="27200" y="66"/>
                </a:lnTo>
                <a:cubicBezTo>
                  <a:pt x="27200" y="33"/>
                  <a:pt x="27167" y="0"/>
                  <a:pt x="27134" y="0"/>
                </a:cubicBezTo>
                <a:lnTo>
                  <a:pt x="66" y="0"/>
                </a:lnTo>
              </a:path>
            </a:pathLst>
          </a:cu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TextShape 7"/>
          <p:cNvSpPr txBox="1"/>
          <p:nvPr/>
        </p:nvSpPr>
        <p:spPr>
          <a:xfrm>
            <a:off x="156960" y="5590440"/>
            <a:ext cx="7779240" cy="4305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2400" spc="-1" strike="noStrike">
                <a:solidFill>
                  <a:srgbClr val="003d73"/>
                </a:solidFill>
                <a:latin typeface="Arial"/>
              </a:rPr>
              <a:t>tachamos el atributo edad y los ejemplos de “edad &gt; 60”</a:t>
            </a:r>
            <a:endParaRPr b="0" lang="es-AR" sz="2400" spc="-1" strike="noStrike">
              <a:latin typeface="Arial"/>
            </a:endParaRPr>
          </a:p>
        </p:txBody>
      </p:sp>
    </p:spTree>
  </p:cSld>
  <p:timing>
    <p:tnLst>
      <p:par>
        <p:cTn id="137" dur="indefinite" restart="never" nodeType="tmRoot">
          <p:childTnLst>
            <p:seq>
              <p:cTn id="138" dur="indefinite" nodeType="mainSeq">
                <p:childTnLst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Shape 1"/>
          <p:cNvSpPr txBox="1"/>
          <p:nvPr/>
        </p:nvSpPr>
        <p:spPr>
          <a:xfrm>
            <a:off x="504000" y="279360"/>
            <a:ext cx="9071640" cy="6814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Árboles de Decisión</a:t>
            </a:r>
            <a:endParaRPr b="0" lang="es-AR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Shape 2"/>
          <p:cNvSpPr txBox="1"/>
          <p:nvPr/>
        </p:nvSpPr>
        <p:spPr>
          <a:xfrm>
            <a:off x="292680" y="1182960"/>
            <a:ext cx="9607320" cy="539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Para continuar calculamos la entropía del nuevo subconjunto D</a:t>
            </a:r>
            <a:r>
              <a:rPr b="0" lang="es-AR" sz="2200" spc="-1" strike="noStrike" baseline="-33000">
                <a:solidFill>
                  <a:srgbClr val="003d73"/>
                </a:solidFill>
                <a:latin typeface="Arial"/>
              </a:rPr>
              <a:t>&lt;40</a:t>
            </a:r>
            <a:endParaRPr b="0" lang="es-AR" sz="2200" spc="-1" strike="noStrike">
              <a:latin typeface="Arial"/>
            </a:endParaRPr>
          </a:p>
          <a:p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Entropía (D</a:t>
            </a:r>
            <a:r>
              <a:rPr b="0" lang="es-AR" sz="2200" spc="-1" strike="noStrike" baseline="-33000">
                <a:solidFill>
                  <a:srgbClr val="003d73"/>
                </a:solidFill>
                <a:latin typeface="Arial"/>
              </a:rPr>
              <a:t>&lt;40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) = 0,811</a:t>
            </a:r>
            <a:endParaRPr b="0" lang="es-AR" sz="2200" spc="-1" strike="noStrike">
              <a:latin typeface="Arial"/>
            </a:endParaRPr>
          </a:p>
          <a:p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Luego calculamos las entropías para los subconjuntos de D</a:t>
            </a:r>
            <a:r>
              <a:rPr b="0" lang="es-AR" sz="2200" spc="-1" strike="noStrike" baseline="-33000">
                <a:solidFill>
                  <a:srgbClr val="003d73"/>
                </a:solidFill>
                <a:latin typeface="Arial"/>
              </a:rPr>
              <a:t>&lt;40</a:t>
            </a:r>
            <a:endParaRPr b="0" lang="es-AR" sz="2200" spc="-1" strike="noStrike">
              <a:latin typeface="Arial"/>
            </a:endParaRPr>
          </a:p>
          <a:p>
            <a:endParaRPr b="0" lang="es-AR" sz="2200" spc="-1" strike="noStrike">
              <a:latin typeface="Arial"/>
            </a:endParaRPr>
          </a:p>
          <a:p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Entropía</a:t>
            </a:r>
            <a:r>
              <a:rPr b="0" lang="es-AR" sz="2200" spc="-1" strike="noStrike" baseline="-33000">
                <a:solidFill>
                  <a:srgbClr val="003d73"/>
                </a:solidFill>
                <a:latin typeface="Arial"/>
              </a:rPr>
              <a:t>Hip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 (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D</a:t>
            </a:r>
            <a:r>
              <a:rPr b="0" lang="es-AR" sz="2200" spc="-1" strike="noStrike" baseline="-33000">
                <a:solidFill>
                  <a:srgbClr val="003d73"/>
                </a:solidFill>
                <a:latin typeface="Arial"/>
              </a:rPr>
              <a:t>&lt;40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) = 0,688</a:t>
            </a:r>
            <a:endParaRPr b="0" lang="es-AR" sz="2200" spc="-1" strike="noStrike">
              <a:latin typeface="Arial"/>
            </a:endParaRPr>
          </a:p>
          <a:p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Entropía</a:t>
            </a:r>
            <a:r>
              <a:rPr b="0" lang="es-AR" sz="2200" spc="-1" strike="noStrike" baseline="-33000">
                <a:solidFill>
                  <a:srgbClr val="003d73"/>
                </a:solidFill>
                <a:latin typeface="Arial"/>
              </a:rPr>
              <a:t>Col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 (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D</a:t>
            </a:r>
            <a:r>
              <a:rPr b="0" lang="es-AR" sz="2200" spc="-1" strike="noStrike" baseline="-33000">
                <a:solidFill>
                  <a:srgbClr val="003d73"/>
                </a:solidFill>
                <a:latin typeface="Arial"/>
              </a:rPr>
              <a:t>&lt;40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) = 0</a:t>
            </a:r>
            <a:endParaRPr b="0" lang="es-AR" sz="2200" spc="-1" strike="noStrike">
              <a:latin typeface="Arial"/>
            </a:endParaRPr>
          </a:p>
          <a:p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Entropía</a:t>
            </a:r>
            <a:r>
              <a:rPr b="0" lang="es-AR" sz="2200" spc="-1" strike="noStrike" baseline="-33000">
                <a:solidFill>
                  <a:srgbClr val="003d73"/>
                </a:solidFill>
                <a:latin typeface="Arial"/>
              </a:rPr>
              <a:t>Trig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 (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D</a:t>
            </a:r>
            <a:r>
              <a:rPr b="0" lang="es-AR" sz="2200" spc="-1" strike="noStrike" baseline="-33000">
                <a:solidFill>
                  <a:srgbClr val="003d73"/>
                </a:solidFill>
                <a:latin typeface="Arial"/>
              </a:rPr>
              <a:t>&lt;40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) = 0,5</a:t>
            </a:r>
            <a:endParaRPr b="0" lang="es-AR" sz="2200" spc="-1" strike="noStrike">
              <a:latin typeface="Arial"/>
            </a:endParaRPr>
          </a:p>
          <a:p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Entropía</a:t>
            </a:r>
            <a:r>
              <a:rPr b="0" lang="es-AR" sz="2200" spc="-1" strike="noStrike" baseline="-33000">
                <a:solidFill>
                  <a:srgbClr val="003d73"/>
                </a:solidFill>
                <a:latin typeface="Arial"/>
              </a:rPr>
              <a:t>Diab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 (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D</a:t>
            </a:r>
            <a:r>
              <a:rPr b="0" lang="es-AR" sz="2200" spc="-1" strike="noStrike" baseline="-33000">
                <a:solidFill>
                  <a:srgbClr val="003d73"/>
                </a:solidFill>
                <a:latin typeface="Arial"/>
              </a:rPr>
              <a:t>&lt;40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) = 0,5</a:t>
            </a:r>
            <a:endParaRPr b="0" lang="es-AR" sz="2200" spc="-1" strike="noStrike">
              <a:latin typeface="Arial"/>
            </a:endParaRPr>
          </a:p>
          <a:p>
            <a:endParaRPr b="0" lang="es-AR" sz="2200" spc="-1" strike="noStrike">
              <a:latin typeface="Arial"/>
            </a:endParaRPr>
          </a:p>
          <a:p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Las ganancias serían:</a:t>
            </a:r>
            <a:endParaRPr b="0" lang="es-AR" sz="2200" spc="-1" strike="noStrike">
              <a:latin typeface="Arial"/>
            </a:endParaRPr>
          </a:p>
          <a:p>
            <a:endParaRPr b="0" lang="es-AR" sz="2200" spc="-1" strike="noStrike">
              <a:latin typeface="Arial"/>
            </a:endParaRPr>
          </a:p>
          <a:p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Gan(D</a:t>
            </a:r>
            <a:r>
              <a:rPr b="0" lang="es-AR" sz="2000" spc="-1" strike="noStrike" baseline="-33000">
                <a:solidFill>
                  <a:srgbClr val="003d73"/>
                </a:solidFill>
                <a:latin typeface="Arial"/>
              </a:rPr>
              <a:t>&lt;40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, Hip) = 0,122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 </a:t>
            </a:r>
            <a:endParaRPr b="0" lang="es-AR" sz="2200" spc="-1" strike="noStrike">
              <a:latin typeface="Arial"/>
            </a:endParaRPr>
          </a:p>
          <a:p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Gan(D</a:t>
            </a:r>
            <a:r>
              <a:rPr b="0" lang="es-AR" sz="2000" spc="-1" strike="noStrike" baseline="-33000">
                <a:solidFill>
                  <a:srgbClr val="003d73"/>
                </a:solidFill>
                <a:latin typeface="Arial"/>
              </a:rPr>
              <a:t>&lt;40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, Col) = </a:t>
            </a:r>
            <a:r>
              <a:rPr b="1" lang="es-AR" sz="2000" spc="-1" strike="noStrike">
                <a:solidFill>
                  <a:srgbClr val="003d73"/>
                </a:solidFill>
                <a:latin typeface="Arial"/>
              </a:rPr>
              <a:t>0,811</a:t>
            </a:r>
            <a:endParaRPr b="0" lang="es-AR" sz="2000" spc="-1" strike="noStrike">
              <a:latin typeface="Arial"/>
            </a:endParaRPr>
          </a:p>
          <a:p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Gan(D</a:t>
            </a:r>
            <a:r>
              <a:rPr b="0" lang="es-AR" sz="2000" spc="-1" strike="noStrike" baseline="-33000">
                <a:solidFill>
                  <a:srgbClr val="003d73"/>
                </a:solidFill>
                <a:latin typeface="Arial"/>
              </a:rPr>
              <a:t>&lt;40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, Trig) = 0,311</a:t>
            </a:r>
            <a:endParaRPr b="0" lang="es-AR" sz="2000" spc="-1" strike="noStrike">
              <a:latin typeface="Arial"/>
            </a:endParaRPr>
          </a:p>
          <a:p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Gan(D</a:t>
            </a:r>
            <a:r>
              <a:rPr b="0" lang="es-AR" sz="2000" spc="-1" strike="noStrike" baseline="-33000">
                <a:solidFill>
                  <a:srgbClr val="003d73"/>
                </a:solidFill>
                <a:latin typeface="Arial"/>
              </a:rPr>
              <a:t>&lt;40</a:t>
            </a:r>
            <a:r>
              <a:rPr b="0" lang="es-AR" sz="2000" spc="-1" strike="noStrike">
                <a:solidFill>
                  <a:srgbClr val="003d73"/>
                </a:solidFill>
                <a:latin typeface="Arial"/>
              </a:rPr>
              <a:t>, Diab) = 0,311</a:t>
            </a:r>
            <a:endParaRPr b="0" lang="es-AR" sz="2000" spc="-1" strike="noStrike">
              <a:latin typeface="Arial"/>
            </a:endParaRPr>
          </a:p>
          <a:p>
            <a:endParaRPr b="0" lang="es-AR" sz="2000" spc="-1" strike="noStrike">
              <a:latin typeface="Arial"/>
            </a:endParaRPr>
          </a:p>
        </p:txBody>
      </p:sp>
    </p:spTree>
  </p:cSld>
  <p:timing>
    <p:tnLst>
      <p:par>
        <p:cTn id="155" dur="indefinite" restart="never" nodeType="tmRoot">
          <p:childTnLst>
            <p:seq>
              <p:cTn id="15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Shape 1"/>
          <p:cNvSpPr txBox="1"/>
          <p:nvPr/>
        </p:nvSpPr>
        <p:spPr>
          <a:xfrm>
            <a:off x="504000" y="279360"/>
            <a:ext cx="9071640" cy="6814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Árboles de Decisión</a:t>
            </a:r>
            <a:endParaRPr b="0" lang="es-AR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Shape 2"/>
          <p:cNvSpPr txBox="1"/>
          <p:nvPr/>
        </p:nvSpPr>
        <p:spPr>
          <a:xfrm>
            <a:off x="220680" y="1218960"/>
            <a:ext cx="9607320" cy="5665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Para continuar calculamos la entropía del nuevo subconjunto 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D</a:t>
            </a:r>
            <a:r>
              <a:rPr b="0" lang="es-AR" sz="2200" spc="-1" strike="noStrike" baseline="-33000">
                <a:solidFill>
                  <a:srgbClr val="003d73"/>
                </a:solidFill>
                <a:latin typeface="Arial"/>
              </a:rPr>
              <a:t>40-60</a:t>
            </a:r>
            <a:endParaRPr b="0" lang="es-AR" sz="2200" spc="-1" strike="noStrike">
              <a:latin typeface="Arial"/>
            </a:endParaRPr>
          </a:p>
          <a:p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Entropía (D</a:t>
            </a:r>
            <a:r>
              <a:rPr b="0" lang="es-AR" sz="2200" spc="-1" strike="noStrike" baseline="-33000">
                <a:solidFill>
                  <a:srgbClr val="003d73"/>
                </a:solidFill>
                <a:latin typeface="Arial"/>
              </a:rPr>
              <a:t>40-60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) = 0,918</a:t>
            </a:r>
            <a:endParaRPr b="0" lang="es-AR" sz="2200" spc="-1" strike="noStrike">
              <a:latin typeface="Arial"/>
            </a:endParaRPr>
          </a:p>
          <a:p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Luego calculamos las entropías para los subconjuntos de 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D</a:t>
            </a:r>
            <a:r>
              <a:rPr b="0" lang="es-AR" sz="2200" spc="-1" strike="noStrike" baseline="-33000">
                <a:solidFill>
                  <a:srgbClr val="003d73"/>
                </a:solidFill>
                <a:latin typeface="Arial"/>
              </a:rPr>
              <a:t>40-60</a:t>
            </a:r>
            <a:endParaRPr b="0" lang="es-AR" sz="2200" spc="-1" strike="noStrike">
              <a:latin typeface="Arial"/>
            </a:endParaRPr>
          </a:p>
          <a:p>
            <a:endParaRPr b="0" lang="es-AR" sz="2200" spc="-1" strike="noStrike">
              <a:latin typeface="Arial"/>
            </a:endParaRPr>
          </a:p>
          <a:p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Entropía</a:t>
            </a:r>
            <a:r>
              <a:rPr b="0" lang="es-AR" sz="2200" spc="-1" strike="noStrike" baseline="-33000">
                <a:solidFill>
                  <a:srgbClr val="003d73"/>
                </a:solidFill>
                <a:latin typeface="Arial"/>
              </a:rPr>
              <a:t>Hip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 (D</a:t>
            </a:r>
            <a:r>
              <a:rPr b="0" lang="es-AR" sz="2200" spc="-1" strike="noStrike" baseline="-33000">
                <a:solidFill>
                  <a:srgbClr val="003d73"/>
                </a:solidFill>
                <a:latin typeface="Arial"/>
              </a:rPr>
              <a:t>40-60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) = 0</a:t>
            </a:r>
            <a:endParaRPr b="0" lang="es-AR" sz="2200" spc="-1" strike="noStrike">
              <a:latin typeface="Arial"/>
            </a:endParaRPr>
          </a:p>
          <a:p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Entropía</a:t>
            </a:r>
            <a:r>
              <a:rPr b="0" lang="es-AR" sz="2200" spc="-1" strike="noStrike" baseline="-33000">
                <a:solidFill>
                  <a:srgbClr val="003d73"/>
                </a:solidFill>
                <a:latin typeface="Arial"/>
              </a:rPr>
              <a:t>Col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 (D</a:t>
            </a:r>
            <a:r>
              <a:rPr b="0" lang="es-AR" sz="2200" spc="-1" strike="noStrike" baseline="-33000">
                <a:solidFill>
                  <a:srgbClr val="003d73"/>
                </a:solidFill>
                <a:latin typeface="Arial"/>
              </a:rPr>
              <a:t>40-60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) = 0</a:t>
            </a:r>
            <a:endParaRPr b="0" lang="es-AR" sz="2200" spc="-1" strike="noStrike">
              <a:latin typeface="Arial"/>
            </a:endParaRPr>
          </a:p>
          <a:p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Entropía</a:t>
            </a:r>
            <a:r>
              <a:rPr b="0" lang="es-AR" sz="2200" spc="-1" strike="noStrike" baseline="-33000">
                <a:solidFill>
                  <a:srgbClr val="003d73"/>
                </a:solidFill>
                <a:latin typeface="Arial"/>
              </a:rPr>
              <a:t>Trig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 (D</a:t>
            </a:r>
            <a:r>
              <a:rPr b="0" lang="es-AR" sz="2200" spc="-1" strike="noStrike" baseline="-33000">
                <a:solidFill>
                  <a:srgbClr val="003d73"/>
                </a:solidFill>
                <a:latin typeface="Arial"/>
              </a:rPr>
              <a:t>40-60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) = 0,46</a:t>
            </a:r>
            <a:endParaRPr b="0" lang="es-AR" sz="2200" spc="-1" strike="noStrike">
              <a:latin typeface="Arial"/>
            </a:endParaRPr>
          </a:p>
          <a:p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Entropía</a:t>
            </a:r>
            <a:r>
              <a:rPr b="0" lang="es-AR" sz="2200" spc="-1" strike="noStrike" baseline="-33000">
                <a:solidFill>
                  <a:srgbClr val="003d73"/>
                </a:solidFill>
                <a:latin typeface="Arial"/>
              </a:rPr>
              <a:t>Diab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 (D</a:t>
            </a:r>
            <a:r>
              <a:rPr b="0" lang="es-AR" sz="2200" spc="-1" strike="noStrike" baseline="-33000">
                <a:solidFill>
                  <a:srgbClr val="003d73"/>
                </a:solidFill>
                <a:latin typeface="Arial"/>
              </a:rPr>
              <a:t>40-60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) = 0,46</a:t>
            </a:r>
            <a:endParaRPr b="0" lang="es-AR" sz="2200" spc="-1" strike="noStrike">
              <a:latin typeface="Arial"/>
            </a:endParaRPr>
          </a:p>
          <a:p>
            <a:endParaRPr b="0" lang="es-AR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Las ganancias serían:</a:t>
            </a:r>
            <a:endParaRPr b="0" lang="es-AR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2200" spc="-1" strike="noStrike">
              <a:latin typeface="Arial"/>
            </a:endParaRPr>
          </a:p>
          <a:p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Gan(D</a:t>
            </a:r>
            <a:r>
              <a:rPr b="0" lang="es-AR" sz="2200" spc="-1" strike="noStrike" baseline="-33000">
                <a:solidFill>
                  <a:srgbClr val="003d73"/>
                </a:solidFill>
                <a:latin typeface="Arial"/>
              </a:rPr>
              <a:t>40-60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, Hip) = </a:t>
            </a:r>
            <a:r>
              <a:rPr b="1" lang="es-AR" sz="2200" spc="-1" strike="noStrike">
                <a:solidFill>
                  <a:srgbClr val="003d73"/>
                </a:solidFill>
                <a:latin typeface="Arial"/>
              </a:rPr>
              <a:t>0,918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 </a:t>
            </a:r>
            <a:endParaRPr b="0" lang="es-AR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Gan(D</a:t>
            </a:r>
            <a:r>
              <a:rPr b="0" lang="es-AR" sz="2200" spc="-1" strike="noStrike" baseline="-33000">
                <a:solidFill>
                  <a:srgbClr val="003d73"/>
                </a:solidFill>
                <a:latin typeface="Arial"/>
              </a:rPr>
              <a:t>40-60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, Col) = 0,918</a:t>
            </a:r>
            <a:endParaRPr b="0" lang="es-AR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Gan(D</a:t>
            </a:r>
            <a:r>
              <a:rPr b="0" lang="es-AR" sz="2200" spc="-1" strike="noStrike" baseline="-33000">
                <a:solidFill>
                  <a:srgbClr val="003d73"/>
                </a:solidFill>
                <a:latin typeface="Arial"/>
              </a:rPr>
              <a:t>40-60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, Trig) = 0,46</a:t>
            </a:r>
            <a:endParaRPr b="0" lang="es-AR" sz="2200" spc="-1" strike="noStrike">
              <a:latin typeface="Arial"/>
            </a:endParaRPr>
          </a:p>
          <a:p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Gan(D</a:t>
            </a:r>
            <a:r>
              <a:rPr b="0" lang="es-AR" sz="2200" spc="-1" strike="noStrike" baseline="-33000">
                <a:solidFill>
                  <a:srgbClr val="003d73"/>
                </a:solidFill>
                <a:latin typeface="Arial"/>
              </a:rPr>
              <a:t>40-60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, Diab) = 0,46</a:t>
            </a:r>
            <a:endParaRPr b="0" lang="es-AR" sz="2200" spc="-1" strike="noStrike">
              <a:latin typeface="Arial"/>
            </a:endParaRPr>
          </a:p>
          <a:p>
            <a:endParaRPr b="0" lang="es-AR" sz="2200" spc="-1" strike="noStrike">
              <a:latin typeface="Arial"/>
            </a:endParaRPr>
          </a:p>
        </p:txBody>
      </p:sp>
      <p:sp>
        <p:nvSpPr>
          <p:cNvPr id="133" name="CustomShape 3"/>
          <p:cNvSpPr/>
          <p:nvPr/>
        </p:nvSpPr>
        <p:spPr>
          <a:xfrm>
            <a:off x="3096000" y="4968000"/>
            <a:ext cx="504000" cy="792000"/>
          </a:xfrm>
          <a:custGeom>
            <a:avLst/>
            <a:gdLst/>
            <a:ahLst/>
            <a:rect l="0" t="0" r="r" b="b"/>
            <a:pathLst>
              <a:path w="1401" h="2202">
                <a:moveTo>
                  <a:pt x="0" y="0"/>
                </a:moveTo>
                <a:cubicBezTo>
                  <a:pt x="350" y="0"/>
                  <a:pt x="700" y="91"/>
                  <a:pt x="700" y="183"/>
                </a:cubicBezTo>
                <a:lnTo>
                  <a:pt x="700" y="997"/>
                </a:lnTo>
                <a:cubicBezTo>
                  <a:pt x="700" y="1089"/>
                  <a:pt x="1050" y="1181"/>
                  <a:pt x="1400" y="1181"/>
                </a:cubicBezTo>
                <a:cubicBezTo>
                  <a:pt x="1050" y="1181"/>
                  <a:pt x="700" y="1272"/>
                  <a:pt x="700" y="1364"/>
                </a:cubicBezTo>
                <a:lnTo>
                  <a:pt x="700" y="2017"/>
                </a:lnTo>
                <a:cubicBezTo>
                  <a:pt x="700" y="2109"/>
                  <a:pt x="350" y="2201"/>
                  <a:pt x="0" y="2201"/>
                </a:cubicBezTo>
              </a:path>
            </a:pathLst>
          </a:cu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Shape 4"/>
          <p:cNvSpPr txBox="1"/>
          <p:nvPr/>
        </p:nvSpPr>
        <p:spPr>
          <a:xfrm>
            <a:off x="3672000" y="5112000"/>
            <a:ext cx="2448000" cy="6022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800" spc="-1" strike="noStrike">
                <a:latin typeface="Arial"/>
              </a:rPr>
              <a:t>Puedo seleccionar cualquiera de los dos</a:t>
            </a:r>
            <a:endParaRPr b="0" lang="es-AR" sz="1800" spc="-1" strike="noStrike">
              <a:latin typeface="Arial"/>
            </a:endParaRPr>
          </a:p>
        </p:txBody>
      </p:sp>
    </p:spTree>
  </p:cSld>
  <p:timing>
    <p:tnLst>
      <p:par>
        <p:cTn id="157" dur="indefinite" restart="never" nodeType="tmRoot">
          <p:childTnLst>
            <p:seq>
              <p:cTn id="15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Shape 1"/>
          <p:cNvSpPr txBox="1"/>
          <p:nvPr/>
        </p:nvSpPr>
        <p:spPr>
          <a:xfrm>
            <a:off x="504000" y="279360"/>
            <a:ext cx="9071640" cy="6814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Árboles de Decisión</a:t>
            </a:r>
            <a:endParaRPr b="0" lang="es-AR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CustomShape 2"/>
          <p:cNvSpPr/>
          <p:nvPr/>
        </p:nvSpPr>
        <p:spPr>
          <a:xfrm>
            <a:off x="4644000" y="1872000"/>
            <a:ext cx="1512000" cy="432000"/>
          </a:xfrm>
          <a:custGeom>
            <a:avLst/>
            <a:gdLst/>
            <a:ahLst/>
            <a:rect l="0" t="0" r="r" b="b"/>
            <a:pathLst>
              <a:path w="4202" h="1202">
                <a:moveTo>
                  <a:pt x="200" y="0"/>
                </a:moveTo>
                <a:cubicBezTo>
                  <a:pt x="100" y="0"/>
                  <a:pt x="0" y="100"/>
                  <a:pt x="0" y="200"/>
                </a:cubicBezTo>
                <a:lnTo>
                  <a:pt x="0" y="1000"/>
                </a:lnTo>
                <a:cubicBezTo>
                  <a:pt x="0" y="1100"/>
                  <a:pt x="100" y="1201"/>
                  <a:pt x="200" y="1201"/>
                </a:cubicBezTo>
                <a:lnTo>
                  <a:pt x="4000" y="1201"/>
                </a:lnTo>
                <a:cubicBezTo>
                  <a:pt x="4100" y="1201"/>
                  <a:pt x="4201" y="1100"/>
                  <a:pt x="4201" y="1000"/>
                </a:cubicBezTo>
                <a:lnTo>
                  <a:pt x="4201" y="200"/>
                </a:lnTo>
                <a:cubicBezTo>
                  <a:pt x="4201" y="100"/>
                  <a:pt x="4100" y="0"/>
                  <a:pt x="4000" y="0"/>
                </a:cubicBezTo>
                <a:lnTo>
                  <a:pt x="200" y="0"/>
                </a:lnTo>
              </a:path>
            </a:pathLst>
          </a:cu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s-AR" sz="1800" spc="-1" strike="noStrike">
                <a:latin typeface="Arial"/>
              </a:rPr>
              <a:t>Edad</a:t>
            </a:r>
            <a:endParaRPr b="0" lang="es-AR" sz="1800" spc="-1" strike="noStrike">
              <a:latin typeface="Arial"/>
            </a:endParaRPr>
          </a:p>
        </p:txBody>
      </p:sp>
      <p:cxnSp>
        <p:nvCxnSpPr>
          <p:cNvPr id="137" name="Line 3"/>
          <p:cNvCxnSpPr>
            <a:stCxn id="136" idx="2"/>
          </p:cNvCxnSpPr>
          <p:nvPr/>
        </p:nvCxnSpPr>
        <p:spPr>
          <a:xfrm flipH="1">
            <a:off x="2934000" y="2304000"/>
            <a:ext cx="2466360" cy="720360"/>
          </a:xfrm>
          <a:prstGeom prst="straightConnector1">
            <a:avLst/>
          </a:prstGeom>
          <a:ln>
            <a:solidFill>
              <a:srgbClr val="000000"/>
            </a:solidFill>
            <a:tailEnd len="med" type="triangle" w="med"/>
          </a:ln>
        </p:spPr>
        <p:txBody>
          <a:bodyPr lIns="90000" rIns="90000" tIns="45000" bIns="45000" anchor="ctr"/>
          <a:p>
            <a:pPr algn="ctr"/>
            <a:r>
              <a:rPr b="0" lang="es-AR" sz="1800" spc="-1" strike="noStrike">
                <a:latin typeface="Arial"/>
              </a:rPr>
              <a:t>&lt; 40</a:t>
            </a:r>
            <a:endParaRPr b="0" lang="es-AR" sz="1800" spc="-1" strike="noStrike">
              <a:latin typeface="Arial"/>
            </a:endParaRPr>
          </a:p>
          <a:p>
            <a:pPr algn="ctr"/>
            <a:endParaRPr b="0" lang="es-AR" sz="1800" spc="-1" strike="noStrike">
              <a:latin typeface="Arial"/>
            </a:endParaRPr>
          </a:p>
        </p:txBody>
      </p:cxnSp>
      <p:cxnSp>
        <p:nvCxnSpPr>
          <p:cNvPr id="138" name="Line 4"/>
          <p:cNvCxnSpPr>
            <a:stCxn id="136" idx="2"/>
          </p:cNvCxnSpPr>
          <p:nvPr/>
        </p:nvCxnSpPr>
        <p:spPr>
          <a:xfrm flipH="1">
            <a:off x="5382000" y="2304000"/>
            <a:ext cx="18360" cy="1332720"/>
          </a:xfrm>
          <a:prstGeom prst="straightConnector1">
            <a:avLst/>
          </a:prstGeom>
          <a:ln>
            <a:solidFill>
              <a:srgbClr val="000000"/>
            </a:solidFill>
            <a:tailEnd len="med" type="triangle" w="med"/>
          </a:ln>
        </p:spPr>
        <p:txBody>
          <a:bodyPr lIns="90000" rIns="90000" tIns="45000" bIns="45000" anchor="ctr"/>
          <a:p>
            <a:pPr algn="ctr"/>
            <a:r>
              <a:rPr b="0" lang="es-AR" sz="1800" spc="-1" strike="noStrike">
                <a:latin typeface="Arial"/>
              </a:rPr>
              <a:t>(40-60)</a:t>
            </a:r>
            <a:endParaRPr b="0" lang="es-AR" sz="1800" spc="-1" strike="noStrike">
              <a:latin typeface="Arial"/>
            </a:endParaRPr>
          </a:p>
        </p:txBody>
      </p:cxnSp>
      <p:cxnSp>
        <p:nvCxnSpPr>
          <p:cNvPr id="139" name="Line 5"/>
          <p:cNvCxnSpPr>
            <a:stCxn id="136" idx="2"/>
          </p:cNvCxnSpPr>
          <p:nvPr/>
        </p:nvCxnSpPr>
        <p:spPr>
          <a:xfrm>
            <a:off x="5400000" y="2304000"/>
            <a:ext cx="2090520" cy="896760"/>
          </a:xfrm>
          <a:prstGeom prst="straightConnector1">
            <a:avLst/>
          </a:prstGeom>
          <a:ln>
            <a:solidFill>
              <a:srgbClr val="000000"/>
            </a:solidFill>
            <a:tailEnd len="med" type="triangle" w="med"/>
          </a:ln>
        </p:spPr>
        <p:txBody>
          <a:bodyPr lIns="90000" rIns="90000" tIns="45000" bIns="45000" anchor="ctr"/>
          <a:p>
            <a:pPr algn="ctr"/>
            <a:r>
              <a:rPr b="0" lang="es-AR" sz="1800" spc="-1" strike="noStrike">
                <a:latin typeface="Arial"/>
              </a:rPr>
              <a:t>&gt;60</a:t>
            </a:r>
            <a:endParaRPr b="0" lang="es-AR" sz="1800" spc="-1" strike="noStrike">
              <a:latin typeface="Arial"/>
            </a:endParaRPr>
          </a:p>
          <a:p>
            <a:pPr algn="ctr"/>
            <a:endParaRPr b="0" lang="es-AR" sz="1800" spc="-1" strike="noStrike">
              <a:latin typeface="Arial"/>
            </a:endParaRPr>
          </a:p>
        </p:txBody>
      </p:cxnSp>
      <p:sp>
        <p:nvSpPr>
          <p:cNvPr id="140" name="TextShape 6"/>
          <p:cNvSpPr txBox="1"/>
          <p:nvPr/>
        </p:nvSpPr>
        <p:spPr>
          <a:xfrm>
            <a:off x="2592000" y="2340000"/>
            <a:ext cx="792000" cy="6022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800" spc="-1" strike="noStrike">
                <a:latin typeface="Arial"/>
              </a:rPr>
              <a:t>Si: 1</a:t>
            </a:r>
            <a:endParaRPr b="0" lang="es-AR" sz="1800" spc="-1" strike="noStrike">
              <a:latin typeface="Arial"/>
            </a:endParaRPr>
          </a:p>
          <a:p>
            <a:r>
              <a:rPr b="0" lang="es-AR" sz="1800" spc="-1" strike="noStrike">
                <a:latin typeface="Arial"/>
              </a:rPr>
              <a:t>No: 3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41" name="TextShape 7"/>
          <p:cNvSpPr txBox="1"/>
          <p:nvPr/>
        </p:nvSpPr>
        <p:spPr>
          <a:xfrm>
            <a:off x="5544000" y="3024360"/>
            <a:ext cx="792000" cy="6022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800" spc="-1" strike="noStrike">
                <a:latin typeface="Arial"/>
              </a:rPr>
              <a:t>Si: 2</a:t>
            </a:r>
            <a:endParaRPr b="0" lang="es-AR" sz="1800" spc="-1" strike="noStrike">
              <a:latin typeface="Arial"/>
            </a:endParaRPr>
          </a:p>
          <a:p>
            <a:r>
              <a:rPr b="0" lang="es-AR" sz="1800" spc="-1" strike="noStrike">
                <a:latin typeface="Arial"/>
              </a:rPr>
              <a:t>No: 1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42" name="CustomShape 8"/>
          <p:cNvSpPr/>
          <p:nvPr/>
        </p:nvSpPr>
        <p:spPr>
          <a:xfrm>
            <a:off x="2412360" y="3024000"/>
            <a:ext cx="1043640" cy="432000"/>
          </a:xfrm>
          <a:custGeom>
            <a:avLst/>
            <a:gdLst/>
            <a:ahLst/>
            <a:rect l="0" t="0" r="r" b="b"/>
            <a:pathLst>
              <a:path w="2901" h="1202">
                <a:moveTo>
                  <a:pt x="200" y="0"/>
                </a:moveTo>
                <a:cubicBezTo>
                  <a:pt x="100" y="0"/>
                  <a:pt x="0" y="100"/>
                  <a:pt x="0" y="200"/>
                </a:cubicBezTo>
                <a:lnTo>
                  <a:pt x="0" y="1000"/>
                </a:lnTo>
                <a:cubicBezTo>
                  <a:pt x="0" y="1100"/>
                  <a:pt x="100" y="1201"/>
                  <a:pt x="200" y="1201"/>
                </a:cubicBezTo>
                <a:lnTo>
                  <a:pt x="2699" y="1201"/>
                </a:lnTo>
                <a:cubicBezTo>
                  <a:pt x="2799" y="1201"/>
                  <a:pt x="2900" y="1100"/>
                  <a:pt x="2900" y="1000"/>
                </a:cubicBezTo>
                <a:lnTo>
                  <a:pt x="2900" y="200"/>
                </a:lnTo>
                <a:cubicBezTo>
                  <a:pt x="2900" y="100"/>
                  <a:pt x="2799" y="0"/>
                  <a:pt x="2699" y="0"/>
                </a:cubicBezTo>
                <a:lnTo>
                  <a:pt x="200" y="0"/>
                </a:lnTo>
              </a:path>
            </a:pathLst>
          </a:cu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s-AR" sz="1800" spc="-1" strike="noStrike">
                <a:latin typeface="Arial"/>
              </a:rPr>
              <a:t>Colest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43" name="CustomShape 9"/>
          <p:cNvSpPr/>
          <p:nvPr/>
        </p:nvSpPr>
        <p:spPr>
          <a:xfrm>
            <a:off x="4860360" y="3636360"/>
            <a:ext cx="1043640" cy="432000"/>
          </a:xfrm>
          <a:custGeom>
            <a:avLst/>
            <a:gdLst/>
            <a:ahLst/>
            <a:rect l="0" t="0" r="r" b="b"/>
            <a:pathLst>
              <a:path w="2901" h="1202">
                <a:moveTo>
                  <a:pt x="200" y="0"/>
                </a:moveTo>
                <a:cubicBezTo>
                  <a:pt x="100" y="0"/>
                  <a:pt x="0" y="100"/>
                  <a:pt x="0" y="200"/>
                </a:cubicBezTo>
                <a:lnTo>
                  <a:pt x="0" y="1000"/>
                </a:lnTo>
                <a:cubicBezTo>
                  <a:pt x="0" y="1100"/>
                  <a:pt x="100" y="1201"/>
                  <a:pt x="200" y="1201"/>
                </a:cubicBezTo>
                <a:lnTo>
                  <a:pt x="2699" y="1201"/>
                </a:lnTo>
                <a:cubicBezTo>
                  <a:pt x="2799" y="1201"/>
                  <a:pt x="2900" y="1100"/>
                  <a:pt x="2900" y="1000"/>
                </a:cubicBezTo>
                <a:lnTo>
                  <a:pt x="2900" y="200"/>
                </a:lnTo>
                <a:cubicBezTo>
                  <a:pt x="2900" y="100"/>
                  <a:pt x="2799" y="0"/>
                  <a:pt x="2699" y="0"/>
                </a:cubicBezTo>
                <a:lnTo>
                  <a:pt x="200" y="0"/>
                </a:lnTo>
              </a:path>
            </a:pathLst>
          </a:cu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s-AR" sz="1800" spc="-1" strike="noStrike">
                <a:latin typeface="Arial"/>
              </a:rPr>
              <a:t>Hip</a:t>
            </a:r>
            <a:endParaRPr b="0" lang="es-AR" sz="1800" spc="-1" strike="noStrike">
              <a:latin typeface="Arial"/>
            </a:endParaRPr>
          </a:p>
        </p:txBody>
      </p:sp>
      <p:cxnSp>
        <p:nvCxnSpPr>
          <p:cNvPr id="144" name="Line 10"/>
          <p:cNvCxnSpPr>
            <a:stCxn id="142" idx="2"/>
          </p:cNvCxnSpPr>
          <p:nvPr/>
        </p:nvCxnSpPr>
        <p:spPr>
          <a:xfrm flipH="1">
            <a:off x="1627560" y="3456000"/>
            <a:ext cx="1306800" cy="816120"/>
          </a:xfrm>
          <a:prstGeom prst="straightConnector1">
            <a:avLst/>
          </a:prstGeom>
          <a:ln>
            <a:solidFill>
              <a:srgbClr val="000000"/>
            </a:solidFill>
            <a:tailEnd len="med" type="triangle" w="med"/>
          </a:ln>
        </p:spPr>
        <p:txBody>
          <a:bodyPr lIns="90000" rIns="90000" tIns="45000" bIns="45000" anchor="ctr"/>
          <a:p>
            <a:pPr algn="ctr"/>
            <a:r>
              <a:rPr b="0" lang="es-AR" sz="1800" spc="-1" strike="noStrike">
                <a:latin typeface="Arial"/>
              </a:rPr>
              <a:t>Alto</a:t>
            </a:r>
            <a:endParaRPr b="0" lang="es-AR" sz="1800" spc="-1" strike="noStrike">
              <a:latin typeface="Arial"/>
            </a:endParaRPr>
          </a:p>
        </p:txBody>
      </p:cxnSp>
      <p:cxnSp>
        <p:nvCxnSpPr>
          <p:cNvPr id="145" name="Line 11"/>
          <p:cNvCxnSpPr>
            <a:stCxn id="142" idx="2"/>
          </p:cNvCxnSpPr>
          <p:nvPr/>
        </p:nvCxnSpPr>
        <p:spPr>
          <a:xfrm flipH="1">
            <a:off x="2915280" y="3456000"/>
            <a:ext cx="19080" cy="1231920"/>
          </a:xfrm>
          <a:prstGeom prst="straightConnector1">
            <a:avLst/>
          </a:prstGeom>
          <a:ln>
            <a:solidFill>
              <a:srgbClr val="000000"/>
            </a:solidFill>
            <a:tailEnd len="med" type="triangle" w="med"/>
          </a:ln>
        </p:spPr>
        <p:txBody>
          <a:bodyPr lIns="90000" rIns="90000" tIns="45000" bIns="45000" anchor="ctr"/>
          <a:p>
            <a:pPr algn="ctr"/>
            <a:r>
              <a:rPr b="0" lang="es-AR" sz="1800" spc="-1" strike="noStrike">
                <a:latin typeface="Arial"/>
              </a:rPr>
              <a:t>Medio</a:t>
            </a:r>
            <a:endParaRPr b="0" lang="es-AR" sz="1800" spc="-1" strike="noStrike">
              <a:latin typeface="Arial"/>
            </a:endParaRPr>
          </a:p>
        </p:txBody>
      </p:cxnSp>
      <p:cxnSp>
        <p:nvCxnSpPr>
          <p:cNvPr id="146" name="Line 12"/>
          <p:cNvCxnSpPr>
            <a:stCxn id="142" idx="2"/>
          </p:cNvCxnSpPr>
          <p:nvPr/>
        </p:nvCxnSpPr>
        <p:spPr>
          <a:xfrm>
            <a:off x="2934000" y="3456000"/>
            <a:ext cx="1175760" cy="762480"/>
          </a:xfrm>
          <a:prstGeom prst="straightConnector1">
            <a:avLst/>
          </a:prstGeom>
          <a:ln>
            <a:solidFill>
              <a:srgbClr val="000000"/>
            </a:solidFill>
            <a:tailEnd len="med" type="triangle" w="med"/>
          </a:ln>
        </p:spPr>
        <p:txBody>
          <a:bodyPr lIns="90000" rIns="90000" tIns="45000" bIns="45000" anchor="ctr"/>
          <a:p>
            <a:pPr algn="ctr"/>
            <a:r>
              <a:rPr b="0" lang="es-AR" sz="1800" spc="-1" strike="noStrike">
                <a:latin typeface="Arial"/>
              </a:rPr>
              <a:t>Bajo</a:t>
            </a:r>
            <a:endParaRPr b="0" lang="es-AR" sz="1800" spc="-1" strike="noStrike">
              <a:latin typeface="Arial"/>
            </a:endParaRPr>
          </a:p>
        </p:txBody>
      </p:cxnSp>
      <p:sp>
        <p:nvSpPr>
          <p:cNvPr id="147" name="TextShape 13"/>
          <p:cNvSpPr txBox="1"/>
          <p:nvPr/>
        </p:nvSpPr>
        <p:spPr>
          <a:xfrm>
            <a:off x="1008000" y="3528360"/>
            <a:ext cx="792000" cy="6022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800" spc="-1" strike="noStrike">
                <a:latin typeface="Arial"/>
              </a:rPr>
              <a:t>Si: 0</a:t>
            </a:r>
            <a:endParaRPr b="0" lang="es-AR" sz="1800" spc="-1" strike="noStrike">
              <a:latin typeface="Arial"/>
            </a:endParaRPr>
          </a:p>
          <a:p>
            <a:r>
              <a:rPr b="0" lang="es-AR" sz="1800" spc="-1" strike="noStrike">
                <a:latin typeface="Arial"/>
              </a:rPr>
              <a:t>No: 1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48" name="TextShape 14"/>
          <p:cNvSpPr txBox="1"/>
          <p:nvPr/>
        </p:nvSpPr>
        <p:spPr>
          <a:xfrm>
            <a:off x="2196000" y="4320720"/>
            <a:ext cx="792000" cy="6022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800" spc="-1" strike="noStrike">
                <a:latin typeface="Arial"/>
              </a:rPr>
              <a:t>Si: 1</a:t>
            </a:r>
            <a:endParaRPr b="0" lang="es-AR" sz="1800" spc="-1" strike="noStrike">
              <a:latin typeface="Arial"/>
            </a:endParaRPr>
          </a:p>
          <a:p>
            <a:r>
              <a:rPr b="0" lang="es-AR" sz="1800" spc="-1" strike="noStrike">
                <a:latin typeface="Arial"/>
              </a:rPr>
              <a:t>No: 0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49" name="TextShape 15"/>
          <p:cNvSpPr txBox="1"/>
          <p:nvPr/>
        </p:nvSpPr>
        <p:spPr>
          <a:xfrm>
            <a:off x="3564000" y="4177080"/>
            <a:ext cx="792000" cy="6022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800" spc="-1" strike="noStrike">
                <a:latin typeface="Arial"/>
              </a:rPr>
              <a:t>Si: 0</a:t>
            </a:r>
            <a:endParaRPr b="0" lang="es-AR" sz="1800" spc="-1" strike="noStrike">
              <a:latin typeface="Arial"/>
            </a:endParaRPr>
          </a:p>
          <a:p>
            <a:r>
              <a:rPr b="0" lang="es-AR" sz="1800" spc="-1" strike="noStrike">
                <a:latin typeface="Arial"/>
              </a:rPr>
              <a:t>No: 2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50" name="TextShape 16"/>
          <p:cNvSpPr txBox="1"/>
          <p:nvPr/>
        </p:nvSpPr>
        <p:spPr>
          <a:xfrm>
            <a:off x="4248000" y="5193720"/>
            <a:ext cx="792000" cy="6022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800" spc="-1" strike="noStrike">
                <a:latin typeface="Arial"/>
              </a:rPr>
              <a:t>Si: 2</a:t>
            </a:r>
            <a:endParaRPr b="0" lang="es-AR" sz="1800" spc="-1" strike="noStrike">
              <a:latin typeface="Arial"/>
            </a:endParaRPr>
          </a:p>
          <a:p>
            <a:r>
              <a:rPr b="0" lang="es-AR" sz="1800" spc="-1" strike="noStrike">
                <a:latin typeface="Arial"/>
              </a:rPr>
              <a:t>No: 0</a:t>
            </a:r>
            <a:endParaRPr b="0" lang="es-AR" sz="1800" spc="-1" strike="noStrike">
              <a:latin typeface="Arial"/>
            </a:endParaRPr>
          </a:p>
        </p:txBody>
      </p:sp>
      <p:cxnSp>
        <p:nvCxnSpPr>
          <p:cNvPr id="151" name="Line 17"/>
          <p:cNvCxnSpPr/>
          <p:nvPr/>
        </p:nvCxnSpPr>
        <p:spPr>
          <a:xfrm flipH="1">
            <a:off x="4645800" y="4068000"/>
            <a:ext cx="700920" cy="1143360"/>
          </a:xfrm>
          <a:prstGeom prst="straightConnector1">
            <a:avLst/>
          </a:prstGeom>
          <a:ln>
            <a:solidFill>
              <a:srgbClr val="000000"/>
            </a:solidFill>
            <a:tailEnd len="med" type="triangle" w="med"/>
          </a:ln>
        </p:spPr>
        <p:txBody>
          <a:bodyPr lIns="90000" rIns="90000" tIns="45000" bIns="45000" anchor="ctr"/>
          <a:p>
            <a:pPr algn="ctr"/>
            <a:r>
              <a:rPr b="0" lang="es-AR" sz="1800" spc="-1" strike="noStrike">
                <a:latin typeface="Arial"/>
              </a:rPr>
              <a:t>Si</a:t>
            </a:r>
            <a:endParaRPr b="0" lang="es-AR" sz="1800" spc="-1" strike="noStrike">
              <a:latin typeface="Arial"/>
            </a:endParaRPr>
          </a:p>
        </p:txBody>
      </p:cxnSp>
      <p:cxnSp>
        <p:nvCxnSpPr>
          <p:cNvPr id="152" name="Line 18"/>
          <p:cNvCxnSpPr/>
          <p:nvPr/>
        </p:nvCxnSpPr>
        <p:spPr>
          <a:xfrm>
            <a:off x="5346360" y="4068000"/>
            <a:ext cx="1242360" cy="937440"/>
          </a:xfrm>
          <a:prstGeom prst="straightConnector1">
            <a:avLst/>
          </a:prstGeom>
          <a:ln>
            <a:solidFill>
              <a:srgbClr val="000000"/>
            </a:solidFill>
            <a:tailEnd len="med" type="triangle" w="med"/>
          </a:ln>
        </p:spPr>
        <p:txBody>
          <a:bodyPr lIns="90000" rIns="90000" tIns="45000" bIns="45000" anchor="ctr"/>
          <a:p>
            <a:pPr algn="ctr"/>
            <a:r>
              <a:rPr b="0" lang="es-AR" sz="1800" spc="-1" strike="noStrike">
                <a:latin typeface="Arial"/>
              </a:rPr>
              <a:t>No</a:t>
            </a:r>
            <a:endParaRPr b="0" lang="es-AR" sz="1800" spc="-1" strike="noStrike">
              <a:latin typeface="Arial"/>
            </a:endParaRPr>
          </a:p>
        </p:txBody>
      </p:cxnSp>
      <p:sp>
        <p:nvSpPr>
          <p:cNvPr id="153" name="TextShape 19"/>
          <p:cNvSpPr txBox="1"/>
          <p:nvPr/>
        </p:nvSpPr>
        <p:spPr>
          <a:xfrm>
            <a:off x="6192360" y="5005080"/>
            <a:ext cx="792000" cy="6022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800" spc="-1" strike="noStrike">
                <a:latin typeface="Arial"/>
              </a:rPr>
              <a:t>Si: 0</a:t>
            </a:r>
            <a:endParaRPr b="0" lang="es-AR" sz="1800" spc="-1" strike="noStrike">
              <a:latin typeface="Arial"/>
            </a:endParaRPr>
          </a:p>
          <a:p>
            <a:r>
              <a:rPr b="0" lang="es-AR" sz="1800" spc="-1" strike="noStrike">
                <a:latin typeface="Arial"/>
              </a:rPr>
              <a:t>No: 1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54" name="TextShape 20"/>
          <p:cNvSpPr txBox="1"/>
          <p:nvPr/>
        </p:nvSpPr>
        <p:spPr>
          <a:xfrm>
            <a:off x="720000" y="1116360"/>
            <a:ext cx="3384000" cy="4302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Árbol generado</a:t>
            </a:r>
            <a:endParaRPr b="0" lang="es-AR" sz="2400" spc="-1" strike="noStrike">
              <a:latin typeface="Arial"/>
            </a:endParaRPr>
          </a:p>
        </p:txBody>
      </p:sp>
      <p:sp>
        <p:nvSpPr>
          <p:cNvPr id="155" name="CustomShape 21"/>
          <p:cNvSpPr/>
          <p:nvPr/>
        </p:nvSpPr>
        <p:spPr>
          <a:xfrm>
            <a:off x="7200000" y="3200400"/>
            <a:ext cx="792000" cy="579600"/>
          </a:xfrm>
          <a:prstGeom prst="ellipse">
            <a:avLst/>
          </a:prstGeom>
          <a:solidFill>
            <a:srgbClr val="72bf44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s-AR" sz="1800" spc="-1" strike="noStrike">
                <a:latin typeface="Arial"/>
              </a:rPr>
              <a:t>Si: 3/3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56" name="CustomShape 22"/>
          <p:cNvSpPr/>
          <p:nvPr/>
        </p:nvSpPr>
        <p:spPr>
          <a:xfrm>
            <a:off x="864000" y="4172400"/>
            <a:ext cx="792000" cy="579600"/>
          </a:xfrm>
          <a:prstGeom prst="ellipse">
            <a:avLst/>
          </a:prstGeom>
          <a:solidFill>
            <a:srgbClr val="72bf44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s-AR" sz="1800" spc="-1" strike="noStrike">
                <a:latin typeface="Arial"/>
              </a:rPr>
              <a:t>No: 1/1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57" name="CustomShape 23"/>
          <p:cNvSpPr/>
          <p:nvPr/>
        </p:nvSpPr>
        <p:spPr>
          <a:xfrm>
            <a:off x="2592000" y="4824000"/>
            <a:ext cx="792000" cy="579600"/>
          </a:xfrm>
          <a:prstGeom prst="ellipse">
            <a:avLst/>
          </a:prstGeom>
          <a:solidFill>
            <a:srgbClr val="72bf44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s-AR" sz="1800" spc="-1" strike="noStrike">
                <a:latin typeface="Arial"/>
              </a:rPr>
              <a:t>Si: 1/1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58" name="CustomShape 24"/>
          <p:cNvSpPr/>
          <p:nvPr/>
        </p:nvSpPr>
        <p:spPr>
          <a:xfrm>
            <a:off x="3564000" y="4680000"/>
            <a:ext cx="792000" cy="579600"/>
          </a:xfrm>
          <a:prstGeom prst="ellipse">
            <a:avLst/>
          </a:prstGeom>
          <a:solidFill>
            <a:srgbClr val="72bf44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s-AR" sz="1800" spc="-1" strike="noStrike">
                <a:latin typeface="Arial"/>
              </a:rPr>
              <a:t>No: 2/2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59" name="CustomShape 25"/>
          <p:cNvSpPr/>
          <p:nvPr/>
        </p:nvSpPr>
        <p:spPr>
          <a:xfrm>
            <a:off x="4248000" y="5756400"/>
            <a:ext cx="792000" cy="579600"/>
          </a:xfrm>
          <a:prstGeom prst="ellipse">
            <a:avLst/>
          </a:prstGeom>
          <a:solidFill>
            <a:srgbClr val="72bf44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s-AR" sz="1800" spc="-1" strike="noStrike">
                <a:latin typeface="Arial"/>
              </a:rPr>
              <a:t>Si: 2/2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60" name="CustomShape 26"/>
          <p:cNvSpPr/>
          <p:nvPr/>
        </p:nvSpPr>
        <p:spPr>
          <a:xfrm>
            <a:off x="6192360" y="5540400"/>
            <a:ext cx="792000" cy="579600"/>
          </a:xfrm>
          <a:prstGeom prst="ellipse">
            <a:avLst/>
          </a:prstGeom>
          <a:solidFill>
            <a:srgbClr val="72bf44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s-AR" sz="1800" spc="-1" strike="noStrike">
                <a:latin typeface="Arial"/>
              </a:rPr>
              <a:t>No: 1/1</a:t>
            </a:r>
            <a:endParaRPr b="0" lang="es-AR" sz="1800" spc="-1" strike="noStrike">
              <a:latin typeface="Arial"/>
            </a:endParaRPr>
          </a:p>
        </p:txBody>
      </p:sp>
    </p:spTree>
  </p:cSld>
  <p:timing>
    <p:tnLst>
      <p:par>
        <p:cTn id="159" dur="indefinite" restart="never" nodeType="tmRoot">
          <p:childTnLst>
            <p:seq>
              <p:cTn id="16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Shape 1"/>
          <p:cNvSpPr txBox="1"/>
          <p:nvPr/>
        </p:nvSpPr>
        <p:spPr>
          <a:xfrm>
            <a:off x="504000" y="279360"/>
            <a:ext cx="9071640" cy="6814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Árboles de Decisión</a:t>
            </a:r>
            <a:endParaRPr b="0" lang="es-AR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Shape 2"/>
          <p:cNvSpPr txBox="1"/>
          <p:nvPr/>
        </p:nvSpPr>
        <p:spPr>
          <a:xfrm>
            <a:off x="270000" y="1175040"/>
            <a:ext cx="9522000" cy="696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Y qué ocurre si utilizamos la Tasa de ganancia?</a:t>
            </a:r>
            <a:endParaRPr b="0" lang="es-AR" sz="22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2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2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2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GR(D,Hip)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	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	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	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0,264</a:t>
            </a:r>
            <a:endParaRPr b="0" lang="es-AR" sz="22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GR(D,Col)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	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	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	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0,0605</a:t>
            </a:r>
            <a:endParaRPr b="0" lang="es-AR" sz="22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GR(D,Trig)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	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	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0,124</a:t>
            </a:r>
            <a:endParaRPr b="0" lang="es-AR" sz="22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GR(D,Ed)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	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	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	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0,236</a:t>
            </a:r>
            <a:endParaRPr b="0" lang="es-AR" sz="22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GR(D,Dia)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	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	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	</a:t>
            </a:r>
            <a:r>
              <a:rPr b="0" lang="es-AR" sz="2200" spc="-1" strike="noStrike">
                <a:solidFill>
                  <a:srgbClr val="003d73"/>
                </a:solidFill>
                <a:latin typeface="Arial"/>
              </a:rPr>
              <a:t>0,047</a:t>
            </a:r>
            <a:endParaRPr b="0" lang="es-AR" sz="22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2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2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200" spc="-1" strike="noStrike">
              <a:solidFill>
                <a:srgbClr val="0066cc"/>
              </a:solidFill>
              <a:latin typeface="Arial"/>
            </a:endParaRPr>
          </a:p>
        </p:txBody>
      </p:sp>
      <p:pic>
        <p:nvPicPr>
          <p:cNvPr id="163" name="" descr=""/>
          <p:cNvPicPr/>
          <p:nvPr/>
        </p:nvPicPr>
        <p:blipFill>
          <a:blip r:embed="rId1"/>
          <a:stretch/>
        </p:blipFill>
        <p:spPr>
          <a:xfrm>
            <a:off x="1656000" y="1728000"/>
            <a:ext cx="5544000" cy="1026360"/>
          </a:xfrm>
          <a:prstGeom prst="rect">
            <a:avLst/>
          </a:prstGeom>
          <a:ln>
            <a:noFill/>
          </a:ln>
        </p:spPr>
      </p:pic>
      <p:sp>
        <p:nvSpPr>
          <p:cNvPr id="164" name="TextShape 3"/>
          <p:cNvSpPr txBox="1"/>
          <p:nvPr/>
        </p:nvSpPr>
        <p:spPr>
          <a:xfrm>
            <a:off x="2413800" y="3112920"/>
            <a:ext cx="880200" cy="4032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s-AR" sz="2200" spc="-1" strike="noStrike">
                <a:solidFill>
                  <a:srgbClr val="003d73"/>
                </a:solidFill>
                <a:latin typeface="Arial"/>
              </a:rPr>
              <a:t>0,264</a:t>
            </a:r>
            <a:endParaRPr b="0" lang="es-AR" sz="2200" spc="-1" strike="noStrike">
              <a:latin typeface="Arial"/>
            </a:endParaRPr>
          </a:p>
        </p:txBody>
      </p:sp>
    </p:spTree>
  </p:cSld>
  <p:timing>
    <p:tnLst>
      <p:par>
        <p:cTn id="161" dur="indefinite" restart="never" nodeType="tmRoot">
          <p:childTnLst>
            <p:seq>
              <p:cTn id="162" dur="indefinite" nodeType="mainSeq">
                <p:childTnLst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1296</TotalTime>
  <Application>LibreOffice/6.0.7.3$Linux_X86_64 LibreOffice_project/00m0$Build-3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2020-08-06T09:03:31Z</dcterms:created>
  <dc:creator/>
  <dc:description/>
  <dc:language>es-AR</dc:language>
  <cp:lastModifiedBy/>
  <dcterms:modified xsi:type="dcterms:W3CDTF">2021-09-01T23:28:32Z</dcterms:modified>
  <cp:revision>26</cp:revision>
  <dc:subject/>
  <dc:title>Blue Curve</dc:title>
</cp:coreProperties>
</file>