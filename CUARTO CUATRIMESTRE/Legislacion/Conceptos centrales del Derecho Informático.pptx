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45"/>
  </p:notesMasterIdLst>
  <p:sldIdLst>
    <p:sldId id="314" r:id="rId2"/>
    <p:sldId id="288" r:id="rId3"/>
    <p:sldId id="291" r:id="rId4"/>
    <p:sldId id="313" r:id="rId5"/>
    <p:sldId id="308" r:id="rId6"/>
    <p:sldId id="292" r:id="rId7"/>
    <p:sldId id="293" r:id="rId8"/>
    <p:sldId id="309" r:id="rId9"/>
    <p:sldId id="310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261" r:id="rId25"/>
    <p:sldId id="262" r:id="rId26"/>
    <p:sldId id="257" r:id="rId27"/>
    <p:sldId id="258" r:id="rId28"/>
    <p:sldId id="259" r:id="rId29"/>
    <p:sldId id="260" r:id="rId30"/>
    <p:sldId id="263" r:id="rId31"/>
    <p:sldId id="272" r:id="rId32"/>
    <p:sldId id="273" r:id="rId33"/>
    <p:sldId id="274" r:id="rId34"/>
    <p:sldId id="275" r:id="rId35"/>
    <p:sldId id="276" r:id="rId36"/>
    <p:sldId id="277" r:id="rId37"/>
    <p:sldId id="279" r:id="rId38"/>
    <p:sldId id="280" r:id="rId39"/>
    <p:sldId id="281" r:id="rId40"/>
    <p:sldId id="282" r:id="rId41"/>
    <p:sldId id="283" r:id="rId42"/>
    <p:sldId id="284" r:id="rId43"/>
    <p:sldId id="285" r:id="rId44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7"/>
    <p:restoredTop sz="93160"/>
  </p:normalViewPr>
  <p:slideViewPr>
    <p:cSldViewPr>
      <p:cViewPr varScale="1">
        <p:scale>
          <a:sx n="102" d="100"/>
          <a:sy n="102" d="100"/>
        </p:scale>
        <p:origin x="22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B9F52-89C7-4F0E-91DF-0A338225D18A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E8198-ADFA-4756-A930-982A58EA5015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A60CBF5-40F1-414A-A7FF-CF8A8372790E}" type="slidenum">
              <a:rPr lang="es-ES"/>
              <a:pPr/>
              <a:t>2</a:t>
            </a:fld>
            <a:endParaRPr lang="es-ES"/>
          </a:p>
        </p:txBody>
      </p:sp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1"/>
            <a:ext cx="5485536" cy="411378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3B2C10-8DF1-47FD-A81E-A7D37CEEC317}" type="slidenum">
              <a:rPr lang="es-ES"/>
              <a:pPr/>
              <a:t>8</a:t>
            </a:fld>
            <a:endParaRPr lang="es-ES"/>
          </a:p>
        </p:txBody>
      </p:sp>
      <p:sp>
        <p:nvSpPr>
          <p:cNvPr id="440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D01006-F9D1-4040-8357-594AE48C9028}" type="slidenum">
              <a:rPr lang="es-ES"/>
              <a:pPr/>
              <a:t>9</a:t>
            </a:fld>
            <a:endParaRPr lang="es-ES"/>
          </a:p>
        </p:txBody>
      </p:sp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FCC428D-64C5-4D10-B68D-356E1A31B8E3}" type="slidenum">
              <a:rPr lang="es-ES"/>
              <a:pPr/>
              <a:t>17</a:t>
            </a:fld>
            <a:endParaRPr lang="es-ES"/>
          </a:p>
        </p:txBody>
      </p:sp>
      <p:sp>
        <p:nvSpPr>
          <p:cNvPr id="471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1"/>
            <a:ext cx="5485536" cy="411378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914E6BD-BC3F-4974-B641-4DB6188EC6BF}" type="slidenum">
              <a:rPr lang="es-ES"/>
              <a:pPr/>
              <a:t>18</a:t>
            </a:fld>
            <a:endParaRPr lang="es-ES"/>
          </a:p>
        </p:txBody>
      </p:sp>
      <p:sp>
        <p:nvSpPr>
          <p:cNvPr id="573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83B68A3-799C-4709-8D45-7EAA735A11CA}" type="slidenum">
              <a:rPr lang="es-ES"/>
              <a:pPr/>
              <a:t>19</a:t>
            </a:fld>
            <a:endParaRPr lang="es-ES"/>
          </a:p>
        </p:txBody>
      </p:sp>
      <p:sp>
        <p:nvSpPr>
          <p:cNvPr id="583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1"/>
            <a:ext cx="5485536" cy="411378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C876C91-3EAA-49F2-A31E-3CEF0E3DD0EC}" type="slidenum">
              <a:rPr lang="es-ES"/>
              <a:pPr/>
              <a:t>30</a:t>
            </a:fld>
            <a:endParaRPr lang="es-ES"/>
          </a:p>
        </p:txBody>
      </p:sp>
      <p:sp>
        <p:nvSpPr>
          <p:cNvPr id="184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9E5FBA9-7068-4995-9762-DF63D0770CDD}" type="slidenum">
              <a:rPr lang="es-ES"/>
              <a:pPr/>
              <a:t>31</a:t>
            </a:fld>
            <a:endParaRPr lang="es-ES"/>
          </a:p>
        </p:txBody>
      </p:sp>
      <p:sp>
        <p:nvSpPr>
          <p:cNvPr id="655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157CFA5-17FB-4D8C-A1CA-C8764ED3113C}" type="slidenum">
              <a:rPr lang="es-ES"/>
              <a:pPr/>
              <a:t>32</a:t>
            </a:fld>
            <a:endParaRPr lang="es-ES"/>
          </a:p>
        </p:txBody>
      </p:sp>
      <p:sp>
        <p:nvSpPr>
          <p:cNvPr id="665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1EB8026-B5EA-494C-9382-790974148518}" type="slidenum">
              <a:rPr lang="es-ES"/>
              <a:pPr/>
              <a:t>33</a:t>
            </a:fld>
            <a:endParaRPr lang="es-ES"/>
          </a:p>
        </p:txBody>
      </p:sp>
      <p:sp>
        <p:nvSpPr>
          <p:cNvPr id="675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F25EC75-87D8-4750-9EDE-2AA3A575B463}" type="slidenum">
              <a:rPr lang="es-ES"/>
              <a:pPr/>
              <a:t>34</a:t>
            </a:fld>
            <a:endParaRPr lang="es-ES"/>
          </a:p>
        </p:txBody>
      </p:sp>
      <p:sp>
        <p:nvSpPr>
          <p:cNvPr id="686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72BDAC0-9A1D-4BA3-8B76-E6F38D2221A0}" type="slidenum">
              <a:rPr lang="es-ES"/>
              <a:pPr/>
              <a:t>35</a:t>
            </a:fld>
            <a:endParaRPr lang="es-ES"/>
          </a:p>
        </p:txBody>
      </p:sp>
      <p:sp>
        <p:nvSpPr>
          <p:cNvPr id="696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7DDAB57-FF48-411C-A33C-07E6EFA32AC8}" type="slidenum">
              <a:rPr lang="es-ES"/>
              <a:pPr/>
              <a:t>36</a:t>
            </a:fld>
            <a:endParaRPr lang="es-ES"/>
          </a:p>
        </p:txBody>
      </p:sp>
      <p:sp>
        <p:nvSpPr>
          <p:cNvPr id="706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BFCBDCE-58DC-4BE2-95D0-F842C30B96FB}" type="slidenum">
              <a:rPr lang="es-ES"/>
              <a:pPr/>
              <a:t>37</a:t>
            </a:fld>
            <a:endParaRPr lang="es-ES"/>
          </a:p>
        </p:txBody>
      </p:sp>
      <p:sp>
        <p:nvSpPr>
          <p:cNvPr id="727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05ADCE-DF79-492C-BAE7-894288B9243B}" type="slidenum">
              <a:rPr lang="es-ES"/>
              <a:pPr/>
              <a:t>38</a:t>
            </a:fld>
            <a:endParaRPr lang="es-ES"/>
          </a:p>
        </p:txBody>
      </p:sp>
      <p:sp>
        <p:nvSpPr>
          <p:cNvPr id="737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F3FEF0E-9D87-4B8E-89B5-33FD383828B1}" type="slidenum">
              <a:rPr lang="es-ES"/>
              <a:pPr/>
              <a:t>39</a:t>
            </a:fld>
            <a:endParaRPr lang="es-ES"/>
          </a:p>
        </p:txBody>
      </p:sp>
      <p:sp>
        <p:nvSpPr>
          <p:cNvPr id="747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C26C343-C43B-4AB5-BBC2-A9E0CA09B723}" type="slidenum">
              <a:rPr lang="es-ES"/>
              <a:pPr/>
              <a:t>40</a:t>
            </a:fld>
            <a:endParaRPr lang="es-ES"/>
          </a:p>
        </p:txBody>
      </p:sp>
      <p:sp>
        <p:nvSpPr>
          <p:cNvPr id="757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E58697C-17D5-4911-98E6-D4A7378D8AED}" type="slidenum">
              <a:rPr lang="es-ES"/>
              <a:pPr/>
              <a:t>41</a:t>
            </a:fld>
            <a:endParaRPr lang="es-ES"/>
          </a:p>
        </p:txBody>
      </p:sp>
      <p:sp>
        <p:nvSpPr>
          <p:cNvPr id="768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675482C-266E-4E6A-814D-195DE6C703B1}" type="slidenum">
              <a:rPr lang="es-ES"/>
              <a:pPr/>
              <a:t>42</a:t>
            </a:fld>
            <a:endParaRPr lang="es-ES"/>
          </a:p>
        </p:txBody>
      </p:sp>
      <p:sp>
        <p:nvSpPr>
          <p:cNvPr id="778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E6566BF-B90D-4983-9F62-971C9C7538AE}" type="slidenum">
              <a:rPr lang="es-ES"/>
              <a:pPr/>
              <a:t>43</a:t>
            </a:fld>
            <a:endParaRPr lang="es-ES"/>
          </a:p>
        </p:txBody>
      </p:sp>
      <p:sp>
        <p:nvSpPr>
          <p:cNvPr id="788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Título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2" name="21 Subtítulo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20" name="1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7 Elipse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0" name="9 Rectángulo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6" name="5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7 Rectángulo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9" name="8 Proceso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Proceso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6480" y="273629"/>
            <a:ext cx="8225280" cy="1142040"/>
          </a:xfrm>
        </p:spPr>
        <p:txBody>
          <a:bodyPr tIns="41473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idx="10"/>
          </p:nvPr>
        </p:nvSpPr>
        <p:spPr>
          <a:xfrm>
            <a:off x="456481" y="6247376"/>
            <a:ext cx="2126880" cy="469489"/>
          </a:xfrm>
        </p:spPr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idx="11"/>
          </p:nvPr>
        </p:nvSpPr>
        <p:spPr>
          <a:xfrm>
            <a:off x="3127681" y="6247376"/>
            <a:ext cx="2895840" cy="469489"/>
          </a:xfrm>
        </p:spPr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idx="12"/>
          </p:nvPr>
        </p:nvSpPr>
        <p:spPr>
          <a:xfrm>
            <a:off x="6556321" y="6247376"/>
            <a:ext cx="2126880" cy="469489"/>
          </a:xfrm>
        </p:spPr>
        <p:txBody>
          <a:bodyPr/>
          <a:lstStyle>
            <a:lvl1pPr>
              <a:defRPr/>
            </a:lvl1pPr>
          </a:lstStyle>
          <a:p>
            <a:fld id="{8B0C01D7-6575-4B62-92E9-3F60C01E1552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ircular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Anillo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4 Marcador de título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texto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24" name="23 Marcador de fecha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792957D-01AC-466E-AB04-65330C2C8C53}" type="datetimeFigureOut">
              <a:rPr lang="es-AR" smtClean="0"/>
              <a:pPr/>
              <a:t>18/4/24</a:t>
            </a:fld>
            <a:endParaRPr lang="es-AR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s-AR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D213862-4121-4C3E-98BD-FF96180AAB58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5" name="14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nografias.com/trabajos13/memor/memor.shtml" TargetMode="External"/><Relationship Id="rId2" Type="http://schemas.openxmlformats.org/officeDocument/2006/relationships/hyperlink" Target="http://www.monografias.com/trabajos10/infoba/infoba.s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monografias.com/trabajos12/orsen/orsen.shtml" TargetMode="External"/><Relationship Id="rId4" Type="http://schemas.openxmlformats.org/officeDocument/2006/relationships/hyperlink" Target="http://www.monografias.com/Computacion/Redes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ured.cu/index.php/Tecnolog%C3%ADa" TargetMode="External"/><Relationship Id="rId2" Type="http://schemas.openxmlformats.org/officeDocument/2006/relationships/hyperlink" Target="http://www.ecured.cu/index.php/Comunicaci%C3%B3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obae.com/notas/662493-Facebook-tiene-83-millones-de-cuentas-falsas.html%22%20/t%20%22_blan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tinyurl.com/8k5j8x9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7DE0B-BAA6-BC4D-8564-10F70D7C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826D56-602D-1642-B830-251303D04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148" y="1417638"/>
            <a:ext cx="6223000" cy="2349500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449F324-53AF-E34B-9FB4-758357313568}"/>
              </a:ext>
            </a:extLst>
          </p:cNvPr>
          <p:cNvSpPr txBox="1"/>
          <p:nvPr/>
        </p:nvSpPr>
        <p:spPr>
          <a:xfrm>
            <a:off x="2888455" y="4465674"/>
            <a:ext cx="661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Conceptos de DERECHO INFORMATICO</a:t>
            </a:r>
          </a:p>
        </p:txBody>
      </p:sp>
    </p:spTree>
    <p:extLst>
      <p:ext uri="{BB962C8B-B14F-4D97-AF65-F5344CB8AC3E}">
        <p14:creationId xmlns:p14="http://schemas.microsoft.com/office/powerpoint/2010/main" val="173378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3760" y="285728"/>
            <a:ext cx="7850880" cy="62151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Desde el origen de la creación, el hombre, al relacionarse con sus pares, necesitó regular con alguna clase de derechos sus relaciones.-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2051" name="Picture 3" descr="C:\Users\Silvia\Desktop\DIEGO\Catedra Legislacion\Clase 3_Conceptos\Imagenes\cavernicol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985210">
            <a:off x="4376037" y="3608608"/>
            <a:ext cx="3179859" cy="26386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Esto lo llevó realizar algunas formas externas, para demostrar al resto de sus pares que algo se había producido en el mundo jurídico. </a:t>
            </a:r>
            <a:endParaRPr lang="es-AR" dirty="0"/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4507A7-483B-E448-99BA-5F154259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68960"/>
            <a:ext cx="3441948" cy="378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s-AR" dirty="0"/>
              <a:t>Esa función cumplió el anillo de casamiento,  los grandes actos, y ciertas ceremonias que tenían por objetivo principal el que todo el mundo se entere de que algo “ha ocurrido en el mundo”.-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214290"/>
            <a:ext cx="7920037" cy="936625"/>
          </a:xfrm>
          <a:prstGeom prst="rect">
            <a:avLst/>
          </a:prstGeom>
          <a:noFill/>
        </p:spPr>
      </p:pic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1115616" y="1362225"/>
            <a:ext cx="748883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s-ES" dirty="0"/>
              <a:t>     ES POR ELLO QUE DESDE TIEMPOS ANTIGUOS HA IDO REGISTRANDO ACONTENCIMIENTOS DE TIPO RELIGIOSOS,  CIENTIFICOS,  BELICOS,  CULTURALES,  ETC; LOS CUALES FORMAN PARTE DE SU PROPIA HISTORIA.</a:t>
            </a:r>
          </a:p>
          <a:p>
            <a:r>
              <a:rPr lang="es-ES" dirty="0"/>
              <a:t>      </a:t>
            </a:r>
          </a:p>
          <a:p>
            <a:r>
              <a:rPr lang="es-ES" dirty="0"/>
              <a:t>EN UN PRINCIPIO, LA FORMA QUE TENIA PARA PODER REPRESENTAR O REGISTRAR ESTA INFORMACION ERA SOBRE PIEDRA, TELA, MADERA, BARRO.</a:t>
            </a:r>
          </a:p>
        </p:txBody>
      </p:sp>
      <p:pic>
        <p:nvPicPr>
          <p:cNvPr id="29708" name="Picture 12" descr="tablillas-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173818">
            <a:off x="6274230" y="4010792"/>
            <a:ext cx="2286002" cy="2389484"/>
          </a:xfrm>
          <a:prstGeom prst="rect">
            <a:avLst/>
          </a:prstGeom>
          <a:noFill/>
        </p:spPr>
      </p:pic>
      <p:pic>
        <p:nvPicPr>
          <p:cNvPr id="29709" name="Picture 13" descr="del-papiro-al-bl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585685">
            <a:off x="2312521" y="3353741"/>
            <a:ext cx="2571768" cy="27465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sz="2800" dirty="0"/>
              <a:t>Con el surgimiento de los </a:t>
            </a:r>
            <a:r>
              <a:rPr lang="es-ES" sz="2800" b="1" dirty="0"/>
              <a:t>medios electrónicos e informáticos</a:t>
            </a:r>
            <a:r>
              <a:rPr lang="es-ES" sz="2800" dirty="0"/>
              <a:t> los soportes para alojar documentos pasaron a ser del tipo </a:t>
            </a:r>
            <a:r>
              <a:rPr lang="es-ES" sz="2800" dirty="0">
                <a:solidFill>
                  <a:srgbClr val="FF0000"/>
                </a:solidFill>
              </a:rPr>
              <a:t>magnético</a:t>
            </a:r>
            <a:r>
              <a:rPr lang="es-ES" sz="2800" dirty="0"/>
              <a:t> (cintas magnéticas, disquetes, tarjetas de memorias, discos rígidos, etc.) u </a:t>
            </a:r>
            <a:r>
              <a:rPr lang="es-ES" sz="2800" dirty="0">
                <a:solidFill>
                  <a:srgbClr val="FF0000"/>
                </a:solidFill>
              </a:rPr>
              <a:t>óptico</a:t>
            </a:r>
            <a:r>
              <a:rPr lang="es-ES" sz="2800" dirty="0"/>
              <a:t> (</a:t>
            </a:r>
            <a:r>
              <a:rPr lang="es-ES" sz="2800" dirty="0" err="1"/>
              <a:t>cd</a:t>
            </a:r>
            <a:r>
              <a:rPr lang="es-ES" sz="2800" dirty="0"/>
              <a:t>-r, </a:t>
            </a:r>
            <a:r>
              <a:rPr lang="es-ES" sz="2800" dirty="0" err="1"/>
              <a:t>dvd</a:t>
            </a:r>
            <a:r>
              <a:rPr lang="es-ES" sz="2800" dirty="0"/>
              <a:t>, </a:t>
            </a:r>
            <a:r>
              <a:rPr lang="es-ES" sz="2800" dirty="0" err="1"/>
              <a:t>etc</a:t>
            </a:r>
            <a:r>
              <a:rPr lang="es-ES" sz="2800" dirty="0"/>
              <a:t>) convirtiéndose los mismos en </a:t>
            </a:r>
            <a:r>
              <a:rPr lang="es-ES" sz="2800" b="1" dirty="0"/>
              <a:t>documentos electrónicos</a:t>
            </a:r>
            <a:r>
              <a:rPr lang="es-ES" sz="2800" dirty="0"/>
              <a:t>.</a:t>
            </a:r>
          </a:p>
          <a:p>
            <a:endParaRPr lang="es-ES" sz="2800" dirty="0"/>
          </a:p>
          <a:p>
            <a:r>
              <a:rPr lang="es-ES" sz="2800" dirty="0"/>
              <a:t>La interconexión de redes y la llegada de internet permitió que los documentos electrónicos puedan ser enviados (en tiempo real) ágilmente,  a zonas distantes unas de otras y así compartir información a muy bajo costo.</a:t>
            </a:r>
          </a:p>
          <a:p>
            <a:endParaRPr lang="es-AR" dirty="0"/>
          </a:p>
        </p:txBody>
      </p:sp>
      <p:pic>
        <p:nvPicPr>
          <p:cNvPr id="4" name="Picture 7" descr="pcomput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285728"/>
            <a:ext cx="1439862" cy="11477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/>
          <p:cNvSpPr txBox="1">
            <a:spLocks noChangeArrowheads="1"/>
          </p:cNvSpPr>
          <p:nvPr/>
        </p:nvSpPr>
        <p:spPr bwMode="auto">
          <a:xfrm>
            <a:off x="262080" y="332657"/>
            <a:ext cx="8750880" cy="574190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65638" rIns="81639" bIns="40820"/>
          <a:lstStyle/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6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Tecnología y Derecho.</a:t>
            </a:r>
          </a:p>
          <a:p>
            <a:pPr algn="just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3300" b="1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5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Derecho Informático</a:t>
            </a:r>
            <a:r>
              <a:rPr lang="es-AR" sz="5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</a:t>
            </a:r>
          </a:p>
          <a:p>
            <a:pPr algn="just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 algn="just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Regula ciertas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actividades novedosas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que se desarrollan en el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ámbito social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y tecnológico que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requieren nuevas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interpretaciones de las regulaciones a fin de dar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respuestas en el sentido de la justicia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.</a:t>
            </a: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3300" b="1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48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Informática Jurídica</a:t>
            </a: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(automatización de tareas del Derecho a través de la informática)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1259631" y="214291"/>
            <a:ext cx="7622289" cy="63579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7147" rIns="81639" bIns="40820"/>
          <a:lstStyle/>
          <a:p>
            <a:pPr algn="just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dirty="0">
                <a:solidFill>
                  <a:srgbClr val="0070C0"/>
                </a:solidFill>
                <a:latin typeface="Ubuntu" charset="0"/>
                <a:ea typeface="Droid Sans Fallback" charset="0"/>
                <a:cs typeface="Droid Sans Fallback" charset="0"/>
              </a:rPr>
              <a:t>Dificultades: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</a:t>
            </a:r>
          </a:p>
          <a:p>
            <a:pPr algn="just">
              <a:lnSpc>
                <a:spcPct val="94000"/>
              </a:lnSpc>
              <a:buFont typeface="Arial" pitchFamily="34" charset="0"/>
              <a:buChar char="•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Caracterización jurídica de los hechos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que suceden en Internet.-</a:t>
            </a: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Determinación del </a:t>
            </a:r>
          </a:p>
          <a:p>
            <a:pPr algn="just">
              <a:lnSpc>
                <a:spcPct val="94000"/>
              </a:lnSpc>
              <a:buFont typeface="Arial" pitchFamily="34" charset="0"/>
              <a:buChar char="•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</a:t>
            </a:r>
            <a:r>
              <a:rPr lang="es-AR" sz="3200" b="1" dirty="0">
                <a:solidFill>
                  <a:srgbClr val="FF0000"/>
                </a:solidFill>
                <a:latin typeface="Ubuntu" charset="0"/>
                <a:ea typeface="Droid Sans Fallback" charset="0"/>
                <a:cs typeface="Droid Sans Fallback" charset="0"/>
              </a:rPr>
              <a:t>Lugar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donde se producen (ley aplicable y tribunal competente) </a:t>
            </a:r>
          </a:p>
          <a:p>
            <a:pPr algn="just">
              <a:lnSpc>
                <a:spcPct val="94000"/>
              </a:lnSpc>
              <a:buFont typeface="Arial" pitchFamily="34" charset="0"/>
              <a:buChar char="•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</a:t>
            </a:r>
            <a:r>
              <a:rPr lang="es-AR" sz="3200" dirty="0">
                <a:solidFill>
                  <a:srgbClr val="FF0000"/>
                </a:solidFill>
                <a:latin typeface="Ubuntu" charset="0"/>
                <a:ea typeface="Droid Sans Fallback" charset="0"/>
                <a:cs typeface="Droid Sans Fallback" charset="0"/>
              </a:rPr>
              <a:t>T</a:t>
            </a:r>
            <a:r>
              <a:rPr lang="es-AR" sz="3200" b="1" dirty="0">
                <a:solidFill>
                  <a:srgbClr val="FF0000"/>
                </a:solidFill>
                <a:latin typeface="Ubuntu" charset="0"/>
                <a:ea typeface="Droid Sans Fallback" charset="0"/>
                <a:cs typeface="Droid Sans Fallback" charset="0"/>
              </a:rPr>
              <a:t>iempo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en que suceden (en los casos en que éste sea un elemento de configuración).</a:t>
            </a:r>
          </a:p>
          <a:p>
            <a:pPr algn="just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32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dirty="0">
                <a:solidFill>
                  <a:srgbClr val="0070C0"/>
                </a:solidFill>
                <a:latin typeface="Ubuntu" charset="0"/>
                <a:ea typeface="Droid Sans Fallback" charset="0"/>
                <a:cs typeface="Droid Sans Fallback" charset="0"/>
              </a:rPr>
              <a:t>Puntos fundamentales a considerar: </a:t>
            </a:r>
          </a:p>
          <a:p>
            <a:pPr algn="just">
              <a:lnSpc>
                <a:spcPct val="94000"/>
              </a:lnSpc>
              <a:buFont typeface="Arial" pitchFamily="34" charset="0"/>
              <a:buChar char="•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Dictado de nuevas normas específicas</a:t>
            </a:r>
          </a:p>
          <a:p>
            <a:pPr algn="just">
              <a:lnSpc>
                <a:spcPct val="94000"/>
              </a:lnSpc>
              <a:buFont typeface="Arial" pitchFamily="34" charset="0"/>
              <a:buChar char="•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Reinterpretación de las normas existentes para ser aplicadas a las nuevas situaciones.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614478"/>
          </a:xfrm>
        </p:spPr>
        <p:txBody>
          <a:bodyPr>
            <a:noAutofit/>
          </a:bodyPr>
          <a:lstStyle/>
          <a:p>
            <a:r>
              <a:rPr lang="es-ES" sz="6000" b="1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DOCUMENTO:</a:t>
            </a:r>
            <a:r>
              <a:rPr lang="es-ES" sz="6000" dirty="0"/>
              <a:t> </a:t>
            </a:r>
            <a:br>
              <a:rPr lang="es-ES" sz="6000" dirty="0"/>
            </a:br>
            <a:r>
              <a:rPr lang="es-ES" sz="6000" dirty="0"/>
              <a:t>   </a:t>
            </a:r>
            <a:endParaRPr lang="es-AR" sz="6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s-ES" dirty="0"/>
              <a:t>ES UN HECHO O ACONTECIMIENTO REGISTRADO EN UN SOPORTE.</a:t>
            </a:r>
          </a:p>
          <a:p>
            <a:pPr>
              <a:spcBef>
                <a:spcPct val="50000"/>
              </a:spcBef>
            </a:pPr>
            <a:r>
              <a:rPr lang="es-ES" dirty="0"/>
              <a:t>ESTE SOPORTE PUEDE SER PAPEL, MAGNETICO, OPTICO,  ETC. </a:t>
            </a:r>
          </a:p>
          <a:p>
            <a:endParaRPr lang="es-A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2" descr="C:\Documents and Settings\Administrador\Mis documentos\Mis imágenes\pag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47897"/>
            <a:ext cx="8245475" cy="662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2" descr="C:\Documents and Settings\Administrador\Mis documentos\Mis imágenes\pag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513" y="144463"/>
            <a:ext cx="8729662" cy="638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3860800"/>
            <a:ext cx="8964613" cy="299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pic>
        <p:nvPicPr>
          <p:cNvPr id="15366" name="Picture 6" descr="ESC_ke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0113" y="4724400"/>
            <a:ext cx="1512887" cy="938213"/>
          </a:xfrm>
          <a:prstGeom prst="rect">
            <a:avLst/>
          </a:prstGeom>
          <a:noFill/>
        </p:spPr>
      </p:pic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3636963" y="4797425"/>
            <a:ext cx="1727200" cy="6413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UNIDAD DE PROCESO</a:t>
            </a:r>
          </a:p>
        </p:txBody>
      </p:sp>
      <p:pic>
        <p:nvPicPr>
          <p:cNvPr id="15369" name="Picture 9" descr="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2225" y="4292600"/>
            <a:ext cx="1657350" cy="1657350"/>
          </a:xfrm>
          <a:prstGeom prst="rect">
            <a:avLst/>
          </a:prstGeom>
          <a:noFill/>
        </p:spPr>
      </p:pic>
      <p:sp>
        <p:nvSpPr>
          <p:cNvPr id="15370" name="Line 10"/>
          <p:cNvSpPr>
            <a:spLocks noChangeShapeType="1"/>
          </p:cNvSpPr>
          <p:nvPr/>
        </p:nvSpPr>
        <p:spPr bwMode="auto">
          <a:xfrm>
            <a:off x="2627313" y="5084763"/>
            <a:ext cx="7207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5508625" y="5084763"/>
            <a:ext cx="7207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2" descr="C:\Documents and Settings\Administrador\Mis documentos\Mis imágenes\pag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" y="144463"/>
            <a:ext cx="8940800" cy="659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C:\Documents and Settings\Administrador\Mis documentos\Mis imágenes\pag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5900"/>
            <a:ext cx="9070975" cy="6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2" descr="C:\Documents and Settings\Administrador\Mis documentos\Mis imágenes\pag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25" y="360363"/>
            <a:ext cx="9001125" cy="616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2" descr="C:\Documents and Settings\Administrador\Mis documentos\Mis imágenes\pag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900" y="98425"/>
            <a:ext cx="8677275" cy="635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684213" y="1989138"/>
            <a:ext cx="8135937" cy="230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539750" y="1989138"/>
            <a:ext cx="6048375" cy="2455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s-E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FIABILIDAD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s-E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AUTENTICIDAD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s-E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FACIL DE MODIFICAR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idx="1"/>
          </p:nvPr>
        </p:nvSpPr>
        <p:spPr>
          <a:xfrm>
            <a:off x="1187624" y="1071546"/>
            <a:ext cx="7670655" cy="5572164"/>
          </a:xfrm>
          <a:ln/>
        </p:spPr>
        <p:txBody>
          <a:bodyPr tIns="25471" anchor="t">
            <a:normAutofit lnSpcReduction="10000"/>
          </a:bodyPr>
          <a:lstStyle/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800" dirty="0">
                <a:latin typeface="Ubuntu" charset="0"/>
              </a:rPr>
              <a:t>Es requisito esencial que los </a:t>
            </a:r>
            <a:r>
              <a:rPr lang="es-AR" sz="2800" b="1" dirty="0">
                <a:latin typeface="Ubuntu" charset="0"/>
              </a:rPr>
              <a:t>documentos</a:t>
            </a:r>
            <a:r>
              <a:rPr lang="es-AR" sz="2800" dirty="0">
                <a:latin typeface="Ubuntu" charset="0"/>
              </a:rPr>
              <a:t> mantengan la </a:t>
            </a:r>
            <a:r>
              <a:rPr lang="es-AR" sz="2800" b="1" dirty="0">
                <a:latin typeface="Ubuntu" charset="0"/>
              </a:rPr>
              <a:t>integridad e inalterabilidad</a:t>
            </a:r>
            <a:r>
              <a:rPr lang="es-AR" sz="2800" dirty="0">
                <a:latin typeface="Ubuntu" charset="0"/>
              </a:rPr>
              <a:t>.</a:t>
            </a:r>
          </a:p>
          <a:p>
            <a:pPr marL="311045" indent="-311045">
              <a:spcAft>
                <a:spcPts val="1282"/>
              </a:spcAft>
              <a:buNone/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endParaRPr lang="es-AR" sz="2800" dirty="0">
              <a:latin typeface="Ubuntu" charset="0"/>
            </a:endParaRP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800" dirty="0">
                <a:latin typeface="Ubuntu" charset="0"/>
              </a:rPr>
              <a:t>Utilizar los </a:t>
            </a:r>
            <a:r>
              <a:rPr lang="es-AR" sz="2800" b="1" dirty="0">
                <a:latin typeface="Ubuntu" charset="0"/>
              </a:rPr>
              <a:t>documentos electrónicos y las firmas digitales</a:t>
            </a:r>
            <a:r>
              <a:rPr lang="es-AR" sz="2800" dirty="0">
                <a:latin typeface="Ubuntu" charset="0"/>
              </a:rPr>
              <a:t> como </a:t>
            </a:r>
            <a:r>
              <a:rPr lang="es-AR" sz="2800" b="1" dirty="0">
                <a:latin typeface="Ubuntu" charset="0"/>
              </a:rPr>
              <a:t>pruebas </a:t>
            </a:r>
            <a:r>
              <a:rPr lang="es-AR" sz="2800" dirty="0">
                <a:latin typeface="Ubuntu" charset="0"/>
              </a:rPr>
              <a:t>para el derecho ayuda a definir</a:t>
            </a:r>
            <a:r>
              <a:rPr lang="es-AR" sz="2800" b="1" dirty="0">
                <a:latin typeface="Ubuntu" charset="0"/>
              </a:rPr>
              <a:t> de mejor manera las leyes que los regularán.</a:t>
            </a: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endParaRPr lang="es-AR" sz="2800" dirty="0">
              <a:latin typeface="Ubuntu" charset="0"/>
            </a:endParaRP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800" dirty="0">
                <a:latin typeface="Ubuntu" charset="0"/>
              </a:rPr>
              <a:t>Es posible y conveniente el reemplazo del documento tradicional por el documento electrónico.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/>
          <p:cNvSpPr txBox="1">
            <a:spLocks noChangeArrowheads="1"/>
          </p:cNvSpPr>
          <p:nvPr/>
        </p:nvSpPr>
        <p:spPr bwMode="auto">
          <a:xfrm>
            <a:off x="326881" y="195861"/>
            <a:ext cx="8750880" cy="529111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7147" rIns="81639" bIns="40820"/>
          <a:lstStyle/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4000" b="1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40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Valor probatorio de documentos electrónicos.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b="1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04" y="2071678"/>
            <a:ext cx="5713920" cy="45724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idx="1"/>
          </p:nvPr>
        </p:nvSpPr>
        <p:spPr>
          <a:xfrm>
            <a:off x="456481" y="260648"/>
            <a:ext cx="8043840" cy="6240186"/>
          </a:xfrm>
          <a:ln/>
        </p:spPr>
        <p:txBody>
          <a:bodyPr tIns="25471" anchor="t">
            <a:normAutofit/>
          </a:bodyPr>
          <a:lstStyle/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endParaRPr lang="es-AR" sz="2400" dirty="0">
              <a:latin typeface="Ubuntu" charset="0"/>
            </a:endParaRP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400" dirty="0">
                <a:latin typeface="Ubuntu" charset="0"/>
              </a:rPr>
              <a:t>Para que una comunicación a través de Internet (u otra red) genere seguridad es necesario que la comunicación sea :</a:t>
            </a: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endParaRPr lang="es-AR" sz="2400" dirty="0">
              <a:latin typeface="Ubuntu" charset="0"/>
            </a:endParaRP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200" b="1" dirty="0">
                <a:latin typeface="Ubuntu" charset="0"/>
              </a:rPr>
              <a:t>a) Confidencial.</a:t>
            </a: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200" b="1" dirty="0">
                <a:latin typeface="Ubuntu" charset="0"/>
              </a:rPr>
              <a:t>b) Íntegra</a:t>
            </a:r>
            <a:r>
              <a:rPr lang="es-AR" sz="2200" dirty="0">
                <a:latin typeface="Ubuntu" charset="0"/>
              </a:rPr>
              <a:t> .</a:t>
            </a: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200" b="1" dirty="0">
                <a:latin typeface="Ubuntu" charset="0"/>
              </a:rPr>
              <a:t>c) Auténtica.</a:t>
            </a: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200" b="1" dirty="0">
                <a:latin typeface="Ubuntu" charset="0"/>
              </a:rPr>
              <a:t>d) No repudiable.</a:t>
            </a: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200" b="1" dirty="0">
                <a:latin typeface="Ubuntu" charset="0"/>
              </a:rPr>
              <a:t>e) Debe tener un referente temporal.</a:t>
            </a:r>
          </a:p>
          <a:p>
            <a:pPr marL="311045" indent="-311045">
              <a:spcAft>
                <a:spcPts val="1282"/>
              </a:spcAft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200" b="1" dirty="0">
                <a:latin typeface="Ubuntu" charset="0"/>
              </a:rPr>
              <a:t>f) Una prueba de que del otro lado se ha enviado la comunicación.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07504" y="316974"/>
            <a:ext cx="9001000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_tradnl" sz="2800" dirty="0"/>
              <a:t>La Tecnología introdujo un nuevo elemento:</a:t>
            </a:r>
          </a:p>
          <a:p>
            <a:pPr algn="ctr"/>
            <a:r>
              <a:rPr lang="es-ES_tradnl" sz="2800" dirty="0"/>
              <a:t>En las transacciones efectuadas a la distancia,</a:t>
            </a:r>
          </a:p>
          <a:p>
            <a:pPr algn="ctr"/>
            <a:r>
              <a:rPr lang="es-ES_tradnl" sz="2800" dirty="0"/>
              <a:t>donde las partes no se ven cara a cara, o donde</a:t>
            </a:r>
          </a:p>
          <a:p>
            <a:pPr algn="ctr"/>
            <a:r>
              <a:rPr lang="es-ES_tradnl" sz="2800" dirty="0"/>
              <a:t>quizás jamás se verán, y surge la desconfianza.</a:t>
            </a:r>
            <a:endParaRPr lang="es-ES" sz="2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8193" name="Picture 1" descr="C:\Users\MAVERICK\Desktop\Legislacion\Imagenes\delitos-informaticos-(diario-Clarin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2564904"/>
            <a:ext cx="3816424" cy="3672408"/>
          </a:xfrm>
          <a:prstGeom prst="rect">
            <a:avLst/>
          </a:prstGeom>
          <a:noFill/>
        </p:spPr>
      </p:pic>
      <p:pic>
        <p:nvPicPr>
          <p:cNvPr id="8195" name="Picture 3" descr="C:\Users\MAVERICK\Desktop\Legislacion\Imagenes\delito informatic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564904"/>
            <a:ext cx="3833890" cy="36724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1728192"/>
            <a:ext cx="8506144" cy="5157192"/>
          </a:xfrm>
        </p:spPr>
        <p:txBody>
          <a:bodyPr>
            <a:normAutofit/>
          </a:bodyPr>
          <a:lstStyle/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Los documentos electrónicos poseen los mismos elementos que un documento escrito en soporte papel; </a:t>
            </a:r>
          </a:p>
          <a:p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constan en un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soporte material 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(cintas, diskettes,</a:t>
            </a:r>
            <a:r>
              <a:rPr lang="es-ES" sz="2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circuitos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chips de 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memoria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redes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contiene un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mensaje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, el que esta escrito usando el lenguaje convencional 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los dígitos binarios o bits, entidades magnéticas que </a:t>
            </a:r>
            <a:r>
              <a:rPr lang="es-ES" sz="28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 sentidos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humanos no pueden percibir 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directamente; </a:t>
            </a:r>
          </a:p>
          <a:p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están escritos en un idioma o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 determinado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pueden ser atribuidos a una persona determinada en calidad de autor mediante una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firma digital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, clave o llave electrónica.</a:t>
            </a:r>
            <a:endParaRPr lang="es-A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1700808"/>
          </a:xfrm>
        </p:spPr>
        <p:txBody>
          <a:bodyPr>
            <a:normAutofit fontScale="90000"/>
          </a:bodyPr>
          <a:lstStyle/>
          <a:p>
            <a:r>
              <a:rPr lang="es-AR" sz="5400" dirty="0"/>
              <a:t>Soportes de</a:t>
            </a:r>
            <a:br>
              <a:rPr lang="es-AR" sz="5400" dirty="0"/>
            </a:br>
            <a:r>
              <a:rPr lang="es-AR" sz="5400" dirty="0"/>
              <a:t>Documentos Electrónicos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>
          <a:xfrm>
            <a:off x="214282" y="714356"/>
            <a:ext cx="8624918" cy="5072098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s-AR" sz="4400" dirty="0"/>
              <a:t>Un documento  Electrónico es un documento cuyo soporte material es algún tipo de dispositivo electrónico o magnético, y en el que el  contenido está codificado mediante algún tipo de  Código Digital, que puede ser leído, interpretado, o reproducido, mediante el auxilio de detectores  de magnetización.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AVERICK\Desktop\Legislacion\Imagenes\documentos sgurida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844824"/>
            <a:ext cx="2438301" cy="1802583"/>
          </a:xfrm>
          <a:prstGeom prst="rect">
            <a:avLst/>
          </a:prstGeom>
          <a:noFill/>
        </p:spPr>
      </p:pic>
      <p:sp>
        <p:nvSpPr>
          <p:cNvPr id="5" name="4 Rectángulo"/>
          <p:cNvSpPr/>
          <p:nvPr/>
        </p:nvSpPr>
        <p:spPr>
          <a:xfrm>
            <a:off x="179512" y="2204864"/>
            <a:ext cx="8640960" cy="45560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dirty="0"/>
              <a:t>Correos electrónicos, </a:t>
            </a:r>
          </a:p>
          <a:p>
            <a:r>
              <a:rPr lang="es-ES" sz="2800" dirty="0"/>
              <a:t>las boletas de los cajeros automáticos </a:t>
            </a:r>
          </a:p>
          <a:p>
            <a:r>
              <a:rPr lang="es-ES" sz="2800" dirty="0"/>
              <a:t>las tarjetas con banda magnética, </a:t>
            </a:r>
          </a:p>
          <a:p>
            <a:r>
              <a:rPr lang="es-AR" sz="2800" dirty="0"/>
              <a:t>un contrato celebrado por correo electrónico, </a:t>
            </a:r>
          </a:p>
          <a:p>
            <a:r>
              <a:rPr lang="es-AR" sz="2800" dirty="0"/>
              <a:t>una filmación sobre un pedido de soborno, </a:t>
            </a:r>
          </a:p>
          <a:p>
            <a:r>
              <a:rPr lang="es-AR" sz="2800" dirty="0"/>
              <a:t>un mensaje de texto entre la víctima y un sospechoso de asesinato. </a:t>
            </a:r>
          </a:p>
          <a:p>
            <a:endParaRPr lang="es-AR" sz="2800" dirty="0"/>
          </a:p>
          <a:p>
            <a:r>
              <a:rPr lang="es-ES" sz="2800" dirty="0"/>
              <a:t>Por tanto, documento electrónico es toda representación informática o digital que da testimonio de un hecho</a:t>
            </a:r>
            <a:endParaRPr lang="es-ES" sz="2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467544" y="116632"/>
            <a:ext cx="714343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Tipos de Documentos</a:t>
            </a:r>
          </a:p>
          <a:p>
            <a:pPr algn="ctr"/>
            <a:r>
              <a:rPr lang="es-ES" sz="54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digitales o informáticos: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251520" y="1412776"/>
            <a:ext cx="8568952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AR" sz="2400" dirty="0"/>
              <a:t>Es la forma avanzada de </a:t>
            </a:r>
            <a:r>
              <a:rPr lang="es-AR" sz="2400" dirty="0">
                <a:hlinkClick r:id="rId2" tooltip="Comunicación"/>
              </a:rPr>
              <a:t>comunicación</a:t>
            </a:r>
            <a:r>
              <a:rPr lang="es-AR" sz="2400" dirty="0"/>
              <a:t> utilizando las más</a:t>
            </a:r>
          </a:p>
          <a:p>
            <a:r>
              <a:rPr lang="es-AR" sz="2400" dirty="0"/>
              <a:t>sofisticadas </a:t>
            </a:r>
            <a:r>
              <a:rPr lang="es-AR" sz="2400" dirty="0">
                <a:hlinkClick r:id="rId3" tooltip="Tecnología"/>
              </a:rPr>
              <a:t>tecnologías</a:t>
            </a:r>
            <a:r>
              <a:rPr lang="es-AR" sz="2400" dirty="0"/>
              <a:t>. La especie humana es de carácter social , es decir, necesita de la comunicación; pues de otra manera viviríamos completamente aislados. Así, desde los inicios de la especie, la comunicación fue evolucionando utilizando cada vez técnicas más avanzadas, y tener mayor velocidad en el proceso.</a:t>
            </a:r>
            <a:endParaRPr lang="es-E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251520" y="476672"/>
            <a:ext cx="87300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AR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Comunicaciones electrónicas</a:t>
            </a:r>
          </a:p>
        </p:txBody>
      </p:sp>
      <p:pic>
        <p:nvPicPr>
          <p:cNvPr id="27650" name="Picture 2" descr="C:\Users\MAVERICK\Desktop\Legislacion\Imagenes\comunicacione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4437112"/>
            <a:ext cx="8568952" cy="2232248"/>
          </a:xfrm>
          <a:prstGeom prst="rect">
            <a:avLst/>
          </a:prstGeom>
          <a:noFill/>
        </p:spPr>
      </p:pic>
      <p:pic>
        <p:nvPicPr>
          <p:cNvPr id="27651" name="Picture 3" descr="C:\Users\MAVERICK\Desktop\Legislacion\Imagenes\cavernicola (1)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4008" y="4226341"/>
            <a:ext cx="2880320" cy="26316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>
            <a:spLocks noGrp="1"/>
          </p:cNvSpPr>
          <p:nvPr>
            <p:ph type="subTitle" idx="1"/>
          </p:nvPr>
        </p:nvSpPr>
        <p:spPr>
          <a:xfrm>
            <a:off x="395536" y="332656"/>
            <a:ext cx="8215313" cy="4032448"/>
          </a:xfrm>
        </p:spPr>
        <p:txBody>
          <a:bodyPr>
            <a:noAutofit/>
          </a:bodyPr>
          <a:lstStyle/>
          <a:p>
            <a:pPr algn="just"/>
            <a:r>
              <a:rPr lang="es-AR" sz="4000" i="1" dirty="0"/>
              <a:t>Comunicar significa intercambiar información; por lo tanto, al decir "tecnologías de la comunicación" nos referimos a los medios que el ser humano ha creado con el fin de hacer mas fácil el intercambio de información con otros seres humanos.</a:t>
            </a:r>
            <a:endParaRPr lang="es-AR" sz="4000" dirty="0"/>
          </a:p>
        </p:txBody>
      </p:sp>
      <p:pic>
        <p:nvPicPr>
          <p:cNvPr id="28674" name="Picture 2" descr="C:\Users\MAVERICK\Desktop\Legislacion\Imagenes\bush-telefon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4509120"/>
            <a:ext cx="3048000" cy="2138561"/>
          </a:xfrm>
          <a:prstGeom prst="rect">
            <a:avLst/>
          </a:prstGeom>
          <a:noFill/>
        </p:spPr>
      </p:pic>
      <p:pic>
        <p:nvPicPr>
          <p:cNvPr id="28675" name="Picture 3" descr="C:\Users\MAVERICK\Desktop\Legislacion\Imagenes\Tont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5013176"/>
            <a:ext cx="4240088" cy="16959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-99392"/>
            <a:ext cx="8002088" cy="1362456"/>
          </a:xfrm>
        </p:spPr>
        <p:txBody>
          <a:bodyPr/>
          <a:lstStyle/>
          <a:p>
            <a:r>
              <a:rPr lang="es-ES" dirty="0"/>
              <a:t>Domicilio Fiscal Electrónico</a:t>
            </a:r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55576" y="692696"/>
            <a:ext cx="7992888" cy="338437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s-AR" sz="3200" dirty="0">
                <a:latin typeface="Arial" pitchFamily="34" charset="0"/>
                <a:cs typeface="Arial" pitchFamily="34" charset="0"/>
              </a:rPr>
              <a:t>El domicilio electrónico o informático se regula con carácter optativo para el contribuyente, pero, una vez hecho, será domicilio fiscal constituido para todas las notificaciones que allí se practiquen.</a:t>
            </a:r>
          </a:p>
        </p:txBody>
      </p:sp>
      <p:pic>
        <p:nvPicPr>
          <p:cNvPr id="25602" name="Picture 2" descr="C:\Users\MAVERICK\Desktop\Legislacion\Imagenes\cart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437112"/>
            <a:ext cx="6480720" cy="21761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55576" y="1988840"/>
            <a:ext cx="7992888" cy="4869160"/>
          </a:xfrm>
        </p:spPr>
        <p:txBody>
          <a:bodyPr>
            <a:normAutofit/>
          </a:bodyPr>
          <a:lstStyle/>
          <a:p>
            <a:pPr algn="ctr"/>
            <a:r>
              <a:rPr lang="es-ES" sz="2800" i="1" dirty="0">
                <a:latin typeface="Arial" pitchFamily="34" charset="0"/>
                <a:cs typeface="Arial" pitchFamily="34" charset="0"/>
              </a:rPr>
              <a:t>Es el sitio informático seguro, personalizado, válido y optativo registrado por </a:t>
            </a:r>
            <a:r>
              <a:rPr lang="es-AR" sz="2800" i="1" dirty="0">
                <a:latin typeface="Arial" pitchFamily="34" charset="0"/>
                <a:cs typeface="Arial" pitchFamily="34" charset="0"/>
              </a:rPr>
              <a:t>los contribuyentes y responsables para el cumplimiento de sus obligaciones fiscales y para la entrega o recepción de comunicaciones de cualquier naturaleza. </a:t>
            </a:r>
          </a:p>
          <a:p>
            <a:pPr algn="ctr"/>
            <a:r>
              <a:rPr lang="es-AR" sz="2800" i="1" dirty="0">
                <a:latin typeface="Arial" pitchFamily="34" charset="0"/>
                <a:cs typeface="Arial" pitchFamily="34" charset="0"/>
              </a:rPr>
              <a:t>Su constitución, implementación y cambio se efectuará conforme a las formas, requisitos y condiciones que establezca la Administración Federal de Ingresos Públicos. </a:t>
            </a:r>
            <a:endParaRPr lang="es-AR" sz="28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AR" dirty="0"/>
          </a:p>
        </p:txBody>
      </p:sp>
      <p:sp>
        <p:nvSpPr>
          <p:cNvPr id="5" name="4 Rectángulo"/>
          <p:cNvSpPr/>
          <p:nvPr/>
        </p:nvSpPr>
        <p:spPr>
          <a:xfrm>
            <a:off x="827584" y="116632"/>
            <a:ext cx="788081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j-lt"/>
                <a:ea typeface="+mj-ea"/>
                <a:cs typeface="+mj-cs"/>
              </a:rPr>
              <a:t>Domicilio fiscal electrónico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Características:</a:t>
            </a:r>
            <a:endParaRPr lang="es-AR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MAVERICK\Desktop\Legislacion\Imagenes\documentos sgurida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2924944"/>
            <a:ext cx="4967558" cy="3672408"/>
          </a:xfrm>
          <a:prstGeom prst="rect">
            <a:avLst/>
          </a:prstGeom>
          <a:noFill/>
        </p:spPr>
      </p:pic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3528" y="1052736"/>
            <a:ext cx="8352928" cy="2160240"/>
          </a:xfrm>
        </p:spPr>
        <p:txBody>
          <a:bodyPr>
            <a:noAutofit/>
          </a:bodyPr>
          <a:lstStyle/>
          <a:p>
            <a:pPr algn="ctr"/>
            <a:r>
              <a:rPr lang="es-ES" dirty="0"/>
              <a:t> </a:t>
            </a:r>
            <a:r>
              <a:rPr lang="es-ES" sz="3200" dirty="0"/>
              <a:t>Es una herramienta administrativa, que tiene misma validez jurídica y probatoria que el expediente tradicional. </a:t>
            </a:r>
            <a:endParaRPr lang="es-AR" sz="3200" dirty="0"/>
          </a:p>
          <a:p>
            <a:pPr algn="just"/>
            <a:endParaRPr lang="es-AR" sz="2800" dirty="0"/>
          </a:p>
        </p:txBody>
      </p:sp>
      <p:sp>
        <p:nvSpPr>
          <p:cNvPr id="4" name="3 Rectángulo"/>
          <p:cNvSpPr/>
          <p:nvPr/>
        </p:nvSpPr>
        <p:spPr>
          <a:xfrm>
            <a:off x="35496" y="116632"/>
            <a:ext cx="78958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Expediente Electrónico </a:t>
            </a:r>
            <a:endParaRPr lang="es-AR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971600" y="2924944"/>
            <a:ext cx="80648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La documentación emergente de la trasmisión a distancia, por medios electrónicos, entre dependencias oficiales, constituirá, de por sí, documentación auténtica y hará plena fe a todos sus efectos en cuanto a la existencia del original trasmitido. </a:t>
            </a:r>
          </a:p>
          <a:p>
            <a:r>
              <a:rPr lang="es-ES" sz="2800" dirty="0"/>
              <a:t>Todo documento electrónico autenticado mediante firma digital, se considerará como de la autoría del usuario al que se haya asignado la clave privada correspondiente</a:t>
            </a:r>
            <a:r>
              <a:rPr lang="es-AR" sz="2800" dirty="0"/>
              <a:t>.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84856" y="188640"/>
            <a:ext cx="797090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Expedientes Electrónicos</a:t>
            </a:r>
          </a:p>
          <a:p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Características:</a:t>
            </a:r>
          </a:p>
        </p:txBody>
      </p:sp>
      <p:pic>
        <p:nvPicPr>
          <p:cNvPr id="26626" name="Picture 2" descr="C:\Users\MAVERICK\Desktop\Legislacion\Imagenes\computerforensicsservicnb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1052736"/>
            <a:ext cx="3240360" cy="18882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63549"/>
            <a:ext cx="8228160" cy="1166522"/>
          </a:xfrm>
          <a:ln/>
        </p:spPr>
        <p:txBody>
          <a:bodyPr tIns="35268">
            <a:normAutofit fontScale="90000"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ES" b="1" dirty="0"/>
              <a:t>Definición de contratación electrónica:</a:t>
            </a:r>
            <a:r>
              <a:rPr lang="es-ES" dirty="0"/>
              <a:t> 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899592" y="1604963"/>
            <a:ext cx="7776096" cy="4848225"/>
          </a:xfrm>
          <a:prstGeom prst="rect">
            <a:avLst/>
          </a:prstGeom>
          <a:noFill/>
          <a:ln/>
        </p:spPr>
        <p:txBody>
          <a:bodyPr lIns="0" tIns="25471" rIns="0" bIns="0" anchor="ctr">
            <a:normAutofit lnSpcReduction="10000"/>
          </a:bodyPr>
          <a:lstStyle/>
          <a:p>
            <a:pPr indent="-309605" algn="ctr">
              <a:spcAft>
                <a:spcPct val="0"/>
              </a:spcAft>
              <a:buClrTx/>
              <a:buNone/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ES" dirty="0"/>
              <a:t>1- Podemos definir la </a:t>
            </a:r>
            <a:r>
              <a:rPr lang="es-ES" dirty="0">
                <a:solidFill>
                  <a:srgbClr val="FF0000"/>
                </a:solidFill>
              </a:rPr>
              <a:t>contratación electrónica </a:t>
            </a:r>
            <a:r>
              <a:rPr lang="es-ES" dirty="0"/>
              <a:t>o telemática como el tráfico de mensajes dentro de una red que permite la negociación, conclusión y ejecución de contratos. </a:t>
            </a:r>
          </a:p>
          <a:p>
            <a:pPr indent="-309605" algn="ctr">
              <a:lnSpc>
                <a:spcPct val="95000"/>
              </a:lnSpc>
              <a:spcAft>
                <a:spcPct val="0"/>
              </a:spcAft>
              <a:buClrTx/>
              <a:buNone/>
              <a:tabLst>
                <a:tab pos="311045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ES" dirty="0">
                <a:latin typeface="Gill Sans MT" pitchFamily="34" charset="0"/>
                <a:cs typeface="Times New Roman" pitchFamily="16" charset="0"/>
              </a:rPr>
              <a:t>2- </a:t>
            </a:r>
            <a:r>
              <a:rPr lang="es-ES" sz="1000" dirty="0">
                <a:latin typeface="Gill Sans MT" pitchFamily="34" charset="0"/>
                <a:cs typeface="Times New Roman" pitchFamily="16" charset="0"/>
              </a:rPr>
              <a:t>“</a:t>
            </a:r>
            <a:r>
              <a:rPr lang="es-ES" dirty="0">
                <a:latin typeface="Gill Sans MT" pitchFamily="34" charset="0"/>
                <a:cs typeface="Times New Roman" pitchFamily="16" charset="0"/>
              </a:rPr>
              <a:t>El </a:t>
            </a:r>
            <a:r>
              <a:rPr lang="es-ES" dirty="0">
                <a:solidFill>
                  <a:srgbClr val="FF0000"/>
                </a:solidFill>
                <a:latin typeface="Gill Sans MT" pitchFamily="34" charset="0"/>
                <a:cs typeface="Times New Roman" pitchFamily="16" charset="0"/>
              </a:rPr>
              <a:t>contrato electrónico </a:t>
            </a:r>
            <a:r>
              <a:rPr lang="es-ES" dirty="0">
                <a:latin typeface="Gill Sans MT" pitchFamily="34" charset="0"/>
                <a:cs typeface="Times New Roman" pitchFamily="16" charset="0"/>
              </a:rPr>
              <a:t>es el intercambio telemático de información entre personas que da a una relación comercial, consistente en la entrega en línea de bienes intangibles o en un pedido electrónico de bienes tangibles”</a:t>
            </a:r>
            <a:r>
              <a:rPr lang="es-ES" sz="1000" dirty="0">
                <a:latin typeface="Gill Sans MT" pitchFamily="34" charset="0"/>
                <a:cs typeface="Times New Roman" pitchFamily="16" charset="0"/>
              </a:rPr>
              <a:t>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197281" y="979303"/>
            <a:ext cx="8750880" cy="437662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101232" rIns="81639" bIns="40820"/>
          <a:lstStyle/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65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Casos</a:t>
            </a: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65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Reales</a:t>
            </a: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65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Vinculados al Derecho Informático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521" y="131055"/>
            <a:ext cx="8033760" cy="65973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95840" y="783442"/>
            <a:ext cx="8750880" cy="671254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7147" rIns="81639" bIns="40820"/>
          <a:lstStyle/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El acusado declaro que: su ordenador era antiguo y de mala calidad y que todo se debió a una casualidad ya que para ingresar en el Banco de Francia no sólo era válido el código 1-2-3-4-5-6, sino también el contrario (6-5-4-3-2-1)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A pesar de que los expertos advierten de la importancia de elegir contraseñas alfanuméricas e ir variándolas cada cierto tiempo, este hecho pone de manifiesto la fragilidad de las medidas de seguridad de la red de muchas instituciones y empresas.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360" y="191540"/>
            <a:ext cx="8740800" cy="653684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240" y="260648"/>
            <a:ext cx="7448123" cy="6408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1"/>
          <p:cNvSpPr txBox="1">
            <a:spLocks noChangeArrowheads="1"/>
          </p:cNvSpPr>
          <p:nvPr/>
        </p:nvSpPr>
        <p:spPr bwMode="auto">
          <a:xfrm>
            <a:off x="260641" y="1045550"/>
            <a:ext cx="8750880" cy="41807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7147" rIns="81639" bIns="40820"/>
          <a:lstStyle/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Noticia 1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 algn="ctr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Madonna, Lady Gaga, Rihanna </a:t>
            </a:r>
            <a:r>
              <a:rPr lang="es-AR" sz="32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han perdido fans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. En realidad casi todos han perdido seguidores de repente. No es un arrebato general de sus seguidores, sino que </a:t>
            </a:r>
            <a:r>
              <a:rPr lang="es-AR" sz="3200" b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Facebook</a:t>
            </a:r>
            <a:r>
              <a:rPr lang="es-AR" sz="32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ha empezado a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pasar la escoba para </a:t>
            </a:r>
            <a:r>
              <a:rPr lang="es-AR" sz="32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eliminar falsas identidades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y, en consecuencia, </a:t>
            </a:r>
            <a:r>
              <a:rPr lang="es-AR" sz="32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falsos "me gusta"</a:t>
            </a:r>
            <a:r>
              <a:rPr lang="es-AR" sz="32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. Porque aunque todo parezca gratis, se paga hasta por hacer sobre el simbolito del dedo hacia arriba.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b="1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b="1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611560" y="548680"/>
            <a:ext cx="8164800" cy="320001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40820" rIns="81639" bIns="40820"/>
          <a:lstStyle/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Noticia 2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s-AR" sz="36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A fines de agosto de 2014, la red social se había comprometido a mejorar </a:t>
            </a:r>
            <a:r>
              <a:rPr lang="es-AR" sz="36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la integridad del sitio </a:t>
            </a:r>
            <a:r>
              <a:rPr lang="es-AR" sz="36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por eso empezó a borrar perfiles ilegítimos</a:t>
            </a:r>
            <a:r>
              <a:rPr lang="es-AR" sz="3600" dirty="0">
                <a:solidFill>
                  <a:srgbClr val="CCCCFF"/>
                </a:solidFill>
                <a:latin typeface="Ubuntu" charset="0"/>
                <a:ea typeface="Droid Sans Fallback" charset="0"/>
                <a:cs typeface="Droid Sans Fallback" charset="0"/>
                <a:hlinkClick r:id="rId3"/>
              </a:rPr>
              <a:t>, que representan más del 8% del total de "amigos" en la plataforma</a:t>
            </a:r>
            <a:r>
              <a:rPr lang="es-AR" sz="36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. Como resultado, varias páginas perdieron parte de sus "me gusta".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95840" y="195861"/>
            <a:ext cx="8750880" cy="709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7147" rIns="81639" bIns="40820"/>
          <a:lstStyle/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Paginas de Seguridad de </a:t>
            </a:r>
            <a:r>
              <a:rPr lang="es-AR" sz="2400" b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Facebook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: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b="1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641" y="1054191"/>
            <a:ext cx="8491680" cy="465024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2960" y="1437271"/>
            <a:ext cx="6174720" cy="48533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1331639" y="476672"/>
            <a:ext cx="7679881" cy="547260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7147" rIns="81639" bIns="40820"/>
          <a:lstStyle/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En su página </a:t>
            </a:r>
            <a:r>
              <a:rPr lang="es-AR" sz="2400" i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Facebook</a:t>
            </a:r>
            <a:r>
              <a:rPr lang="es-AR" sz="2400" i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Security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, la plataforma hizo especial hincapié en el problema de los falsos "me gusta", que ayudan a agrandar la base de seguidores de determinadas páginas y, por lo tanto, su popularidad de forma ilegítima.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Fuentes:</a:t>
            </a:r>
            <a:b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</a:b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u="sng" dirty="0">
                <a:solidFill>
                  <a:srgbClr val="CCCCFF"/>
                </a:solidFill>
                <a:latin typeface="Ubuntu" charset="0"/>
                <a:ea typeface="Droid Sans Fallback" charset="0"/>
                <a:cs typeface="Droid Sans Fallback" charset="0"/>
                <a:hlinkClick r:id="rId3"/>
              </a:rPr>
              <a:t>http://tinyurl.com/8k5j8x9</a:t>
            </a:r>
            <a:br>
              <a:rPr lang="es-AR" sz="2400" u="sng" dirty="0">
                <a:solidFill>
                  <a:srgbClr val="0000FF"/>
                </a:solidFill>
                <a:latin typeface="Ubuntu" charset="0"/>
                <a:ea typeface="Droid Sans Fallback" charset="0"/>
                <a:cs typeface="Droid Sans Fallback" charset="0"/>
              </a:rPr>
            </a:br>
            <a:endParaRPr lang="es-AR" sz="2400" u="sng" dirty="0">
              <a:solidFill>
                <a:srgbClr val="0000FF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u="sng" dirty="0">
              <a:solidFill>
                <a:srgbClr val="0000FF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u="sng" dirty="0">
                <a:solidFill>
                  <a:srgbClr val="0000FF"/>
                </a:solidFill>
                <a:latin typeface="Ubuntu" charset="0"/>
                <a:ea typeface="Droid Sans Fallback" charset="0"/>
                <a:cs typeface="Droid Sans Fallback" charset="0"/>
              </a:rPr>
              <a:t>http://tinyurl.com/9s7am8h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1280" y="404664"/>
            <a:ext cx="7363168" cy="60256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1259631" y="914497"/>
            <a:ext cx="7688529" cy="57447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7147" rIns="81639" bIns="40820"/>
          <a:lstStyle/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Políticas de seguridad de </a:t>
            </a:r>
            <a:r>
              <a:rPr lang="es-AR" sz="2400" b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Facebook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: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Facebook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suministra una serie de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herramientas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para ayudar a una mejor seguridad, en un v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ideo explicativo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menciona diferentes maneras de proteger los perfiles.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Podemos destacar que: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           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Es un tipo </a:t>
            </a:r>
            <a:r>
              <a:rPr lang="es-AR" sz="240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de seguridad 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relacionado con el dispositivo, </a:t>
            </a:r>
            <a:r>
              <a:rPr lang="es-AR" sz="2400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facebook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es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capaz de avisar si te conectas a tu pagina de </a:t>
            </a:r>
            <a:r>
              <a:rPr lang="es-AR" sz="2400" b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facebook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desde un dispositivo desconocido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, si así lo desea el cliente, puede enviar un mail/mensaje de texto notificando el suceso.</a:t>
            </a:r>
            <a:r>
              <a:rPr lang="es-AR" sz="2200" dirty="0">
                <a:solidFill>
                  <a:srgbClr val="000000"/>
                </a:solidFill>
                <a:latin typeface="Courier New" pitchFamily="49" charset="0"/>
                <a:ea typeface="Droid Sans Fallback" charset="0"/>
                <a:cs typeface="Droid Sans Fallback" charset="0"/>
              </a:rPr>
              <a:t> 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1"/>
          <p:cNvSpPr txBox="1">
            <a:spLocks noChangeArrowheads="1"/>
          </p:cNvSpPr>
          <p:nvPr/>
        </p:nvSpPr>
        <p:spPr bwMode="auto">
          <a:xfrm>
            <a:off x="1331640" y="195861"/>
            <a:ext cx="7615080" cy="555178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7147" rIns="81639" bIns="40820"/>
          <a:lstStyle/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200" dirty="0">
              <a:solidFill>
                <a:srgbClr val="000000"/>
              </a:solidFill>
              <a:latin typeface="Courier New" pitchFamily="49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Se puede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verificar cuantas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sesiones de </a:t>
            </a:r>
            <a:r>
              <a:rPr lang="es-AR" sz="2400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facebook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están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activas en un momento dado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y cual es el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historial de ingresos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al sistema, además proporciona información sobre la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localización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aproximada del dispositivo que accedió,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hora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y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sistema operativo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del usuario. 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b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One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time </a:t>
            </a:r>
            <a:r>
              <a:rPr lang="es-AR" sz="2400" b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passwords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: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Contraseñas para cuando no estas seguro sobre la red a la q te estas conectando o vas a un </a:t>
            </a:r>
            <a:r>
              <a:rPr lang="es-AR" sz="2400" b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ciber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.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Estas contraseñas solo sirven para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un solo inicio de sesión después pierden validez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. Este es el objetivo, si alguien eventualmente estuviera corriendo un </a:t>
            </a:r>
            <a:r>
              <a:rPr lang="es-AR" sz="2400" b="1" dirty="0" err="1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keylogger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no le serviría de nada</a:t>
            </a:r>
            <a:r>
              <a:rPr lang="es-AR" sz="2400" dirty="0">
                <a:solidFill>
                  <a:srgbClr val="000000"/>
                </a:solidFill>
                <a:latin typeface="Ubuntu" charset="0"/>
                <a:ea typeface="Droid Sans Fallback" charset="0"/>
                <a:cs typeface="Droid Sans Fallback" charset="0"/>
              </a:rPr>
              <a:t> obtener esa contraseña.</a:t>
            </a:r>
          </a:p>
          <a:p>
            <a:pPr>
              <a:lnSpc>
                <a:spcPct val="94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s-AR" sz="2400" dirty="0">
              <a:solidFill>
                <a:srgbClr val="000000"/>
              </a:solidFill>
              <a:latin typeface="Ubuntu" charset="0"/>
              <a:ea typeface="Droid Sans Fallback" charset="0"/>
              <a:cs typeface="Droid Sans Fallback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io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465</TotalTime>
  <Words>1666</Words>
  <Application>Microsoft Macintosh PowerPoint</Application>
  <PresentationFormat>Presentación en pantalla (4:3)</PresentationFormat>
  <Paragraphs>155</Paragraphs>
  <Slides>43</Slides>
  <Notes>20</Notes>
  <HiddenSlides>1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3" baseType="lpstr">
      <vt:lpstr>Arial</vt:lpstr>
      <vt:lpstr>Calibri</vt:lpstr>
      <vt:lpstr>Courier New</vt:lpstr>
      <vt:lpstr>Droid Sans Fallback</vt:lpstr>
      <vt:lpstr>Gill Sans MT</vt:lpstr>
      <vt:lpstr>Times New Roman</vt:lpstr>
      <vt:lpstr>Ubuntu</vt:lpstr>
      <vt:lpstr>Verdana</vt:lpstr>
      <vt:lpstr>Wingdings 2</vt:lpstr>
      <vt:lpstr>Solsticio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DOCUMENTO:  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Soportes de Documentos Electrónicos</vt:lpstr>
      <vt:lpstr>Presentación de PowerPoint</vt:lpstr>
      <vt:lpstr>Presentación de PowerPoint</vt:lpstr>
      <vt:lpstr>Presentación de PowerPoint</vt:lpstr>
      <vt:lpstr>Presentación de PowerPoint</vt:lpstr>
      <vt:lpstr>Domicilio Fiscal Electrónico</vt:lpstr>
      <vt:lpstr>Presentación de PowerPoint</vt:lpstr>
      <vt:lpstr>Presentación de PowerPoint</vt:lpstr>
      <vt:lpstr>Presentación de PowerPoint</vt:lpstr>
      <vt:lpstr>Definición de contratación electrónica: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CONCEPTOS</dc:title>
  <dc:creator>Silvia</dc:creator>
  <cp:lastModifiedBy>Diego Sebastián Gutiérrez</cp:lastModifiedBy>
  <cp:revision>25</cp:revision>
  <dcterms:created xsi:type="dcterms:W3CDTF">2014-09-10T12:42:47Z</dcterms:created>
  <dcterms:modified xsi:type="dcterms:W3CDTF">2024-04-18T15:49:08Z</dcterms:modified>
</cp:coreProperties>
</file>