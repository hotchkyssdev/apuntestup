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Lst>
  <p:notesMasterIdLst>
    <p:notesMasterId r:id="rId53"/>
  </p:notesMasterIdLst>
  <p:sldIdLst>
    <p:sldId id="310" r:id="rId3"/>
    <p:sldId id="314" r:id="rId4"/>
    <p:sldId id="315" r:id="rId5"/>
    <p:sldId id="317" r:id="rId6"/>
    <p:sldId id="318" r:id="rId7"/>
    <p:sldId id="319" r:id="rId8"/>
    <p:sldId id="316" r:id="rId9"/>
    <p:sldId id="320" r:id="rId10"/>
    <p:sldId id="257" r:id="rId11"/>
    <p:sldId id="296" r:id="rId12"/>
    <p:sldId id="297" r:id="rId13"/>
    <p:sldId id="298" r:id="rId14"/>
    <p:sldId id="303" r:id="rId15"/>
    <p:sldId id="304" r:id="rId16"/>
    <p:sldId id="258" r:id="rId17"/>
    <p:sldId id="259" r:id="rId18"/>
    <p:sldId id="260" r:id="rId19"/>
    <p:sldId id="261" r:id="rId20"/>
    <p:sldId id="292" r:id="rId21"/>
    <p:sldId id="289" r:id="rId22"/>
    <p:sldId id="290" r:id="rId23"/>
    <p:sldId id="321" r:id="rId24"/>
    <p:sldId id="295" r:id="rId25"/>
    <p:sldId id="322" r:id="rId26"/>
    <p:sldId id="302" r:id="rId27"/>
    <p:sldId id="262" r:id="rId28"/>
    <p:sldId id="263" r:id="rId29"/>
    <p:sldId id="265" r:id="rId30"/>
    <p:sldId id="266" r:id="rId31"/>
    <p:sldId id="283" r:id="rId32"/>
    <p:sldId id="267" r:id="rId33"/>
    <p:sldId id="268" r:id="rId34"/>
    <p:sldId id="285" r:id="rId35"/>
    <p:sldId id="269" r:id="rId36"/>
    <p:sldId id="286" r:id="rId37"/>
    <p:sldId id="270" r:id="rId38"/>
    <p:sldId id="271" r:id="rId39"/>
    <p:sldId id="275" r:id="rId40"/>
    <p:sldId id="276" r:id="rId41"/>
    <p:sldId id="277" r:id="rId42"/>
    <p:sldId id="278" r:id="rId43"/>
    <p:sldId id="279" r:id="rId44"/>
    <p:sldId id="280" r:id="rId45"/>
    <p:sldId id="281" r:id="rId46"/>
    <p:sldId id="282" r:id="rId47"/>
    <p:sldId id="305" r:id="rId48"/>
    <p:sldId id="306" r:id="rId49"/>
    <p:sldId id="307" r:id="rId50"/>
    <p:sldId id="308" r:id="rId51"/>
    <p:sldId id="309" r:id="rId52"/>
  </p:sldIdLst>
  <p:sldSz cx="9144000" cy="6858000" type="screen4x3"/>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3062"/>
  </p:normalViewPr>
  <p:slideViewPr>
    <p:cSldViewPr>
      <p:cViewPr varScale="1">
        <p:scale>
          <a:sx n="100" d="100"/>
          <a:sy n="100" d="100"/>
        </p:scale>
        <p:origin x="1960"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image" Target="../media/image17.emf"/><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FB19D35-4946-4D5A-B110-455951D2BB2B}" type="datetimeFigureOut">
              <a:rPr lang="es-AR" smtClean="0"/>
              <a:pPr/>
              <a:t>22/9/25</a:t>
            </a:fld>
            <a:endParaRPr lang="es-A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1613067-DC52-4DAE-998A-CB6AB466DD28}" type="slidenum">
              <a:rPr lang="es-AR" smtClean="0"/>
              <a:pPr/>
              <a:t>‹Nº›</a:t>
            </a:fld>
            <a:endParaRPr lang="es-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D270E15D-CF54-4C74-B16C-773BBF991CBA}" type="slidenum">
              <a:rPr lang="es-ES"/>
              <a:pPr/>
              <a:t>32</a:t>
            </a:fld>
            <a:endParaRPr lang="es-ES"/>
          </a:p>
        </p:txBody>
      </p:sp>
      <p:sp>
        <p:nvSpPr>
          <p:cNvPr id="26625"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p:spPr>
      </p:sp>
      <p:sp>
        <p:nvSpPr>
          <p:cNvPr id="26626" name="Rectangle 2"/>
          <p:cNvSpPr txBox="1">
            <a:spLocks noGrp="1" noChangeArrowheads="1"/>
          </p:cNvSpPr>
          <p:nvPr>
            <p:ph type="body" idx="1"/>
          </p:nvPr>
        </p:nvSpPr>
        <p:spPr bwMode="auto">
          <a:xfrm>
            <a:off x="685512" y="4343230"/>
            <a:ext cx="5486976" cy="4115139"/>
          </a:xfrm>
          <a:prstGeom prst="rect">
            <a:avLst/>
          </a:prstGeom>
          <a:noFill/>
          <a:ln>
            <a:round/>
            <a:headEnd/>
            <a:tailEnd/>
          </a:ln>
        </p:spPr>
        <p:txBody>
          <a:bodyPr wrap="none" anchor="ct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B19916E9-1C27-4580-A8EC-E00C8AD55261}" type="slidenum">
              <a:rPr lang="es-ES"/>
              <a:pPr/>
              <a:t>34</a:t>
            </a:fld>
            <a:endParaRPr lang="es-ES"/>
          </a:p>
        </p:txBody>
      </p:sp>
      <p:sp>
        <p:nvSpPr>
          <p:cNvPr id="27649"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p:spPr>
      </p:sp>
      <p:sp>
        <p:nvSpPr>
          <p:cNvPr id="27650" name="Rectangle 2"/>
          <p:cNvSpPr txBox="1">
            <a:spLocks noGrp="1" noChangeArrowheads="1"/>
          </p:cNvSpPr>
          <p:nvPr>
            <p:ph type="body" idx="1"/>
          </p:nvPr>
        </p:nvSpPr>
        <p:spPr bwMode="auto">
          <a:xfrm>
            <a:off x="685512" y="4343230"/>
            <a:ext cx="5486976" cy="4115139"/>
          </a:xfrm>
          <a:prstGeom prst="rect">
            <a:avLst/>
          </a:prstGeom>
          <a:noFill/>
          <a:ln>
            <a:round/>
            <a:headEnd/>
            <a:tailEnd/>
          </a:ln>
        </p:spPr>
        <p:txBody>
          <a:bodyPr wrap="none" anchor="ct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041E889E-99C7-4ED3-ADC8-C546664EB648}" type="slidenum">
              <a:rPr lang="es-ES"/>
              <a:pPr/>
              <a:t>36</a:t>
            </a:fld>
            <a:endParaRPr lang="es-ES"/>
          </a:p>
        </p:txBody>
      </p:sp>
      <p:sp>
        <p:nvSpPr>
          <p:cNvPr id="28673"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p:spPr>
      </p:sp>
      <p:sp>
        <p:nvSpPr>
          <p:cNvPr id="28674" name="Rectangle 2"/>
          <p:cNvSpPr txBox="1">
            <a:spLocks noGrp="1" noChangeArrowheads="1"/>
          </p:cNvSpPr>
          <p:nvPr>
            <p:ph type="body" idx="1"/>
          </p:nvPr>
        </p:nvSpPr>
        <p:spPr bwMode="auto">
          <a:xfrm>
            <a:off x="685512" y="4343230"/>
            <a:ext cx="5486976" cy="4115139"/>
          </a:xfrm>
          <a:prstGeom prst="rect">
            <a:avLst/>
          </a:prstGeom>
          <a:noFill/>
          <a:ln>
            <a:round/>
            <a:headEnd/>
            <a:tailEnd/>
          </a:ln>
        </p:spPr>
        <p:txBody>
          <a:bodyPr wrap="none" anchor="ctr"/>
          <a:lstStyle/>
          <a:p>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8772931E-0756-4D84-9C03-BC2346B04424}" type="slidenum">
              <a:rPr lang="es-ES"/>
              <a:pPr/>
              <a:t>37</a:t>
            </a:fld>
            <a:endParaRPr lang="es-ES"/>
          </a:p>
        </p:txBody>
      </p:sp>
      <p:sp>
        <p:nvSpPr>
          <p:cNvPr id="29697"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p:spPr>
      </p:sp>
      <p:sp>
        <p:nvSpPr>
          <p:cNvPr id="29698" name="Rectangle 2"/>
          <p:cNvSpPr txBox="1">
            <a:spLocks noGrp="1" noChangeArrowheads="1"/>
          </p:cNvSpPr>
          <p:nvPr>
            <p:ph type="body" idx="1"/>
          </p:nvPr>
        </p:nvSpPr>
        <p:spPr bwMode="auto">
          <a:xfrm>
            <a:off x="685512" y="4343230"/>
            <a:ext cx="5486976" cy="4115139"/>
          </a:xfrm>
          <a:prstGeom prst="rect">
            <a:avLst/>
          </a:prstGeom>
          <a:noFill/>
          <a:ln>
            <a:round/>
            <a:headEnd/>
            <a:tailEnd/>
          </a:ln>
        </p:spPr>
        <p:txBody>
          <a:bodyPr wrap="none" anchor="ctr"/>
          <a:lstStyle/>
          <a:p>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5C32D485-7E72-4C56-B5C5-50B4D15C4955}" type="slidenum">
              <a:rPr lang="es-ES"/>
              <a:pPr/>
              <a:t>46</a:t>
            </a:fld>
            <a:endParaRPr lang="es-ES"/>
          </a:p>
        </p:txBody>
      </p:sp>
      <p:sp>
        <p:nvSpPr>
          <p:cNvPr id="30721" name="Rectangle 1"/>
          <p:cNvSpPr txBox="1">
            <a:spLocks noGrp="1" noRot="1" noChangeAspect="1" noChangeArrowheads="1"/>
          </p:cNvSpPr>
          <p:nvPr>
            <p:ph type="sldImg"/>
          </p:nvPr>
        </p:nvSpPr>
        <p:spPr bwMode="auto">
          <a:xfrm>
            <a:off x="1143000" y="695325"/>
            <a:ext cx="4568825" cy="3425825"/>
          </a:xfrm>
          <a:prstGeom prst="rect">
            <a:avLst/>
          </a:prstGeom>
          <a:solidFill>
            <a:srgbClr val="FFFFFF"/>
          </a:solidFill>
          <a:ln>
            <a:solidFill>
              <a:srgbClr val="000000"/>
            </a:solidFill>
            <a:miter lim="800000"/>
            <a:headEnd/>
            <a:tailEnd/>
          </a:ln>
        </p:spPr>
      </p:sp>
      <p:sp>
        <p:nvSpPr>
          <p:cNvPr id="30722" name="Rectangle 2"/>
          <p:cNvSpPr txBox="1">
            <a:spLocks noGrp="1" noChangeArrowheads="1"/>
          </p:cNvSpPr>
          <p:nvPr>
            <p:ph type="body" idx="1"/>
          </p:nvPr>
        </p:nvSpPr>
        <p:spPr bwMode="auto">
          <a:xfrm>
            <a:off x="685512" y="4343231"/>
            <a:ext cx="5485536" cy="4113782"/>
          </a:xfrm>
          <a:prstGeom prst="rect">
            <a:avLst/>
          </a:prstGeom>
          <a:noFill/>
          <a:ln>
            <a:round/>
            <a:headEnd/>
            <a:tailEnd/>
          </a:ln>
        </p:spPr>
        <p:txBody>
          <a:bodyPr wrap="none" anchor="ct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58A41B59-1556-4AA1-819A-80C342ED7CB3}" type="slidenum">
              <a:rPr lang="es-ES"/>
              <a:pPr/>
              <a:t>48</a:t>
            </a:fld>
            <a:endParaRPr lang="es-ES"/>
          </a:p>
        </p:txBody>
      </p:sp>
      <p:sp>
        <p:nvSpPr>
          <p:cNvPr id="31745" name="Rectangle 1"/>
          <p:cNvSpPr txBox="1">
            <a:spLocks noGrp="1" noRot="1" noChangeAspect="1" noChangeArrowheads="1"/>
          </p:cNvSpPr>
          <p:nvPr>
            <p:ph type="sldImg"/>
          </p:nvPr>
        </p:nvSpPr>
        <p:spPr bwMode="auto">
          <a:xfrm>
            <a:off x="1143000" y="695325"/>
            <a:ext cx="4568825" cy="3425825"/>
          </a:xfrm>
          <a:prstGeom prst="rect">
            <a:avLst/>
          </a:prstGeom>
          <a:solidFill>
            <a:srgbClr val="FFFFFF"/>
          </a:solidFill>
          <a:ln>
            <a:solidFill>
              <a:srgbClr val="000000"/>
            </a:solidFill>
            <a:miter lim="800000"/>
            <a:headEnd/>
            <a:tailEnd/>
          </a:ln>
        </p:spPr>
      </p:sp>
      <p:sp>
        <p:nvSpPr>
          <p:cNvPr id="31746" name="Rectangle 2"/>
          <p:cNvSpPr txBox="1">
            <a:spLocks noGrp="1" noChangeArrowheads="1"/>
          </p:cNvSpPr>
          <p:nvPr>
            <p:ph type="body" idx="1"/>
          </p:nvPr>
        </p:nvSpPr>
        <p:spPr bwMode="auto">
          <a:xfrm>
            <a:off x="685512" y="4343231"/>
            <a:ext cx="5485536" cy="4113782"/>
          </a:xfrm>
          <a:prstGeom prst="rect">
            <a:avLst/>
          </a:prstGeom>
          <a:noFill/>
          <a:ln>
            <a:round/>
            <a:headEnd/>
            <a:tailEnd/>
          </a:ln>
        </p:spPr>
        <p:txBody>
          <a:bodyPr wrap="none" anchor="ctr"/>
          <a:lstStyle/>
          <a:p>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4E8100D4-85BB-4987-8250-25B880CBCB27}" type="slidenum">
              <a:rPr lang="es-ES"/>
              <a:pPr/>
              <a:t>50</a:t>
            </a:fld>
            <a:endParaRPr lang="es-ES"/>
          </a:p>
        </p:txBody>
      </p:sp>
      <p:sp>
        <p:nvSpPr>
          <p:cNvPr id="32769" name="Rectangle 1"/>
          <p:cNvSpPr txBox="1">
            <a:spLocks noGrp="1" noRot="1" noChangeAspect="1" noChangeArrowheads="1"/>
          </p:cNvSpPr>
          <p:nvPr>
            <p:ph type="sldImg"/>
          </p:nvPr>
        </p:nvSpPr>
        <p:spPr bwMode="auto">
          <a:xfrm>
            <a:off x="1143000" y="695325"/>
            <a:ext cx="4568825" cy="3425825"/>
          </a:xfrm>
          <a:prstGeom prst="rect">
            <a:avLst/>
          </a:prstGeom>
          <a:solidFill>
            <a:srgbClr val="FFFFFF"/>
          </a:solidFill>
          <a:ln>
            <a:solidFill>
              <a:srgbClr val="000000"/>
            </a:solidFill>
            <a:miter lim="800000"/>
            <a:headEnd/>
            <a:tailEnd/>
          </a:ln>
        </p:spPr>
      </p:sp>
      <p:sp>
        <p:nvSpPr>
          <p:cNvPr id="32770" name="Rectangle 2"/>
          <p:cNvSpPr txBox="1">
            <a:spLocks noGrp="1" noChangeArrowheads="1"/>
          </p:cNvSpPr>
          <p:nvPr>
            <p:ph type="body" idx="1"/>
          </p:nvPr>
        </p:nvSpPr>
        <p:spPr bwMode="auto">
          <a:xfrm>
            <a:off x="685512" y="4343231"/>
            <a:ext cx="5485536" cy="4113782"/>
          </a:xfrm>
          <a:prstGeom prst="rect">
            <a:avLst/>
          </a:prstGeom>
          <a:noFill/>
          <a:ln>
            <a:round/>
            <a:headEnd/>
            <a:tailEnd/>
          </a:ln>
        </p:spPr>
        <p:txBody>
          <a:bodyPr wrap="none" anchor="ctr"/>
          <a:lstStyle/>
          <a:p>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redondeado"/>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4 Título"/>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s-ES"/>
              <a:t>Haga clic para modificar el estilo de título del patrón</a:t>
            </a:r>
            <a:endParaRPr kumimoji="0" lang="en-US"/>
          </a:p>
        </p:txBody>
      </p:sp>
      <p:sp>
        <p:nvSpPr>
          <p:cNvPr id="20" name="19 Subtítulo"/>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a:t>Haga clic para modificar el estilo de subtítulo del patrón</a:t>
            </a:r>
            <a:endParaRPr kumimoji="0" lang="en-US"/>
          </a:p>
        </p:txBody>
      </p:sp>
      <p:sp>
        <p:nvSpPr>
          <p:cNvPr id="19" name="18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8" name="7 Marcador de pie de página"/>
          <p:cNvSpPr>
            <a:spLocks noGrp="1"/>
          </p:cNvSpPr>
          <p:nvPr>
            <p:ph type="ftr" sz="quarter" idx="11"/>
          </p:nvPr>
        </p:nvSpPr>
        <p:spPr/>
        <p:txBody>
          <a:bodyPr/>
          <a:lstStyle/>
          <a:p>
            <a:endParaRPr lang="es-AR"/>
          </a:p>
        </p:txBody>
      </p:sp>
      <p:sp>
        <p:nvSpPr>
          <p:cNvPr id="11" name="10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a:xfrm>
            <a:off x="502920" y="530352"/>
            <a:ext cx="8183880" cy="4187952"/>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13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redondeado"/>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nchor="b"/>
          <a:lstStyle>
            <a:lvl1pPr>
              <a:defRPr b="1"/>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dondear rectángulo de esquina sencilla"/>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s-ES"/>
              <a:t>Haga clic para modificar el estilo de título del patrón</a:t>
            </a:r>
            <a:endParaRPr kumimoji="0" lang="en-US"/>
          </a:p>
        </p:txBody>
      </p:sp>
      <p:sp>
        <p:nvSpPr>
          <p:cNvPr id="4" name="3 Marcador de texto"/>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
        <p:nvSpPr>
          <p:cNvPr id="3" name="2 Marcador de posición de imagen"/>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s-ES"/>
              <a:t>Haga clic en el icono para agregar una imagen</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502920" y="530352"/>
            <a:ext cx="8183880" cy="4187952"/>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3404"/>
            <a:ext cx="1981200" cy="5257799"/>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533400" y="533402"/>
            <a:ext cx="5943600" cy="525780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6480" y="273629"/>
            <a:ext cx="8225280" cy="1142040"/>
          </a:xfrm>
        </p:spPr>
        <p:txBody>
          <a:bodyPr tIns="41473"/>
          <a:lstStyle/>
          <a:p>
            <a:r>
              <a:rPr lang="es-ES"/>
              <a:t>Haga clic para modificar el estilo de título del patrón</a:t>
            </a:r>
          </a:p>
        </p:txBody>
      </p:sp>
      <p:sp>
        <p:nvSpPr>
          <p:cNvPr id="3" name="2 Marcador de fecha"/>
          <p:cNvSpPr>
            <a:spLocks noGrp="1"/>
          </p:cNvSpPr>
          <p:nvPr>
            <p:ph type="dt" idx="10"/>
          </p:nvPr>
        </p:nvSpPr>
        <p:spPr>
          <a:xfrm>
            <a:off x="456481" y="6247376"/>
            <a:ext cx="2126880" cy="469489"/>
          </a:xfrm>
        </p:spPr>
        <p:txBody>
          <a:bodyPr/>
          <a:lstStyle>
            <a:lvl1pPr>
              <a:defRPr/>
            </a:lvl1pPr>
          </a:lstStyle>
          <a:p>
            <a:endParaRPr lang="es-ES"/>
          </a:p>
        </p:txBody>
      </p:sp>
      <p:sp>
        <p:nvSpPr>
          <p:cNvPr id="4" name="3 Marcador de pie de página"/>
          <p:cNvSpPr>
            <a:spLocks noGrp="1"/>
          </p:cNvSpPr>
          <p:nvPr>
            <p:ph type="ftr" idx="11"/>
          </p:nvPr>
        </p:nvSpPr>
        <p:spPr>
          <a:xfrm>
            <a:off x="3127681" y="6247376"/>
            <a:ext cx="2895840" cy="469489"/>
          </a:xfrm>
        </p:spPr>
        <p:txBody>
          <a:bodyPr/>
          <a:lstStyle>
            <a:lvl1pPr>
              <a:defRPr/>
            </a:lvl1pPr>
          </a:lstStyle>
          <a:p>
            <a:endParaRPr lang="es-ES"/>
          </a:p>
        </p:txBody>
      </p:sp>
      <p:sp>
        <p:nvSpPr>
          <p:cNvPr id="5" name="4 Marcador de número de diapositiva"/>
          <p:cNvSpPr>
            <a:spLocks noGrp="1"/>
          </p:cNvSpPr>
          <p:nvPr>
            <p:ph type="sldNum" idx="12"/>
          </p:nvPr>
        </p:nvSpPr>
        <p:spPr>
          <a:xfrm>
            <a:off x="6556321" y="6247376"/>
            <a:ext cx="2126880" cy="469489"/>
          </a:xfrm>
        </p:spPr>
        <p:txBody>
          <a:bodyPr/>
          <a:lstStyle>
            <a:lvl1pPr>
              <a:defRPr/>
            </a:lvl1pPr>
          </a:lstStyle>
          <a:p>
            <a:fld id="{8B0C01D7-6575-4B62-92E9-3F60C01E1552}" type="slidenum">
              <a:rPr lang="es-ES"/>
              <a:pPr/>
              <a:t>‹Nº›</a:t>
            </a:fld>
            <a:endParaRPr lang="es-E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9 Rectángulo redondeado"/>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4 Título"/>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s-ES"/>
              <a:t>Haga clic para modificar el estilo de título del patrón</a:t>
            </a:r>
            <a:endParaRPr kumimoji="0" lang="en-US"/>
          </a:p>
        </p:txBody>
      </p:sp>
      <p:sp>
        <p:nvSpPr>
          <p:cNvPr id="20" name="19 Subtítulo"/>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a:t>Haga clic para modificar el estilo de subtítulo del patrón</a:t>
            </a:r>
            <a:endParaRPr kumimoji="0" lang="en-US"/>
          </a:p>
        </p:txBody>
      </p:sp>
      <p:sp>
        <p:nvSpPr>
          <p:cNvPr id="19" name="18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8" name="7 Marcador de pie de página"/>
          <p:cNvSpPr>
            <a:spLocks noGrp="1"/>
          </p:cNvSpPr>
          <p:nvPr>
            <p:ph type="ftr" sz="quarter" idx="11"/>
          </p:nvPr>
        </p:nvSpPr>
        <p:spPr/>
        <p:txBody>
          <a:bodyPr/>
          <a:lstStyle/>
          <a:p>
            <a:endParaRPr lang="es-AR"/>
          </a:p>
        </p:txBody>
      </p:sp>
      <p:sp>
        <p:nvSpPr>
          <p:cNvPr id="11" name="10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p>
            <a:r>
              <a:rPr kumimoji="0" lang="es-ES"/>
              <a:t>Haga clic para modificar el estilo de título del patrón</a:t>
            </a:r>
            <a:endParaRPr kumimoji="0" lang="en-US"/>
          </a:p>
        </p:txBody>
      </p:sp>
      <p:sp>
        <p:nvSpPr>
          <p:cNvPr id="3" name="2 Marcador de contenido"/>
          <p:cNvSpPr>
            <a:spLocks noGrp="1"/>
          </p:cNvSpPr>
          <p:nvPr>
            <p:ph idx="1"/>
          </p:nvPr>
        </p:nvSpPr>
        <p:spPr>
          <a:xfrm>
            <a:off x="502920" y="530352"/>
            <a:ext cx="8183880" cy="4187952"/>
          </a:xfrm>
        </p:spPr>
        <p:txBody>
          <a:bodyPr/>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13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ctángulo redondeado"/>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a:t>Haga clic para modificar el estilo de texto del patrón</a:t>
            </a:r>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contenido"/>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nchor="b"/>
          <a:lstStyle>
            <a:lvl1pPr>
              <a:defRPr b="1"/>
            </a:lvl1pPr>
            <a:extLst/>
          </a:lstStyle>
          <a:p>
            <a:r>
              <a:rPr kumimoji="0" lang="es-ES"/>
              <a:t>Haga clic para modificar el estilo de título del patrón</a:t>
            </a:r>
            <a:endParaRPr kumimoji="0" lang="en-US"/>
          </a:p>
        </p:txBody>
      </p:sp>
      <p:sp>
        <p:nvSpPr>
          <p:cNvPr id="3" name="2 Marcador de texto"/>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4" name="3 Marcador de texto"/>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a:t>Haga clic para modificar el estilo de texto del patrón</a:t>
            </a:r>
          </a:p>
        </p:txBody>
      </p:sp>
      <p:sp>
        <p:nvSpPr>
          <p:cNvPr id="5" name="4 Marcador de contenido"/>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6" name="5 Marcador de contenido"/>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7" name="6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8" name="7 Marcador de pie de página"/>
          <p:cNvSpPr>
            <a:spLocks noGrp="1"/>
          </p:cNvSpPr>
          <p:nvPr>
            <p:ph type="ftr" sz="quarter" idx="11"/>
          </p:nvPr>
        </p:nvSpPr>
        <p:spPr/>
        <p:txBody>
          <a:bodyPr/>
          <a:lstStyle/>
          <a:p>
            <a:endParaRPr lang="es-AR"/>
          </a:p>
        </p:txBody>
      </p:sp>
      <p:sp>
        <p:nvSpPr>
          <p:cNvPr id="9" name="8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kumimoji="0" lang="es-ES"/>
              <a:t>Haga clic para modificar el estilo de título del patrón</a:t>
            </a:r>
            <a:endParaRPr kumimoji="0" lang="en-US"/>
          </a:p>
        </p:txBody>
      </p:sp>
      <p:sp>
        <p:nvSpPr>
          <p:cNvPr id="3" name="2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4" name="3 Marcador de pie de página"/>
          <p:cNvSpPr>
            <a:spLocks noGrp="1"/>
          </p:cNvSpPr>
          <p:nvPr>
            <p:ph type="ftr" sz="quarter" idx="11"/>
          </p:nvPr>
        </p:nvSpPr>
        <p:spPr/>
        <p:txBody>
          <a:bodyPr/>
          <a:lstStyle/>
          <a:p>
            <a:endParaRPr lang="es-AR"/>
          </a:p>
        </p:txBody>
      </p:sp>
      <p:sp>
        <p:nvSpPr>
          <p:cNvPr id="5" name="4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3" name="2 Marcador de pie de página"/>
          <p:cNvSpPr>
            <a:spLocks noGrp="1"/>
          </p:cNvSpPr>
          <p:nvPr>
            <p:ph type="ftr" sz="quarter" idx="11"/>
          </p:nvPr>
        </p:nvSpPr>
        <p:spPr/>
        <p:txBody>
          <a:bodyPr/>
          <a:lstStyle/>
          <a:p>
            <a:endParaRPr lang="es-AR"/>
          </a:p>
        </p:txBody>
      </p:sp>
      <p:sp>
        <p:nvSpPr>
          <p:cNvPr id="4" name="3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s-ES"/>
              <a:t>Haga clic para modificar el estilo de título del patrón</a:t>
            </a:r>
            <a:endParaRPr kumimoji="0" lang="en-US"/>
          </a:p>
        </p:txBody>
      </p:sp>
      <p:sp>
        <p:nvSpPr>
          <p:cNvPr id="3" name="2 Marcador de texto"/>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contenido"/>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10 Redondear rectángulo de esquina sencilla"/>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1 Título"/>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s-ES"/>
              <a:t>Haga clic para modificar el estilo de título del patrón</a:t>
            </a:r>
            <a:endParaRPr kumimoji="0" lang="en-US"/>
          </a:p>
        </p:txBody>
      </p:sp>
      <p:sp>
        <p:nvSpPr>
          <p:cNvPr id="4" name="3 Marcador de texto"/>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5" name="4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6" name="5 Marcador de pie de página"/>
          <p:cNvSpPr>
            <a:spLocks noGrp="1"/>
          </p:cNvSpPr>
          <p:nvPr>
            <p:ph type="ftr" sz="quarter" idx="11"/>
          </p:nvPr>
        </p:nvSpPr>
        <p:spPr/>
        <p:txBody>
          <a:bodyPr/>
          <a:lstStyle/>
          <a:p>
            <a:endParaRPr lang="es-AR"/>
          </a:p>
        </p:txBody>
      </p:sp>
      <p:sp>
        <p:nvSpPr>
          <p:cNvPr id="7" name="6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
        <p:nvSpPr>
          <p:cNvPr id="3" name="2 Marcador de posición de imagen"/>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s-ES"/>
              <a:t>Haga clic en el icono para agregar una imagen</a:t>
            </a:r>
            <a:endParaRPr kumimoji="0"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502920" y="530352"/>
            <a:ext cx="8183880" cy="4187952"/>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3404"/>
            <a:ext cx="1981200" cy="5257799"/>
          </a:xfrm>
        </p:spPr>
        <p:txBody>
          <a:bodyPr vert="eaVert"/>
          <a:lstStyle/>
          <a:p>
            <a:r>
              <a:rPr kumimoji="0" lang="es-ES"/>
              <a:t>Haga clic para modificar el estilo de título del patrón</a:t>
            </a:r>
            <a:endParaRPr kumimoji="0" lang="en-US"/>
          </a:p>
        </p:txBody>
      </p:sp>
      <p:sp>
        <p:nvSpPr>
          <p:cNvPr id="3" name="2 Marcador de texto vertical"/>
          <p:cNvSpPr>
            <a:spLocks noGrp="1"/>
          </p:cNvSpPr>
          <p:nvPr>
            <p:ph type="body" orient="vert" idx="1"/>
          </p:nvPr>
        </p:nvSpPr>
        <p:spPr>
          <a:xfrm>
            <a:off x="533400" y="533402"/>
            <a:ext cx="5943600" cy="5257801"/>
          </a:xfrm>
        </p:spPr>
        <p:txBody>
          <a:bodyPr vert="eaVert"/>
          <a:lstStyle/>
          <a:p>
            <a:pPr lvl="0" eaLnBrk="1" latinLnBrk="0" hangingPunct="1"/>
            <a:r>
              <a:rPr lang="es-ES"/>
              <a:t>Haga clic para modificar el estilo de texto del patrón</a:t>
            </a:r>
          </a:p>
          <a:p>
            <a:pPr lvl="1" eaLnBrk="1" latinLnBrk="0" hangingPunct="1"/>
            <a:r>
              <a:rPr lang="es-ES"/>
              <a:t>Segundo nivel</a:t>
            </a:r>
          </a:p>
          <a:p>
            <a:pPr lvl="2" eaLnBrk="1" latinLnBrk="0" hangingPunct="1"/>
            <a:r>
              <a:rPr lang="es-ES"/>
              <a:t>Tercer nivel</a:t>
            </a:r>
          </a:p>
          <a:p>
            <a:pPr lvl="3" eaLnBrk="1" latinLnBrk="0" hangingPunct="1"/>
            <a:r>
              <a:rPr lang="es-ES"/>
              <a:t>Cuarto nivel</a:t>
            </a:r>
          </a:p>
          <a:p>
            <a:pPr lvl="4" eaLnBrk="1" latinLnBrk="0" hangingPunct="1"/>
            <a:r>
              <a:rPr lang="es-ES"/>
              <a:t>Quinto nivel</a:t>
            </a:r>
            <a:endParaRPr kumimoji="0" lang="en-US"/>
          </a:p>
        </p:txBody>
      </p:sp>
      <p:sp>
        <p:nvSpPr>
          <p:cNvPr id="4" name="3 Marcador de fecha"/>
          <p:cNvSpPr>
            <a:spLocks noGrp="1"/>
          </p:cNvSpPr>
          <p:nvPr>
            <p:ph type="dt" sz="half" idx="10"/>
          </p:nvPr>
        </p:nvSpPr>
        <p:spPr/>
        <p:txBody>
          <a:bodyPr/>
          <a:lstStyle/>
          <a:p>
            <a:fld id="{A2DE0204-1199-4203-907A-516C41E4B355}" type="datetimeFigureOut">
              <a:rPr lang="es-AR" smtClean="0"/>
              <a:pPr/>
              <a:t>22/9/25</a:t>
            </a:fld>
            <a:endParaRPr lang="es-AR"/>
          </a:p>
        </p:txBody>
      </p:sp>
      <p:sp>
        <p:nvSpPr>
          <p:cNvPr id="5" name="4 Marcador de pie de página"/>
          <p:cNvSpPr>
            <a:spLocks noGrp="1"/>
          </p:cNvSpPr>
          <p:nvPr>
            <p:ph type="ftr" sz="quarter" idx="11"/>
          </p:nvPr>
        </p:nvSpPr>
        <p:spPr/>
        <p:txBody>
          <a:bodyPr/>
          <a:lstStyle/>
          <a:p>
            <a:endParaRPr lang="es-AR"/>
          </a:p>
        </p:txBody>
      </p:sp>
      <p:sp>
        <p:nvSpPr>
          <p:cNvPr id="6" name="5 Marcador de número de diapositiva"/>
          <p:cNvSpPr>
            <a:spLocks noGrp="1"/>
          </p:cNvSpPr>
          <p:nvPr>
            <p:ph type="sldNum" sz="quarter" idx="12"/>
          </p:nvPr>
        </p:nvSpPr>
        <p:spPr/>
        <p:txBody>
          <a:bodyPr/>
          <a:lstStyle/>
          <a:p>
            <a:fld id="{98CE8035-55AC-4228-AA80-D83BDB4D743A}" type="slidenum">
              <a:rPr lang="es-AR" smtClean="0"/>
              <a:pPr/>
              <a:t>‹Nº›</a:t>
            </a:fld>
            <a:endParaRPr lang="es-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6480" y="273629"/>
            <a:ext cx="8225280" cy="1142040"/>
          </a:xfrm>
        </p:spPr>
        <p:txBody>
          <a:bodyPr tIns="41473"/>
          <a:lstStyle/>
          <a:p>
            <a:r>
              <a:rPr lang="es-ES"/>
              <a:t>Haga clic para modificar el estilo de título del patrón</a:t>
            </a:r>
          </a:p>
        </p:txBody>
      </p:sp>
      <p:sp>
        <p:nvSpPr>
          <p:cNvPr id="3" name="2 Marcador de fecha"/>
          <p:cNvSpPr>
            <a:spLocks noGrp="1"/>
          </p:cNvSpPr>
          <p:nvPr>
            <p:ph type="dt" idx="10"/>
          </p:nvPr>
        </p:nvSpPr>
        <p:spPr>
          <a:xfrm>
            <a:off x="456481" y="6247376"/>
            <a:ext cx="2126880" cy="469489"/>
          </a:xfrm>
        </p:spPr>
        <p:txBody>
          <a:bodyPr/>
          <a:lstStyle>
            <a:lvl1pPr>
              <a:defRPr/>
            </a:lvl1pPr>
          </a:lstStyle>
          <a:p>
            <a:endParaRPr lang="es-ES"/>
          </a:p>
        </p:txBody>
      </p:sp>
      <p:sp>
        <p:nvSpPr>
          <p:cNvPr id="4" name="3 Marcador de pie de página"/>
          <p:cNvSpPr>
            <a:spLocks noGrp="1"/>
          </p:cNvSpPr>
          <p:nvPr>
            <p:ph type="ftr" idx="11"/>
          </p:nvPr>
        </p:nvSpPr>
        <p:spPr>
          <a:xfrm>
            <a:off x="3127681" y="6247376"/>
            <a:ext cx="2895840" cy="469489"/>
          </a:xfrm>
        </p:spPr>
        <p:txBody>
          <a:bodyPr/>
          <a:lstStyle>
            <a:lvl1pPr>
              <a:defRPr/>
            </a:lvl1pPr>
          </a:lstStyle>
          <a:p>
            <a:endParaRPr lang="es-ES"/>
          </a:p>
        </p:txBody>
      </p:sp>
      <p:sp>
        <p:nvSpPr>
          <p:cNvPr id="5" name="4 Marcador de número de diapositiva"/>
          <p:cNvSpPr>
            <a:spLocks noGrp="1"/>
          </p:cNvSpPr>
          <p:nvPr>
            <p:ph type="sldNum" idx="12"/>
          </p:nvPr>
        </p:nvSpPr>
        <p:spPr>
          <a:xfrm>
            <a:off x="6556321" y="6247376"/>
            <a:ext cx="2126880" cy="469489"/>
          </a:xfrm>
        </p:spPr>
        <p:txBody>
          <a:bodyPr/>
          <a:lstStyle>
            <a:lvl1pPr>
              <a:defRPr/>
            </a:lvl1pPr>
          </a:lstStyle>
          <a:p>
            <a:fld id="{8B0C01D7-6575-4B62-92E9-3F60C01E1552}" type="slidenum">
              <a:rPr lang="es-ES"/>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redondeado"/>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Marcador de título"/>
          <p:cNvSpPr>
            <a:spLocks noGrp="1"/>
          </p:cNvSpPr>
          <p:nvPr>
            <p:ph type="title"/>
          </p:nvPr>
        </p:nvSpPr>
        <p:spPr>
          <a:xfrm>
            <a:off x="502920" y="4985590"/>
            <a:ext cx="8183880" cy="1051560"/>
          </a:xfrm>
          <a:prstGeom prst="rect">
            <a:avLst/>
          </a:prstGeom>
        </p:spPr>
        <p:txBody>
          <a:bodyPr vert="horz" anchor="b">
            <a:normAutofit/>
          </a:bodyPr>
          <a:lstStyle/>
          <a:p>
            <a:r>
              <a:rPr kumimoji="0" lang="es-ES"/>
              <a:t>Haga clic para modificar el estilo de título del patrón</a:t>
            </a:r>
            <a:endParaRPr kumimoji="0" lang="en-US"/>
          </a:p>
        </p:txBody>
      </p:sp>
      <p:sp>
        <p:nvSpPr>
          <p:cNvPr id="4" name="3 Marcador de texto"/>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25" name="24 Marcador de fecha"/>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A2DE0204-1199-4203-907A-516C41E4B355}" type="datetimeFigureOut">
              <a:rPr lang="es-AR" smtClean="0"/>
              <a:pPr/>
              <a:t>22/9/25</a:t>
            </a:fld>
            <a:endParaRPr lang="es-AR"/>
          </a:p>
        </p:txBody>
      </p:sp>
      <p:sp>
        <p:nvSpPr>
          <p:cNvPr id="18" name="17 Marcador de pie de página"/>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s-AR"/>
          </a:p>
        </p:txBody>
      </p:sp>
      <p:sp>
        <p:nvSpPr>
          <p:cNvPr id="5" name="4 Marcador de número de diapositiva"/>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98CE8035-55AC-4228-AA80-D83BDB4D743A}" type="slidenum">
              <a:rPr lang="es-AR" smtClean="0"/>
              <a:pPr/>
              <a:t>‹Nº›</a:t>
            </a:fld>
            <a:endParaRPr lang="es-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8 Rectángulo redondeado"/>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12 Marcador de título"/>
          <p:cNvSpPr>
            <a:spLocks noGrp="1"/>
          </p:cNvSpPr>
          <p:nvPr>
            <p:ph type="title"/>
          </p:nvPr>
        </p:nvSpPr>
        <p:spPr>
          <a:xfrm>
            <a:off x="502920" y="4985590"/>
            <a:ext cx="8183880" cy="1051560"/>
          </a:xfrm>
          <a:prstGeom prst="rect">
            <a:avLst/>
          </a:prstGeom>
        </p:spPr>
        <p:txBody>
          <a:bodyPr vert="horz" anchor="b">
            <a:normAutofit/>
          </a:bodyPr>
          <a:lstStyle/>
          <a:p>
            <a:r>
              <a:rPr kumimoji="0" lang="es-ES"/>
              <a:t>Haga clic para modificar el estilo de título del patrón</a:t>
            </a:r>
            <a:endParaRPr kumimoji="0" lang="en-US"/>
          </a:p>
        </p:txBody>
      </p:sp>
      <p:sp>
        <p:nvSpPr>
          <p:cNvPr id="4" name="3 Marcador de texto"/>
          <p:cNvSpPr>
            <a:spLocks noGrp="1"/>
          </p:cNvSpPr>
          <p:nvPr>
            <p:ph type="body" idx="1"/>
          </p:nvPr>
        </p:nvSpPr>
        <p:spPr>
          <a:xfrm>
            <a:off x="502920" y="530352"/>
            <a:ext cx="8183880" cy="4187952"/>
          </a:xfrm>
          <a:prstGeom prst="rect">
            <a:avLst/>
          </a:prstGeom>
        </p:spPr>
        <p:txBody>
          <a:bodyPr vert="horz" lIns="182880" tIns="91440">
            <a:normAutofit/>
          </a:bodyPr>
          <a:lstStyle/>
          <a:p>
            <a:pPr lvl="0" eaLnBrk="1" latinLnBrk="0" hangingPunct="1"/>
            <a:r>
              <a:rPr kumimoji="0" lang="es-ES"/>
              <a:t>Haga clic para modificar el estilo de texto del patrón</a:t>
            </a:r>
          </a:p>
          <a:p>
            <a:pPr lvl="1" eaLnBrk="1" latinLnBrk="0" hangingPunct="1"/>
            <a:r>
              <a:rPr kumimoji="0" lang="es-ES"/>
              <a:t>Segundo nivel</a:t>
            </a:r>
          </a:p>
          <a:p>
            <a:pPr lvl="2" eaLnBrk="1" latinLnBrk="0" hangingPunct="1"/>
            <a:r>
              <a:rPr kumimoji="0" lang="es-ES"/>
              <a:t>Tercer nivel</a:t>
            </a:r>
          </a:p>
          <a:p>
            <a:pPr lvl="3" eaLnBrk="1" latinLnBrk="0" hangingPunct="1"/>
            <a:r>
              <a:rPr kumimoji="0" lang="es-ES"/>
              <a:t>Cuarto nivel</a:t>
            </a:r>
          </a:p>
          <a:p>
            <a:pPr lvl="4" eaLnBrk="1" latinLnBrk="0" hangingPunct="1"/>
            <a:r>
              <a:rPr kumimoji="0" lang="es-ES"/>
              <a:t>Quinto nivel</a:t>
            </a:r>
            <a:endParaRPr kumimoji="0" lang="en-US"/>
          </a:p>
        </p:txBody>
      </p:sp>
      <p:sp>
        <p:nvSpPr>
          <p:cNvPr id="25" name="24 Marcador de fecha"/>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A2DE0204-1199-4203-907A-516C41E4B355}" type="datetimeFigureOut">
              <a:rPr lang="es-AR" smtClean="0"/>
              <a:pPr/>
              <a:t>22/9/25</a:t>
            </a:fld>
            <a:endParaRPr lang="es-AR"/>
          </a:p>
        </p:txBody>
      </p:sp>
      <p:sp>
        <p:nvSpPr>
          <p:cNvPr id="18" name="17 Marcador de pie de página"/>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s-AR"/>
          </a:p>
        </p:txBody>
      </p:sp>
      <p:sp>
        <p:nvSpPr>
          <p:cNvPr id="5" name="4 Marcador de número de diapositiva"/>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98CE8035-55AC-4228-AA80-D83BDB4D743A}" type="slidenum">
              <a:rPr lang="es-AR" smtClean="0"/>
              <a:pPr/>
              <a:t>‹Nº›</a:t>
            </a:fld>
            <a:endParaRPr lang="es-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19.xml"/><Relationship Id="rId5" Type="http://schemas.openxmlformats.org/officeDocument/2006/relationships/image" Target="../media/image8.wmf"/><Relationship Id="rId4" Type="http://schemas.openxmlformats.org/officeDocument/2006/relationships/image" Target="../media/image7.gif"/></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9.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9.bin"/><Relationship Id="rId18" Type="http://schemas.openxmlformats.org/officeDocument/2006/relationships/image" Target="../media/image21.emf"/><Relationship Id="rId3" Type="http://schemas.openxmlformats.org/officeDocument/2006/relationships/oleObject" Target="../embeddings/oleObject1.bin"/><Relationship Id="rId21" Type="http://schemas.openxmlformats.org/officeDocument/2006/relationships/oleObject" Target="../embeddings/oleObject13.bin"/><Relationship Id="rId7" Type="http://schemas.openxmlformats.org/officeDocument/2006/relationships/image" Target="../media/image18.emf"/><Relationship Id="rId12" Type="http://schemas.openxmlformats.org/officeDocument/2006/relationships/oleObject" Target="../embeddings/oleObject8.bin"/><Relationship Id="rId17" Type="http://schemas.openxmlformats.org/officeDocument/2006/relationships/oleObject" Target="../embeddings/oleObject11.bin"/><Relationship Id="rId2" Type="http://schemas.openxmlformats.org/officeDocument/2006/relationships/slideLayout" Target="../slideLayouts/slideLayout15.xml"/><Relationship Id="rId16" Type="http://schemas.openxmlformats.org/officeDocument/2006/relationships/image" Target="../media/image20.emf"/><Relationship Id="rId20" Type="http://schemas.openxmlformats.org/officeDocument/2006/relationships/image" Target="../media/image22.emf"/><Relationship Id="rId1" Type="http://schemas.openxmlformats.org/officeDocument/2006/relationships/vmlDrawing" Target="../drawings/vmlDrawing1.vml"/><Relationship Id="rId6" Type="http://schemas.openxmlformats.org/officeDocument/2006/relationships/oleObject" Target="../embeddings/oleObject3.bin"/><Relationship Id="rId11" Type="http://schemas.openxmlformats.org/officeDocument/2006/relationships/oleObject" Target="../embeddings/oleObject7.bin"/><Relationship Id="rId5" Type="http://schemas.openxmlformats.org/officeDocument/2006/relationships/oleObject" Target="../embeddings/oleObject2.bin"/><Relationship Id="rId15" Type="http://schemas.openxmlformats.org/officeDocument/2006/relationships/oleObject" Target="../embeddings/oleObject10.bin"/><Relationship Id="rId10" Type="http://schemas.openxmlformats.org/officeDocument/2006/relationships/oleObject" Target="../embeddings/oleObject6.bin"/><Relationship Id="rId19" Type="http://schemas.openxmlformats.org/officeDocument/2006/relationships/oleObject" Target="../embeddings/oleObject12.bin"/><Relationship Id="rId4" Type="http://schemas.openxmlformats.org/officeDocument/2006/relationships/image" Target="../media/image17.emf"/><Relationship Id="rId9" Type="http://schemas.openxmlformats.org/officeDocument/2006/relationships/oleObject" Target="../embeddings/oleObject5.bin"/><Relationship Id="rId14" Type="http://schemas.openxmlformats.org/officeDocument/2006/relationships/image" Target="../media/image19.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5.xml"/><Relationship Id="rId4" Type="http://schemas.openxmlformats.org/officeDocument/2006/relationships/image" Target="../media/image26.jpeg"/></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Autofit/>
          </a:bodyPr>
          <a:lstStyle/>
          <a:p>
            <a:pPr algn="ctr"/>
            <a:r>
              <a:rPr lang="es-AR" sz="7200" dirty="0"/>
              <a:t>Carta de un TUP a otro:</a:t>
            </a:r>
          </a:p>
        </p:txBody>
      </p:sp>
      <p:sp>
        <p:nvSpPr>
          <p:cNvPr id="3" name="2 Subtítulo"/>
          <p:cNvSpPr>
            <a:spLocks noGrp="1"/>
          </p:cNvSpPr>
          <p:nvPr>
            <p:ph type="subTitle" idx="1"/>
          </p:nvPr>
        </p:nvSpPr>
        <p:spPr>
          <a:xfrm>
            <a:off x="722376" y="4725144"/>
            <a:ext cx="7772400" cy="1440160"/>
          </a:xfrm>
        </p:spPr>
        <p:txBody>
          <a:bodyPr>
            <a:normAutofit/>
          </a:bodyPr>
          <a:lstStyle/>
          <a:p>
            <a:r>
              <a:rPr lang="es-AR" sz="2800" b="1" i="1" dirty="0"/>
              <a:t>Resistencia, 15 de abril de 2020…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850976"/>
          </a:xfrm>
        </p:spPr>
        <p:txBody>
          <a:bodyPr>
            <a:noAutofit/>
          </a:bodyPr>
          <a:lstStyle/>
          <a:p>
            <a:pPr>
              <a:buNone/>
            </a:pPr>
            <a:r>
              <a:rPr lang="es-AR" i="1" dirty="0"/>
              <a:t>Estimado amigo de TUP:</a:t>
            </a:r>
          </a:p>
          <a:p>
            <a:pPr>
              <a:buNone/>
            </a:pPr>
            <a:br>
              <a:rPr lang="es-AR" i="1" dirty="0"/>
            </a:br>
            <a:r>
              <a:rPr lang="es-AR" i="1" dirty="0"/>
              <a:t>El año pasado cambié de la versión </a:t>
            </a:r>
            <a:r>
              <a:rPr lang="es-AR" i="1" dirty="0">
                <a:solidFill>
                  <a:srgbClr val="FF0000"/>
                </a:solidFill>
              </a:rPr>
              <a:t>NOVIA 7.0</a:t>
            </a:r>
            <a:r>
              <a:rPr lang="es-AR" i="1" dirty="0"/>
              <a:t> a la versión </a:t>
            </a:r>
            <a:r>
              <a:rPr lang="es-AR" i="1" dirty="0">
                <a:solidFill>
                  <a:srgbClr val="FF0000"/>
                </a:solidFill>
              </a:rPr>
              <a:t>ESPOSA 1.0 </a:t>
            </a:r>
            <a:r>
              <a:rPr lang="es-AR" i="1" dirty="0"/>
              <a:t>y he observado que el programa al cabo de un tiempo comenzó con unos procesos inesperados de sub-rutinas, que luego fueron a mas, descargándose un programa oculto denominado </a:t>
            </a:r>
            <a:r>
              <a:rPr lang="es-AR" i="1" dirty="0">
                <a:solidFill>
                  <a:srgbClr val="FF0000"/>
                </a:solidFill>
              </a:rPr>
              <a:t>HIJO 1.0 </a:t>
            </a:r>
            <a:r>
              <a:rPr lang="es-AR" i="1" dirty="0"/>
              <a:t>que me ocupa muchísimo espacio en el disco duro, utiliza recursos importantes y </a:t>
            </a:r>
            <a:r>
              <a:rPr lang="es-AR" i="1" dirty="0" err="1"/>
              <a:t>ademas</a:t>
            </a:r>
            <a:r>
              <a:rPr lang="es-AR" i="1" dirty="0"/>
              <a:t> ralentiza de forma alarmante el sistema operativo.</a:t>
            </a:r>
            <a:br>
              <a:rPr lang="es-AR" dirty="0"/>
            </a:br>
            <a:br>
              <a:rPr lang="es-AR" dirty="0"/>
            </a:br>
            <a:endParaRPr lang="es-A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634952"/>
          </a:xfrm>
        </p:spPr>
        <p:txBody>
          <a:bodyPr>
            <a:normAutofit fontScale="92500" lnSpcReduction="20000"/>
          </a:bodyPr>
          <a:lstStyle/>
          <a:p>
            <a:pPr>
              <a:buNone/>
            </a:pPr>
            <a:r>
              <a:rPr lang="es-AR" i="1" dirty="0"/>
              <a:t>Por otra parte, </a:t>
            </a:r>
            <a:r>
              <a:rPr lang="es-AR" i="1" dirty="0">
                <a:solidFill>
                  <a:srgbClr val="FF0000"/>
                </a:solidFill>
              </a:rPr>
              <a:t>ESPOSA 1.0 </a:t>
            </a:r>
            <a:r>
              <a:rPr lang="es-AR" i="1" dirty="0"/>
              <a:t>se instala como residente en la memoria RAM y se arranca durante el inicio de cualquier aplicación, monitorizando todas las actividades del sistema.</a:t>
            </a:r>
            <a:br>
              <a:rPr lang="es-AR" i="1" dirty="0"/>
            </a:br>
            <a:br>
              <a:rPr lang="es-AR" i="1" dirty="0"/>
            </a:br>
            <a:r>
              <a:rPr lang="es-AR" i="1" dirty="0"/>
              <a:t>- Aplicaciones como:</a:t>
            </a:r>
            <a:br>
              <a:rPr lang="es-AR" i="1" dirty="0"/>
            </a:br>
            <a:br>
              <a:rPr lang="es-AR" i="1" dirty="0"/>
            </a:br>
            <a:r>
              <a:rPr lang="es-AR" i="1" dirty="0"/>
              <a:t>-- </a:t>
            </a:r>
            <a:r>
              <a:rPr lang="es-AR" i="1" dirty="0">
                <a:solidFill>
                  <a:srgbClr val="FF0000"/>
                </a:solidFill>
              </a:rPr>
              <a:t>CERVEZACONCOMPAÑEROS 10.3</a:t>
            </a:r>
            <a:br>
              <a:rPr lang="es-AR" i="1" dirty="0">
                <a:solidFill>
                  <a:srgbClr val="FF0000"/>
                </a:solidFill>
              </a:rPr>
            </a:br>
            <a:br>
              <a:rPr lang="es-AR" i="1" dirty="0"/>
            </a:br>
            <a:r>
              <a:rPr lang="es-AR" i="1" dirty="0"/>
              <a:t>-- </a:t>
            </a:r>
            <a:r>
              <a:rPr lang="es-AR" i="1" dirty="0">
                <a:solidFill>
                  <a:srgbClr val="FF0000"/>
                </a:solidFill>
              </a:rPr>
              <a:t>PADELCONAMIGOS 2.5</a:t>
            </a:r>
            <a:br>
              <a:rPr lang="es-AR" i="1" dirty="0"/>
            </a:br>
            <a:br>
              <a:rPr lang="es-AR" i="1" dirty="0"/>
            </a:br>
            <a:r>
              <a:rPr lang="es-AR" i="1" dirty="0"/>
              <a:t>-- </a:t>
            </a:r>
            <a:r>
              <a:rPr lang="es-AR" i="1" dirty="0">
                <a:solidFill>
                  <a:srgbClr val="FF0000"/>
                </a:solidFill>
              </a:rPr>
              <a:t>FUTBOLDOMINGOS 5.0</a:t>
            </a:r>
            <a:br>
              <a:rPr lang="es-AR" i="1" dirty="0">
                <a:solidFill>
                  <a:srgbClr val="FF0000"/>
                </a:solidFill>
              </a:rPr>
            </a:br>
            <a:br>
              <a:rPr lang="es-AR" i="1" dirty="0"/>
            </a:br>
            <a:r>
              <a:rPr lang="es-AR" i="1" dirty="0"/>
              <a:t>ya no funcionan y el sistema se cae cuando intento ejecutarlas.</a:t>
            </a:r>
            <a:br>
              <a:rPr lang="es-AR" i="1" dirty="0"/>
            </a:br>
            <a:endParaRPr lang="es-AR" i="1" dirty="0"/>
          </a:p>
          <a:p>
            <a:endParaRPr lang="es-A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706960"/>
          </a:xfrm>
        </p:spPr>
        <p:txBody>
          <a:bodyPr>
            <a:normAutofit fontScale="92500" lnSpcReduction="10000"/>
          </a:bodyPr>
          <a:lstStyle/>
          <a:p>
            <a:pPr>
              <a:buNone/>
            </a:pPr>
            <a:r>
              <a:rPr lang="es-AR" i="1" dirty="0"/>
              <a:t>De vez en cuando se abre un programa oculto (creo que es un troyano) denominado </a:t>
            </a:r>
            <a:r>
              <a:rPr lang="es-AR" i="1" dirty="0">
                <a:solidFill>
                  <a:srgbClr val="FF0000"/>
                </a:solidFill>
              </a:rPr>
              <a:t>SUEGRA 1.0 </a:t>
            </a:r>
            <a:r>
              <a:rPr lang="es-AR" i="1" dirty="0"/>
              <a:t>que aparece cerrando varios puertos de conexiones y consigue colgar el sistema, o hacer que </a:t>
            </a:r>
            <a:r>
              <a:rPr lang="es-AR" i="1" dirty="0">
                <a:solidFill>
                  <a:srgbClr val="FF0000"/>
                </a:solidFill>
              </a:rPr>
              <a:t>ESPOSA 1.0 </a:t>
            </a:r>
            <a:r>
              <a:rPr lang="es-AR" i="1" dirty="0"/>
              <a:t>se comporte de manera totalmente impredecible, por ejemplo, dejando de atender a cualquier comando que introduzco. </a:t>
            </a:r>
            <a:br>
              <a:rPr lang="es-AR" i="1" dirty="0"/>
            </a:br>
            <a:r>
              <a:rPr lang="es-AR" i="1" dirty="0"/>
              <a:t>Estoy pensando en volver al programa </a:t>
            </a:r>
            <a:r>
              <a:rPr lang="es-AR" i="1" dirty="0">
                <a:solidFill>
                  <a:srgbClr val="FF0000"/>
                </a:solidFill>
              </a:rPr>
              <a:t>NOVIA 7.0 </a:t>
            </a:r>
            <a:r>
              <a:rPr lang="es-AR" i="1" dirty="0"/>
              <a:t>pero no he podido desinstalar </a:t>
            </a:r>
            <a:r>
              <a:rPr lang="es-AR" i="1" dirty="0">
                <a:solidFill>
                  <a:srgbClr val="FF0000"/>
                </a:solidFill>
              </a:rPr>
              <a:t>ESPOSA 1.0 </a:t>
            </a:r>
            <a:r>
              <a:rPr lang="es-AR" i="1" dirty="0"/>
              <a:t>o al menos mantenerlo minimizado. ¿Alguien me puede ayudar? Muchas gracias, un TSP afligido. </a:t>
            </a:r>
            <a:br>
              <a:rPr lang="es-AR" i="1" dirty="0"/>
            </a:br>
            <a:endParaRPr lang="es-AR"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6139008"/>
          </a:xfrm>
        </p:spPr>
        <p:txBody>
          <a:bodyPr>
            <a:normAutofit lnSpcReduction="10000"/>
          </a:bodyPr>
          <a:lstStyle/>
          <a:p>
            <a:pPr>
              <a:buNone/>
            </a:pPr>
            <a:r>
              <a:rPr lang="es-AR" dirty="0"/>
              <a:t>- </a:t>
            </a:r>
            <a:r>
              <a:rPr lang="es-AR" i="1" dirty="0"/>
              <a:t>Estimado TUP afligido:</a:t>
            </a:r>
          </a:p>
          <a:p>
            <a:pPr>
              <a:buNone/>
            </a:pPr>
            <a:r>
              <a:rPr lang="es-AR" i="1" dirty="0"/>
              <a:t>…este es un motivo de queja muy común. Se debe, en la mayoría de los casos, a un error básico de concepto. Mucha gente pasa de cualquier versión de NOVIA a </a:t>
            </a:r>
            <a:r>
              <a:rPr lang="es-AR" i="1" dirty="0">
                <a:solidFill>
                  <a:srgbClr val="FF0000"/>
                </a:solidFill>
              </a:rPr>
              <a:t>ESPOSA 1.0 </a:t>
            </a:r>
            <a:r>
              <a:rPr lang="es-AR" i="1" dirty="0"/>
              <a:t>con la idea de que es solo un programa de utilidades y entretenimiento, sin embargo </a:t>
            </a:r>
            <a:r>
              <a:rPr lang="es-AR" i="1" dirty="0">
                <a:solidFill>
                  <a:srgbClr val="FF0000"/>
                </a:solidFill>
              </a:rPr>
              <a:t>ESPOSA 1.0 </a:t>
            </a:r>
            <a:r>
              <a:rPr lang="es-AR" i="1" dirty="0"/>
              <a:t>es un Sistema Operativo compleJo, diseñado para controlar todo el sistema.</a:t>
            </a:r>
            <a:br>
              <a:rPr lang="es-AR" i="1" dirty="0"/>
            </a:br>
            <a:r>
              <a:rPr lang="es-AR" i="1" dirty="0"/>
              <a:t>Es muy poco probable que usted pueda desinstalar y eliminar los archivos del programa </a:t>
            </a:r>
            <a:r>
              <a:rPr lang="es-AR" i="1" dirty="0">
                <a:solidFill>
                  <a:srgbClr val="FF0000"/>
                </a:solidFill>
              </a:rPr>
              <a:t>ESPOSA 1.0 </a:t>
            </a:r>
            <a:r>
              <a:rPr lang="es-AR" i="1" dirty="0"/>
              <a:t>y regresar a cualquier versión de </a:t>
            </a:r>
            <a:r>
              <a:rPr lang="es-AR" i="1" dirty="0">
                <a:solidFill>
                  <a:srgbClr val="FF0000"/>
                </a:solidFill>
              </a:rPr>
              <a:t>NOVIA</a:t>
            </a:r>
            <a:r>
              <a:rPr lang="es-AR" dirty="0"/>
              <a:t>. </a:t>
            </a:r>
            <a:br>
              <a:rPr lang="es-AR" dirty="0"/>
            </a:br>
            <a:endParaRPr lang="es-A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994992"/>
          </a:xfrm>
        </p:spPr>
        <p:txBody>
          <a:bodyPr>
            <a:normAutofit/>
          </a:bodyPr>
          <a:lstStyle/>
          <a:p>
            <a:pPr>
              <a:buNone/>
            </a:pPr>
            <a:r>
              <a:rPr lang="es-AR" sz="3200" i="1" dirty="0"/>
              <a:t>Lo mismo pasa con </a:t>
            </a:r>
            <a:r>
              <a:rPr lang="es-AR" sz="3200" i="1" dirty="0">
                <a:solidFill>
                  <a:srgbClr val="FF0000"/>
                </a:solidFill>
              </a:rPr>
              <a:t>SUEGRA 1.0 </a:t>
            </a:r>
            <a:r>
              <a:rPr lang="es-AR" sz="3200" i="1" dirty="0"/>
              <a:t>que es una aplicación oculta que se instala en la RAM mientras </a:t>
            </a:r>
            <a:r>
              <a:rPr lang="es-AR" sz="3200" i="1" dirty="0">
                <a:solidFill>
                  <a:srgbClr val="FF0000"/>
                </a:solidFill>
              </a:rPr>
              <a:t>ESPOSA 1.0 </a:t>
            </a:r>
            <a:r>
              <a:rPr lang="es-AR" sz="3200" i="1" dirty="0"/>
              <a:t>funciona.</a:t>
            </a:r>
            <a:br>
              <a:rPr lang="es-AR" sz="3200" i="1" dirty="0"/>
            </a:br>
            <a:r>
              <a:rPr lang="es-AR" sz="3200" i="1" dirty="0"/>
              <a:t>Hay quienes han intentado el formateo, para luego instalar </a:t>
            </a:r>
            <a:r>
              <a:rPr lang="es-AR" sz="3200" i="1" dirty="0">
                <a:solidFill>
                  <a:srgbClr val="FF0000"/>
                </a:solidFill>
              </a:rPr>
              <a:t>NOVIA PLUS o ESPOSA 2.0 </a:t>
            </a:r>
            <a:r>
              <a:rPr lang="es-AR" sz="3200" i="1" dirty="0"/>
              <a:t>pero terminan con mas problemas que antes (ver en el manual los </a:t>
            </a:r>
            <a:r>
              <a:rPr lang="es-AR" sz="3200" i="1" dirty="0" err="1"/>
              <a:t>capitulos</a:t>
            </a:r>
            <a:r>
              <a:rPr lang="es-AR" sz="3200" i="1" dirty="0"/>
              <a:t> "Pago de pensiones" Mantenimiento de hijos")</a:t>
            </a:r>
            <a:br>
              <a:rPr lang="es-AR" i="1" dirty="0"/>
            </a:br>
            <a:endParaRPr lang="es-AR" i="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6067000"/>
          </a:xfrm>
        </p:spPr>
        <p:txBody>
          <a:bodyPr>
            <a:normAutofit/>
          </a:bodyPr>
          <a:lstStyle/>
          <a:p>
            <a:pPr>
              <a:buNone/>
            </a:pPr>
            <a:r>
              <a:rPr lang="es-AR" i="1" dirty="0"/>
              <a:t>Considere la posibilidad de instalar algún software adicional para mejorar el rendimiento de ESPOSA 1.0 . Son recomendables, </a:t>
            </a:r>
            <a:r>
              <a:rPr lang="es-AR" i="1" dirty="0" err="1">
                <a:solidFill>
                  <a:srgbClr val="FF0000"/>
                </a:solidFill>
              </a:rPr>
              <a:t>PedirPerdón.Exe</a:t>
            </a:r>
            <a:r>
              <a:rPr lang="es-AR" i="1" dirty="0">
                <a:solidFill>
                  <a:srgbClr val="FF0000"/>
                </a:solidFill>
              </a:rPr>
              <a:t>, Flores 5.0, Joyas 2.3</a:t>
            </a:r>
            <a:r>
              <a:rPr lang="es-AR" i="1" dirty="0"/>
              <a:t>. También puede usar Loquetudigas 9.7 y evite el uso excesivo de la tecla "ESC"</a:t>
            </a:r>
            <a:br>
              <a:rPr lang="es-AR" i="1" dirty="0"/>
            </a:br>
            <a:r>
              <a:rPr lang="es-AR" i="1" dirty="0"/>
              <a:t>JAMAS instale programas como </a:t>
            </a:r>
            <a:r>
              <a:rPr lang="es-AR" i="1" dirty="0">
                <a:solidFill>
                  <a:srgbClr val="FF0000"/>
                </a:solidFill>
              </a:rPr>
              <a:t>AMIGUITA 1.1 o DECARAVANAconAMIGOS 4.1 </a:t>
            </a:r>
            <a:r>
              <a:rPr lang="es-AR" i="1" dirty="0"/>
              <a:t>. Estos programas no funcionan bajo ESPOSA 1.0 y es muy probable que causen daños irreversibles al sistema operativo. Mucha suerte.</a:t>
            </a:r>
          </a:p>
          <a:p>
            <a:endParaRPr lang="es-AR" i="1" dirty="0"/>
          </a:p>
          <a:p>
            <a:endParaRPr lang="es-AR" i="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dirty="0"/>
          </a:p>
        </p:txBody>
      </p:sp>
      <p:sp>
        <p:nvSpPr>
          <p:cNvPr id="3" name="2 Marcador de contenido"/>
          <p:cNvSpPr>
            <a:spLocks noGrp="1"/>
          </p:cNvSpPr>
          <p:nvPr>
            <p:ph idx="1"/>
          </p:nvPr>
        </p:nvSpPr>
        <p:spPr>
          <a:xfrm>
            <a:off x="502920" y="530352"/>
            <a:ext cx="8183880" cy="5562944"/>
          </a:xfrm>
        </p:spPr>
        <p:txBody>
          <a:bodyPr>
            <a:normAutofit/>
          </a:bodyPr>
          <a:lstStyle/>
          <a:p>
            <a:pPr algn="just">
              <a:buNone/>
            </a:pPr>
            <a:r>
              <a:rPr lang="es-AR" dirty="0"/>
              <a:t>P/D: Esto es muy importante: </a:t>
            </a:r>
          </a:p>
          <a:p>
            <a:pPr algn="just">
              <a:buNone/>
            </a:pPr>
            <a:endParaRPr lang="es-AR" dirty="0"/>
          </a:p>
          <a:p>
            <a:pPr algn="just">
              <a:buNone/>
            </a:pPr>
            <a:r>
              <a:rPr lang="es-AR" i="1" dirty="0"/>
              <a:t>Si quieres comunicarte con </a:t>
            </a:r>
            <a:r>
              <a:rPr lang="es-AR" i="1" dirty="0">
                <a:solidFill>
                  <a:srgbClr val="FF0000"/>
                </a:solidFill>
              </a:rPr>
              <a:t>AMIGOS 3.0</a:t>
            </a:r>
            <a:r>
              <a:rPr lang="es-AR" i="1" dirty="0"/>
              <a:t>, </a:t>
            </a:r>
            <a:r>
              <a:rPr lang="es-AR" i="1" dirty="0">
                <a:solidFill>
                  <a:srgbClr val="FF0000"/>
                </a:solidFill>
              </a:rPr>
              <a:t>FUTBOLLOSDOMIGOS 7,3 O JUEVESCULTURALES 2.9</a:t>
            </a:r>
            <a:r>
              <a:rPr lang="es-AR" i="1" dirty="0"/>
              <a:t>,  y teniendo presente que el cifrado del Watssapp no es del todo seguro, y en caso de última necesidad, intenta cursar la materia Legislación con el Dr. Gutiérrez, él te  explicará el concepto de “</a:t>
            </a:r>
            <a:r>
              <a:rPr lang="es-AR" i="1" dirty="0" err="1">
                <a:solidFill>
                  <a:srgbClr val="002060"/>
                </a:solidFill>
              </a:rPr>
              <a:t>Scitala</a:t>
            </a:r>
            <a:r>
              <a:rPr lang="es-AR" i="1" dirty="0">
                <a:solidFill>
                  <a:srgbClr val="002060"/>
                </a:solidFill>
              </a:rPr>
              <a:t> Romana</a:t>
            </a:r>
            <a:r>
              <a:rPr lang="es-AR"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28167" y="1268760"/>
            <a:ext cx="9087729" cy="1200329"/>
          </a:xfrm>
          <a:prstGeom prst="rect">
            <a:avLst/>
          </a:prstGeom>
          <a:solidFill>
            <a:schemeClr val="accent5">
              <a:lumMod val="75000"/>
            </a:schemeClr>
          </a:solidFill>
        </p:spPr>
        <p:txBody>
          <a:bodyPr wrap="square" rtlCol="0">
            <a:spAutoFit/>
          </a:bodyPr>
          <a:lstStyle/>
          <a:p>
            <a:pPr algn="ctr"/>
            <a:r>
              <a:rPr lang="es-AR" sz="3600" b="1" spc="50" dirty="0">
                <a:ln w="13500">
                  <a:solidFill>
                    <a:schemeClr val="accent1">
                      <a:shade val="2500"/>
                      <a:alpha val="6500"/>
                    </a:schemeClr>
                  </a:solidFill>
                  <a:prstDash val="solid"/>
                </a:ln>
                <a:solidFill>
                  <a:schemeClr val="accent1">
                    <a:tint val="3000"/>
                    <a:alpha val="95000"/>
                  </a:schemeClr>
                </a:solidFill>
                <a:effectLst>
                  <a:outerShdw blurRad="38100" dist="38100" dir="2700000" algn="tl">
                    <a:srgbClr val="000000">
                      <a:alpha val="43137"/>
                    </a:srgbClr>
                  </a:outerShdw>
                </a:effectLst>
              </a:rPr>
              <a:t>FIRMA DIGITAL</a:t>
            </a:r>
          </a:p>
          <a:p>
            <a:pPr algn="ctr"/>
            <a:r>
              <a:rPr lang="es-AR" sz="3600" b="1" spc="50" dirty="0">
                <a:ln w="13500">
                  <a:solidFill>
                    <a:schemeClr val="accent1">
                      <a:shade val="2500"/>
                      <a:alpha val="6500"/>
                    </a:schemeClr>
                  </a:solidFill>
                  <a:prstDash val="solid"/>
                </a:ln>
                <a:solidFill>
                  <a:schemeClr val="accent1">
                    <a:tint val="3000"/>
                    <a:alpha val="95000"/>
                  </a:schemeClr>
                </a:solidFill>
                <a:effectLst>
                  <a:outerShdw blurRad="38100" dist="38100" dir="2700000" algn="tl">
                    <a:srgbClr val="000000">
                      <a:alpha val="43137"/>
                    </a:srgbClr>
                  </a:outerShdw>
                </a:effectLst>
              </a:rPr>
              <a:t>CERTIFICACIONES</a:t>
            </a:r>
          </a:p>
        </p:txBody>
      </p:sp>
      <p:sp>
        <p:nvSpPr>
          <p:cNvPr id="6" name="5 CuadroTexto"/>
          <p:cNvSpPr txBox="1"/>
          <p:nvPr/>
        </p:nvSpPr>
        <p:spPr>
          <a:xfrm>
            <a:off x="0" y="5857892"/>
            <a:ext cx="9144000" cy="400110"/>
          </a:xfrm>
          <a:prstGeom prst="rect">
            <a:avLst/>
          </a:prstGeom>
          <a:solidFill>
            <a:schemeClr val="accent5">
              <a:lumMod val="75000"/>
            </a:schemeClr>
          </a:solidFill>
        </p:spPr>
        <p:txBody>
          <a:bodyPr wrap="square" rtlCol="0">
            <a:spAutoFit/>
          </a:bodyPr>
          <a:lstStyle/>
          <a:p>
            <a:pPr algn="r"/>
            <a:endParaRPr lang="es-AR" sz="2000" b="1" spc="50" dirty="0">
              <a:ln w="13500">
                <a:solidFill>
                  <a:schemeClr val="accent1">
                    <a:shade val="2500"/>
                    <a:alpha val="6500"/>
                  </a:schemeClr>
                </a:solidFill>
                <a:prstDash val="solid"/>
              </a:ln>
              <a:solidFill>
                <a:schemeClr val="accent1">
                  <a:tint val="3000"/>
                  <a:alpha val="95000"/>
                </a:schemeClr>
              </a:solidFill>
              <a:effectLst>
                <a:outerShdw blurRad="38100" dist="38100" dir="2700000" algn="tl">
                  <a:srgbClr val="000000">
                    <a:alpha val="43137"/>
                  </a:srgbClr>
                </a:outerShdw>
              </a:effectLst>
            </a:endParaRPr>
          </a:p>
        </p:txBody>
      </p:sp>
      <p:pic>
        <p:nvPicPr>
          <p:cNvPr id="3" name="Imagen 2">
            <a:extLst>
              <a:ext uri="{FF2B5EF4-FFF2-40B4-BE49-F238E27FC236}">
                <a16:creationId xmlns:a16="http://schemas.microsoft.com/office/drawing/2014/main" id="{34792502-0D78-5A42-9B37-B3DF965390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39952" y="2687403"/>
            <a:ext cx="2943448" cy="29434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a:xfrm>
            <a:off x="722376" y="764704"/>
            <a:ext cx="7772400" cy="5256584"/>
          </a:xfrm>
        </p:spPr>
        <p:txBody>
          <a:bodyPr>
            <a:normAutofit/>
          </a:bodyPr>
          <a:lstStyle/>
          <a:p>
            <a:endParaRPr lang="es-AR" dirty="0"/>
          </a:p>
          <a:p>
            <a:pPr algn="ctr"/>
            <a:r>
              <a:rPr lang="es-AR" sz="5400" dirty="0" err="1"/>
              <a:t>Encriptar</a:t>
            </a:r>
            <a:r>
              <a:rPr lang="es-AR" sz="5400" dirty="0"/>
              <a:t> </a:t>
            </a:r>
          </a:p>
          <a:p>
            <a:pPr algn="ctr"/>
            <a:r>
              <a:rPr lang="es-AR" dirty="0"/>
              <a:t>proviene de la voz griega </a:t>
            </a:r>
          </a:p>
          <a:p>
            <a:pPr algn="ctr"/>
            <a:r>
              <a:rPr lang="es-AR" sz="2800" dirty="0"/>
              <a:t>“</a:t>
            </a:r>
            <a:r>
              <a:rPr lang="es-AR" sz="2800" dirty="0" err="1"/>
              <a:t>Kryptos</a:t>
            </a:r>
            <a:r>
              <a:rPr lang="es-AR" sz="2800" dirty="0"/>
              <a:t>” (ocultar) </a:t>
            </a:r>
          </a:p>
          <a:p>
            <a:pPr algn="ctr"/>
            <a:endParaRPr lang="es-AR" dirty="0"/>
          </a:p>
          <a:p>
            <a:pPr algn="ctr"/>
            <a:endParaRPr lang="es-AR" dirty="0"/>
          </a:p>
          <a:p>
            <a:pPr algn="ctr"/>
            <a:endParaRPr lang="es-AR" dirty="0"/>
          </a:p>
          <a:p>
            <a:pPr algn="ctr"/>
            <a:r>
              <a:rPr lang="es-AR" sz="6000" dirty="0"/>
              <a:t>criptografía</a:t>
            </a:r>
            <a:r>
              <a:rPr lang="es-AR" dirty="0"/>
              <a:t> </a:t>
            </a:r>
          </a:p>
          <a:p>
            <a:pPr algn="ctr"/>
            <a:r>
              <a:rPr lang="es-AR" sz="2800" dirty="0"/>
              <a:t>de (oculto) y “</a:t>
            </a:r>
            <a:r>
              <a:rPr lang="es-AR" sz="2800" dirty="0" err="1"/>
              <a:t>gráphein</a:t>
            </a:r>
            <a:r>
              <a:rPr lang="es-AR" sz="2800" dirty="0"/>
              <a:t>” (escritura): Escritura oculta.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722376" y="548680"/>
            <a:ext cx="7772400" cy="2160240"/>
          </a:xfrm>
        </p:spPr>
        <p:txBody>
          <a:bodyPr/>
          <a:lstStyle/>
          <a:p>
            <a:pPr algn="l"/>
            <a:r>
              <a:rPr lang="es-AR" dirty="0" err="1"/>
              <a:t>Scitala</a:t>
            </a:r>
            <a:r>
              <a:rPr lang="es-AR" dirty="0"/>
              <a:t> </a:t>
            </a:r>
            <a:br>
              <a:rPr lang="es-AR" dirty="0"/>
            </a:br>
            <a:r>
              <a:rPr lang="es-AR" dirty="0"/>
              <a:t>Romana</a:t>
            </a:r>
          </a:p>
        </p:txBody>
      </p:sp>
      <p:sp>
        <p:nvSpPr>
          <p:cNvPr id="3" name="2 Subtítulo"/>
          <p:cNvSpPr>
            <a:spLocks noGrp="1"/>
          </p:cNvSpPr>
          <p:nvPr>
            <p:ph type="subTitle" idx="1"/>
          </p:nvPr>
        </p:nvSpPr>
        <p:spPr>
          <a:xfrm>
            <a:off x="722376" y="3685032"/>
            <a:ext cx="7772400" cy="2480272"/>
          </a:xfrm>
        </p:spPr>
        <p:txBody>
          <a:bodyPr>
            <a:normAutofit fontScale="70000" lnSpcReduction="20000"/>
          </a:bodyPr>
          <a:lstStyle/>
          <a:p>
            <a:endParaRPr lang="es-AR" dirty="0"/>
          </a:p>
          <a:p>
            <a:r>
              <a:rPr lang="es-AR" sz="2400" dirty="0"/>
              <a:t> Desde la antigüedad, ha resultado todo un desafío la remisión de mensajes de manera segura, para impedir que la información caiga en manos inadecuadas. </a:t>
            </a:r>
          </a:p>
          <a:p>
            <a:r>
              <a:rPr lang="es-AR" sz="2400" dirty="0"/>
              <a:t>Lo hacían los espartanos, mediante la utilización de dos bastones simétricos llamados “</a:t>
            </a:r>
            <a:r>
              <a:rPr lang="es-AR" sz="2400" dirty="0" err="1"/>
              <a:t>scitalas</a:t>
            </a:r>
            <a:r>
              <a:rPr lang="es-AR" sz="2400" dirty="0"/>
              <a:t>”, uno en poder del remitente y otro en poder del receptor. El remitente escribía su mensaje sobre un rollo de papiro que envolvía previamente en forma de espiras sobre la “</a:t>
            </a:r>
            <a:r>
              <a:rPr lang="es-AR" sz="2400" dirty="0" err="1"/>
              <a:t>scitala</a:t>
            </a:r>
            <a:r>
              <a:rPr lang="es-AR" sz="2400" dirty="0"/>
              <a:t>”; luego enviaba el rollo al receptor, a quien le bastaba con recrear el envoltorio sobre la </a:t>
            </a:r>
            <a:r>
              <a:rPr lang="es-AR" sz="2400" dirty="0" err="1"/>
              <a:t>otra“scitala</a:t>
            </a:r>
            <a:r>
              <a:rPr lang="es-AR" sz="2400" dirty="0"/>
              <a:t>” simétrica a la anterior  </a:t>
            </a:r>
          </a:p>
        </p:txBody>
      </p:sp>
      <p:pic>
        <p:nvPicPr>
          <p:cNvPr id="4" name="3 Imagen" descr="escitalaromana.jpg"/>
          <p:cNvPicPr>
            <a:picLocks noChangeAspect="1"/>
          </p:cNvPicPr>
          <p:nvPr/>
        </p:nvPicPr>
        <p:blipFill>
          <a:blip r:embed="rId2" cstate="print"/>
          <a:stretch>
            <a:fillRect/>
          </a:stretch>
        </p:blipFill>
        <p:spPr>
          <a:xfrm rot="20892225">
            <a:off x="4499992" y="764704"/>
            <a:ext cx="3862735" cy="22497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611560" y="4149080"/>
            <a:ext cx="7772400" cy="1828800"/>
          </a:xfrm>
        </p:spPr>
        <p:txBody>
          <a:bodyPr/>
          <a:lstStyle/>
          <a:p>
            <a:r>
              <a:rPr lang="es-AR" dirty="0"/>
              <a:t>“Algoritmos de encriptación”</a:t>
            </a:r>
          </a:p>
        </p:txBody>
      </p:sp>
      <p:sp>
        <p:nvSpPr>
          <p:cNvPr id="3" name="2 Subtítulo"/>
          <p:cNvSpPr>
            <a:spLocks noGrp="1"/>
          </p:cNvSpPr>
          <p:nvPr>
            <p:ph type="subTitle" idx="1"/>
          </p:nvPr>
        </p:nvSpPr>
        <p:spPr>
          <a:xfrm>
            <a:off x="683568" y="692696"/>
            <a:ext cx="7772400" cy="3744416"/>
          </a:xfrm>
        </p:spPr>
        <p:txBody>
          <a:bodyPr>
            <a:normAutofit/>
          </a:bodyPr>
          <a:lstStyle/>
          <a:p>
            <a:r>
              <a:rPr lang="es-AR" sz="3200" dirty="0"/>
              <a:t>Con el tiempo, la “</a:t>
            </a:r>
            <a:r>
              <a:rPr lang="es-AR" sz="3200" dirty="0" err="1"/>
              <a:t>scitala</a:t>
            </a:r>
            <a:r>
              <a:rPr lang="es-AR" sz="3200" dirty="0"/>
              <a:t>” se sustituye por mecanismos lógicos matemáticos que permiten el descifrado de manera racional, atribuyendo el valor de letras a números o distintos valores a letras. </a:t>
            </a:r>
          </a:p>
          <a:p>
            <a:endParaRPr lang="es-AR" sz="3200" dirty="0"/>
          </a:p>
          <a:p>
            <a:endParaRPr lang="es-A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836712"/>
            <a:ext cx="8183880" cy="1051560"/>
          </a:xfrm>
        </p:spPr>
        <p:txBody>
          <a:bodyPr/>
          <a:lstStyle/>
          <a:p>
            <a:pPr algn="ctr"/>
            <a:r>
              <a:rPr lang="es-AR" i="1" dirty="0">
                <a:effectLst/>
              </a:rPr>
              <a:t>Criptografía asimétrica</a:t>
            </a:r>
          </a:p>
        </p:txBody>
      </p:sp>
      <p:sp>
        <p:nvSpPr>
          <p:cNvPr id="3" name="2 Marcador de contenido"/>
          <p:cNvSpPr>
            <a:spLocks noGrp="1"/>
          </p:cNvSpPr>
          <p:nvPr>
            <p:ph idx="1"/>
          </p:nvPr>
        </p:nvSpPr>
        <p:spPr>
          <a:xfrm>
            <a:off x="467544" y="2348880"/>
            <a:ext cx="8183880" cy="3449544"/>
          </a:xfrm>
        </p:spPr>
        <p:txBody>
          <a:bodyPr/>
          <a:lstStyle/>
          <a:p>
            <a:pPr algn="ctr">
              <a:buNone/>
            </a:pPr>
            <a:r>
              <a:rPr lang="es-AR" dirty="0"/>
              <a:t>Procedimiento para lograr una comunicación segura y exclusiva con otras personas que justamente no tienen un conocimiento previo de la clave secreta.</a:t>
            </a:r>
          </a:p>
          <a:p>
            <a:pPr algn="ctr">
              <a:buNone/>
            </a:pPr>
            <a:r>
              <a:rPr lang="es-AR" dirty="0"/>
              <a:t>  (no tienen la </a:t>
            </a:r>
            <a:r>
              <a:rPr lang="es-AR" dirty="0" err="1"/>
              <a:t>scitala</a:t>
            </a:r>
            <a:r>
              <a:rPr lang="es-A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922984"/>
          </a:xfrm>
        </p:spPr>
        <p:txBody>
          <a:bodyPr>
            <a:normAutofit fontScale="77500" lnSpcReduction="20000"/>
          </a:bodyPr>
          <a:lstStyle/>
          <a:p>
            <a:pPr algn="ctr"/>
            <a:r>
              <a:rPr lang="es-AR" b="1" i="1" dirty="0" err="1"/>
              <a:t>Criptografia</a:t>
            </a:r>
            <a:r>
              <a:rPr lang="es-AR" b="1" i="1" dirty="0"/>
              <a:t> asimétrica:</a:t>
            </a:r>
          </a:p>
          <a:p>
            <a:pPr algn="ctr"/>
            <a:r>
              <a:rPr lang="es-AR" b="1" dirty="0"/>
              <a:t> </a:t>
            </a:r>
          </a:p>
          <a:p>
            <a:r>
              <a:rPr lang="es-AR" dirty="0"/>
              <a:t>Se asigna a cada usuario dos claves: una pública y otra privada. </a:t>
            </a:r>
          </a:p>
          <a:p>
            <a:r>
              <a:rPr lang="es-AR" dirty="0"/>
              <a:t>La </a:t>
            </a:r>
            <a:r>
              <a:rPr lang="es-AR" b="1" dirty="0"/>
              <a:t>pública</a:t>
            </a:r>
            <a:r>
              <a:rPr lang="es-AR" dirty="0"/>
              <a:t> se da a conocer por el usuario interesado en recibir información segura, </a:t>
            </a:r>
          </a:p>
          <a:p>
            <a:r>
              <a:rPr lang="es-AR" dirty="0"/>
              <a:t>la </a:t>
            </a:r>
            <a:r>
              <a:rPr lang="es-AR" b="1" dirty="0"/>
              <a:t>privada</a:t>
            </a:r>
            <a:r>
              <a:rPr lang="es-AR" dirty="0"/>
              <a:t> queda sólo en su poder y debe ser cuidadosamente tutelada </a:t>
            </a:r>
          </a:p>
          <a:p>
            <a:endParaRPr lang="es-AR" dirty="0"/>
          </a:p>
          <a:p>
            <a:pPr algn="ctr">
              <a:buNone/>
            </a:pPr>
            <a:r>
              <a:rPr lang="es-AR" dirty="0"/>
              <a:t>Utilizando la clave pública del remitente cualquiera puede </a:t>
            </a:r>
            <a:r>
              <a:rPr lang="es-AR" dirty="0" err="1"/>
              <a:t>desencriptar</a:t>
            </a:r>
            <a:r>
              <a:rPr lang="es-AR" dirty="0"/>
              <a:t> su envío, previamente encriptado mediante la clave privada del “firmante”. </a:t>
            </a:r>
          </a:p>
          <a:p>
            <a:pPr algn="ctr">
              <a:buNone/>
            </a:pPr>
            <a:endParaRPr lang="es-AR" dirty="0"/>
          </a:p>
          <a:p>
            <a:pPr algn="ctr">
              <a:buNone/>
            </a:pPr>
            <a:r>
              <a:rPr lang="es-AR" dirty="0"/>
              <a:t>La tecnología informática del sistema permite que lo encriptado con clave privada pueda </a:t>
            </a:r>
            <a:r>
              <a:rPr lang="es-AR" dirty="0" err="1"/>
              <a:t>desencriptarse</a:t>
            </a:r>
            <a:r>
              <a:rPr lang="es-AR" dirty="0"/>
              <a:t> mediante la clave pública e, inversamente, lo encriptado en la clave pública del receptor, pueda </a:t>
            </a:r>
            <a:r>
              <a:rPr lang="es-AR" dirty="0" err="1"/>
              <a:t>desencriptarse</a:t>
            </a:r>
            <a:r>
              <a:rPr lang="es-AR" dirty="0"/>
              <a:t> mediante su clave privada.</a:t>
            </a:r>
          </a:p>
          <a:p>
            <a:endParaRPr lang="es-A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ext Box 5"/>
          <p:cNvSpPr txBox="1">
            <a:spLocks noChangeArrowheads="1"/>
          </p:cNvSpPr>
          <p:nvPr/>
        </p:nvSpPr>
        <p:spPr bwMode="auto">
          <a:xfrm>
            <a:off x="323850" y="404813"/>
            <a:ext cx="8424863" cy="823912"/>
          </a:xfrm>
          <a:prstGeom prst="rect">
            <a:avLst/>
          </a:prstGeom>
          <a:solidFill>
            <a:schemeClr val="accent1"/>
          </a:solidFill>
          <a:ln w="9525">
            <a:noFill/>
            <a:miter lim="800000"/>
            <a:headEnd/>
            <a:tailEnd/>
          </a:ln>
          <a:effectLst/>
        </p:spPr>
        <p:txBody>
          <a:bodyPr>
            <a:spAutoFit/>
          </a:bodyPr>
          <a:lstStyle/>
          <a:p>
            <a:pPr algn="ctr">
              <a:spcBef>
                <a:spcPct val="50000"/>
              </a:spcBef>
            </a:pPr>
            <a:r>
              <a:rPr lang="es-ES" sz="4800" b="1">
                <a:solidFill>
                  <a:schemeClr val="bg1"/>
                </a:solidFill>
                <a:effectLst>
                  <a:outerShdw blurRad="38100" dist="38100" dir="2700000" algn="tl">
                    <a:srgbClr val="000000"/>
                  </a:outerShdw>
                </a:effectLst>
              </a:rPr>
              <a:t>FIRMA DIGITAL</a:t>
            </a:r>
          </a:p>
        </p:txBody>
      </p:sp>
      <p:sp>
        <p:nvSpPr>
          <p:cNvPr id="30726" name="Rectangle 3"/>
          <p:cNvSpPr>
            <a:spLocks noChangeArrowheads="1"/>
          </p:cNvSpPr>
          <p:nvPr/>
        </p:nvSpPr>
        <p:spPr bwMode="auto">
          <a:xfrm>
            <a:off x="323850" y="2841625"/>
            <a:ext cx="4937125" cy="3395663"/>
          </a:xfrm>
          <a:prstGeom prst="rect">
            <a:avLst/>
          </a:prstGeom>
          <a:noFill/>
          <a:ln w="9525">
            <a:noFill/>
            <a:miter lim="800000"/>
            <a:headEnd/>
            <a:tailEnd/>
          </a:ln>
        </p:spPr>
        <p:txBody>
          <a:bodyPr lIns="92075" tIns="46038" rIns="92075" bIns="46038"/>
          <a:lstStyle/>
          <a:p>
            <a:pPr marL="365125" indent="-282575">
              <a:lnSpc>
                <a:spcPct val="90000"/>
              </a:lnSpc>
              <a:spcBef>
                <a:spcPct val="20000"/>
              </a:spcBef>
              <a:buFont typeface="Arial" charset="0"/>
              <a:buChar char="•"/>
            </a:pPr>
            <a:r>
              <a:rPr lang="en-US" sz="3200">
                <a:latin typeface="Calibri" pitchFamily="34" charset="0"/>
              </a:rPr>
              <a:t> </a:t>
            </a:r>
            <a:r>
              <a:rPr lang="en-US" sz="2800">
                <a:latin typeface="Arial Unicode MS" pitchFamily="34" charset="-128"/>
              </a:rPr>
              <a:t>ES UNA HERRAMIENTA TECNOLOGIA QUE NOS PERMITE CONOCER EL ORIGEN DE UN DOCUMENTO Y VERIFICAR QUE SU CONTENIDO NO SE HAYA ADULTERADO.</a:t>
            </a:r>
          </a:p>
        </p:txBody>
      </p:sp>
      <p:sp>
        <p:nvSpPr>
          <p:cNvPr id="30727" name="Text Box 7"/>
          <p:cNvSpPr txBox="1">
            <a:spLocks noChangeArrowheads="1"/>
          </p:cNvSpPr>
          <p:nvPr/>
        </p:nvSpPr>
        <p:spPr bwMode="auto">
          <a:xfrm>
            <a:off x="684213" y="1916113"/>
            <a:ext cx="2879725" cy="641350"/>
          </a:xfrm>
          <a:prstGeom prst="rect">
            <a:avLst/>
          </a:prstGeom>
          <a:noFill/>
          <a:ln w="9525">
            <a:noFill/>
            <a:miter lim="800000"/>
            <a:headEnd/>
            <a:tailEnd/>
          </a:ln>
          <a:effectLst/>
        </p:spPr>
        <p:txBody>
          <a:bodyPr>
            <a:spAutoFit/>
          </a:bodyPr>
          <a:lstStyle/>
          <a:p>
            <a:pPr>
              <a:spcBef>
                <a:spcPct val="50000"/>
              </a:spcBef>
            </a:pPr>
            <a:r>
              <a:rPr lang="es-ES" sz="3600"/>
              <a:t>¿Qué ES?</a:t>
            </a:r>
          </a:p>
        </p:txBody>
      </p:sp>
      <p:pic>
        <p:nvPicPr>
          <p:cNvPr id="30728" name="Picture 8"/>
          <p:cNvPicPr>
            <a:picLocks noChangeAspect="1" noChangeArrowheads="1"/>
          </p:cNvPicPr>
          <p:nvPr/>
        </p:nvPicPr>
        <p:blipFill>
          <a:blip r:embed="rId2" cstate="print"/>
          <a:srcRect/>
          <a:stretch>
            <a:fillRect/>
          </a:stretch>
        </p:blipFill>
        <p:spPr bwMode="auto">
          <a:xfrm>
            <a:off x="5580063" y="2349500"/>
            <a:ext cx="2773362" cy="354012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Text Box 4"/>
          <p:cNvSpPr txBox="1">
            <a:spLocks noChangeArrowheads="1"/>
          </p:cNvSpPr>
          <p:nvPr/>
        </p:nvSpPr>
        <p:spPr bwMode="auto">
          <a:xfrm>
            <a:off x="323850" y="404813"/>
            <a:ext cx="8424863" cy="823912"/>
          </a:xfrm>
          <a:prstGeom prst="rect">
            <a:avLst/>
          </a:prstGeom>
          <a:solidFill>
            <a:schemeClr val="accent1"/>
          </a:solidFill>
          <a:ln w="9525">
            <a:noFill/>
            <a:miter lim="800000"/>
            <a:headEnd/>
            <a:tailEnd/>
          </a:ln>
          <a:effectLst/>
        </p:spPr>
        <p:txBody>
          <a:bodyPr>
            <a:spAutoFit/>
          </a:bodyPr>
          <a:lstStyle/>
          <a:p>
            <a:pPr algn="ctr">
              <a:spcBef>
                <a:spcPct val="50000"/>
              </a:spcBef>
            </a:pPr>
            <a:r>
              <a:rPr lang="es-ES" sz="4800" b="1">
                <a:solidFill>
                  <a:schemeClr val="bg1"/>
                </a:solidFill>
                <a:effectLst>
                  <a:outerShdw blurRad="38100" dist="38100" dir="2700000" algn="tl">
                    <a:srgbClr val="000000"/>
                  </a:outerShdw>
                </a:effectLst>
              </a:rPr>
              <a:t>UTILIDADES</a:t>
            </a:r>
          </a:p>
        </p:txBody>
      </p:sp>
      <p:sp>
        <p:nvSpPr>
          <p:cNvPr id="31749" name="Rectangle 3"/>
          <p:cNvSpPr>
            <a:spLocks noChangeArrowheads="1"/>
          </p:cNvSpPr>
          <p:nvPr/>
        </p:nvSpPr>
        <p:spPr bwMode="auto">
          <a:xfrm>
            <a:off x="323850" y="1700213"/>
            <a:ext cx="4968875" cy="4537075"/>
          </a:xfrm>
          <a:prstGeom prst="rect">
            <a:avLst/>
          </a:prstGeom>
          <a:noFill/>
          <a:ln w="9525">
            <a:noFill/>
            <a:miter lim="800000"/>
            <a:headEnd/>
            <a:tailEnd/>
          </a:ln>
        </p:spPr>
        <p:txBody>
          <a:bodyPr lIns="92075" tIns="46038" rIns="92075" bIns="46038"/>
          <a:lstStyle/>
          <a:p>
            <a:pPr marL="365125" indent="-282575">
              <a:lnSpc>
                <a:spcPct val="90000"/>
              </a:lnSpc>
              <a:spcBef>
                <a:spcPct val="20000"/>
              </a:spcBef>
              <a:buFont typeface="Arial" charset="0"/>
              <a:buChar char="•"/>
            </a:pPr>
            <a:r>
              <a:rPr lang="en-US" sz="3200" dirty="0">
                <a:latin typeface="Calibri" pitchFamily="34" charset="0"/>
              </a:rPr>
              <a:t> </a:t>
            </a:r>
            <a:r>
              <a:rPr lang="en-US" sz="2400" dirty="0">
                <a:latin typeface="Arial Unicode MS" pitchFamily="34" charset="-128"/>
              </a:rPr>
              <a:t>TRANSACCIONES IMPOSITIVAS.</a:t>
            </a:r>
          </a:p>
          <a:p>
            <a:pPr marL="365125" indent="-282575">
              <a:lnSpc>
                <a:spcPct val="90000"/>
              </a:lnSpc>
              <a:spcBef>
                <a:spcPct val="20000"/>
              </a:spcBef>
              <a:buFont typeface="Arial" charset="0"/>
              <a:buChar char="•"/>
            </a:pPr>
            <a:endParaRPr lang="en-US" sz="2400" dirty="0">
              <a:latin typeface="Arial Unicode MS" pitchFamily="34" charset="-128"/>
            </a:endParaRPr>
          </a:p>
          <a:p>
            <a:pPr marL="365125" indent="-282575">
              <a:lnSpc>
                <a:spcPct val="90000"/>
              </a:lnSpc>
              <a:spcBef>
                <a:spcPct val="20000"/>
              </a:spcBef>
              <a:buFont typeface="Arial" charset="0"/>
              <a:buChar char="•"/>
            </a:pPr>
            <a:r>
              <a:rPr lang="en-US" sz="2400" dirty="0">
                <a:latin typeface="Arial Unicode MS" pitchFamily="34" charset="-128"/>
              </a:rPr>
              <a:t>HISTORIA CLINICA.</a:t>
            </a:r>
          </a:p>
          <a:p>
            <a:pPr marL="365125" indent="-282575">
              <a:lnSpc>
                <a:spcPct val="90000"/>
              </a:lnSpc>
              <a:spcBef>
                <a:spcPct val="20000"/>
              </a:spcBef>
              <a:buFont typeface="Arial" charset="0"/>
              <a:buNone/>
            </a:pPr>
            <a:endParaRPr lang="en-US" sz="2400" dirty="0">
              <a:latin typeface="Arial Unicode MS" pitchFamily="34" charset="-128"/>
            </a:endParaRPr>
          </a:p>
          <a:p>
            <a:pPr marL="365125" indent="-282575">
              <a:lnSpc>
                <a:spcPct val="90000"/>
              </a:lnSpc>
              <a:spcBef>
                <a:spcPct val="20000"/>
              </a:spcBef>
              <a:buFont typeface="Arial" charset="0"/>
              <a:buChar char="•"/>
            </a:pPr>
            <a:r>
              <a:rPr lang="en-US" sz="2400" dirty="0">
                <a:latin typeface="Arial Unicode MS" pitchFamily="34" charset="-128"/>
              </a:rPr>
              <a:t>OPERACIONES BANCARIAS.</a:t>
            </a:r>
          </a:p>
          <a:p>
            <a:pPr marL="365125" indent="-282575">
              <a:lnSpc>
                <a:spcPct val="90000"/>
              </a:lnSpc>
              <a:spcBef>
                <a:spcPct val="20000"/>
              </a:spcBef>
              <a:buFont typeface="Arial" charset="0"/>
              <a:buChar char="•"/>
            </a:pPr>
            <a:endParaRPr lang="en-US" sz="2400" dirty="0">
              <a:latin typeface="Arial Unicode MS" pitchFamily="34" charset="-128"/>
            </a:endParaRPr>
          </a:p>
          <a:p>
            <a:pPr marL="365125" indent="-282575">
              <a:lnSpc>
                <a:spcPct val="90000"/>
              </a:lnSpc>
              <a:spcBef>
                <a:spcPct val="20000"/>
              </a:spcBef>
              <a:buFont typeface="Arial" charset="0"/>
              <a:buChar char="•"/>
            </a:pPr>
            <a:r>
              <a:rPr lang="en-US" sz="2400" dirty="0">
                <a:latin typeface="Arial Unicode MS" pitchFamily="34" charset="-128"/>
              </a:rPr>
              <a:t>CONTRATOS.</a:t>
            </a:r>
          </a:p>
          <a:p>
            <a:pPr marL="365125" indent="-282575">
              <a:lnSpc>
                <a:spcPct val="90000"/>
              </a:lnSpc>
              <a:spcBef>
                <a:spcPct val="20000"/>
              </a:spcBef>
              <a:buFont typeface="Arial" charset="0"/>
              <a:buChar char="•"/>
            </a:pPr>
            <a:endParaRPr lang="en-US" sz="2400" dirty="0">
              <a:latin typeface="Arial Unicode MS" pitchFamily="34" charset="-128"/>
            </a:endParaRPr>
          </a:p>
          <a:p>
            <a:pPr marL="365125" indent="-282575">
              <a:lnSpc>
                <a:spcPct val="90000"/>
              </a:lnSpc>
              <a:spcBef>
                <a:spcPct val="20000"/>
              </a:spcBef>
            </a:pPr>
            <a:endParaRPr lang="en-US" sz="2400" dirty="0">
              <a:latin typeface="Arial Unicode MS" pitchFamily="34" charset="-128"/>
            </a:endParaRPr>
          </a:p>
          <a:p>
            <a:pPr marL="365125" indent="-282575">
              <a:lnSpc>
                <a:spcPct val="90000"/>
              </a:lnSpc>
              <a:spcBef>
                <a:spcPct val="20000"/>
              </a:spcBef>
            </a:pPr>
            <a:endParaRPr lang="en-US" sz="2400" dirty="0">
              <a:latin typeface="Arial Unicode MS" pitchFamily="34" charset="-128"/>
            </a:endParaRPr>
          </a:p>
          <a:p>
            <a:pPr marL="365125" indent="-282575">
              <a:lnSpc>
                <a:spcPct val="90000"/>
              </a:lnSpc>
              <a:spcBef>
                <a:spcPct val="20000"/>
              </a:spcBef>
            </a:pPr>
            <a:endParaRPr lang="en-US" sz="2400" dirty="0">
              <a:latin typeface="Arial Unicode MS" pitchFamily="34" charset="-128"/>
            </a:endParaRPr>
          </a:p>
        </p:txBody>
      </p:sp>
      <p:pic>
        <p:nvPicPr>
          <p:cNvPr id="31750" name="Picture 6"/>
          <p:cNvPicPr>
            <a:picLocks noChangeAspect="1" noChangeArrowheads="1"/>
          </p:cNvPicPr>
          <p:nvPr/>
        </p:nvPicPr>
        <p:blipFill>
          <a:blip r:embed="rId2" cstate="print"/>
          <a:srcRect/>
          <a:stretch>
            <a:fillRect/>
          </a:stretch>
        </p:blipFill>
        <p:spPr bwMode="auto">
          <a:xfrm>
            <a:off x="6357950" y="1285860"/>
            <a:ext cx="2097079" cy="2278112"/>
          </a:xfrm>
          <a:prstGeom prst="rect">
            <a:avLst/>
          </a:prstGeom>
          <a:noFill/>
        </p:spPr>
      </p:pic>
      <p:pic>
        <p:nvPicPr>
          <p:cNvPr id="5" name="4 Imagen" descr="Scan_Circ_003_ddh_11_copy_30099.jpg"/>
          <p:cNvPicPr>
            <a:picLocks noChangeAspect="1"/>
          </p:cNvPicPr>
          <p:nvPr/>
        </p:nvPicPr>
        <p:blipFill>
          <a:blip r:embed="rId3" cstate="print"/>
          <a:stretch>
            <a:fillRect/>
          </a:stretch>
        </p:blipFill>
        <p:spPr>
          <a:xfrm>
            <a:off x="5214942" y="3929066"/>
            <a:ext cx="1064759" cy="1464220"/>
          </a:xfrm>
          <a:prstGeom prst="rect">
            <a:avLst/>
          </a:prstGeom>
        </p:spPr>
      </p:pic>
      <p:pic>
        <p:nvPicPr>
          <p:cNvPr id="6" name="5 Imagen" descr="cheque_portador.gif"/>
          <p:cNvPicPr>
            <a:picLocks noChangeAspect="1"/>
          </p:cNvPicPr>
          <p:nvPr/>
        </p:nvPicPr>
        <p:blipFill>
          <a:blip r:embed="rId4" cstate="print"/>
          <a:stretch>
            <a:fillRect/>
          </a:stretch>
        </p:blipFill>
        <p:spPr>
          <a:xfrm rot="19595576">
            <a:off x="6478173" y="4861591"/>
            <a:ext cx="1214446" cy="541643"/>
          </a:xfrm>
          <a:prstGeom prst="rect">
            <a:avLst/>
          </a:prstGeom>
        </p:spPr>
      </p:pic>
      <p:pic>
        <p:nvPicPr>
          <p:cNvPr id="7" name="Picture 10" descr="pcomputr"/>
          <p:cNvPicPr>
            <a:picLocks noChangeAspect="1" noChangeArrowheads="1"/>
          </p:cNvPicPr>
          <p:nvPr/>
        </p:nvPicPr>
        <p:blipFill>
          <a:blip r:embed="rId5" cstate="print"/>
          <a:srcRect/>
          <a:stretch>
            <a:fillRect/>
          </a:stretch>
        </p:blipFill>
        <p:spPr bwMode="auto">
          <a:xfrm>
            <a:off x="3143240" y="5214950"/>
            <a:ext cx="1655763" cy="1319212"/>
          </a:xfrm>
          <a:prstGeom prst="rect">
            <a:avLst/>
          </a:prstGeom>
          <a:noFill/>
        </p:spPr>
      </p:pic>
      <p:cxnSp>
        <p:nvCxnSpPr>
          <p:cNvPr id="9" name="8 Conector recto de flecha"/>
          <p:cNvCxnSpPr/>
          <p:nvPr/>
        </p:nvCxnSpPr>
        <p:spPr>
          <a:xfrm flipV="1">
            <a:off x="5429256" y="5572140"/>
            <a:ext cx="714380" cy="642942"/>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cxnSp>
        <p:nvCxnSpPr>
          <p:cNvPr id="10" name="9 Conector recto de flecha"/>
          <p:cNvCxnSpPr/>
          <p:nvPr/>
        </p:nvCxnSpPr>
        <p:spPr>
          <a:xfrm rot="10800000" flipV="1">
            <a:off x="6572264" y="3714752"/>
            <a:ext cx="714380" cy="642942"/>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323850" y="404813"/>
            <a:ext cx="8424863" cy="823912"/>
          </a:xfrm>
          <a:prstGeom prst="rect">
            <a:avLst/>
          </a:prstGeom>
          <a:solidFill>
            <a:schemeClr val="accent1"/>
          </a:solidFill>
          <a:ln w="9525">
            <a:noFill/>
            <a:miter lim="800000"/>
            <a:headEnd/>
            <a:tailEnd/>
          </a:ln>
          <a:effectLst/>
        </p:spPr>
        <p:txBody>
          <a:bodyPr>
            <a:spAutoFit/>
          </a:bodyPr>
          <a:lstStyle/>
          <a:p>
            <a:pPr algn="ctr">
              <a:spcBef>
                <a:spcPct val="50000"/>
              </a:spcBef>
            </a:pPr>
            <a:r>
              <a:rPr lang="es-ES" sz="4800" b="1" dirty="0">
                <a:solidFill>
                  <a:schemeClr val="bg1"/>
                </a:solidFill>
                <a:effectLst>
                  <a:outerShdw blurRad="38100" dist="38100" dir="2700000" algn="tl">
                    <a:srgbClr val="000000"/>
                  </a:outerShdw>
                </a:effectLst>
              </a:rPr>
              <a:t>COMO SE LOGRA </a:t>
            </a:r>
          </a:p>
        </p:txBody>
      </p:sp>
      <p:sp>
        <p:nvSpPr>
          <p:cNvPr id="34821" name="Text Box 5"/>
          <p:cNvSpPr txBox="1">
            <a:spLocks noChangeArrowheads="1"/>
          </p:cNvSpPr>
          <p:nvPr/>
        </p:nvSpPr>
        <p:spPr bwMode="auto">
          <a:xfrm>
            <a:off x="323850" y="1533525"/>
            <a:ext cx="5976342" cy="1569660"/>
          </a:xfrm>
          <a:prstGeom prst="rect">
            <a:avLst/>
          </a:prstGeom>
          <a:noFill/>
          <a:ln w="9525">
            <a:noFill/>
            <a:miter lim="800000"/>
            <a:headEnd/>
            <a:tailEnd/>
          </a:ln>
          <a:effectLst/>
        </p:spPr>
        <p:txBody>
          <a:bodyPr wrap="square">
            <a:spAutoFit/>
          </a:bodyPr>
          <a:lstStyle/>
          <a:p>
            <a:r>
              <a:rPr lang="es-ES" sz="1600" b="1" dirty="0"/>
              <a:t>* VINCULA A LA PERSONA CON EL DOCUMENTO.</a:t>
            </a:r>
          </a:p>
          <a:p>
            <a:r>
              <a:rPr lang="es-ES" sz="1600" b="1" dirty="0"/>
              <a:t>* SE NECESITAN DOS CLAVES: UNA PRIVADA Y </a:t>
            </a:r>
          </a:p>
          <a:p>
            <a:r>
              <a:rPr lang="es-ES" sz="1600" b="1" dirty="0"/>
              <a:t>  OTRA PUBLICA.</a:t>
            </a:r>
          </a:p>
          <a:p>
            <a:r>
              <a:rPr lang="es-ES" sz="1600" b="1" dirty="0"/>
              <a:t>* LA CLAVE PUBLICA ESTA CONTENIDA EN UN CERTIFICADO DE FIRMA DIGITAL. (ES UN DOCUMENTO ELECTRONICO)</a:t>
            </a:r>
          </a:p>
        </p:txBody>
      </p:sp>
      <p:pic>
        <p:nvPicPr>
          <p:cNvPr id="34822" name="Picture 6"/>
          <p:cNvPicPr>
            <a:picLocks noChangeAspect="1" noChangeArrowheads="1"/>
          </p:cNvPicPr>
          <p:nvPr/>
        </p:nvPicPr>
        <p:blipFill>
          <a:blip r:embed="rId2" cstate="print"/>
          <a:srcRect/>
          <a:stretch>
            <a:fillRect/>
          </a:stretch>
        </p:blipFill>
        <p:spPr bwMode="auto">
          <a:xfrm>
            <a:off x="684213" y="3500438"/>
            <a:ext cx="1857375" cy="2238375"/>
          </a:xfrm>
          <a:prstGeom prst="rect">
            <a:avLst/>
          </a:prstGeom>
          <a:noFill/>
        </p:spPr>
      </p:pic>
      <p:pic>
        <p:nvPicPr>
          <p:cNvPr id="34823" name="Picture 7"/>
          <p:cNvPicPr>
            <a:picLocks noChangeAspect="1" noChangeArrowheads="1"/>
          </p:cNvPicPr>
          <p:nvPr/>
        </p:nvPicPr>
        <p:blipFill>
          <a:blip r:embed="rId3" cstate="print"/>
          <a:srcRect/>
          <a:stretch>
            <a:fillRect/>
          </a:stretch>
        </p:blipFill>
        <p:spPr bwMode="auto">
          <a:xfrm>
            <a:off x="4427538" y="3429000"/>
            <a:ext cx="4038600" cy="2257425"/>
          </a:xfrm>
          <a:prstGeom prst="rect">
            <a:avLst/>
          </a:prstGeom>
          <a:noFill/>
        </p:spPr>
      </p:pic>
      <p:sp>
        <p:nvSpPr>
          <p:cNvPr id="34824" name="Text Box 8"/>
          <p:cNvSpPr txBox="1">
            <a:spLocks noChangeArrowheads="1"/>
          </p:cNvSpPr>
          <p:nvPr/>
        </p:nvSpPr>
        <p:spPr bwMode="auto">
          <a:xfrm>
            <a:off x="4643438" y="5949950"/>
            <a:ext cx="2735262" cy="641350"/>
          </a:xfrm>
          <a:prstGeom prst="rect">
            <a:avLst/>
          </a:prstGeom>
          <a:noFill/>
          <a:ln w="9525">
            <a:noFill/>
            <a:miter lim="800000"/>
            <a:headEnd/>
            <a:tailEnd/>
          </a:ln>
          <a:effectLst/>
        </p:spPr>
        <p:txBody>
          <a:bodyPr>
            <a:spAutoFit/>
          </a:bodyPr>
          <a:lstStyle/>
          <a:p>
            <a:pPr>
              <a:spcBef>
                <a:spcPct val="50000"/>
              </a:spcBef>
            </a:pPr>
            <a:r>
              <a:rPr lang="es-ES"/>
              <a:t>EL DESTINO VERIFICA LA AUTENTICIDAD</a:t>
            </a:r>
          </a:p>
        </p:txBody>
      </p:sp>
      <p:sp>
        <p:nvSpPr>
          <p:cNvPr id="34825" name="Line 9"/>
          <p:cNvSpPr>
            <a:spLocks noChangeShapeType="1"/>
          </p:cNvSpPr>
          <p:nvPr/>
        </p:nvSpPr>
        <p:spPr bwMode="auto">
          <a:xfrm>
            <a:off x="2843213" y="4724400"/>
            <a:ext cx="1081087" cy="0"/>
          </a:xfrm>
          <a:prstGeom prst="line">
            <a:avLst/>
          </a:prstGeom>
          <a:noFill/>
          <a:ln w="76200">
            <a:solidFill>
              <a:schemeClr val="tx1"/>
            </a:solidFill>
            <a:round/>
            <a:headEnd/>
            <a:tailEnd type="triangle" w="med" len="med"/>
          </a:ln>
          <a:effectLst/>
        </p:spPr>
        <p:txBody>
          <a:bodyPr/>
          <a:lstStyle/>
          <a:p>
            <a:endParaRPr lang="es-ES"/>
          </a:p>
        </p:txBody>
      </p:sp>
      <p:pic>
        <p:nvPicPr>
          <p:cNvPr id="34826" name="Picture 10" descr="376"/>
          <p:cNvPicPr>
            <a:picLocks noChangeAspect="1" noChangeArrowheads="1"/>
          </p:cNvPicPr>
          <p:nvPr/>
        </p:nvPicPr>
        <p:blipFill>
          <a:blip r:embed="rId4" cstate="print"/>
          <a:srcRect/>
          <a:stretch>
            <a:fillRect/>
          </a:stretch>
        </p:blipFill>
        <p:spPr bwMode="auto">
          <a:xfrm>
            <a:off x="1258888" y="5805488"/>
            <a:ext cx="622300" cy="622300"/>
          </a:xfrm>
          <a:prstGeom prst="rect">
            <a:avLst/>
          </a:prstGeom>
          <a:noFill/>
        </p:spPr>
      </p:pic>
      <p:pic>
        <p:nvPicPr>
          <p:cNvPr id="34827" name="Picture 11"/>
          <p:cNvPicPr>
            <a:picLocks noChangeAspect="1" noChangeArrowheads="1"/>
          </p:cNvPicPr>
          <p:nvPr/>
        </p:nvPicPr>
        <p:blipFill>
          <a:blip r:embed="rId5" cstate="print"/>
          <a:srcRect/>
          <a:stretch>
            <a:fillRect/>
          </a:stretch>
        </p:blipFill>
        <p:spPr bwMode="auto">
          <a:xfrm>
            <a:off x="6588125" y="1773238"/>
            <a:ext cx="2016125" cy="1317625"/>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5"/>
          <p:cNvSpPr txBox="1">
            <a:spLocks noChangeArrowheads="1"/>
          </p:cNvSpPr>
          <p:nvPr/>
        </p:nvSpPr>
        <p:spPr bwMode="auto">
          <a:xfrm>
            <a:off x="323850" y="404813"/>
            <a:ext cx="8424863" cy="823912"/>
          </a:xfrm>
          <a:prstGeom prst="rect">
            <a:avLst/>
          </a:prstGeom>
          <a:solidFill>
            <a:schemeClr val="accent1"/>
          </a:solidFill>
          <a:ln w="9525">
            <a:noFill/>
            <a:miter lim="800000"/>
            <a:headEnd/>
            <a:tailEnd/>
          </a:ln>
          <a:effectLst/>
        </p:spPr>
        <p:txBody>
          <a:bodyPr>
            <a:spAutoFit/>
          </a:bodyPr>
          <a:lstStyle/>
          <a:p>
            <a:pPr algn="ctr">
              <a:spcBef>
                <a:spcPct val="50000"/>
              </a:spcBef>
            </a:pPr>
            <a:r>
              <a:rPr lang="es-ES" sz="4800" b="1">
                <a:solidFill>
                  <a:schemeClr val="bg1"/>
                </a:solidFill>
                <a:effectLst>
                  <a:outerShdw blurRad="38100" dist="38100" dir="2700000" algn="tl">
                    <a:srgbClr val="000000"/>
                  </a:outerShdw>
                </a:effectLst>
              </a:rPr>
              <a:t>¿COMO SE OBTIENE?</a:t>
            </a:r>
          </a:p>
        </p:txBody>
      </p:sp>
      <p:pic>
        <p:nvPicPr>
          <p:cNvPr id="32776" name="Picture 8"/>
          <p:cNvPicPr>
            <a:picLocks noChangeAspect="1" noChangeArrowheads="1"/>
          </p:cNvPicPr>
          <p:nvPr/>
        </p:nvPicPr>
        <p:blipFill>
          <a:blip r:embed="rId2" cstate="print"/>
          <a:srcRect/>
          <a:stretch>
            <a:fillRect/>
          </a:stretch>
        </p:blipFill>
        <p:spPr bwMode="auto">
          <a:xfrm>
            <a:off x="395288" y="1844675"/>
            <a:ext cx="8085137" cy="338455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a:xfrm>
            <a:off x="722376" y="836712"/>
            <a:ext cx="7772400" cy="5040560"/>
          </a:xfrm>
        </p:spPr>
        <p:txBody>
          <a:bodyPr>
            <a:normAutofit/>
          </a:bodyPr>
          <a:lstStyle/>
          <a:p>
            <a:r>
              <a:rPr lang="es-AR" dirty="0"/>
              <a:t>ARTICULO 5º — </a:t>
            </a:r>
            <a:r>
              <a:rPr lang="es-AR" b="1" dirty="0"/>
              <a:t>Firma electrónica</a:t>
            </a:r>
            <a:r>
              <a:rPr lang="es-AR" dirty="0"/>
              <a:t>. Se entiende por firma electrónica al conjunto de datos electrónicos integrados, ligados o asociados de manera lógica a otros datos electrónicos, utilizado por el signatario como su medio de identificación, </a:t>
            </a:r>
            <a:r>
              <a:rPr lang="es-AR" dirty="0">
                <a:solidFill>
                  <a:srgbClr val="FF0000"/>
                </a:solidFill>
              </a:rPr>
              <a:t>que carezca de alguno de los requisitos legales para ser considerada firma digital</a:t>
            </a:r>
            <a:r>
              <a:rPr lang="es-AR" dirty="0"/>
              <a:t>. En caso de ser desconocida la firma electrónica corresponde a quien la invoca acreditar su validez.</a:t>
            </a:r>
          </a:p>
          <a:p>
            <a:endParaRPr lang="es-AR" dirty="0"/>
          </a:p>
          <a:p>
            <a:endParaRPr lang="es-AR" dirty="0"/>
          </a:p>
          <a:p>
            <a:r>
              <a:rPr lang="es-AR" dirty="0"/>
              <a:t>ARTICULO 6. </a:t>
            </a:r>
            <a:r>
              <a:rPr lang="es-AR" b="1" dirty="0"/>
              <a:t>Documento digital </a:t>
            </a:r>
            <a:r>
              <a:rPr lang="es-AR" dirty="0"/>
              <a:t>—Se entiende por documento digital a la representación digital de actos o hechos, con independencia del soporte utilizado para su fijación, almacenamiento o archivo. Un documento digital también satisface el requerimiento de escritura.</a:t>
            </a:r>
          </a:p>
          <a:p>
            <a:endParaRPr lang="es-A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a:xfrm>
            <a:off x="722376" y="692696"/>
            <a:ext cx="7772400" cy="4752528"/>
          </a:xfrm>
        </p:spPr>
        <p:txBody>
          <a:bodyPr>
            <a:normAutofit lnSpcReduction="10000"/>
          </a:bodyPr>
          <a:lstStyle/>
          <a:p>
            <a:r>
              <a:rPr lang="es-AR" dirty="0"/>
              <a:t>ARTICULO 7º — Presunción de autoría. Se presume, salvo prueba en contrario, que toda firma digital pertenece al titular del certificado digital que permite la verificación de dicha firma. </a:t>
            </a:r>
          </a:p>
          <a:p>
            <a:endParaRPr lang="es-AR" dirty="0"/>
          </a:p>
          <a:p>
            <a:r>
              <a:rPr lang="es-AR" sz="5400" dirty="0">
                <a:solidFill>
                  <a:srgbClr val="FF0000"/>
                </a:solidFill>
              </a:rPr>
              <a:t>NO hay </a:t>
            </a:r>
            <a:r>
              <a:rPr lang="es-AR" sz="5400" dirty="0" err="1">
                <a:solidFill>
                  <a:srgbClr val="FF0000"/>
                </a:solidFill>
              </a:rPr>
              <a:t>FiRMA</a:t>
            </a:r>
            <a:r>
              <a:rPr lang="es-AR" sz="5400" dirty="0">
                <a:solidFill>
                  <a:srgbClr val="FF0000"/>
                </a:solidFill>
              </a:rPr>
              <a:t> DIGITAL sin CERTIFICADO DIGITAL</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a:xfrm>
            <a:off x="722376" y="620688"/>
            <a:ext cx="7772400" cy="5688632"/>
          </a:xfrm>
        </p:spPr>
        <p:txBody>
          <a:bodyPr>
            <a:normAutofit lnSpcReduction="10000"/>
          </a:bodyPr>
          <a:lstStyle/>
          <a:p>
            <a:r>
              <a:rPr lang="es-AR" b="1" dirty="0"/>
              <a:t>DEFINICION COMPLETA DE FIRMA DIGITAL</a:t>
            </a:r>
          </a:p>
          <a:p>
            <a:endParaRPr lang="es-AR" dirty="0"/>
          </a:p>
          <a:p>
            <a:r>
              <a:rPr lang="es-AR" sz="2400" dirty="0"/>
              <a:t>Se entiende por FD al resultado de aplicar a un documento digital un procedimiento matemático pasible de verificación por terceras partes, que permita identificar al firmante y detectar cualquier alteración del documento digital posterior a su firma, impuesta en actos </a:t>
            </a:r>
            <a:r>
              <a:rPr lang="es-AR" sz="2400" dirty="0">
                <a:solidFill>
                  <a:srgbClr val="FF0000"/>
                </a:solidFill>
              </a:rPr>
              <a:t>que no impliquen disposiciones por causa de muerte ni correspondan al derecho de familia ni a actos personalísimos</a:t>
            </a:r>
            <a:r>
              <a:rPr lang="es-AR" sz="2400" dirty="0"/>
              <a:t> en general </a:t>
            </a:r>
            <a:r>
              <a:rPr lang="es-AR" sz="2400" dirty="0">
                <a:solidFill>
                  <a:srgbClr val="FF0000"/>
                </a:solidFill>
              </a:rPr>
              <a:t>presumiéndose salvo prueba en contrario, que toda FD pertenece al titular del CD y que este DD no ha sido modificado</a:t>
            </a:r>
            <a:r>
              <a:rPr lang="es-AR" sz="2400" dirty="0"/>
              <a:t> y que en caso de que el DD sea enviado en forma </a:t>
            </a:r>
            <a:r>
              <a:rPr lang="es-AR" sz="2400" dirty="0" err="1"/>
              <a:t>automáticase</a:t>
            </a:r>
            <a:r>
              <a:rPr lang="es-AR" sz="2400" dirty="0"/>
              <a:t> presumirá, salvo prueba en contrario, que proviene del remitente,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994992"/>
          </a:xfrm>
        </p:spPr>
        <p:txBody>
          <a:bodyPr>
            <a:normAutofit fontScale="92500" lnSpcReduction="10000"/>
          </a:bodyPr>
          <a:lstStyle/>
          <a:p>
            <a:r>
              <a:rPr lang="es-AR" dirty="0"/>
              <a:t>requiriéndose, además, que la FD haya sido creada </a:t>
            </a:r>
            <a:r>
              <a:rPr lang="es-AR" dirty="0">
                <a:solidFill>
                  <a:srgbClr val="FF0000"/>
                </a:solidFill>
              </a:rPr>
              <a:t>durante el período de vigencia del CD </a:t>
            </a:r>
            <a:r>
              <a:rPr lang="es-AR" dirty="0"/>
              <a:t>válido del firmante, que haya sido debidamente verificada por la referencia a los datos de verificación de firma digital indicados en dicho CD según el procedimiento de verificación correspondiente; y que dicho CD haya sido emitido o reconocido, según el artículo 16 de la presente, </a:t>
            </a:r>
            <a:r>
              <a:rPr lang="es-AR" dirty="0">
                <a:solidFill>
                  <a:srgbClr val="FF0000"/>
                </a:solidFill>
              </a:rPr>
              <a:t>por un certificador licenciado </a:t>
            </a:r>
            <a:r>
              <a:rPr lang="es-AR" dirty="0"/>
              <a:t>y no sea </a:t>
            </a:r>
            <a:r>
              <a:rPr lang="es-AR" dirty="0">
                <a:solidFill>
                  <a:srgbClr val="FF0000"/>
                </a:solidFill>
              </a:rPr>
              <a:t>utilizado para alguna finalidad diferente</a:t>
            </a:r>
            <a:r>
              <a:rPr lang="es-AR" dirty="0"/>
              <a:t> a los fines para los cuales fue extendido o para operaciones que superen el valor máximo autorizado cuando corresponda.</a:t>
            </a:r>
          </a:p>
          <a:p>
            <a:endParaRPr lang="es-A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lstStyle/>
          <a:p>
            <a:endParaRPr lang="es-AR"/>
          </a:p>
        </p:txBody>
      </p:sp>
      <p:sp>
        <p:nvSpPr>
          <p:cNvPr id="3" name="2 Subtítulo"/>
          <p:cNvSpPr>
            <a:spLocks noGrp="1"/>
          </p:cNvSpPr>
          <p:nvPr>
            <p:ph type="subTitle" idx="1"/>
          </p:nvPr>
        </p:nvSpPr>
        <p:spPr>
          <a:xfrm>
            <a:off x="722376" y="620688"/>
            <a:ext cx="7772400" cy="5688632"/>
          </a:xfrm>
        </p:spPr>
        <p:txBody>
          <a:bodyPr>
            <a:noAutofit/>
          </a:bodyPr>
          <a:lstStyle/>
          <a:p>
            <a:r>
              <a:rPr lang="es-AR" sz="3200" dirty="0"/>
              <a:t>El certificado digital está firmado digitalmente por el emisor del certificado. Para hacer un certificado digital se debe generar el par de claves, par que es propio, personal, y no se puede repetir para ninguna otra persona. Para ello se utiliza un programa especial en su computadora. Las dos claves son en realidad números (relacionados matemáticamente entre sí), que se generan simultáneamente. </a:t>
            </a:r>
          </a:p>
          <a:p>
            <a:endParaRPr lang="es-AR"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a:xfrm>
            <a:off x="502920" y="530352"/>
            <a:ext cx="8183880" cy="5490936"/>
          </a:xfrm>
        </p:spPr>
        <p:txBody>
          <a:bodyPr>
            <a:normAutofit/>
          </a:bodyPr>
          <a:lstStyle/>
          <a:p>
            <a:r>
              <a:rPr lang="es-AR" dirty="0"/>
              <a:t>La persona resguarda uno de esos números (que llamamos clave privada) y revela el otro al público en general (clave pública). La generación del par de claves se hace una sola vez. Con un par de claves se puede firmar y verificar tantos documentos como se desee. </a:t>
            </a:r>
          </a:p>
          <a:p>
            <a:endParaRPr lang="es-AR" dirty="0"/>
          </a:p>
          <a:p>
            <a:r>
              <a:rPr lang="es-AR" dirty="0"/>
              <a:t>Conociendo esa clave pública, la Autoridad Certificante, luego de identificar a la persona o entidad, emite un certificado de clave pública a su favor</a:t>
            </a:r>
          </a:p>
          <a:p>
            <a:endParaRPr lang="es-A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contenido"/>
          <p:cNvSpPr>
            <a:spLocks noGrp="1"/>
          </p:cNvSpPr>
          <p:nvPr>
            <p:ph idx="1"/>
          </p:nvPr>
        </p:nvSpPr>
        <p:spPr/>
        <p:txBody>
          <a:bodyPr/>
          <a:lstStyle/>
          <a:p>
            <a:pPr algn="ctr">
              <a:buNone/>
            </a:pPr>
            <a:r>
              <a:rPr lang="es-AR" dirty="0"/>
              <a:t>Toda remisión pasa previamente por una autoridad imparcial certificante que, justamente por ser su misión dar fe de la utilización de la clave privada del remitente y del destinatario, recibe el nombre de “certificador”</a:t>
            </a:r>
          </a:p>
          <a:p>
            <a:pPr algn="ctr">
              <a:buNone/>
            </a:pPr>
            <a:endParaRPr lang="es-A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9" name="Picture 7"/>
          <p:cNvPicPr>
            <a:picLocks noChangeAspect="1" noChangeArrowheads="1"/>
          </p:cNvPicPr>
          <p:nvPr/>
        </p:nvPicPr>
        <p:blipFill>
          <a:blip r:embed="rId2" cstate="print"/>
          <a:srcRect/>
          <a:stretch>
            <a:fillRect/>
          </a:stretch>
        </p:blipFill>
        <p:spPr bwMode="auto">
          <a:xfrm>
            <a:off x="395288" y="1484313"/>
            <a:ext cx="7416800" cy="3673475"/>
          </a:xfrm>
          <a:prstGeom prst="rect">
            <a:avLst/>
          </a:prstGeom>
          <a:noFill/>
        </p:spPr>
      </p:pic>
      <p:sp>
        <p:nvSpPr>
          <p:cNvPr id="33800" name="Text Box 8"/>
          <p:cNvSpPr txBox="1">
            <a:spLocks noChangeArrowheads="1"/>
          </p:cNvSpPr>
          <p:nvPr/>
        </p:nvSpPr>
        <p:spPr bwMode="auto">
          <a:xfrm>
            <a:off x="323850" y="404813"/>
            <a:ext cx="8424863" cy="823912"/>
          </a:xfrm>
          <a:prstGeom prst="rect">
            <a:avLst/>
          </a:prstGeom>
          <a:solidFill>
            <a:schemeClr val="accent1"/>
          </a:solidFill>
          <a:ln w="9525">
            <a:noFill/>
            <a:miter lim="800000"/>
            <a:headEnd/>
            <a:tailEnd/>
          </a:ln>
          <a:effectLst/>
        </p:spPr>
        <p:txBody>
          <a:bodyPr>
            <a:spAutoFit/>
          </a:bodyPr>
          <a:lstStyle/>
          <a:p>
            <a:pPr algn="ctr">
              <a:spcBef>
                <a:spcPct val="50000"/>
              </a:spcBef>
            </a:pPr>
            <a:r>
              <a:rPr lang="es-ES" sz="4800" b="1">
                <a:solidFill>
                  <a:schemeClr val="bg1"/>
                </a:solidFill>
                <a:effectLst>
                  <a:outerShdw blurRad="38100" dist="38100" dir="2700000" algn="tl">
                    <a:srgbClr val="000000"/>
                  </a:outerShdw>
                </a:effectLst>
              </a:rPr>
              <a:t>CERTIFICADORES </a:t>
            </a:r>
          </a:p>
        </p:txBody>
      </p:sp>
      <p:sp>
        <p:nvSpPr>
          <p:cNvPr id="33801" name="Rectangle 9"/>
          <p:cNvSpPr>
            <a:spLocks noChangeArrowheads="1"/>
          </p:cNvSpPr>
          <p:nvPr/>
        </p:nvSpPr>
        <p:spPr bwMode="auto">
          <a:xfrm>
            <a:off x="6156325" y="2924175"/>
            <a:ext cx="1511300" cy="649288"/>
          </a:xfrm>
          <a:prstGeom prst="rect">
            <a:avLst/>
          </a:prstGeom>
          <a:solidFill>
            <a:schemeClr val="bg1"/>
          </a:solidFill>
          <a:ln w="9525">
            <a:noFill/>
            <a:miter lim="800000"/>
            <a:headEnd/>
            <a:tailEnd/>
          </a:ln>
          <a:effectLst/>
        </p:spPr>
        <p:txBody>
          <a:bodyPr wrap="none" anchor="ctr"/>
          <a:lstStyle/>
          <a:p>
            <a:endParaRPr lang="es-ES"/>
          </a:p>
        </p:txBody>
      </p:sp>
      <p:sp>
        <p:nvSpPr>
          <p:cNvPr id="33802" name="Rectangle 10"/>
          <p:cNvSpPr>
            <a:spLocks noChangeArrowheads="1"/>
          </p:cNvSpPr>
          <p:nvPr/>
        </p:nvSpPr>
        <p:spPr bwMode="auto">
          <a:xfrm>
            <a:off x="6659563" y="3500438"/>
            <a:ext cx="1511300" cy="649287"/>
          </a:xfrm>
          <a:prstGeom prst="rect">
            <a:avLst/>
          </a:prstGeom>
          <a:solidFill>
            <a:schemeClr val="bg1"/>
          </a:solidFill>
          <a:ln w="9525">
            <a:noFill/>
            <a:miter lim="800000"/>
            <a:headEnd/>
            <a:tailEnd/>
          </a:ln>
          <a:effectLst/>
        </p:spPr>
        <p:txBody>
          <a:bodyPr wrap="none" anchor="ctr"/>
          <a:lstStyle/>
          <a:p>
            <a:endParaRPr lang="es-E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4"/>
          <p:cNvSpPr txBox="1">
            <a:spLocks noChangeArrowheads="1"/>
          </p:cNvSpPr>
          <p:nvPr/>
        </p:nvSpPr>
        <p:spPr bwMode="auto">
          <a:xfrm>
            <a:off x="323850" y="404813"/>
            <a:ext cx="8424863" cy="1446550"/>
          </a:xfrm>
          <a:prstGeom prst="rect">
            <a:avLst/>
          </a:prstGeom>
          <a:solidFill>
            <a:schemeClr val="accent1"/>
          </a:solidFill>
          <a:ln w="9525">
            <a:noFill/>
            <a:miter lim="800000"/>
            <a:headEnd/>
            <a:tailEnd/>
          </a:ln>
          <a:effectLst/>
        </p:spPr>
        <p:txBody>
          <a:bodyPr>
            <a:spAutoFit/>
          </a:bodyPr>
          <a:lstStyle/>
          <a:p>
            <a:pPr algn="ctr">
              <a:spcBef>
                <a:spcPct val="50000"/>
              </a:spcBef>
            </a:pPr>
            <a:r>
              <a:rPr lang="en-US" sz="4000" dirty="0" err="1">
                <a:effectLst>
                  <a:outerShdw blurRad="38100" dist="38100" dir="2700000" algn="tl">
                    <a:srgbClr val="C0C0C0"/>
                  </a:outerShdw>
                </a:effectLst>
              </a:rPr>
              <a:t>Ley</a:t>
            </a:r>
            <a:r>
              <a:rPr lang="en-US" sz="4000" dirty="0">
                <a:effectLst>
                  <a:outerShdw blurRad="38100" dist="38100" dir="2700000" algn="tl">
                    <a:srgbClr val="C0C0C0"/>
                  </a:outerShdw>
                </a:effectLst>
              </a:rPr>
              <a:t> 25.506  </a:t>
            </a:r>
            <a:r>
              <a:rPr lang="en-US" sz="4000" i="1" dirty="0" err="1">
                <a:effectLst>
                  <a:outerShdw blurRad="38100" dist="38100" dir="2700000" algn="tl">
                    <a:srgbClr val="C0C0C0"/>
                  </a:outerShdw>
                </a:effectLst>
              </a:rPr>
              <a:t>Ley</a:t>
            </a:r>
            <a:r>
              <a:rPr lang="en-US" sz="4000" i="1" dirty="0">
                <a:effectLst>
                  <a:outerShdw blurRad="38100" dist="38100" dir="2700000" algn="tl">
                    <a:srgbClr val="C0C0C0"/>
                  </a:outerShdw>
                </a:effectLst>
              </a:rPr>
              <a:t> de Firma Digital</a:t>
            </a:r>
            <a:r>
              <a:rPr lang="es-ES" sz="4800" b="1" dirty="0">
                <a:solidFill>
                  <a:schemeClr val="bg1"/>
                </a:solidFill>
                <a:effectLst>
                  <a:outerShdw blurRad="38100" dist="38100" dir="2700000" algn="tl">
                    <a:srgbClr val="000000"/>
                  </a:outerShdw>
                </a:effectLst>
              </a:rPr>
              <a:t> </a:t>
            </a:r>
          </a:p>
        </p:txBody>
      </p:sp>
      <p:sp>
        <p:nvSpPr>
          <p:cNvPr id="35845" name="Text Box 5"/>
          <p:cNvSpPr txBox="1">
            <a:spLocks noChangeArrowheads="1"/>
          </p:cNvSpPr>
          <p:nvPr/>
        </p:nvSpPr>
        <p:spPr bwMode="auto">
          <a:xfrm>
            <a:off x="467544" y="1124745"/>
            <a:ext cx="8208912" cy="4832092"/>
          </a:xfrm>
          <a:prstGeom prst="rect">
            <a:avLst/>
          </a:prstGeom>
          <a:noFill/>
          <a:ln w="9525">
            <a:noFill/>
            <a:miter lim="800000"/>
            <a:headEnd/>
            <a:tailEnd/>
          </a:ln>
          <a:effectLst/>
        </p:spPr>
        <p:txBody>
          <a:bodyPr wrap="square">
            <a:spAutoFit/>
          </a:bodyPr>
          <a:lstStyle/>
          <a:p>
            <a:endParaRPr lang="es-ES" sz="2200" b="1" dirty="0">
              <a:effectLst>
                <a:outerShdw blurRad="38100" dist="38100" dir="2700000" algn="tl">
                  <a:srgbClr val="C0C0C0"/>
                </a:outerShdw>
              </a:effectLst>
            </a:endParaRPr>
          </a:p>
          <a:p>
            <a:r>
              <a:rPr lang="en-US" sz="2200" dirty="0">
                <a:effectLst>
                  <a:outerShdw blurRad="38100" dist="38100" dir="2700000" algn="tl">
                    <a:srgbClr val="C0C0C0"/>
                  </a:outerShdw>
                </a:effectLst>
              </a:rPr>
              <a:t>                   </a:t>
            </a:r>
            <a:endParaRPr lang="en-US" sz="2200" i="1" dirty="0">
              <a:effectLst>
                <a:outerShdw blurRad="38100" dist="38100" dir="2700000" algn="tl">
                  <a:srgbClr val="C0C0C0"/>
                </a:outerShdw>
              </a:effectLst>
            </a:endParaRPr>
          </a:p>
          <a:p>
            <a:r>
              <a:rPr lang="es-ES_tradnl" sz="2200" b="1" dirty="0"/>
              <a:t>Documento Digital</a:t>
            </a:r>
            <a:r>
              <a:rPr lang="es-ES_tradnl" sz="2200" dirty="0"/>
              <a:t>: </a:t>
            </a:r>
            <a:r>
              <a:rPr lang="es-ES_tradnl" sz="2200" i="1" dirty="0"/>
              <a:t>representación digital de actos o hechos con independencia del soporte (art. 6)</a:t>
            </a:r>
            <a:endParaRPr lang="es-ES_tradnl" sz="2200" dirty="0"/>
          </a:p>
          <a:p>
            <a:r>
              <a:rPr lang="es-ES_tradnl" sz="2200" b="1" dirty="0"/>
              <a:t>Firma Digital</a:t>
            </a:r>
            <a:r>
              <a:rPr lang="es-ES_tradnl" sz="2200" dirty="0"/>
              <a:t>: </a:t>
            </a:r>
            <a:r>
              <a:rPr lang="es-ES_tradnl" sz="2200" i="1" dirty="0"/>
              <a:t>resultado de aplicar a un documento digital un procedimiento matemático de exclusivo conocimiento del firmante (art. 2)</a:t>
            </a:r>
            <a:endParaRPr lang="es-ES_tradnl" sz="2200" dirty="0"/>
          </a:p>
          <a:p>
            <a:r>
              <a:rPr lang="es-ES_tradnl" sz="2200" b="1" dirty="0"/>
              <a:t>Firma Electrónica: </a:t>
            </a:r>
            <a:r>
              <a:rPr lang="es-ES_tradnl" sz="2200" i="1" dirty="0"/>
              <a:t>conjunto de datos electrónicos ligados de manera lógica a otros datos electrónicos utilizados por el signatario como medio de identificación (art. 5) que carezca de algunos de los requisitos legales para ser considerada firma digital (art. 9)</a:t>
            </a:r>
            <a:endParaRPr lang="es-ES_tradnl" sz="2200" dirty="0"/>
          </a:p>
          <a:p>
            <a:r>
              <a:rPr lang="en-US" sz="2200" dirty="0">
                <a:effectLst>
                  <a:outerShdw blurRad="38100" dist="38100" dir="2700000" algn="tl">
                    <a:srgbClr val="C0C0C0"/>
                  </a:outerShdw>
                </a:effectLst>
              </a:rPr>
              <a:t>* Dec 2628/2002    </a:t>
            </a:r>
            <a:r>
              <a:rPr lang="en-US" sz="2200" i="1" dirty="0" err="1">
                <a:effectLst>
                  <a:outerShdw blurRad="38100" dist="38100" dir="2700000" algn="tl">
                    <a:srgbClr val="C0C0C0"/>
                  </a:outerShdw>
                </a:effectLst>
              </a:rPr>
              <a:t>Decreto</a:t>
            </a:r>
            <a:r>
              <a:rPr lang="en-US" sz="2200" i="1" dirty="0">
                <a:effectLst>
                  <a:outerShdw blurRad="38100" dist="38100" dir="2700000" algn="tl">
                    <a:srgbClr val="C0C0C0"/>
                  </a:outerShdw>
                </a:effectLst>
              </a:rPr>
              <a:t> </a:t>
            </a:r>
            <a:r>
              <a:rPr lang="en-US" sz="2200" i="1" dirty="0" err="1">
                <a:effectLst>
                  <a:outerShdw blurRad="38100" dist="38100" dir="2700000" algn="tl">
                    <a:srgbClr val="C0C0C0"/>
                  </a:outerShdw>
                </a:effectLst>
              </a:rPr>
              <a:t>Reglamentario</a:t>
            </a:r>
            <a:endParaRPr lang="en-US" sz="2200" dirty="0">
              <a:effectLst>
                <a:outerShdw blurRad="38100" dist="38100" dir="2700000" algn="tl">
                  <a:srgbClr val="C0C0C0"/>
                </a:outerShdw>
              </a:effectLst>
            </a:endParaRPr>
          </a:p>
          <a:p>
            <a:pPr>
              <a:buFontTx/>
              <a:buChar char="•"/>
            </a:pPr>
            <a:endParaRPr lang="es-ES" sz="2200" b="1" dirty="0">
              <a:effectLst>
                <a:outerShdw blurRad="38100" dist="38100" dir="2700000" algn="tl">
                  <a:srgbClr val="C0C0C0"/>
                </a:outerShdw>
              </a:effectLs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Rectángulo"/>
          <p:cNvSpPr/>
          <p:nvPr/>
        </p:nvSpPr>
        <p:spPr>
          <a:xfrm>
            <a:off x="395536" y="4421430"/>
            <a:ext cx="8208912" cy="2246769"/>
          </a:xfrm>
          <a:prstGeom prst="rect">
            <a:avLst/>
          </a:prstGeom>
          <a:noFill/>
        </p:spPr>
        <p:txBody>
          <a:bodyPr wrap="square" lIns="91440" tIns="45720" rIns="91440" bIns="45720">
            <a:spAutoFit/>
          </a:bodyPr>
          <a:lstStyle/>
          <a:p>
            <a:r>
              <a:rPr lang="en-US" sz="2800" dirty="0" err="1"/>
              <a:t>Conjunto</a:t>
            </a:r>
            <a:r>
              <a:rPr lang="en-US" sz="2800" dirty="0"/>
              <a:t> de </a:t>
            </a:r>
            <a:r>
              <a:rPr lang="en-US" sz="2800" dirty="0" err="1"/>
              <a:t>datos</a:t>
            </a:r>
            <a:r>
              <a:rPr lang="en-US" sz="2800" dirty="0"/>
              <a:t> </a:t>
            </a:r>
            <a:r>
              <a:rPr lang="en-US" sz="2800" dirty="0" err="1"/>
              <a:t>asociados</a:t>
            </a:r>
            <a:r>
              <a:rPr lang="en-US" sz="2800" dirty="0"/>
              <a:t> a un </a:t>
            </a:r>
            <a:r>
              <a:rPr lang="en-US" sz="2800" dirty="0" err="1"/>
              <a:t>documento</a:t>
            </a:r>
            <a:r>
              <a:rPr lang="en-US" sz="2800" dirty="0"/>
              <a:t> digital e </a:t>
            </a:r>
            <a:r>
              <a:rPr lang="en-US" sz="2800" dirty="0" err="1"/>
              <a:t>incorporados</a:t>
            </a:r>
            <a:r>
              <a:rPr lang="en-US" sz="2800" dirty="0"/>
              <a:t> a </a:t>
            </a:r>
            <a:r>
              <a:rPr lang="en-US" sz="2800" dirty="0" err="1"/>
              <a:t>éste</a:t>
            </a:r>
            <a:r>
              <a:rPr lang="en-US" sz="2800" dirty="0"/>
              <a:t> en forma </a:t>
            </a:r>
            <a:r>
              <a:rPr lang="en-US" sz="2800" dirty="0" err="1"/>
              <a:t>encriptada</a:t>
            </a:r>
            <a:r>
              <a:rPr lang="en-US" sz="2800" dirty="0"/>
              <a:t>, con el fin de </a:t>
            </a:r>
            <a:r>
              <a:rPr lang="en-US" sz="2800" dirty="0" err="1"/>
              <a:t>garantizar</a:t>
            </a:r>
            <a:r>
              <a:rPr lang="en-US" sz="2800" dirty="0"/>
              <a:t> la </a:t>
            </a:r>
            <a:r>
              <a:rPr lang="en-US" sz="2800" dirty="0" err="1"/>
              <a:t>identidad</a:t>
            </a:r>
            <a:r>
              <a:rPr lang="en-US" sz="2800" dirty="0"/>
              <a:t> del </a:t>
            </a:r>
            <a:r>
              <a:rPr lang="en-US" sz="2800" dirty="0" err="1"/>
              <a:t>firmante</a:t>
            </a:r>
            <a:r>
              <a:rPr lang="en-US" sz="2800" dirty="0"/>
              <a:t> y la </a:t>
            </a:r>
            <a:r>
              <a:rPr lang="en-US" sz="2800" dirty="0" err="1"/>
              <a:t>integridad</a:t>
            </a:r>
            <a:r>
              <a:rPr lang="en-US" sz="2800" dirty="0"/>
              <a:t> del </a:t>
            </a:r>
            <a:r>
              <a:rPr lang="en-US" sz="2800" dirty="0" err="1"/>
              <a:t>documento</a:t>
            </a:r>
            <a:r>
              <a:rPr lang="en-US" sz="2800" dirty="0"/>
              <a:t>.</a:t>
            </a:r>
            <a:endParaRPr lang="es-ES" sz="28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 name="4 Rectángulo"/>
          <p:cNvSpPr/>
          <p:nvPr/>
        </p:nvSpPr>
        <p:spPr>
          <a:xfrm>
            <a:off x="215362" y="332656"/>
            <a:ext cx="4572662" cy="923330"/>
          </a:xfrm>
          <a:prstGeom prst="rect">
            <a:avLst/>
          </a:prstGeom>
          <a:noFill/>
        </p:spPr>
        <p:txBody>
          <a:bodyPr wrap="none" lIns="91440" tIns="45720" rIns="91440" bIns="45720">
            <a:spAutoFit/>
          </a:bodyPr>
          <a:lstStyle/>
          <a:p>
            <a:pPr algn="ctr"/>
            <a:r>
              <a:rPr lang="en-US" sz="5400" b="1" i="1" cap="none" spc="0"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Firma Digital</a:t>
            </a:r>
          </a:p>
        </p:txBody>
      </p:sp>
      <p:pic>
        <p:nvPicPr>
          <p:cNvPr id="6" name="Picture 3" descr="C:\Users\MAVERICK\Desktop\Legislacion\Imagenes\105867_thumb.jpg"/>
          <p:cNvPicPr>
            <a:picLocks noChangeAspect="1" noChangeArrowheads="1"/>
          </p:cNvPicPr>
          <p:nvPr/>
        </p:nvPicPr>
        <p:blipFill>
          <a:blip r:embed="rId2" cstate="print"/>
          <a:srcRect/>
          <a:stretch>
            <a:fillRect/>
          </a:stretch>
        </p:blipFill>
        <p:spPr bwMode="auto">
          <a:xfrm>
            <a:off x="179512" y="1556792"/>
            <a:ext cx="8771641" cy="252028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51520" y="-27384"/>
            <a:ext cx="7272808" cy="2016224"/>
          </a:xfrm>
        </p:spPr>
        <p:txBody>
          <a:bodyPr/>
          <a:lstStyle/>
          <a:p>
            <a:r>
              <a:rPr lang="es-AR" sz="5400" dirty="0"/>
              <a:t>Procesamiento de la</a:t>
            </a:r>
            <a:br>
              <a:rPr lang="es-AR" sz="5400" dirty="0"/>
            </a:br>
            <a:r>
              <a:rPr lang="es-AR" sz="5400" dirty="0"/>
              <a:t>Firma Digital</a:t>
            </a:r>
          </a:p>
        </p:txBody>
      </p:sp>
      <p:sp>
        <p:nvSpPr>
          <p:cNvPr id="3" name="2 Marcador de texto"/>
          <p:cNvSpPr>
            <a:spLocks noGrp="1"/>
          </p:cNvSpPr>
          <p:nvPr>
            <p:ph type="body" idx="1"/>
          </p:nvPr>
        </p:nvSpPr>
        <p:spPr>
          <a:xfrm>
            <a:off x="467544" y="2132856"/>
            <a:ext cx="8280920" cy="3456384"/>
          </a:xfrm>
        </p:spPr>
        <p:txBody>
          <a:bodyPr>
            <a:noAutofit/>
          </a:bodyPr>
          <a:lstStyle/>
          <a:p>
            <a:pPr>
              <a:lnSpc>
                <a:spcPct val="90000"/>
              </a:lnSpc>
            </a:pPr>
            <a:r>
              <a:rPr lang="en-US" sz="3600" dirty="0"/>
              <a:t>El </a:t>
            </a:r>
            <a:r>
              <a:rPr lang="en-US" sz="3600" i="1" dirty="0" err="1"/>
              <a:t>autor</a:t>
            </a:r>
            <a:r>
              <a:rPr lang="en-US" sz="3600" dirty="0"/>
              <a:t> del </a:t>
            </a:r>
            <a:r>
              <a:rPr lang="en-US" sz="3600" dirty="0" err="1"/>
              <a:t>documento</a:t>
            </a:r>
            <a:r>
              <a:rPr lang="en-US" sz="3600" dirty="0"/>
              <a:t> le </a:t>
            </a:r>
            <a:r>
              <a:rPr lang="en-US" sz="3600" dirty="0" err="1"/>
              <a:t>impone</a:t>
            </a:r>
            <a:r>
              <a:rPr lang="en-US" sz="3600" dirty="0"/>
              <a:t> un </a:t>
            </a:r>
            <a:r>
              <a:rPr lang="en-US" sz="3600" dirty="0" err="1"/>
              <a:t>sello</a:t>
            </a:r>
            <a:r>
              <a:rPr lang="en-US" sz="3600" dirty="0"/>
              <a:t> personal </a:t>
            </a:r>
            <a:r>
              <a:rPr lang="en-US" sz="3600" dirty="0" err="1"/>
              <a:t>encriptado</a:t>
            </a:r>
            <a:r>
              <a:rPr lang="en-US" sz="3600" dirty="0"/>
              <a:t> con </a:t>
            </a:r>
            <a:r>
              <a:rPr lang="en-US" sz="3600" dirty="0" err="1"/>
              <a:t>su</a:t>
            </a:r>
            <a:r>
              <a:rPr lang="en-US" sz="3600" dirty="0"/>
              <a:t> clave </a:t>
            </a:r>
            <a:r>
              <a:rPr lang="en-US" sz="3600" dirty="0" err="1"/>
              <a:t>secreta</a:t>
            </a:r>
            <a:r>
              <a:rPr lang="en-US" sz="3600" dirty="0"/>
              <a:t> </a:t>
            </a:r>
            <a:r>
              <a:rPr lang="en-US" sz="3600" dirty="0" err="1"/>
              <a:t>que</a:t>
            </a:r>
            <a:r>
              <a:rPr lang="en-US" sz="3600" dirty="0"/>
              <a:t> </a:t>
            </a:r>
            <a:r>
              <a:rPr lang="en-US" sz="3600" dirty="0" err="1"/>
              <a:t>sólo</a:t>
            </a:r>
            <a:r>
              <a:rPr lang="en-US" sz="3600" dirty="0"/>
              <a:t> </a:t>
            </a:r>
            <a:r>
              <a:rPr lang="en-US" sz="3600" dirty="0" err="1"/>
              <a:t>él</a:t>
            </a:r>
            <a:r>
              <a:rPr lang="en-US" sz="3600" dirty="0"/>
              <a:t> </a:t>
            </a:r>
            <a:r>
              <a:rPr lang="en-US" sz="3600" dirty="0" err="1"/>
              <a:t>conoce</a:t>
            </a:r>
            <a:r>
              <a:rPr lang="en-US" sz="3600" dirty="0"/>
              <a:t>.</a:t>
            </a:r>
          </a:p>
          <a:p>
            <a:pPr>
              <a:lnSpc>
                <a:spcPct val="90000"/>
              </a:lnSpc>
            </a:pPr>
            <a:r>
              <a:rPr lang="en-US" sz="3600" dirty="0"/>
              <a:t>El </a:t>
            </a:r>
            <a:r>
              <a:rPr lang="en-US" sz="3600" i="1" dirty="0" err="1"/>
              <a:t>destinatario</a:t>
            </a:r>
            <a:r>
              <a:rPr lang="en-US" sz="3600" dirty="0"/>
              <a:t> </a:t>
            </a:r>
            <a:r>
              <a:rPr lang="en-US" sz="3600" dirty="0" err="1"/>
              <a:t>desencripta</a:t>
            </a:r>
            <a:r>
              <a:rPr lang="en-US" sz="3600" dirty="0"/>
              <a:t> el </a:t>
            </a:r>
            <a:r>
              <a:rPr lang="en-US" sz="3600" dirty="0" err="1"/>
              <a:t>sello</a:t>
            </a:r>
            <a:r>
              <a:rPr lang="en-US" sz="3600" dirty="0"/>
              <a:t> con la clave </a:t>
            </a:r>
            <a:r>
              <a:rPr lang="en-US" sz="3600" dirty="0" err="1"/>
              <a:t>pública</a:t>
            </a:r>
            <a:r>
              <a:rPr lang="en-US" sz="3600" dirty="0"/>
              <a:t> del </a:t>
            </a:r>
            <a:r>
              <a:rPr lang="en-US" sz="3600" i="1" dirty="0" err="1"/>
              <a:t>autor</a:t>
            </a:r>
            <a:r>
              <a:rPr lang="en-US" sz="3600" i="1" dirty="0"/>
              <a:t> </a:t>
            </a:r>
            <a:r>
              <a:rPr lang="en-US" sz="3600" dirty="0"/>
              <a:t>y </a:t>
            </a:r>
            <a:r>
              <a:rPr lang="en-US" sz="3600" dirty="0" err="1"/>
              <a:t>verifica</a:t>
            </a:r>
            <a:r>
              <a:rPr lang="en-US" sz="3600" dirty="0"/>
              <a:t> la </a:t>
            </a:r>
            <a:r>
              <a:rPr lang="en-US" sz="3600" dirty="0" err="1"/>
              <a:t>autoría</a:t>
            </a:r>
            <a:r>
              <a:rPr lang="en-US" sz="3600" dirty="0"/>
              <a:t> y </a:t>
            </a:r>
            <a:r>
              <a:rPr lang="en-US" sz="3600" dirty="0" err="1"/>
              <a:t>si</a:t>
            </a:r>
            <a:r>
              <a:rPr lang="en-US" sz="3600" dirty="0"/>
              <a:t> el </a:t>
            </a:r>
            <a:r>
              <a:rPr lang="en-US" sz="3600" dirty="0" err="1"/>
              <a:t>documento</a:t>
            </a:r>
            <a:r>
              <a:rPr lang="en-US" sz="3600" dirty="0"/>
              <a:t> </a:t>
            </a:r>
            <a:r>
              <a:rPr lang="en-US" sz="3600" dirty="0" err="1"/>
              <a:t>está</a:t>
            </a:r>
            <a:r>
              <a:rPr lang="en-US" sz="3600" dirty="0"/>
              <a:t> o no </a:t>
            </a:r>
            <a:r>
              <a:rPr lang="en-US" sz="3600" dirty="0" err="1"/>
              <a:t>violado</a:t>
            </a:r>
            <a:r>
              <a:rPr lang="en-US" sz="3600" dirty="0"/>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Marcador de texto"/>
          <p:cNvSpPr>
            <a:spLocks noGrp="1"/>
          </p:cNvSpPr>
          <p:nvPr>
            <p:ph type="body" idx="1"/>
          </p:nvPr>
        </p:nvSpPr>
        <p:spPr/>
        <p:txBody>
          <a:bodyPr/>
          <a:lstStyle/>
          <a:p>
            <a:endParaRPr lang="es-AR" dirty="0"/>
          </a:p>
        </p:txBody>
      </p:sp>
      <p:pic>
        <p:nvPicPr>
          <p:cNvPr id="4" name="Picture 42" descr="C:\Users\MAVERICK\Desktop\Legislacion\Legislation-Facu\770px-Firma_Digital.png"/>
          <p:cNvPicPr>
            <a:picLocks noChangeAspect="1" noChangeArrowheads="1"/>
          </p:cNvPicPr>
          <p:nvPr/>
        </p:nvPicPr>
        <p:blipFill>
          <a:blip r:embed="rId2" cstate="print"/>
          <a:srcRect/>
          <a:stretch>
            <a:fillRect/>
          </a:stretch>
        </p:blipFill>
        <p:spPr bwMode="auto">
          <a:xfrm>
            <a:off x="611560" y="476672"/>
            <a:ext cx="8064896" cy="5904656"/>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nvGraphicFramePr>
        <p:xfrm flipV="1">
          <a:off x="850850" y="1957536"/>
          <a:ext cx="854075" cy="1295400"/>
        </p:xfrm>
        <a:graphic>
          <a:graphicData uri="http://schemas.openxmlformats.org/presentationml/2006/ole">
            <mc:AlternateContent xmlns:mc="http://schemas.openxmlformats.org/markup-compatibility/2006">
              <mc:Choice xmlns:v="urn:schemas-microsoft-com:vml" Requires="v">
                <p:oleObj spid="_x0000_s1078" name="Imagen" r:id="rId3" imgW="1395360" imgH="2658600" progId="">
                  <p:embed/>
                </p:oleObj>
              </mc:Choice>
              <mc:Fallback>
                <p:oleObj name="Imagen" r:id="rId3" imgW="1395360" imgH="26586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850850" y="1957536"/>
                        <a:ext cx="854075"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2222450" y="5310336"/>
          <a:ext cx="830263" cy="1143000"/>
        </p:xfrm>
        <a:graphic>
          <a:graphicData uri="http://schemas.openxmlformats.org/presentationml/2006/ole">
            <mc:AlternateContent xmlns:mc="http://schemas.openxmlformats.org/markup-compatibility/2006">
              <mc:Choice xmlns:v="urn:schemas-microsoft-com:vml" Requires="v">
                <p:oleObj spid="_x0000_s1079" name="Imagen" r:id="rId5" imgW="1395360" imgH="2658600" progId="">
                  <p:embed/>
                </p:oleObj>
              </mc:Choice>
              <mc:Fallback>
                <p:oleObj name="Imagen" r:id="rId5" imgW="1395360" imgH="2658600" progId="">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450" y="5310336"/>
                        <a:ext cx="830263"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5"/>
          <p:cNvGraphicFramePr>
            <a:graphicFrameLocks noChangeAspect="1"/>
          </p:cNvGraphicFramePr>
          <p:nvPr/>
        </p:nvGraphicFramePr>
        <p:xfrm>
          <a:off x="3670250" y="2109936"/>
          <a:ext cx="1066800" cy="1219200"/>
        </p:xfrm>
        <a:graphic>
          <a:graphicData uri="http://schemas.openxmlformats.org/presentationml/2006/ole">
            <mc:AlternateContent xmlns:mc="http://schemas.openxmlformats.org/markup-compatibility/2006">
              <mc:Choice xmlns:v="urn:schemas-microsoft-com:vml" Requires="v">
                <p:oleObj spid="_x0000_s1080" name="Imagen" r:id="rId6" imgW="3192120" imgH="3749400" progId="">
                  <p:embed/>
                </p:oleObj>
              </mc:Choice>
              <mc:Fallback>
                <p:oleObj name="Imagen" r:id="rId6" imgW="3192120" imgH="3749400"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0250" y="2109936"/>
                        <a:ext cx="106680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7099250" y="2186136"/>
          <a:ext cx="1073150" cy="1219200"/>
        </p:xfrm>
        <a:graphic>
          <a:graphicData uri="http://schemas.openxmlformats.org/presentationml/2006/ole">
            <mc:AlternateContent xmlns:mc="http://schemas.openxmlformats.org/markup-compatibility/2006">
              <mc:Choice xmlns:v="urn:schemas-microsoft-com:vml" Requires="v">
                <p:oleObj spid="_x0000_s1081" name="Imagen" r:id="rId8" imgW="3192120" imgH="3749400" progId="">
                  <p:embed/>
                </p:oleObj>
              </mc:Choice>
              <mc:Fallback>
                <p:oleObj name="Imagen" r:id="rId8" imgW="3192120" imgH="3749400" progId="">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99250" y="2186136"/>
                        <a:ext cx="1073150" cy="1219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flipH="1">
          <a:off x="3746450" y="3938736"/>
          <a:ext cx="1295400" cy="1219200"/>
        </p:xfrm>
        <a:graphic>
          <a:graphicData uri="http://schemas.openxmlformats.org/presentationml/2006/ole">
            <mc:AlternateContent xmlns:mc="http://schemas.openxmlformats.org/markup-compatibility/2006">
              <mc:Choice xmlns:v="urn:schemas-microsoft-com:vml" Requires="v">
                <p:oleObj spid="_x0000_s1082" name="Imagen" r:id="rId9" imgW="3192120" imgH="3749400" progId="">
                  <p:embed/>
                </p:oleObj>
              </mc:Choice>
              <mc:Fallback>
                <p:oleObj name="Imagen" r:id="rId9" imgW="3192120" imgH="3749400" progId="">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3746450" y="3938736"/>
                        <a:ext cx="12954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1536650" y="5081736"/>
          <a:ext cx="1066800" cy="1295400"/>
        </p:xfrm>
        <a:graphic>
          <a:graphicData uri="http://schemas.openxmlformats.org/presentationml/2006/ole">
            <mc:AlternateContent xmlns:mc="http://schemas.openxmlformats.org/markup-compatibility/2006">
              <mc:Choice xmlns:v="urn:schemas-microsoft-com:vml" Requires="v">
                <p:oleObj spid="_x0000_s1083" name="Imagen" r:id="rId10" imgW="3192120" imgH="3749400" progId="">
                  <p:embed/>
                </p:oleObj>
              </mc:Choice>
              <mc:Fallback>
                <p:oleObj name="Imagen" r:id="rId10" imgW="3192120" imgH="3749400" progId="">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36650" y="5081736"/>
                        <a:ext cx="10668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9"/>
          <p:cNvGraphicFramePr>
            <a:graphicFrameLocks noChangeAspect="1"/>
          </p:cNvGraphicFramePr>
          <p:nvPr/>
        </p:nvGraphicFramePr>
        <p:xfrm>
          <a:off x="6337250" y="4853136"/>
          <a:ext cx="1408113" cy="1600200"/>
        </p:xfrm>
        <a:graphic>
          <a:graphicData uri="http://schemas.openxmlformats.org/presentationml/2006/ole">
            <mc:AlternateContent xmlns:mc="http://schemas.openxmlformats.org/markup-compatibility/2006">
              <mc:Choice xmlns:v="urn:schemas-microsoft-com:vml" Requires="v">
                <p:oleObj spid="_x0000_s1084" name="Imagen" r:id="rId11" imgW="3192120" imgH="3749400" progId="">
                  <p:embed/>
                </p:oleObj>
              </mc:Choice>
              <mc:Fallback>
                <p:oleObj name="Imagen" r:id="rId11" imgW="3192120" imgH="374940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37250" y="4853136"/>
                        <a:ext cx="1408113"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0"/>
          <p:cNvGraphicFramePr>
            <a:graphicFrameLocks noChangeAspect="1"/>
          </p:cNvGraphicFramePr>
          <p:nvPr/>
        </p:nvGraphicFramePr>
        <p:xfrm flipV="1">
          <a:off x="1612850" y="2338536"/>
          <a:ext cx="854075" cy="1295400"/>
        </p:xfrm>
        <a:graphic>
          <a:graphicData uri="http://schemas.openxmlformats.org/presentationml/2006/ole">
            <mc:AlternateContent xmlns:mc="http://schemas.openxmlformats.org/markup-compatibility/2006">
              <mc:Choice xmlns:v="urn:schemas-microsoft-com:vml" Requires="v">
                <p:oleObj spid="_x0000_s1085" name="Imagen" r:id="rId12" imgW="1395360" imgH="2658600" progId="">
                  <p:embed/>
                </p:oleObj>
              </mc:Choice>
              <mc:Fallback>
                <p:oleObj name="Imagen" r:id="rId12" imgW="1395360" imgH="2658600" progId="">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1612850" y="2338536"/>
                        <a:ext cx="854075"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1"/>
          <p:cNvGraphicFramePr>
            <a:graphicFrameLocks noChangeAspect="1"/>
          </p:cNvGraphicFramePr>
          <p:nvPr/>
        </p:nvGraphicFramePr>
        <p:xfrm>
          <a:off x="6870650" y="2490936"/>
          <a:ext cx="952500" cy="990600"/>
        </p:xfrm>
        <a:graphic>
          <a:graphicData uri="http://schemas.openxmlformats.org/presentationml/2006/ole">
            <mc:AlternateContent xmlns:mc="http://schemas.openxmlformats.org/markup-compatibility/2006">
              <mc:Choice xmlns:v="urn:schemas-microsoft-com:vml" Requires="v">
                <p:oleObj spid="_x0000_s1086" name="Imagen" r:id="rId13" imgW="2247480" imgH="3306240" progId="">
                  <p:embed/>
                </p:oleObj>
              </mc:Choice>
              <mc:Fallback>
                <p:oleObj name="Imagen" r:id="rId13" imgW="2247480" imgH="3306240" progId="">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70650" y="2490936"/>
                        <a:ext cx="952500"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4584650" y="5386536"/>
          <a:ext cx="838200" cy="914400"/>
        </p:xfrm>
        <a:graphic>
          <a:graphicData uri="http://schemas.openxmlformats.org/presentationml/2006/ole">
            <mc:AlternateContent xmlns:mc="http://schemas.openxmlformats.org/markup-compatibility/2006">
              <mc:Choice xmlns:v="urn:schemas-microsoft-com:vml" Requires="v">
                <p:oleObj spid="_x0000_s1087" name="Imagen" r:id="rId15" imgW="3244320" imgH="3390840" progId="">
                  <p:embed/>
                </p:oleObj>
              </mc:Choice>
              <mc:Fallback>
                <p:oleObj name="Imagen" r:id="rId15" imgW="3244320" imgH="3390840" progId="">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84650" y="5386536"/>
                        <a:ext cx="838200"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5"/>
          <p:cNvGraphicFramePr>
            <a:graphicFrameLocks noChangeAspect="1"/>
          </p:cNvGraphicFramePr>
          <p:nvPr/>
        </p:nvGraphicFramePr>
        <p:xfrm>
          <a:off x="4127450" y="3965724"/>
          <a:ext cx="1219200" cy="681037"/>
        </p:xfrm>
        <a:graphic>
          <a:graphicData uri="http://schemas.openxmlformats.org/presentationml/2006/ole">
            <mc:AlternateContent xmlns:mc="http://schemas.openxmlformats.org/markup-compatibility/2006">
              <mc:Choice xmlns:v="urn:schemas-microsoft-com:vml" Requires="v">
                <p:oleObj spid="_x0000_s1088" name="Imagen" r:id="rId17" imgW="5714640" imgH="3192120" progId="">
                  <p:embed/>
                </p:oleObj>
              </mc:Choice>
              <mc:Fallback>
                <p:oleObj name="Imagen" r:id="rId17" imgW="5714640" imgH="3192120" progId="">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127450" y="3965724"/>
                        <a:ext cx="1219200"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16"/>
          <p:cNvGraphicFramePr>
            <a:graphicFrameLocks noChangeAspect="1"/>
          </p:cNvGraphicFramePr>
          <p:nvPr/>
        </p:nvGraphicFramePr>
        <p:xfrm flipH="1">
          <a:off x="1003250" y="2033736"/>
          <a:ext cx="533400" cy="476250"/>
        </p:xfrm>
        <a:graphic>
          <a:graphicData uri="http://schemas.openxmlformats.org/presentationml/2006/ole">
            <mc:AlternateContent xmlns:mc="http://schemas.openxmlformats.org/markup-compatibility/2006">
              <mc:Choice xmlns:v="urn:schemas-microsoft-com:vml" Requires="v">
                <p:oleObj spid="_x0000_s1089" name="Imagen" r:id="rId19" imgW="4762440" imgH="3504600" progId="">
                  <p:embed/>
                </p:oleObj>
              </mc:Choice>
              <mc:Fallback>
                <p:oleObj name="Imagen" r:id="rId19" imgW="4762440" imgH="3504600" progId="">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flipH="1">
                        <a:off x="1003250" y="2033736"/>
                        <a:ext cx="5334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17"/>
          <p:cNvGraphicFramePr>
            <a:graphicFrameLocks noChangeAspect="1"/>
          </p:cNvGraphicFramePr>
          <p:nvPr/>
        </p:nvGraphicFramePr>
        <p:xfrm flipH="1">
          <a:off x="2527250" y="5386536"/>
          <a:ext cx="533400" cy="476250"/>
        </p:xfrm>
        <a:graphic>
          <a:graphicData uri="http://schemas.openxmlformats.org/presentationml/2006/ole">
            <mc:AlternateContent xmlns:mc="http://schemas.openxmlformats.org/markup-compatibility/2006">
              <mc:Choice xmlns:v="urn:schemas-microsoft-com:vml" Requires="v">
                <p:oleObj spid="_x0000_s1090" name="Imagen" r:id="rId21" imgW="4762440" imgH="3504600" progId="">
                  <p:embed/>
                </p:oleObj>
              </mc:Choice>
              <mc:Fallback>
                <p:oleObj name="Imagen" r:id="rId21" imgW="4762440" imgH="3504600" progId="">
                  <p:embed/>
                  <p:pic>
                    <p:nvPicPr>
                      <p:cNvPr id="0"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flipH="1">
                        <a:off x="2527250" y="5386536"/>
                        <a:ext cx="5334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Line 18"/>
          <p:cNvSpPr>
            <a:spLocks noChangeShapeType="1"/>
          </p:cNvSpPr>
          <p:nvPr/>
        </p:nvSpPr>
        <p:spPr bwMode="auto">
          <a:xfrm>
            <a:off x="2603450" y="2871936"/>
            <a:ext cx="762000" cy="0"/>
          </a:xfrm>
          <a:prstGeom prst="line">
            <a:avLst/>
          </a:prstGeom>
          <a:noFill/>
          <a:ln w="12700">
            <a:solidFill>
              <a:schemeClr val="tx1"/>
            </a:solidFill>
            <a:round/>
            <a:headEnd type="none" w="sm" len="sm"/>
            <a:tailEnd type="triangle" w="sm" len="sm"/>
          </a:ln>
        </p:spPr>
        <p:txBody>
          <a:bodyPr wrap="none" anchor="ctr"/>
          <a:lstStyle/>
          <a:p>
            <a:endParaRPr lang="es-AR"/>
          </a:p>
        </p:txBody>
      </p:sp>
      <p:sp>
        <p:nvSpPr>
          <p:cNvPr id="18" name="Line 19"/>
          <p:cNvSpPr>
            <a:spLocks noChangeShapeType="1"/>
          </p:cNvSpPr>
          <p:nvPr/>
        </p:nvSpPr>
        <p:spPr bwMode="auto">
          <a:xfrm>
            <a:off x="4965650" y="2871936"/>
            <a:ext cx="1600200" cy="0"/>
          </a:xfrm>
          <a:prstGeom prst="line">
            <a:avLst/>
          </a:prstGeom>
          <a:noFill/>
          <a:ln w="12700">
            <a:solidFill>
              <a:schemeClr val="tx1"/>
            </a:solidFill>
            <a:round/>
            <a:headEnd type="none" w="sm" len="sm"/>
            <a:tailEnd type="triangle" w="sm" len="sm"/>
          </a:ln>
        </p:spPr>
        <p:txBody>
          <a:bodyPr wrap="none" anchor="ctr"/>
          <a:lstStyle/>
          <a:p>
            <a:endParaRPr lang="es-AR"/>
          </a:p>
        </p:txBody>
      </p:sp>
      <p:sp>
        <p:nvSpPr>
          <p:cNvPr id="19" name="Line 20"/>
          <p:cNvSpPr>
            <a:spLocks noChangeShapeType="1"/>
          </p:cNvSpPr>
          <p:nvPr/>
        </p:nvSpPr>
        <p:spPr bwMode="auto">
          <a:xfrm>
            <a:off x="7556450" y="3633936"/>
            <a:ext cx="0" cy="609600"/>
          </a:xfrm>
          <a:prstGeom prst="line">
            <a:avLst/>
          </a:prstGeom>
          <a:noFill/>
          <a:ln w="12700">
            <a:solidFill>
              <a:schemeClr val="tx1"/>
            </a:solidFill>
            <a:round/>
            <a:headEnd type="none" w="sm" len="sm"/>
            <a:tailEnd type="none" w="sm" len="sm"/>
          </a:ln>
        </p:spPr>
        <p:txBody>
          <a:bodyPr wrap="none" anchor="ctr"/>
          <a:lstStyle/>
          <a:p>
            <a:endParaRPr lang="es-AR"/>
          </a:p>
        </p:txBody>
      </p:sp>
      <p:sp>
        <p:nvSpPr>
          <p:cNvPr id="20" name="Line 21"/>
          <p:cNvSpPr>
            <a:spLocks noChangeShapeType="1"/>
          </p:cNvSpPr>
          <p:nvPr/>
        </p:nvSpPr>
        <p:spPr bwMode="auto">
          <a:xfrm flipH="1">
            <a:off x="5880050" y="4243536"/>
            <a:ext cx="1676400" cy="0"/>
          </a:xfrm>
          <a:prstGeom prst="line">
            <a:avLst/>
          </a:prstGeom>
          <a:noFill/>
          <a:ln w="12700">
            <a:solidFill>
              <a:schemeClr val="tx1"/>
            </a:solidFill>
            <a:round/>
            <a:headEnd type="none" w="sm" len="sm"/>
            <a:tailEnd type="triangle" w="sm" len="sm"/>
          </a:ln>
        </p:spPr>
        <p:txBody>
          <a:bodyPr wrap="none" anchor="ctr"/>
          <a:lstStyle/>
          <a:p>
            <a:endParaRPr lang="es-AR"/>
          </a:p>
        </p:txBody>
      </p:sp>
      <p:sp>
        <p:nvSpPr>
          <p:cNvPr id="21" name="Line 22"/>
          <p:cNvSpPr>
            <a:spLocks noChangeShapeType="1"/>
          </p:cNvSpPr>
          <p:nvPr/>
        </p:nvSpPr>
        <p:spPr bwMode="auto">
          <a:xfrm flipH="1">
            <a:off x="1841450" y="4243536"/>
            <a:ext cx="1600200" cy="0"/>
          </a:xfrm>
          <a:prstGeom prst="line">
            <a:avLst/>
          </a:prstGeom>
          <a:noFill/>
          <a:ln w="12700">
            <a:solidFill>
              <a:schemeClr val="tx1"/>
            </a:solidFill>
            <a:round/>
            <a:headEnd type="none" w="sm" len="sm"/>
            <a:tailEnd type="none" w="sm" len="sm"/>
          </a:ln>
        </p:spPr>
        <p:txBody>
          <a:bodyPr wrap="none" anchor="ctr"/>
          <a:lstStyle/>
          <a:p>
            <a:endParaRPr lang="es-AR"/>
          </a:p>
        </p:txBody>
      </p:sp>
      <p:sp>
        <p:nvSpPr>
          <p:cNvPr id="22" name="Line 23"/>
          <p:cNvSpPr>
            <a:spLocks noChangeShapeType="1"/>
          </p:cNvSpPr>
          <p:nvPr/>
        </p:nvSpPr>
        <p:spPr bwMode="auto">
          <a:xfrm>
            <a:off x="1841450" y="4319736"/>
            <a:ext cx="0" cy="533400"/>
          </a:xfrm>
          <a:prstGeom prst="line">
            <a:avLst/>
          </a:prstGeom>
          <a:noFill/>
          <a:ln w="12700">
            <a:solidFill>
              <a:schemeClr val="tx1"/>
            </a:solidFill>
            <a:round/>
            <a:headEnd type="none" w="sm" len="sm"/>
            <a:tailEnd type="triangle" w="sm" len="sm"/>
          </a:ln>
        </p:spPr>
        <p:txBody>
          <a:bodyPr wrap="none" anchor="ctr"/>
          <a:lstStyle/>
          <a:p>
            <a:endParaRPr lang="es-AR"/>
          </a:p>
        </p:txBody>
      </p:sp>
      <p:sp>
        <p:nvSpPr>
          <p:cNvPr id="23" name="Line 25"/>
          <p:cNvSpPr>
            <a:spLocks noChangeShapeType="1"/>
          </p:cNvSpPr>
          <p:nvPr/>
        </p:nvSpPr>
        <p:spPr bwMode="ltGray">
          <a:xfrm>
            <a:off x="5651450" y="5843736"/>
            <a:ext cx="381000" cy="0"/>
          </a:xfrm>
          <a:prstGeom prst="line">
            <a:avLst/>
          </a:prstGeom>
          <a:noFill/>
          <a:ln w="9525">
            <a:solidFill>
              <a:schemeClr val="tx1"/>
            </a:solidFill>
            <a:round/>
            <a:headEnd/>
            <a:tailEnd type="triangle" w="med" len="med"/>
          </a:ln>
        </p:spPr>
        <p:txBody>
          <a:bodyPr wrap="none" anchor="ctr"/>
          <a:lstStyle/>
          <a:p>
            <a:endParaRPr lang="es-AR"/>
          </a:p>
        </p:txBody>
      </p:sp>
      <p:sp>
        <p:nvSpPr>
          <p:cNvPr id="24" name="Line 26"/>
          <p:cNvSpPr>
            <a:spLocks noChangeShapeType="1"/>
          </p:cNvSpPr>
          <p:nvPr/>
        </p:nvSpPr>
        <p:spPr bwMode="ltGray">
          <a:xfrm>
            <a:off x="3441650" y="5843736"/>
            <a:ext cx="990600" cy="0"/>
          </a:xfrm>
          <a:prstGeom prst="line">
            <a:avLst/>
          </a:prstGeom>
          <a:noFill/>
          <a:ln w="9525">
            <a:solidFill>
              <a:schemeClr val="tx1"/>
            </a:solidFill>
            <a:round/>
            <a:headEnd/>
            <a:tailEnd type="triangle" w="med" len="med"/>
          </a:ln>
        </p:spPr>
        <p:txBody>
          <a:bodyPr wrap="none" anchor="ctr"/>
          <a:lstStyle/>
          <a:p>
            <a:endParaRPr lang="es-AR"/>
          </a:p>
        </p:txBody>
      </p:sp>
      <p:sp>
        <p:nvSpPr>
          <p:cNvPr id="25" name="1 Título"/>
          <p:cNvSpPr>
            <a:spLocks noGrp="1"/>
          </p:cNvSpPr>
          <p:nvPr>
            <p:ph type="title"/>
          </p:nvPr>
        </p:nvSpPr>
        <p:spPr>
          <a:xfrm>
            <a:off x="251520" y="-27384"/>
            <a:ext cx="7272808" cy="2016224"/>
          </a:xfrm>
        </p:spPr>
        <p:txBody>
          <a:bodyPr/>
          <a:lstStyle/>
          <a:p>
            <a:r>
              <a:rPr lang="es-AR" sz="5400" dirty="0"/>
              <a:t>Procesamiento de la</a:t>
            </a:r>
            <a:br>
              <a:rPr lang="es-AR" sz="5400" dirty="0"/>
            </a:br>
            <a:r>
              <a:rPr lang="es-AR" sz="5400" dirty="0"/>
              <a:t>Firma Digital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456481" y="263549"/>
            <a:ext cx="8228160" cy="1166522"/>
          </a:xfrm>
          <a:ln/>
        </p:spPr>
        <p:txBody>
          <a:bodyPr tIns="35268">
            <a:normAutofit fontScale="90000"/>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dirty="0"/>
              <a:t>Certificados de Seguridad Electrónicos</a:t>
            </a:r>
          </a:p>
        </p:txBody>
      </p:sp>
      <p:sp>
        <p:nvSpPr>
          <p:cNvPr id="11266" name="Rectangle 2"/>
          <p:cNvSpPr>
            <a:spLocks noGrp="1" noChangeArrowheads="1"/>
          </p:cNvSpPr>
          <p:nvPr>
            <p:ph type="subTitle" idx="4294967295"/>
          </p:nvPr>
        </p:nvSpPr>
        <p:spPr bwMode="auto">
          <a:xfrm>
            <a:off x="539552" y="1074738"/>
            <a:ext cx="8043862" cy="5234582"/>
          </a:xfrm>
          <a:prstGeom prst="rect">
            <a:avLst/>
          </a:prstGeom>
          <a:noFill/>
          <a:ln/>
        </p:spPr>
        <p:txBody>
          <a:bodyPr lIns="0" tIns="25471" rIns="0" bIns="0" anchor="ctr">
            <a:normAutofit/>
          </a:bodyPr>
          <a:lstStyle/>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s-ES" dirty="0"/>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3600" dirty="0"/>
              <a:t>Un certificado electrónico es un documento firmado electrónicamente por un prestador de servicios de certificación que vincula unos datos de verificación de firma a un firmante y confirma su identidad. </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AR"/>
          </a:p>
        </p:txBody>
      </p:sp>
      <p:sp>
        <p:nvSpPr>
          <p:cNvPr id="3" name="2 Rectángulo"/>
          <p:cNvSpPr/>
          <p:nvPr/>
        </p:nvSpPr>
        <p:spPr>
          <a:xfrm>
            <a:off x="755576" y="764704"/>
            <a:ext cx="7416824" cy="4708981"/>
          </a:xfrm>
          <a:prstGeom prst="rect">
            <a:avLst/>
          </a:prstGeom>
        </p:spPr>
        <p:txBody>
          <a:bodyPr wrap="square">
            <a:spAutoFit/>
          </a:bodyPr>
          <a:lstStyle/>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3000" dirty="0"/>
              <a:t>El firmante es la persona que posee un dispositivo de creación de firma y que actúa en nombre propio o en nombre de una persona física o jurídica a la que representa.</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3000" dirty="0"/>
              <a:t>Estos certificados deben ser emitidos por las autoridades de certificación, también conocidas con el nombre de </a:t>
            </a:r>
            <a:r>
              <a:rPr lang="es-ES" sz="3000" b="1" dirty="0"/>
              <a:t>proveedores de servicios de certificación</a:t>
            </a:r>
            <a:r>
              <a:rPr lang="es-ES" sz="3000" dirty="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456481" y="263549"/>
            <a:ext cx="8228160" cy="1166522"/>
          </a:xfrm>
          <a:ln/>
        </p:spPr>
        <p:txBody>
          <a:bodyPr tIns="35268">
            <a:normAutofit fontScale="90000"/>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dirty="0"/>
              <a:t>Utilidades del Certificado de Seguridad Electrónico</a:t>
            </a:r>
          </a:p>
        </p:txBody>
      </p:sp>
      <p:sp>
        <p:nvSpPr>
          <p:cNvPr id="12290" name="Rectangle 2"/>
          <p:cNvSpPr>
            <a:spLocks noGrp="1" noChangeArrowheads="1"/>
          </p:cNvSpPr>
          <p:nvPr>
            <p:ph type="subTitle" idx="4294967295"/>
          </p:nvPr>
        </p:nvSpPr>
        <p:spPr bwMode="auto">
          <a:xfrm>
            <a:off x="467544" y="1412776"/>
            <a:ext cx="8043862" cy="5059362"/>
          </a:xfrm>
          <a:prstGeom prst="rect">
            <a:avLst/>
          </a:prstGeom>
          <a:noFill/>
          <a:ln/>
        </p:spPr>
        <p:txBody>
          <a:bodyPr lIns="0" tIns="20900" rIns="0" bIns="0" anchor="ctr">
            <a:normAutofit/>
          </a:bodyPr>
          <a:lstStyle/>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3200" dirty="0"/>
              <a:t>Un certificado de seguridad es una identidad digital, y por tanto como identidad, sirve entre otros, para los siguientes usos:</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3200" b="1" dirty="0"/>
              <a:t>Firma digital. </a:t>
            </a:r>
            <a:r>
              <a:rPr lang="es-ES" sz="3200" dirty="0"/>
              <a:t>El certificado de seguridad se utiliza para firmar todo tipo de </a:t>
            </a:r>
            <a:r>
              <a:rPr lang="es-ES" sz="3200" u="sng" dirty="0"/>
              <a:t>documentos digitales</a:t>
            </a:r>
            <a:r>
              <a:rPr lang="es-ES" sz="3200" dirty="0"/>
              <a:t>, desde simples e-mails hasta los más complejos contratos mercantiles. </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s-ES" sz="2400" dirty="0"/>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6480" y="273628"/>
            <a:ext cx="8225280" cy="5099588"/>
          </a:xfrm>
        </p:spPr>
        <p:txBody>
          <a:bodyPr>
            <a:noAutofit/>
          </a:bodyPr>
          <a:lstStyle/>
          <a:p>
            <a:pPr indent="-309605" algn="ctr">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800" b="0" dirty="0">
                <a:solidFill>
                  <a:schemeClr val="tx1"/>
                </a:solidFill>
                <a:effectLst/>
                <a:latin typeface="+mn-lt"/>
              </a:rPr>
              <a:t>El certificado sirve para </a:t>
            </a:r>
            <a:r>
              <a:rPr lang="es-ES" sz="2800" u="sng" dirty="0">
                <a:solidFill>
                  <a:srgbClr val="FF0000"/>
                </a:solidFill>
                <a:effectLst/>
                <a:latin typeface="+mn-lt"/>
              </a:rPr>
              <a:t>codificar una comunicación</a:t>
            </a:r>
            <a:r>
              <a:rPr lang="es-ES" sz="2800" b="0" dirty="0">
                <a:solidFill>
                  <a:schemeClr val="tx1"/>
                </a:solidFill>
                <a:effectLst/>
                <a:latin typeface="+mn-lt"/>
              </a:rPr>
              <a:t> entre dos personas, haciendo que toda la información transmitida sea confidencial. </a:t>
            </a:r>
            <a:br>
              <a:rPr lang="es-ES" sz="2800" b="0" dirty="0">
                <a:solidFill>
                  <a:schemeClr val="tx1"/>
                </a:solidFill>
                <a:effectLst/>
                <a:latin typeface="+mn-lt"/>
              </a:rPr>
            </a:br>
            <a:r>
              <a:rPr lang="es-ES" sz="2800" dirty="0">
                <a:solidFill>
                  <a:srgbClr val="FF0000"/>
                </a:solidFill>
                <a:effectLst/>
                <a:latin typeface="+mn-lt"/>
              </a:rPr>
              <a:t>Seguridad entre las partes</a:t>
            </a:r>
            <a:r>
              <a:rPr lang="es-ES" sz="2800" b="0" dirty="0">
                <a:solidFill>
                  <a:schemeClr val="tx1"/>
                </a:solidFill>
                <a:effectLst/>
                <a:latin typeface="+mn-lt"/>
              </a:rPr>
              <a:t>: permite verificar que las partes intervinientes en una contratación son quienes dicen ser.</a:t>
            </a:r>
            <a:br>
              <a:rPr lang="es-ES" sz="2800" b="0" dirty="0">
                <a:solidFill>
                  <a:schemeClr val="tx1"/>
                </a:solidFill>
                <a:effectLst/>
                <a:latin typeface="+mn-lt"/>
              </a:rPr>
            </a:br>
            <a:r>
              <a:rPr lang="es-ES" sz="2800" dirty="0">
                <a:solidFill>
                  <a:srgbClr val="FF0000"/>
                </a:solidFill>
                <a:effectLst/>
                <a:latin typeface="+mn-lt"/>
              </a:rPr>
              <a:t>Firma de software</a:t>
            </a:r>
            <a:r>
              <a:rPr lang="es-ES" sz="2800" b="0" dirty="0">
                <a:solidFill>
                  <a:schemeClr val="tx1"/>
                </a:solidFill>
                <a:effectLst/>
                <a:latin typeface="+mn-lt"/>
              </a:rPr>
              <a:t>. El certificado digital es utilizado para firmar </a:t>
            </a:r>
            <a:r>
              <a:rPr lang="es-ES" sz="2800" b="0" i="1" dirty="0">
                <a:solidFill>
                  <a:schemeClr val="tx1"/>
                </a:solidFill>
                <a:effectLst/>
                <a:latin typeface="+mn-lt"/>
              </a:rPr>
              <a:t>software</a:t>
            </a:r>
            <a:r>
              <a:rPr lang="es-ES" sz="2800" b="0" dirty="0">
                <a:solidFill>
                  <a:schemeClr val="tx1"/>
                </a:solidFill>
                <a:effectLst/>
                <a:latin typeface="+mn-lt"/>
              </a:rPr>
              <a:t>. Permite identificar si el software es original y quien es su desarrollador.</a:t>
            </a:r>
            <a:endParaRPr lang="es-AR" sz="2800" b="0" dirty="0">
              <a:solidFill>
                <a:schemeClr val="tx1"/>
              </a:solidFill>
              <a:effectLst/>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456481" y="273629"/>
            <a:ext cx="8228160" cy="1144921"/>
          </a:xfrm>
          <a:ln/>
        </p:spPr>
        <p:txBody>
          <a:bodyPr tIns="35268">
            <a:normAutofit/>
          </a:bodyPr>
          <a:lstStyle/>
          <a:p>
            <a:pPr algn="ct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dirty="0"/>
              <a:t>Clases de Certificados </a:t>
            </a:r>
          </a:p>
        </p:txBody>
      </p:sp>
      <p:sp>
        <p:nvSpPr>
          <p:cNvPr id="13314" name="Rectangle 2"/>
          <p:cNvSpPr>
            <a:spLocks noGrp="1" noChangeArrowheads="1"/>
          </p:cNvSpPr>
          <p:nvPr>
            <p:ph type="subTitle" idx="4294967295"/>
          </p:nvPr>
        </p:nvSpPr>
        <p:spPr bwMode="auto">
          <a:xfrm>
            <a:off x="539552" y="1133475"/>
            <a:ext cx="8045450" cy="5724525"/>
          </a:xfrm>
          <a:prstGeom prst="rect">
            <a:avLst/>
          </a:prstGeom>
          <a:noFill/>
          <a:ln/>
        </p:spPr>
        <p:txBody>
          <a:bodyPr lIns="0" tIns="20900" rIns="0" bIns="0" anchor="ctr">
            <a:normAutofit/>
          </a:bodyPr>
          <a:lstStyle/>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b="1" dirty="0"/>
              <a:t>Certificados de Servidor</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dirty="0"/>
              <a:t>El Certificado de Servidor aporta a un WEB SITE la característica de seguridad y confianza necesaria para poder entablar cualquier tipo de relación con los potenciales usuarios. </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b="1" dirty="0"/>
              <a:t>Certificados para WAP</a:t>
            </a:r>
          </a:p>
          <a:p>
            <a:pPr indent="-309605" algn="ctr">
              <a:spcAft>
                <a:spcPct val="0"/>
              </a:spcAft>
              <a:buClrTx/>
              <a:buNone/>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dirty="0"/>
              <a:t>Los Certificados WAP permiten a las WEB comerciales mantener conexiones seguras basadas en encriptación y autenticación con dispositivos de telefonía móvil.</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395536" y="0"/>
            <a:ext cx="8228160" cy="1146360"/>
          </a:xfrm>
          <a:ln/>
        </p:spPr>
        <p:txBody>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dirty="0"/>
              <a:t>Servicios de Certificación</a:t>
            </a:r>
          </a:p>
        </p:txBody>
      </p:sp>
      <p:sp>
        <p:nvSpPr>
          <p:cNvPr id="14338" name="Rectangle 2"/>
          <p:cNvSpPr>
            <a:spLocks noGrp="1" noChangeArrowheads="1"/>
          </p:cNvSpPr>
          <p:nvPr>
            <p:ph type="subTitle" idx="4294967295"/>
          </p:nvPr>
        </p:nvSpPr>
        <p:spPr bwMode="auto">
          <a:xfrm>
            <a:off x="467544" y="1124744"/>
            <a:ext cx="8081144" cy="5112568"/>
          </a:xfrm>
          <a:prstGeom prst="rect">
            <a:avLst/>
          </a:prstGeom>
          <a:noFill/>
          <a:ln/>
        </p:spPr>
        <p:txBody>
          <a:bodyPr lIns="0" tIns="0" rIns="0" bIns="0" anchor="ctr">
            <a:normAutofit fontScale="92500" lnSpcReduction="10000"/>
          </a:bodyPr>
          <a:lstStyle/>
          <a:p>
            <a:pPr marL="0" indent="0" algn="ctr">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800" b="1" dirty="0"/>
              <a:t>son entidades cuyo fin es el de verificar la identidad</a:t>
            </a:r>
            <a:r>
              <a:rPr lang="es-ES" sz="2800" dirty="0"/>
              <a:t> y otros datos relevantes </a:t>
            </a:r>
            <a:r>
              <a:rPr lang="es-ES" sz="2800" b="1" dirty="0"/>
              <a:t>de una persona u organización</a:t>
            </a:r>
            <a:r>
              <a:rPr lang="es-ES" sz="2800" dirty="0"/>
              <a:t> para que ésta pueda identificarse en la Red. </a:t>
            </a:r>
            <a:r>
              <a:rPr lang="es-ES" b="1" dirty="0"/>
              <a:t>E</a:t>
            </a:r>
            <a:r>
              <a:rPr lang="es-ES" sz="2800" b="1" dirty="0"/>
              <a:t>miten certificados de seguridad </a:t>
            </a:r>
            <a:r>
              <a:rPr lang="es-ES" sz="2800" dirty="0"/>
              <a:t>. </a:t>
            </a:r>
          </a:p>
          <a:p>
            <a:pPr marL="0" indent="0" algn="ctr">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800" dirty="0"/>
              <a:t>Entre otros tenemos los siguientes prestadores de este servicio en argentina: </a:t>
            </a:r>
          </a:p>
          <a:p>
            <a:pPr marL="0" indent="0" algn="ctr">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800" b="1" dirty="0"/>
              <a:t>COPITEC</a:t>
            </a:r>
            <a:r>
              <a:rPr lang="es-ES" sz="2800" dirty="0"/>
              <a:t> (Consejo Profesional de Ingenieros de Telecomunicaciones, Electrónica y Computación), </a:t>
            </a:r>
            <a:r>
              <a:rPr lang="es-ES" sz="2800" b="1" dirty="0"/>
              <a:t>ACAP</a:t>
            </a:r>
            <a:r>
              <a:rPr lang="es-ES" sz="2800" dirty="0"/>
              <a:t> (Autoridad Certificante de la Administración Pública), </a:t>
            </a:r>
            <a:r>
              <a:rPr lang="es-ES" sz="2800" b="1" dirty="0"/>
              <a:t>AC Raíz</a:t>
            </a:r>
            <a:r>
              <a:rPr lang="es-ES" sz="2800" dirty="0"/>
              <a:t> (Autoridad Certificante Raíz de la República Argentina), </a:t>
            </a:r>
            <a:r>
              <a:rPr lang="es-ES" sz="2800" b="1" dirty="0"/>
              <a:t>AC Mail</a:t>
            </a:r>
            <a:r>
              <a:rPr lang="es-ES" sz="2800" dirty="0"/>
              <a:t> (Autoridad Certificante para correo electrónico).</a:t>
            </a:r>
          </a:p>
        </p:txBody>
      </p:sp>
    </p:spTree>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MAVERICK\Desktop\Legislacion\Imagenes\eGov.jpg"/>
          <p:cNvPicPr>
            <a:picLocks noChangeAspect="1" noChangeArrowheads="1"/>
          </p:cNvPicPr>
          <p:nvPr/>
        </p:nvPicPr>
        <p:blipFill>
          <a:blip r:embed="rId2" cstate="print"/>
          <a:srcRect/>
          <a:stretch>
            <a:fillRect/>
          </a:stretch>
        </p:blipFill>
        <p:spPr bwMode="auto">
          <a:xfrm>
            <a:off x="4139952" y="3789040"/>
            <a:ext cx="4850879" cy="2780928"/>
          </a:xfrm>
          <a:prstGeom prst="rect">
            <a:avLst/>
          </a:prstGeom>
          <a:noFill/>
        </p:spPr>
      </p:pic>
      <p:sp>
        <p:nvSpPr>
          <p:cNvPr id="2" name="1 Título"/>
          <p:cNvSpPr>
            <a:spLocks noGrp="1"/>
          </p:cNvSpPr>
          <p:nvPr>
            <p:ph type="title"/>
          </p:nvPr>
        </p:nvSpPr>
        <p:spPr>
          <a:xfrm>
            <a:off x="179512" y="620688"/>
            <a:ext cx="8568952" cy="1152128"/>
          </a:xfrm>
        </p:spPr>
        <p:txBody>
          <a:bodyPr>
            <a:normAutofit fontScale="90000"/>
          </a:bodyPr>
          <a:lstStyle/>
          <a:p>
            <a:r>
              <a:rPr lang="es-AR" sz="5400" dirty="0"/>
              <a:t>Certificados de Clave Publica</a:t>
            </a:r>
          </a:p>
        </p:txBody>
      </p:sp>
      <p:sp>
        <p:nvSpPr>
          <p:cNvPr id="3" name="2 Marcador de texto"/>
          <p:cNvSpPr>
            <a:spLocks noGrp="1"/>
          </p:cNvSpPr>
          <p:nvPr>
            <p:ph type="body" idx="1"/>
          </p:nvPr>
        </p:nvSpPr>
        <p:spPr>
          <a:xfrm>
            <a:off x="323528" y="1916832"/>
            <a:ext cx="8568952" cy="2808312"/>
          </a:xfrm>
        </p:spPr>
        <p:txBody>
          <a:bodyPr>
            <a:normAutofit fontScale="92500" lnSpcReduction="10000"/>
          </a:bodyPr>
          <a:lstStyle/>
          <a:p>
            <a:r>
              <a:rPr lang="en-US" sz="2800" dirty="0"/>
              <a:t>Los </a:t>
            </a:r>
            <a:r>
              <a:rPr lang="en-US" sz="2800" i="1" dirty="0" err="1"/>
              <a:t>Certificados</a:t>
            </a:r>
            <a:r>
              <a:rPr lang="en-US" sz="2800" i="1" dirty="0"/>
              <a:t> de Clave </a:t>
            </a:r>
            <a:r>
              <a:rPr lang="en-US" sz="2800" i="1" dirty="0" err="1"/>
              <a:t>Pública</a:t>
            </a:r>
            <a:r>
              <a:rPr lang="en-US" sz="2800" dirty="0"/>
              <a:t> son </a:t>
            </a:r>
            <a:r>
              <a:rPr lang="en-US" sz="2800" dirty="0" err="1"/>
              <a:t>documentos</a:t>
            </a:r>
            <a:r>
              <a:rPr lang="en-US" sz="2800" dirty="0"/>
              <a:t> </a:t>
            </a:r>
            <a:r>
              <a:rPr lang="en-US" sz="2800" dirty="0" err="1"/>
              <a:t>que</a:t>
            </a:r>
            <a:r>
              <a:rPr lang="en-US" sz="2800" dirty="0"/>
              <a:t> </a:t>
            </a:r>
            <a:r>
              <a:rPr lang="en-US" sz="2800" dirty="0" err="1"/>
              <a:t>contienen</a:t>
            </a:r>
            <a:r>
              <a:rPr lang="en-US" sz="2800" dirty="0"/>
              <a:t> la clave </a:t>
            </a:r>
            <a:r>
              <a:rPr lang="en-US" sz="2800" dirty="0" err="1"/>
              <a:t>pública</a:t>
            </a:r>
            <a:r>
              <a:rPr lang="en-US" sz="2800" dirty="0"/>
              <a:t> de un </a:t>
            </a:r>
            <a:r>
              <a:rPr lang="en-US" sz="2800" dirty="0" err="1"/>
              <a:t>tercero</a:t>
            </a:r>
            <a:r>
              <a:rPr lang="en-US" sz="2800" dirty="0"/>
              <a:t>.</a:t>
            </a:r>
          </a:p>
          <a:p>
            <a:r>
              <a:rPr lang="en-US" sz="2800" dirty="0"/>
              <a:t>Los </a:t>
            </a:r>
            <a:r>
              <a:rPr lang="en-US" sz="2800" dirty="0" err="1"/>
              <a:t>Certificados</a:t>
            </a:r>
            <a:r>
              <a:rPr lang="en-US" sz="2800" dirty="0"/>
              <a:t> son </a:t>
            </a:r>
            <a:r>
              <a:rPr lang="en-US" sz="2800" dirty="0" err="1"/>
              <a:t>emitidos</a:t>
            </a:r>
            <a:r>
              <a:rPr lang="en-US" sz="2800" dirty="0"/>
              <a:t> </a:t>
            </a:r>
            <a:r>
              <a:rPr lang="en-US" sz="2800" dirty="0" err="1"/>
              <a:t>por</a:t>
            </a:r>
            <a:r>
              <a:rPr lang="en-US" sz="2800" dirty="0"/>
              <a:t> el </a:t>
            </a:r>
            <a:r>
              <a:rPr lang="en-US" sz="2800" i="1" dirty="0" err="1"/>
              <a:t>Certificador</a:t>
            </a:r>
            <a:r>
              <a:rPr lang="en-US" sz="2800" i="1" dirty="0"/>
              <a:t> </a:t>
            </a:r>
            <a:r>
              <a:rPr lang="en-US" sz="2800" i="1" dirty="0" err="1"/>
              <a:t>Licenciado</a:t>
            </a:r>
            <a:r>
              <a:rPr lang="en-US" sz="2800" dirty="0"/>
              <a:t>, persona de </a:t>
            </a:r>
            <a:r>
              <a:rPr lang="en-US" sz="2800" dirty="0" err="1"/>
              <a:t>existencia</a:t>
            </a:r>
            <a:r>
              <a:rPr lang="en-US" sz="2800" i="1" dirty="0"/>
              <a:t> </a:t>
            </a:r>
            <a:r>
              <a:rPr lang="en-US" sz="2800" dirty="0"/>
              <a:t>ideal </a:t>
            </a:r>
            <a:r>
              <a:rPr lang="en-US" sz="2800" dirty="0" err="1"/>
              <a:t>que</a:t>
            </a:r>
            <a:r>
              <a:rPr lang="en-US" sz="2800" dirty="0"/>
              <a:t> </a:t>
            </a:r>
            <a:r>
              <a:rPr lang="en-US" sz="2800" dirty="0" err="1"/>
              <a:t>cuenta</a:t>
            </a:r>
            <a:r>
              <a:rPr lang="en-US" sz="2800" dirty="0"/>
              <a:t> con </a:t>
            </a:r>
            <a:r>
              <a:rPr lang="en-US" sz="2800" dirty="0" err="1"/>
              <a:t>una</a:t>
            </a:r>
            <a:r>
              <a:rPr lang="en-US" sz="2800" dirty="0"/>
              <a:t> </a:t>
            </a:r>
            <a:r>
              <a:rPr lang="en-US" sz="2800" dirty="0" err="1"/>
              <a:t>licencia</a:t>
            </a:r>
            <a:r>
              <a:rPr lang="en-US" sz="2800" dirty="0"/>
              <a:t> </a:t>
            </a:r>
            <a:r>
              <a:rPr lang="en-US" sz="2800" dirty="0" err="1"/>
              <a:t>para</a:t>
            </a:r>
            <a:r>
              <a:rPr lang="en-US" sz="2800" dirty="0"/>
              <a:t> </a:t>
            </a:r>
            <a:r>
              <a:rPr lang="en-US" sz="2800" dirty="0" err="1"/>
              <a:t>ello</a:t>
            </a:r>
            <a:r>
              <a:rPr lang="en-US" sz="2800" dirty="0"/>
              <a:t>, </a:t>
            </a:r>
            <a:r>
              <a:rPr lang="en-US" sz="2800" dirty="0" err="1"/>
              <a:t>otorgada</a:t>
            </a:r>
            <a:r>
              <a:rPr lang="en-US" sz="2800" dirty="0"/>
              <a:t> </a:t>
            </a:r>
            <a:r>
              <a:rPr lang="en-US" sz="2800" dirty="0" err="1"/>
              <a:t>por</a:t>
            </a:r>
            <a:r>
              <a:rPr lang="en-US" sz="2800" dirty="0"/>
              <a:t> el </a:t>
            </a:r>
            <a:r>
              <a:rPr lang="en-US" sz="2800" dirty="0" err="1"/>
              <a:t>Ente</a:t>
            </a:r>
            <a:r>
              <a:rPr lang="en-US" sz="2800" dirty="0"/>
              <a:t> </a:t>
            </a:r>
            <a:r>
              <a:rPr lang="en-US" sz="2800" dirty="0" err="1"/>
              <a:t>Licenciante</a:t>
            </a:r>
            <a:endParaRPr lang="en-US" sz="2800" dirty="0"/>
          </a:p>
          <a:p>
            <a:r>
              <a:rPr lang="en-US" sz="2800" dirty="0"/>
              <a:t>(art. 17 de LFD)</a:t>
            </a:r>
          </a:p>
          <a:p>
            <a:endParaRPr lang="es-A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texto"/>
          <p:cNvSpPr txBox="1">
            <a:spLocks/>
          </p:cNvSpPr>
          <p:nvPr/>
        </p:nvSpPr>
        <p:spPr>
          <a:xfrm>
            <a:off x="323528" y="1988840"/>
            <a:ext cx="8568952" cy="4680520"/>
          </a:xfrm>
          <a:prstGeom prst="rect">
            <a:avLst/>
          </a:prstGeom>
        </p:spPr>
        <p:txBody>
          <a:bodyPr vert="horz" lIns="45720" rIns="45720" anchor="t">
            <a:normAutofit lnSpcReduction="10000"/>
          </a:bodyPr>
          <a:lstStyle/>
          <a:p>
            <a:pPr>
              <a:lnSpc>
                <a:spcPct val="90000"/>
              </a:lnSpc>
            </a:pPr>
            <a:r>
              <a:rPr lang="en-US" sz="3200" dirty="0" err="1"/>
              <a:t>Certifican</a:t>
            </a:r>
            <a:r>
              <a:rPr lang="en-US" sz="3200" dirty="0"/>
              <a:t> la </a:t>
            </a:r>
            <a:r>
              <a:rPr lang="en-US" sz="3200" dirty="0" err="1"/>
              <a:t>autenticidad</a:t>
            </a:r>
            <a:r>
              <a:rPr lang="en-US" sz="3200" dirty="0"/>
              <a:t> de claves </a:t>
            </a:r>
            <a:r>
              <a:rPr lang="en-US" sz="3200" dirty="0" err="1"/>
              <a:t>públicas</a:t>
            </a:r>
            <a:r>
              <a:rPr lang="en-US" sz="3200" dirty="0"/>
              <a:t> en </a:t>
            </a:r>
            <a:r>
              <a:rPr lang="en-US" sz="3200" dirty="0" err="1"/>
              <a:t>régimen</a:t>
            </a:r>
            <a:r>
              <a:rPr lang="en-US" sz="3200" dirty="0"/>
              <a:t> de </a:t>
            </a:r>
            <a:r>
              <a:rPr lang="en-US" sz="3200" dirty="0" err="1"/>
              <a:t>libre</a:t>
            </a:r>
            <a:r>
              <a:rPr lang="en-US" sz="3200" dirty="0"/>
              <a:t> </a:t>
            </a:r>
            <a:r>
              <a:rPr lang="en-US" sz="3200" dirty="0" err="1"/>
              <a:t>competencia</a:t>
            </a:r>
            <a:r>
              <a:rPr lang="en-US" sz="3200" dirty="0"/>
              <a:t>, </a:t>
            </a:r>
            <a:r>
              <a:rPr lang="en-US" sz="3200" dirty="0" err="1"/>
              <a:t>equilibrio</a:t>
            </a:r>
            <a:r>
              <a:rPr lang="en-US" sz="3200" dirty="0"/>
              <a:t> de </a:t>
            </a:r>
            <a:r>
              <a:rPr lang="en-US" sz="3200" dirty="0" err="1"/>
              <a:t>participación</a:t>
            </a:r>
            <a:r>
              <a:rPr lang="en-US" sz="3200" dirty="0"/>
              <a:t> y </a:t>
            </a:r>
            <a:r>
              <a:rPr lang="en-US" sz="3200" dirty="0" err="1"/>
              <a:t>protección</a:t>
            </a:r>
            <a:r>
              <a:rPr lang="en-US" sz="3200" dirty="0"/>
              <a:t> de los </a:t>
            </a:r>
            <a:r>
              <a:rPr lang="en-US" sz="3200" dirty="0" err="1"/>
              <a:t>usuarios</a:t>
            </a:r>
            <a:r>
              <a:rPr lang="en-US" sz="3200" dirty="0"/>
              <a:t> (art. 11 </a:t>
            </a:r>
            <a:r>
              <a:rPr lang="en-US" sz="3200" dirty="0" err="1"/>
              <a:t>Dec.Reg</a:t>
            </a:r>
            <a:r>
              <a:rPr lang="en-US" sz="3200" dirty="0"/>
              <a:t>.)</a:t>
            </a:r>
          </a:p>
          <a:p>
            <a:pPr>
              <a:lnSpc>
                <a:spcPct val="90000"/>
              </a:lnSpc>
            </a:pPr>
            <a:r>
              <a:rPr lang="en-US" sz="3200" dirty="0" err="1"/>
              <a:t>Pueden</a:t>
            </a:r>
            <a:r>
              <a:rPr lang="en-US" sz="3200" dirty="0"/>
              <a:t> ser :</a:t>
            </a:r>
          </a:p>
          <a:p>
            <a:pPr lvl="1">
              <a:lnSpc>
                <a:spcPct val="90000"/>
              </a:lnSpc>
            </a:pPr>
            <a:r>
              <a:rPr lang="en-US" sz="3200" dirty="0" err="1"/>
              <a:t>Empresas</a:t>
            </a:r>
            <a:r>
              <a:rPr lang="en-US" sz="3200" dirty="0"/>
              <a:t> </a:t>
            </a:r>
            <a:r>
              <a:rPr lang="en-US" sz="3200" dirty="0" err="1"/>
              <a:t>respecto</a:t>
            </a:r>
            <a:r>
              <a:rPr lang="en-US" sz="3200" dirty="0"/>
              <a:t> de </a:t>
            </a:r>
            <a:r>
              <a:rPr lang="en-US" sz="3200" dirty="0" err="1"/>
              <a:t>sus</a:t>
            </a:r>
            <a:r>
              <a:rPr lang="en-US" sz="3200" dirty="0"/>
              <a:t> </a:t>
            </a:r>
            <a:r>
              <a:rPr lang="en-US" sz="3200" dirty="0" err="1"/>
              <a:t>empleados</a:t>
            </a:r>
            <a:r>
              <a:rPr lang="en-US" sz="3200" dirty="0"/>
              <a:t>, </a:t>
            </a:r>
          </a:p>
          <a:p>
            <a:pPr lvl="1">
              <a:lnSpc>
                <a:spcPct val="90000"/>
              </a:lnSpc>
            </a:pPr>
            <a:r>
              <a:rPr lang="en-US" sz="3200" dirty="0" err="1"/>
              <a:t>Bancos</a:t>
            </a:r>
            <a:r>
              <a:rPr lang="en-US" sz="3200" dirty="0"/>
              <a:t> </a:t>
            </a:r>
            <a:r>
              <a:rPr lang="en-US" sz="3200" dirty="0" err="1"/>
              <a:t>respecto</a:t>
            </a:r>
            <a:r>
              <a:rPr lang="en-US" sz="3200" dirty="0"/>
              <a:t> de </a:t>
            </a:r>
            <a:r>
              <a:rPr lang="en-US" sz="3200" dirty="0" err="1"/>
              <a:t>sus</a:t>
            </a:r>
            <a:r>
              <a:rPr lang="en-US" sz="3200" dirty="0"/>
              <a:t> </a:t>
            </a:r>
            <a:r>
              <a:rPr lang="en-US" sz="3200" dirty="0" err="1"/>
              <a:t>clientes</a:t>
            </a:r>
            <a:r>
              <a:rPr lang="en-US" sz="3200" dirty="0"/>
              <a:t>, </a:t>
            </a:r>
          </a:p>
          <a:p>
            <a:pPr lvl="1">
              <a:lnSpc>
                <a:spcPct val="90000"/>
              </a:lnSpc>
            </a:pPr>
            <a:r>
              <a:rPr lang="en-US" sz="3200" dirty="0" err="1"/>
              <a:t>Colegio</a:t>
            </a:r>
            <a:r>
              <a:rPr lang="en-US" sz="3200" dirty="0"/>
              <a:t> de </a:t>
            </a:r>
            <a:r>
              <a:rPr lang="en-US" sz="3200" dirty="0" err="1"/>
              <a:t>Abogados</a:t>
            </a:r>
            <a:r>
              <a:rPr lang="en-US" sz="3200" dirty="0"/>
              <a:t> </a:t>
            </a:r>
            <a:r>
              <a:rPr lang="en-US" sz="3200" dirty="0" err="1"/>
              <a:t>respecto</a:t>
            </a:r>
            <a:r>
              <a:rPr lang="en-US" sz="3200" dirty="0"/>
              <a:t> de los </a:t>
            </a:r>
            <a:r>
              <a:rPr lang="en-US" sz="3200" dirty="0" err="1"/>
              <a:t>matriculados</a:t>
            </a:r>
            <a:r>
              <a:rPr lang="en-US" sz="3200" dirty="0"/>
              <a:t>,</a:t>
            </a:r>
          </a:p>
          <a:p>
            <a:pPr lvl="1">
              <a:lnSpc>
                <a:spcPct val="90000"/>
              </a:lnSpc>
            </a:pPr>
            <a:r>
              <a:rPr lang="en-US" sz="3200" dirty="0" err="1"/>
              <a:t>Academias</a:t>
            </a:r>
            <a:r>
              <a:rPr lang="en-US" sz="3200" dirty="0"/>
              <a:t> de </a:t>
            </a:r>
            <a:r>
              <a:rPr lang="en-US" sz="3200" dirty="0" err="1"/>
              <a:t>Medicina</a:t>
            </a:r>
            <a:r>
              <a:rPr lang="en-US" sz="3200" dirty="0"/>
              <a:t>, etc.</a:t>
            </a:r>
          </a:p>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s-AR"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1 Título"/>
          <p:cNvSpPr txBox="1">
            <a:spLocks/>
          </p:cNvSpPr>
          <p:nvPr/>
        </p:nvSpPr>
        <p:spPr>
          <a:xfrm>
            <a:off x="179512" y="-387424"/>
            <a:ext cx="5976664" cy="2304256"/>
          </a:xfrm>
          <a:prstGeom prst="rect">
            <a:avLst/>
          </a:prstGeom>
          <a:ln>
            <a:noFill/>
          </a:ln>
        </p:spPr>
        <p:txBody>
          <a:bodyPr vert="horz" lIns="0" tIns="0" rIns="0" bIns="0" anchor="b">
            <a:noAutofit/>
            <a:scene3d>
              <a:camera prst="orthographicFront"/>
              <a:lightRig rig="freezing" dir="t">
                <a:rot lat="0" lon="0" rev="5640000"/>
              </a:lightRig>
            </a:scene3d>
            <a:sp3d prstMaterial="flat">
              <a:bevelT w="38100" h="381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AR" sz="54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Certificados de </a:t>
            </a:r>
            <a:r>
              <a:rPr lang="es-AR" sz="5400" b="1"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rPr>
              <a:t>C</a:t>
            </a:r>
            <a:r>
              <a:rPr kumimoji="0" lang="es-AR" sz="54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lave </a:t>
            </a:r>
            <a:r>
              <a:rPr lang="es-AR" sz="5400" b="1" dirty="0" err="1">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rPr>
              <a:t>Pú</a:t>
            </a:r>
            <a:r>
              <a:rPr kumimoji="0" lang="es-AR" sz="5400" b="1" i="0" u="none" strike="noStrike" kern="1200" cap="none" spc="0" normalizeH="0" baseline="0" noProof="0" dirty="0" err="1">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blica</a:t>
            </a:r>
            <a:endParaRPr kumimoji="0" lang="es-AR" sz="54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23528" y="188640"/>
            <a:ext cx="5760640" cy="1728192"/>
          </a:xfrm>
        </p:spPr>
        <p:txBody>
          <a:bodyPr>
            <a:normAutofit fontScale="90000"/>
          </a:bodyPr>
          <a:lstStyle/>
          <a:p>
            <a:r>
              <a:rPr lang="es-ES_tradnl" sz="5400" dirty="0">
                <a:solidFill>
                  <a:srgbClr val="339933"/>
                </a:solidFill>
                <a:effectLst>
                  <a:outerShdw blurRad="38100" dist="38100" dir="2700000" algn="tl">
                    <a:srgbClr val="C0C0C0"/>
                  </a:outerShdw>
                </a:effectLst>
              </a:rPr>
              <a:t>Como obtener un</a:t>
            </a:r>
            <a:br>
              <a:rPr lang="es-ES_tradnl" sz="5400" dirty="0">
                <a:solidFill>
                  <a:srgbClr val="339933"/>
                </a:solidFill>
                <a:effectLst>
                  <a:outerShdw blurRad="38100" dist="38100" dir="2700000" algn="tl">
                    <a:srgbClr val="C0C0C0"/>
                  </a:outerShdw>
                </a:effectLst>
              </a:rPr>
            </a:br>
            <a:r>
              <a:rPr lang="es-ES_tradnl" sz="5400" dirty="0">
                <a:solidFill>
                  <a:srgbClr val="339933"/>
                </a:solidFill>
                <a:effectLst>
                  <a:outerShdw blurRad="38100" dist="38100" dir="2700000" algn="tl">
                    <a:srgbClr val="C0C0C0"/>
                  </a:outerShdw>
                </a:effectLst>
              </a:rPr>
              <a:t>Certificado Digital</a:t>
            </a:r>
            <a:endParaRPr lang="es-AR" sz="5400" dirty="0"/>
          </a:p>
        </p:txBody>
      </p:sp>
      <p:sp>
        <p:nvSpPr>
          <p:cNvPr id="3" name="2 Marcador de texto"/>
          <p:cNvSpPr>
            <a:spLocks noGrp="1"/>
          </p:cNvSpPr>
          <p:nvPr>
            <p:ph type="body" idx="1"/>
          </p:nvPr>
        </p:nvSpPr>
        <p:spPr>
          <a:xfrm>
            <a:off x="683568" y="548680"/>
            <a:ext cx="8280920" cy="5904656"/>
          </a:xfrm>
        </p:spPr>
        <p:txBody>
          <a:bodyPr>
            <a:noAutofit/>
          </a:bodyPr>
          <a:lstStyle/>
          <a:p>
            <a:endParaRPr lang="es-ES_tradnl" sz="4000" dirty="0"/>
          </a:p>
          <a:p>
            <a:endParaRPr lang="es-ES_tradnl" sz="4000" dirty="0"/>
          </a:p>
          <a:p>
            <a:endParaRPr lang="es-ES_tradnl" sz="4000" dirty="0"/>
          </a:p>
          <a:p>
            <a:r>
              <a:rPr lang="es-ES_tradnl" sz="4000" dirty="0"/>
              <a:t>Se debe gestionar ante una </a:t>
            </a:r>
            <a:r>
              <a:rPr lang="es-ES_tradnl" sz="4000" i="1" dirty="0"/>
              <a:t>Certificador Licenciado</a:t>
            </a:r>
            <a:r>
              <a:rPr lang="es-ES_tradnl" sz="4000" dirty="0"/>
              <a:t> que a criterio del interesado genere la suficiente confianza a terceros, y que esté habilitada al efecto</a:t>
            </a:r>
          </a:p>
          <a:p>
            <a:endParaRPr lang="es-AR" sz="4000" dirty="0"/>
          </a:p>
          <a:p>
            <a:endParaRPr lang="es-ES_tradnl" sz="4000" dirty="0"/>
          </a:p>
          <a:p>
            <a:endParaRPr lang="es-ES_tradnl" sz="4000" dirty="0"/>
          </a:p>
          <a:p>
            <a:endParaRPr lang="es-ES_tradnl" sz="4000" dirty="0"/>
          </a:p>
          <a:p>
            <a:endParaRPr lang="es-ES_tradnl" sz="4000" dirty="0"/>
          </a:p>
          <a:p>
            <a:endParaRPr lang="es-ES_tradnl" sz="4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texto"/>
          <p:cNvSpPr txBox="1">
            <a:spLocks/>
          </p:cNvSpPr>
          <p:nvPr/>
        </p:nvSpPr>
        <p:spPr>
          <a:xfrm>
            <a:off x="611560" y="1844824"/>
            <a:ext cx="7772400" cy="4608512"/>
          </a:xfrm>
          <a:prstGeom prst="rect">
            <a:avLst/>
          </a:prstGeom>
        </p:spPr>
        <p:txBody>
          <a:bodyPr vert="horz" lIns="45720" rIns="45720" anchor="t">
            <a:normAutofit/>
          </a:bodyPr>
          <a:lstStyle/>
          <a:p>
            <a:pPr>
              <a:defRPr/>
            </a:pPr>
            <a:r>
              <a:rPr lang="es-ES_tradnl" sz="3200" dirty="0"/>
              <a:t>Se puede gestionar un </a:t>
            </a:r>
            <a:r>
              <a:rPr lang="es-ES_tradnl" sz="3200" i="1" dirty="0"/>
              <a:t>certificado digital </a:t>
            </a:r>
            <a:r>
              <a:rPr lang="es-ES_tradnl" sz="3200" dirty="0"/>
              <a:t> en forma gratuita a través de Internet en la </a:t>
            </a:r>
            <a:r>
              <a:rPr lang="es-ES_tradnl" sz="3200" i="1" dirty="0"/>
              <a:t>Infraestructura de Firma Digital de la Subsecretaría de la Gestión Pública </a:t>
            </a:r>
            <a:r>
              <a:rPr lang="es-ES_tradnl" sz="3200" dirty="0"/>
              <a:t>dependiente de la Jefatura de Gabinete de Ministros en la dirección: </a:t>
            </a:r>
            <a:r>
              <a:rPr lang="es-ES_tradnl" sz="3200" i="1" dirty="0">
                <a:solidFill>
                  <a:srgbClr val="FF0000"/>
                </a:solidFill>
                <a:effectLst>
                  <a:outerShdw blurRad="38100" dist="38100" dir="2700000" algn="tl">
                    <a:srgbClr val="C0C0C0"/>
                  </a:outerShdw>
                </a:effectLst>
              </a:rPr>
              <a:t>http:/ca.sgp.gov.ar/</a:t>
            </a:r>
            <a:r>
              <a:rPr lang="es-ES_tradnl" sz="3200" i="1" dirty="0" err="1">
                <a:solidFill>
                  <a:srgbClr val="FF0000"/>
                </a:solidFill>
                <a:effectLst>
                  <a:outerShdw blurRad="38100" dist="38100" dir="2700000" algn="tl">
                    <a:srgbClr val="C0C0C0"/>
                  </a:outerShdw>
                </a:effectLst>
              </a:rPr>
              <a:t>eMail</a:t>
            </a:r>
            <a:r>
              <a:rPr lang="es-ES_tradnl" sz="3200" i="1" dirty="0">
                <a:solidFill>
                  <a:srgbClr val="FF0000"/>
                </a:solidFill>
                <a:effectLst>
                  <a:outerShdw blurRad="38100" dist="38100" dir="2700000" algn="tl">
                    <a:srgbClr val="C0C0C0"/>
                  </a:outerShdw>
                </a:effectLst>
              </a:rPr>
              <a:t>/principal.html</a:t>
            </a:r>
            <a:endParaRPr lang="es-ES_tradnl" sz="3200" dirty="0">
              <a:solidFill>
                <a:srgbClr val="FF0000"/>
              </a:solidFill>
            </a:endParaRPr>
          </a:p>
          <a:p>
            <a:pPr marL="0" marR="0" lvl="0" indent="0" algn="l" defTabSz="914400" rtl="0" eaLnBrk="1" fontAlgn="auto" latinLnBrk="0" hangingPunct="1">
              <a:lnSpc>
                <a:spcPct val="100000"/>
              </a:lnSpc>
              <a:spcBef>
                <a:spcPct val="20000"/>
              </a:spcBef>
              <a:spcAft>
                <a:spcPts val="0"/>
              </a:spcAft>
              <a:buClr>
                <a:schemeClr val="accent3"/>
              </a:buClr>
              <a:buSzPct val="95000"/>
              <a:buFont typeface="Wingdings 2"/>
              <a:buNone/>
              <a:tabLst/>
              <a:defRPr/>
            </a:pPr>
            <a:endParaRPr kumimoji="0" lang="es-AR" sz="2200" b="0" i="0" u="none" strike="noStrike" kern="1200" cap="none" spc="0" normalizeH="0" baseline="0" noProof="0" dirty="0">
              <a:ln>
                <a:noFill/>
              </a:ln>
              <a:solidFill>
                <a:schemeClr val="tx1"/>
              </a:solidFill>
              <a:effectLst/>
              <a:uLnTx/>
              <a:uFillTx/>
              <a:latin typeface="+mn-lt"/>
              <a:ea typeface="+mn-ea"/>
              <a:cs typeface="+mn-cs"/>
            </a:endParaRPr>
          </a:p>
        </p:txBody>
      </p:sp>
      <p:sp>
        <p:nvSpPr>
          <p:cNvPr id="5" name="1 Título"/>
          <p:cNvSpPr txBox="1">
            <a:spLocks/>
          </p:cNvSpPr>
          <p:nvPr/>
        </p:nvSpPr>
        <p:spPr>
          <a:xfrm>
            <a:off x="611560" y="476672"/>
            <a:ext cx="7920880" cy="1080120"/>
          </a:xfrm>
          <a:prstGeom prst="rect">
            <a:avLst/>
          </a:prstGeom>
          <a:ln>
            <a:noFill/>
          </a:ln>
        </p:spPr>
        <p:txBody>
          <a:bodyPr vert="horz" lIns="0" tIns="0" rIns="0" bIns="0" anchor="b">
            <a:noAutofit/>
            <a:scene3d>
              <a:camera prst="orthographicFront"/>
              <a:lightRig rig="freezing" dir="t">
                <a:rot lat="0" lon="0" rev="5640000"/>
              </a:lightRig>
            </a:scene3d>
            <a:sp3d prstMaterial="flat">
              <a:bevelT w="38100" h="381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_tradnl" sz="4000" b="1" i="0" u="none" strike="noStrike" kern="1200" cap="none" spc="0" normalizeH="0" baseline="0" noProof="0" dirty="0">
                <a:ln w="635">
                  <a:noFill/>
                </a:ln>
                <a:solidFill>
                  <a:srgbClr val="339933"/>
                </a:solidFill>
                <a:effectLst>
                  <a:outerShdw blurRad="38100" dist="38100" dir="2700000" algn="tl">
                    <a:srgbClr val="C0C0C0"/>
                  </a:outerShdw>
                </a:effectLst>
                <a:uLnTx/>
                <a:uFillTx/>
                <a:latin typeface="+mj-lt"/>
                <a:ea typeface="+mj-ea"/>
                <a:cs typeface="+mj-cs"/>
              </a:rPr>
              <a:t>Como </a:t>
            </a:r>
            <a:r>
              <a:rPr lang="es-ES_tradnl" sz="4000" b="1" dirty="0">
                <a:ln w="635">
                  <a:noFill/>
                </a:ln>
                <a:solidFill>
                  <a:srgbClr val="339933"/>
                </a:solidFill>
                <a:effectLst>
                  <a:outerShdw blurRad="38100" dist="38100" dir="2700000" algn="tl">
                    <a:srgbClr val="C0C0C0"/>
                  </a:outerShdw>
                </a:effectLst>
                <a:latin typeface="+mj-lt"/>
                <a:ea typeface="+mj-ea"/>
                <a:cs typeface="+mj-cs"/>
              </a:rPr>
              <a:t>Gestionar </a:t>
            </a:r>
            <a:r>
              <a:rPr kumimoji="0" lang="es-ES_tradnl" sz="4000" b="1" i="0" u="none" strike="noStrike" kern="1200" cap="none" spc="0" normalizeH="0" baseline="0" noProof="0" dirty="0">
                <a:ln w="635">
                  <a:noFill/>
                </a:ln>
                <a:solidFill>
                  <a:srgbClr val="339933"/>
                </a:solidFill>
                <a:effectLst>
                  <a:outerShdw blurRad="38100" dist="38100" dir="2700000" algn="tl">
                    <a:srgbClr val="C0C0C0"/>
                  </a:outerShdw>
                </a:effectLst>
                <a:uLnTx/>
                <a:uFillTx/>
                <a:latin typeface="+mj-lt"/>
                <a:ea typeface="+mj-ea"/>
                <a:cs typeface="+mj-cs"/>
              </a:rPr>
              <a:t>un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s-ES_tradnl" sz="4000" b="1" i="0" u="none" strike="noStrike" kern="1200" cap="none" spc="0" normalizeH="0" baseline="0" noProof="0" dirty="0">
                <a:ln w="635">
                  <a:noFill/>
                </a:ln>
                <a:solidFill>
                  <a:srgbClr val="339933"/>
                </a:solidFill>
                <a:effectLst>
                  <a:outerShdw blurRad="38100" dist="38100" dir="2700000" algn="tl">
                    <a:srgbClr val="C0C0C0"/>
                  </a:outerShdw>
                </a:effectLst>
                <a:uLnTx/>
                <a:uFillTx/>
                <a:latin typeface="+mj-lt"/>
                <a:ea typeface="+mj-ea"/>
                <a:cs typeface="+mj-cs"/>
              </a:rPr>
              <a:t>Certificado</a:t>
            </a:r>
            <a:r>
              <a:rPr kumimoji="0" lang="es-ES_tradnl" sz="4000" b="1" i="0" u="none" strike="noStrike" kern="1200" cap="none" spc="0" normalizeH="0" noProof="0" dirty="0">
                <a:ln w="635">
                  <a:noFill/>
                </a:ln>
                <a:solidFill>
                  <a:srgbClr val="339933"/>
                </a:solidFill>
                <a:effectLst>
                  <a:outerShdw blurRad="38100" dist="38100" dir="2700000" algn="tl">
                    <a:srgbClr val="C0C0C0"/>
                  </a:outerShdw>
                </a:effectLst>
                <a:uLnTx/>
                <a:uFillTx/>
                <a:latin typeface="+mj-lt"/>
                <a:ea typeface="+mj-ea"/>
                <a:cs typeface="+mj-cs"/>
              </a:rPr>
              <a:t> Digital</a:t>
            </a:r>
            <a:endParaRPr kumimoji="0" lang="es-AR" sz="40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812680"/>
            <a:ext cx="8424936" cy="1968248"/>
          </a:xfrm>
        </p:spPr>
        <p:txBody>
          <a:bodyPr>
            <a:normAutofit fontScale="90000"/>
          </a:bodyPr>
          <a:lstStyle/>
          <a:p>
            <a:r>
              <a:rPr lang="es-AR" sz="5400" dirty="0"/>
              <a:t>Como Comprobar si el</a:t>
            </a:r>
            <a:br>
              <a:rPr lang="es-AR" sz="5400" dirty="0"/>
            </a:br>
            <a:r>
              <a:rPr lang="es-AR" sz="5400" dirty="0"/>
              <a:t>Remitente es quien dice ser:</a:t>
            </a:r>
          </a:p>
        </p:txBody>
      </p:sp>
      <p:sp>
        <p:nvSpPr>
          <p:cNvPr id="3" name="2 Marcador de texto"/>
          <p:cNvSpPr>
            <a:spLocks noGrp="1"/>
          </p:cNvSpPr>
          <p:nvPr>
            <p:ph type="body" idx="1"/>
          </p:nvPr>
        </p:nvSpPr>
        <p:spPr>
          <a:xfrm>
            <a:off x="251520" y="2780928"/>
            <a:ext cx="6768752" cy="2376264"/>
          </a:xfrm>
        </p:spPr>
        <p:txBody>
          <a:bodyPr>
            <a:normAutofit lnSpcReduction="10000"/>
          </a:bodyPr>
          <a:lstStyle/>
          <a:p>
            <a:r>
              <a:rPr lang="es-ES_tradnl" sz="2800" dirty="0"/>
              <a:t>Haciendo “</a:t>
            </a:r>
            <a:r>
              <a:rPr lang="es-ES_tradnl" sz="2800" dirty="0" err="1"/>
              <a:t>click</a:t>
            </a:r>
            <a:r>
              <a:rPr lang="es-ES_tradnl" sz="2800" dirty="0"/>
              <a:t>” sobre el sello del correo (ubicado en la parte superior derecha) el sistema indicará el grado de autenticidad y permitirá que se acceda al </a:t>
            </a:r>
            <a:r>
              <a:rPr lang="es-ES_tradnl" sz="2800" i="1" dirty="0"/>
              <a:t>Certificado Digital</a:t>
            </a:r>
            <a:r>
              <a:rPr lang="es-ES_tradnl" sz="2800" dirty="0"/>
              <a:t> del emisor.</a:t>
            </a:r>
            <a:endParaRPr lang="es-AR" sz="2800" dirty="0"/>
          </a:p>
        </p:txBody>
      </p:sp>
      <p:pic>
        <p:nvPicPr>
          <p:cNvPr id="24578" name="Picture 2" descr="C:\Users\MAVERICK\Desktop\Legislacion\Legislation-Facu\imagen1cap2-4.jpg"/>
          <p:cNvPicPr>
            <a:picLocks noChangeAspect="1" noChangeArrowheads="1"/>
          </p:cNvPicPr>
          <p:nvPr/>
        </p:nvPicPr>
        <p:blipFill>
          <a:blip r:embed="rId2" cstate="print"/>
          <a:srcRect/>
          <a:stretch>
            <a:fillRect/>
          </a:stretch>
        </p:blipFill>
        <p:spPr bwMode="auto">
          <a:xfrm>
            <a:off x="107504" y="5229200"/>
            <a:ext cx="2952328" cy="1107442"/>
          </a:xfrm>
          <a:prstGeom prst="rect">
            <a:avLst/>
          </a:prstGeom>
          <a:noFill/>
        </p:spPr>
      </p:pic>
      <p:pic>
        <p:nvPicPr>
          <p:cNvPr id="24579" name="Picture 3" descr="C:\Users\MAVERICK\Desktop\Legislacion\Legislation-Facu\imagen1cap2-5.jpg"/>
          <p:cNvPicPr>
            <a:picLocks noChangeAspect="1" noChangeArrowheads="1"/>
          </p:cNvPicPr>
          <p:nvPr/>
        </p:nvPicPr>
        <p:blipFill>
          <a:blip r:embed="rId3" cstate="print"/>
          <a:srcRect/>
          <a:stretch>
            <a:fillRect/>
          </a:stretch>
        </p:blipFill>
        <p:spPr bwMode="auto">
          <a:xfrm>
            <a:off x="6876256" y="4221088"/>
            <a:ext cx="2088489" cy="2373746"/>
          </a:xfrm>
          <a:prstGeom prst="rect">
            <a:avLst/>
          </a:prstGeom>
          <a:noFill/>
        </p:spPr>
      </p:pic>
      <p:pic>
        <p:nvPicPr>
          <p:cNvPr id="24580" name="Picture 4" descr="C:\Users\MAVERICK\Desktop\Legislacion\Legislation-Facu\imagen2cap2-4.jpg"/>
          <p:cNvPicPr>
            <a:picLocks noChangeAspect="1" noChangeArrowheads="1"/>
          </p:cNvPicPr>
          <p:nvPr/>
        </p:nvPicPr>
        <p:blipFill>
          <a:blip r:embed="rId4" cstate="print"/>
          <a:srcRect/>
          <a:stretch>
            <a:fillRect/>
          </a:stretch>
        </p:blipFill>
        <p:spPr bwMode="auto">
          <a:xfrm>
            <a:off x="3512367" y="5229200"/>
            <a:ext cx="2931841" cy="1111505"/>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179512" y="188640"/>
            <a:ext cx="8712968" cy="6408712"/>
          </a:xfrm>
          <a:prstGeom prst="rect">
            <a:avLst/>
          </a:prstGeom>
          <a:noFill/>
          <a:ln w="12700">
            <a:noFill/>
            <a:miter lim="800000"/>
            <a:headEnd type="none" w="sm" len="sm"/>
            <a:tailEnd type="none" w="sm" len="sm"/>
          </a:ln>
        </p:spPr>
      </p:pic>
      <p:sp>
        <p:nvSpPr>
          <p:cNvPr id="5" name="1 Título"/>
          <p:cNvSpPr txBox="1">
            <a:spLocks/>
          </p:cNvSpPr>
          <p:nvPr/>
        </p:nvSpPr>
        <p:spPr>
          <a:xfrm>
            <a:off x="6732240" y="1268760"/>
            <a:ext cx="1440976" cy="816120"/>
          </a:xfrm>
          <a:prstGeom prst="rect">
            <a:avLst/>
          </a:prstGeom>
          <a:ln>
            <a:noFill/>
          </a:ln>
        </p:spPr>
        <p:txBody>
          <a:bodyPr vert="horz" lIns="0" tIns="0" rIns="0" bIns="0" anchor="b">
            <a:noAutofit/>
            <a:scene3d>
              <a:camera prst="orthographicFront"/>
              <a:lightRig rig="freezing" dir="t">
                <a:rot lat="0" lon="0" rev="5640000"/>
              </a:lightRig>
            </a:scene3d>
            <a:sp3d prstMaterial="flat">
              <a:bevelT w="38100" h="381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AR" sz="32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Paso-1: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6732240" y="1196752"/>
            <a:ext cx="1440976" cy="816120"/>
          </a:xfrm>
          <a:prstGeom prst="rect">
            <a:avLst/>
          </a:prstGeom>
          <a:ln>
            <a:noFill/>
          </a:ln>
        </p:spPr>
        <p:txBody>
          <a:bodyPr vert="horz" lIns="0" tIns="0" rIns="0" bIns="0" anchor="b">
            <a:noAutofit/>
            <a:scene3d>
              <a:camera prst="orthographicFront"/>
              <a:lightRig rig="freezing" dir="t">
                <a:rot lat="0" lon="0" rev="5640000"/>
              </a:lightRig>
            </a:scene3d>
            <a:sp3d prstMaterial="flat">
              <a:bevelT w="38100" h="381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AR" sz="32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Paso-2:</a:t>
            </a:r>
          </a:p>
        </p:txBody>
      </p:sp>
      <p:pic>
        <p:nvPicPr>
          <p:cNvPr id="6" name="Picture 2"/>
          <p:cNvPicPr>
            <a:picLocks noChangeAspect="1" noChangeArrowheads="1"/>
          </p:cNvPicPr>
          <p:nvPr/>
        </p:nvPicPr>
        <p:blipFill>
          <a:blip r:embed="rId2" cstate="print"/>
          <a:srcRect/>
          <a:stretch>
            <a:fillRect/>
          </a:stretch>
        </p:blipFill>
        <p:spPr bwMode="auto">
          <a:xfrm>
            <a:off x="251520" y="188640"/>
            <a:ext cx="8712968" cy="6336704"/>
          </a:xfrm>
          <a:prstGeom prst="rect">
            <a:avLst/>
          </a:prstGeom>
          <a:noFill/>
          <a:ln w="12700">
            <a:noFill/>
            <a:miter lim="800000"/>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6948264" y="1340768"/>
            <a:ext cx="1440976" cy="816120"/>
          </a:xfrm>
          <a:prstGeom prst="rect">
            <a:avLst/>
          </a:prstGeom>
          <a:ln>
            <a:noFill/>
          </a:ln>
        </p:spPr>
        <p:txBody>
          <a:bodyPr vert="horz" lIns="0" tIns="0" rIns="0" bIns="0" anchor="b">
            <a:noAutofit/>
            <a:scene3d>
              <a:camera prst="orthographicFront"/>
              <a:lightRig rig="freezing" dir="t">
                <a:rot lat="0" lon="0" rev="5640000"/>
              </a:lightRig>
            </a:scene3d>
            <a:sp3d prstMaterial="flat">
              <a:bevelT w="38100" h="38100"/>
            </a:sp3d>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s-AR" sz="3200" b="1" i="0" u="none" strike="noStrike" kern="1200" cap="none" spc="0" normalizeH="0" baseline="0" noProof="0" dirty="0">
                <a:ln w="635">
                  <a:noFill/>
                </a:ln>
                <a:solidFill>
                  <a:schemeClr val="accent4">
                    <a:tint val="90000"/>
                    <a:satMod val="125000"/>
                  </a:schemeClr>
                </a:solidFill>
                <a:effectLst>
                  <a:outerShdw blurRad="38100" dist="25400" dir="5400000" algn="tl" rotWithShape="0">
                    <a:srgbClr val="000000">
                      <a:alpha val="43000"/>
                    </a:srgbClr>
                  </a:outerShdw>
                </a:effectLst>
                <a:uLnTx/>
                <a:uFillTx/>
                <a:latin typeface="+mj-lt"/>
                <a:ea typeface="+mj-ea"/>
                <a:cs typeface="+mj-cs"/>
              </a:rPr>
              <a:t>Paso-3:</a:t>
            </a:r>
          </a:p>
        </p:txBody>
      </p:sp>
      <p:pic>
        <p:nvPicPr>
          <p:cNvPr id="5" name="Picture 2"/>
          <p:cNvPicPr>
            <a:picLocks noChangeAspect="1" noChangeArrowheads="1"/>
          </p:cNvPicPr>
          <p:nvPr/>
        </p:nvPicPr>
        <p:blipFill>
          <a:blip r:embed="rId2" cstate="print"/>
          <a:srcRect/>
          <a:stretch>
            <a:fillRect/>
          </a:stretch>
        </p:blipFill>
        <p:spPr bwMode="auto">
          <a:xfrm>
            <a:off x="251520" y="260648"/>
            <a:ext cx="8759552" cy="6408712"/>
          </a:xfrm>
          <a:prstGeom prst="rect">
            <a:avLst/>
          </a:prstGeom>
          <a:noFill/>
          <a:ln w="12700">
            <a:noFill/>
            <a:miter lim="800000"/>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539552" y="404664"/>
            <a:ext cx="8226720" cy="1431512"/>
          </a:xfrm>
          <a:ln/>
        </p:spPr>
        <p:txBody>
          <a:bodyPr>
            <a:normAutofit/>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effectLst/>
              </a:rPr>
              <a:t>SEGURIDAD DEL COMERCIO ELECTRONICO . DERECHO DEL CONSUMIDOR </a:t>
            </a:r>
          </a:p>
        </p:txBody>
      </p:sp>
      <p:sp>
        <p:nvSpPr>
          <p:cNvPr id="15362" name="Rectangle 2"/>
          <p:cNvSpPr>
            <a:spLocks noGrp="1" noChangeArrowheads="1"/>
          </p:cNvSpPr>
          <p:nvPr>
            <p:ph type="subTitle" idx="4294967295"/>
          </p:nvPr>
        </p:nvSpPr>
        <p:spPr bwMode="auto">
          <a:xfrm>
            <a:off x="611560" y="1125538"/>
            <a:ext cx="7865690" cy="5472112"/>
          </a:xfrm>
          <a:prstGeom prst="rect">
            <a:avLst/>
          </a:prstGeom>
          <a:noFill/>
          <a:ln/>
        </p:spPr>
        <p:txBody>
          <a:bodyPr lIns="0" tIns="0" rIns="0" bIns="0" anchor="ctr">
            <a:normAutofit/>
          </a:bodyPr>
          <a:lstStyle/>
          <a:p>
            <a:pPr marL="0" indent="0" algn="ctr">
              <a:spcAft>
                <a:spcPts val="1282"/>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dirty="0"/>
              <a:t>En abril de 1985 la Asamblea de Naciones Unidas dictó una serie de directrices para protección del consumidor, que a la fecha ha sido incorporada en casi todos los países del mundo. En la Argentina la </a:t>
            </a:r>
            <a:r>
              <a:rPr lang="es-ES" b="1" dirty="0"/>
              <a:t>Defensa del Consumidor</a:t>
            </a:r>
            <a:r>
              <a:rPr lang="es-ES" dirty="0"/>
              <a:t> está contemplada en la </a:t>
            </a:r>
            <a:r>
              <a:rPr lang="es-ES" b="1" dirty="0"/>
              <a:t>ley 24.240 y modificatoria 24.990</a:t>
            </a:r>
            <a:r>
              <a:rPr lang="es-ES" dirty="0"/>
              <a:t>. </a:t>
            </a:r>
            <a:br>
              <a:rPr lang="es-ES" dirty="0"/>
            </a:br>
            <a:endParaRPr lang="es-ES"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908720"/>
            <a:ext cx="8225280" cy="5243604"/>
          </a:xfrm>
        </p:spPr>
        <p:txBody>
          <a:bodyPr>
            <a:noAutofit/>
          </a:bodyPr>
          <a:lstStyle/>
          <a:p>
            <a:r>
              <a:rPr lang="es-ES" sz="2800" b="0" dirty="0">
                <a:solidFill>
                  <a:schemeClr val="tx1"/>
                </a:solidFill>
                <a:latin typeface="+mn-lt"/>
              </a:rPr>
              <a:t>Al adquirente por Internet se le debe garantizar cuatro derechos básicos de los consumidores: </a:t>
            </a:r>
            <a:r>
              <a:rPr lang="es-ES" sz="2800" b="0" dirty="0">
                <a:solidFill>
                  <a:srgbClr val="FF0000"/>
                </a:solidFill>
                <a:latin typeface="+mn-lt"/>
              </a:rPr>
              <a:t>el derecho a la seguridad, el derecho a ser informado, el derecho a elegir y el derecho a ser escuchado</a:t>
            </a:r>
            <a:r>
              <a:rPr lang="es-ES" sz="2800" b="0" dirty="0">
                <a:solidFill>
                  <a:schemeClr val="tx1"/>
                </a:solidFill>
                <a:latin typeface="+mn-lt"/>
              </a:rPr>
              <a:t>, aceptando que la distancia y la modalidad de compra no violará los intereses y las necesidades básicas para asegurar el bienestar del comprador, asegurándole la responsabilidad civil del proveedor por los daños del producto defectuoso y los que serán resarcibles. </a:t>
            </a:r>
            <a:br>
              <a:rPr lang="es-ES" sz="2800" b="0" dirty="0">
                <a:solidFill>
                  <a:schemeClr val="tx1"/>
                </a:solidFill>
                <a:latin typeface="+mn-lt"/>
              </a:rPr>
            </a:br>
            <a:endParaRPr lang="es-AR" sz="2800" b="0" dirty="0">
              <a:solidFill>
                <a:schemeClr val="tx1"/>
              </a:solidFill>
              <a:latin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xfrm>
            <a:off x="467544" y="836712"/>
            <a:ext cx="8226720" cy="1232769"/>
          </a:xfrm>
          <a:ln/>
        </p:spPr>
        <p:txBody>
          <a:bodyPr>
            <a:normAutofit fontScale="90000"/>
          </a:bodyPr>
          <a:lstStyle/>
          <a:p>
            <a:pPr>
              <a:tabLst>
                <a:tab pos="0"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t>ANTEPROYECTO DE LEY  FORMATO DIGITAL DE LOS ACTOS JURÍDICOS. COMERCIO ELECTRONICO.</a:t>
            </a:r>
          </a:p>
        </p:txBody>
      </p:sp>
      <p:sp>
        <p:nvSpPr>
          <p:cNvPr id="16386" name="Rectangle 2"/>
          <p:cNvSpPr>
            <a:spLocks noGrp="1" noChangeArrowheads="1"/>
          </p:cNvSpPr>
          <p:nvPr>
            <p:ph type="subTitle" idx="4294967295"/>
          </p:nvPr>
        </p:nvSpPr>
        <p:spPr bwMode="auto">
          <a:xfrm>
            <a:off x="467544" y="1616075"/>
            <a:ext cx="8043862" cy="5241925"/>
          </a:xfrm>
          <a:prstGeom prst="rect">
            <a:avLst/>
          </a:prstGeom>
          <a:noFill/>
          <a:ln/>
        </p:spPr>
        <p:txBody>
          <a:bodyPr lIns="0" tIns="0" rIns="0" bIns="0" anchor="ctr">
            <a:normAutofit/>
          </a:bodyPr>
          <a:lstStyle/>
          <a:p>
            <a:pPr marL="0" indent="0" algn="ctr">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dirty="0"/>
              <a:t>Argentina cuenta con un Anteproyecto de Ley de Formato Digital de los Actos Jurídicos y Comercio Electrónico elaborado por la Subsecretaría de Relaciones Institucionales de la Jefatura del Gabinete de Ministros. Entre los principios rectores del Anteproyecto se tiende a </a:t>
            </a:r>
            <a:r>
              <a:rPr lang="es-ES" sz="2400" u="sng" dirty="0"/>
              <a:t>promover</a:t>
            </a:r>
            <a:r>
              <a:rPr lang="es-ES" sz="2400" dirty="0"/>
              <a:t> la compatibilidad con el marco jurídico internacional a fin de </a:t>
            </a:r>
            <a:r>
              <a:rPr lang="es-ES" sz="2400" u="sng" dirty="0"/>
              <a:t>que la Argentina se inserte en el mercado mundial del comercio electrónico</a:t>
            </a:r>
            <a:r>
              <a:rPr lang="es-ES" sz="2400" dirty="0"/>
              <a:t>. </a:t>
            </a:r>
            <a:br>
              <a:rPr lang="es-ES" sz="2400" dirty="0"/>
            </a:br>
            <a:endParaRPr lang="es-ES" sz="2400" dirty="0"/>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2564904"/>
            <a:ext cx="8225280" cy="3672408"/>
          </a:xfrm>
        </p:spPr>
        <p:txBody>
          <a:bodyPr>
            <a:noAutofit/>
          </a:bodyPr>
          <a:lstStyle/>
          <a:p>
            <a:pPr marL="0" indent="0">
              <a:spcAft>
                <a:spcPct val="0"/>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400" b="0" dirty="0">
                <a:solidFill>
                  <a:schemeClr val="tx1"/>
                </a:solidFill>
                <a:effectLst/>
              </a:rPr>
              <a:t>Con relación a las garantías del comercio electrónico, el anteproyecto </a:t>
            </a:r>
            <a:r>
              <a:rPr lang="es-ES" sz="2400" b="0" u="sng" dirty="0">
                <a:solidFill>
                  <a:schemeClr val="tx1"/>
                </a:solidFill>
                <a:effectLst/>
              </a:rPr>
              <a:t>establece normas especiales en materia de defensa del consumidor, lealtad comercial y defensa de la competencia</a:t>
            </a:r>
            <a:r>
              <a:rPr lang="es-ES" sz="2400" b="0" dirty="0">
                <a:solidFill>
                  <a:schemeClr val="tx1"/>
                </a:solidFill>
                <a:effectLst/>
              </a:rPr>
              <a:t>, las que son de aplicación plena a los actos jurídicos celebrados por documentos digitales.</a:t>
            </a:r>
            <a:br>
              <a:rPr lang="es-ES" sz="2400" b="0" dirty="0">
                <a:solidFill>
                  <a:schemeClr val="tx1"/>
                </a:solidFill>
                <a:effectLst/>
              </a:rPr>
            </a:br>
            <a:br>
              <a:rPr lang="es-ES" sz="2400" b="0" dirty="0">
                <a:solidFill>
                  <a:schemeClr val="tx1"/>
                </a:solidFill>
                <a:effectLst/>
              </a:rPr>
            </a:br>
            <a:r>
              <a:rPr lang="es-ES" sz="2400" b="0" dirty="0">
                <a:solidFill>
                  <a:schemeClr val="tx1"/>
                </a:solidFill>
                <a:effectLst/>
              </a:rPr>
              <a:t>El Anteproyecto </a:t>
            </a:r>
            <a:r>
              <a:rPr lang="es-ES" sz="2400" b="0" u="sng" dirty="0">
                <a:solidFill>
                  <a:schemeClr val="tx1"/>
                </a:solidFill>
                <a:effectLst/>
              </a:rPr>
              <a:t>asegura la neutralidad tecnológica</a:t>
            </a:r>
            <a:r>
              <a:rPr lang="es-ES" sz="2400" b="0" dirty="0">
                <a:solidFill>
                  <a:schemeClr val="tx1"/>
                </a:solidFill>
                <a:effectLst/>
              </a:rPr>
              <a:t> y garantiza la igualdad en el tratamiento jurídico del uso de las nuevas tecnologías.  El Anteproyecto argentino contempla además normas para la protección del consumidor, régimen de certificaciones y resolución de conflictos por arbitraje. </a:t>
            </a:r>
            <a:br>
              <a:rPr lang="es-ES" sz="2400" b="0" dirty="0">
                <a:solidFill>
                  <a:schemeClr val="tx1"/>
                </a:solidFill>
                <a:effectLst/>
              </a:rPr>
            </a:br>
            <a:endParaRPr lang="es-AR" sz="2400" b="0" dirty="0">
              <a:solidFill>
                <a:schemeClr val="tx1"/>
              </a:solidFill>
              <a:effectLs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ext Box 1"/>
          <p:cNvSpPr txBox="1">
            <a:spLocks noChangeArrowheads="1"/>
          </p:cNvSpPr>
          <p:nvPr/>
        </p:nvSpPr>
        <p:spPr bwMode="auto">
          <a:xfrm>
            <a:off x="456481" y="273629"/>
            <a:ext cx="8226720" cy="5629551"/>
          </a:xfrm>
          <a:prstGeom prst="rect">
            <a:avLst/>
          </a:prstGeom>
          <a:noFill/>
          <a:ln w="9525">
            <a:noFill/>
            <a:round/>
            <a:headEnd/>
            <a:tailEnd/>
          </a:ln>
          <a:effectLst/>
        </p:spPr>
        <p:txBody>
          <a:bodyPr lIns="0" tIns="0" rIns="0" bIns="0" anchor="ctr"/>
          <a:lstStyle/>
          <a:p>
            <a:pPr algn="ctr">
              <a:spcAft>
                <a:spcPts val="1282"/>
              </a:spcAft>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solidFill>
                  <a:srgbClr val="000000"/>
                </a:solidFill>
                <a:ea typeface="Microsoft YaHei" charset="0"/>
                <a:cs typeface="Microsoft YaHei" charset="0"/>
              </a:rPr>
              <a:t>Extracción del anteproyecto de ley:</a:t>
            </a:r>
          </a:p>
          <a:p>
            <a:pPr algn="ctr">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solidFill>
                  <a:srgbClr val="000000"/>
                </a:solidFill>
                <a:ea typeface="Microsoft YaHei" charset="0"/>
                <a:cs typeface="Microsoft YaHei" charset="0"/>
              </a:rPr>
              <a:t>CAPITULO VI</a:t>
            </a:r>
          </a:p>
          <a:p>
            <a:pPr algn="ctr">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s-ES" sz="2900" dirty="0">
              <a:solidFill>
                <a:srgbClr val="000000"/>
              </a:solidFill>
              <a:ea typeface="Microsoft YaHei" charset="0"/>
              <a:cs typeface="Microsoft YaHei" charset="0"/>
            </a:endParaRPr>
          </a:p>
          <a:p>
            <a:pPr algn="ctr">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solidFill>
                  <a:srgbClr val="000000"/>
                </a:solidFill>
                <a:ea typeface="Microsoft YaHei" charset="0"/>
                <a:cs typeface="Microsoft YaHei" charset="0"/>
              </a:rPr>
              <a:t>DE LA PROTECCION AL CONSUMIDOR O USUARIO</a:t>
            </a:r>
          </a:p>
          <a:p>
            <a:pPr algn="ctr">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endParaRPr lang="es-ES" sz="2900" dirty="0">
              <a:solidFill>
                <a:srgbClr val="000000"/>
              </a:solidFill>
              <a:ea typeface="Microsoft YaHei" charset="0"/>
              <a:cs typeface="Microsoft YaHei" charset="0"/>
            </a:endParaRPr>
          </a:p>
          <a:p>
            <a:pPr algn="ctr">
              <a:tabLst>
                <a:tab pos="311045" algn="l"/>
                <a:tab pos="406086" algn="l"/>
                <a:tab pos="813612" algn="l"/>
                <a:tab pos="1221138" algn="l"/>
                <a:tab pos="1628664" algn="l"/>
                <a:tab pos="2036190" algn="l"/>
                <a:tab pos="2443717" algn="l"/>
                <a:tab pos="2851242" algn="l"/>
                <a:tab pos="3258769" algn="l"/>
                <a:tab pos="3666294" algn="l"/>
                <a:tab pos="4073821" algn="l"/>
                <a:tab pos="4481346" algn="l"/>
                <a:tab pos="4888873" algn="l"/>
                <a:tab pos="5296398" algn="l"/>
                <a:tab pos="5703925" algn="l"/>
                <a:tab pos="6111450" algn="l"/>
                <a:tab pos="6518977" algn="l"/>
                <a:tab pos="6926502" algn="l"/>
                <a:tab pos="7334029" algn="l"/>
                <a:tab pos="7741554" algn="l"/>
                <a:tab pos="8149081" algn="l"/>
              </a:tabLst>
            </a:pPr>
            <a:r>
              <a:rPr lang="es-ES" sz="2900" dirty="0">
                <a:solidFill>
                  <a:srgbClr val="000000"/>
                </a:solidFill>
                <a:ea typeface="Microsoft YaHei" charset="0"/>
                <a:cs typeface="Microsoft YaHei" charset="0"/>
              </a:rPr>
              <a:t>ARTICULO 40°: General. Las normas generales y especiales de defensa del consumidor, lealtad comercial y defensa de la competencia son de aplicación plena a los actos jurídicos celebrados por medio de documentos digitales.”</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o">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o">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o">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1_Aspecto">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o">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Aspecto">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452</TotalTime>
  <Words>2698</Words>
  <Application>Microsoft Macintosh PowerPoint</Application>
  <PresentationFormat>Presentación en pantalla (4:3)</PresentationFormat>
  <Paragraphs>157</Paragraphs>
  <Slides>50</Slides>
  <Notes>7</Notes>
  <HiddenSlides>0</HiddenSlides>
  <MMClips>0</MMClips>
  <ScaleCrop>false</ScaleCrop>
  <HeadingPairs>
    <vt:vector size="8" baseType="variant">
      <vt:variant>
        <vt:lpstr>Fuentes usadas</vt:lpstr>
      </vt:variant>
      <vt:variant>
        <vt:i4>6</vt:i4>
      </vt:variant>
      <vt:variant>
        <vt:lpstr>Tema</vt:lpstr>
      </vt:variant>
      <vt:variant>
        <vt:i4>2</vt:i4>
      </vt:variant>
      <vt:variant>
        <vt:lpstr>Servidores OLE incrustados</vt:lpstr>
      </vt:variant>
      <vt:variant>
        <vt:i4>1</vt:i4>
      </vt:variant>
      <vt:variant>
        <vt:lpstr>Títulos de diapositiva</vt:lpstr>
      </vt:variant>
      <vt:variant>
        <vt:i4>50</vt:i4>
      </vt:variant>
    </vt:vector>
  </HeadingPairs>
  <TitlesOfParts>
    <vt:vector size="59" baseType="lpstr">
      <vt:lpstr>Arial Unicode MS</vt:lpstr>
      <vt:lpstr>Microsoft YaHei</vt:lpstr>
      <vt:lpstr>Arial</vt:lpstr>
      <vt:lpstr>Calibri</vt:lpstr>
      <vt:lpstr>Verdana</vt:lpstr>
      <vt:lpstr>Wingdings 2</vt:lpstr>
      <vt:lpstr>Aspecto</vt:lpstr>
      <vt:lpstr>1_Aspecto</vt:lpstr>
      <vt:lpstr>Imagen</vt:lpstr>
      <vt:lpstr>Carta de un TUP a otro: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Scitala  Romana</vt:lpstr>
      <vt:lpstr>“Algoritmos de encriptación”</vt:lpstr>
      <vt:lpstr>Criptografía asimétrica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Procesamiento de la Firma Digital</vt:lpstr>
      <vt:lpstr>Presentación de PowerPoint</vt:lpstr>
      <vt:lpstr>Procesamiento de la Firma Digital</vt:lpstr>
      <vt:lpstr>Certificados de Seguridad Electrónicos</vt:lpstr>
      <vt:lpstr>Presentación de PowerPoint</vt:lpstr>
      <vt:lpstr>Utilidades del Certificado de Seguridad Electrónico</vt:lpstr>
      <vt:lpstr>El certificado sirve para codificar una comunicación entre dos personas, haciendo que toda la información transmitida sea confidencial.  Seguridad entre las partes: permite verificar que las partes intervinientes en una contratación son quienes dicen ser. Firma de software. El certificado digital es utilizado para firmar software. Permite identificar si el software es original y quien es su desarrollador.</vt:lpstr>
      <vt:lpstr>Clases de Certificados </vt:lpstr>
      <vt:lpstr>Servicios de Certificación</vt:lpstr>
      <vt:lpstr>Certificados de Clave Publica</vt:lpstr>
      <vt:lpstr>Presentación de PowerPoint</vt:lpstr>
      <vt:lpstr>Como obtener un Certificado Digital</vt:lpstr>
      <vt:lpstr>Presentación de PowerPoint</vt:lpstr>
      <vt:lpstr>Como Comprobar si el Remitente es quien dice ser:</vt:lpstr>
      <vt:lpstr>Presentación de PowerPoint</vt:lpstr>
      <vt:lpstr>Presentación de PowerPoint</vt:lpstr>
      <vt:lpstr>Presentación de PowerPoint</vt:lpstr>
      <vt:lpstr>SEGURIDAD DEL COMERCIO ELECTRONICO . DERECHO DEL CONSUMIDOR </vt:lpstr>
      <vt:lpstr>Al adquirente por Internet se le debe garantizar cuatro derechos básicos de los consumidores: el derecho a la seguridad, el derecho a ser informado, el derecho a elegir y el derecho a ser escuchado, aceptando que la distancia y la modalidad de compra no violará los intereses y las necesidades básicas para asegurar el bienestar del comprador, asegurándole la responsabilidad civil del proveedor por los daños del producto defectuoso y los que serán resarcibles.  </vt:lpstr>
      <vt:lpstr>ANTEPROYECTO DE LEY  FORMATO DIGITAL DE LOS ACTOS JURÍDICOS. COMERCIO ELECTRONICO.</vt:lpstr>
      <vt:lpstr>Con relación a las garantías del comercio electrónico, el anteproyecto establece normas especiales en materia de defensa del consumidor, lealtad comercial y defensa de la competencia, las que son de aplicación plena a los actos jurídicos celebrados por documentos digitales.  El Anteproyecto asegura la neutralidad tecnológica y garantiza la igualdad en el tratamiento jurídico del uso de las nuevas tecnologías.  El Anteproyecto argentino contempla además normas para la protección del consumidor, régimen de certificaciones y resolución de conflictos por arbitraje.  </vt:lpstr>
      <vt:lpstr>Presentación de PowerPoint</vt:lpstr>
    </vt:vector>
  </TitlesOfParts>
  <Company>Hewlett-Packard</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Silvia</dc:creator>
  <cp:lastModifiedBy>Diego Sebastián Gutiérrez</cp:lastModifiedBy>
  <cp:revision>18</cp:revision>
  <dcterms:created xsi:type="dcterms:W3CDTF">2014-09-10T13:09:51Z</dcterms:created>
  <dcterms:modified xsi:type="dcterms:W3CDTF">2025-09-22T14:46:14Z</dcterms:modified>
</cp:coreProperties>
</file>