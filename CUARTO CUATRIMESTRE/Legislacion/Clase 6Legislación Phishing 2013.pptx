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0" r:id="rId1"/>
  </p:sldMasterIdLst>
  <p:notesMasterIdLst>
    <p:notesMasterId r:id="rId39"/>
  </p:notesMasterIdLst>
  <p:sldIdLst>
    <p:sldId id="258" r:id="rId2"/>
    <p:sldId id="300" r:id="rId3"/>
    <p:sldId id="305" r:id="rId4"/>
    <p:sldId id="306" r:id="rId5"/>
    <p:sldId id="264" r:id="rId6"/>
    <p:sldId id="265" r:id="rId7"/>
    <p:sldId id="303" r:id="rId8"/>
    <p:sldId id="272" r:id="rId9"/>
    <p:sldId id="309" r:id="rId10"/>
    <p:sldId id="307" r:id="rId11"/>
    <p:sldId id="316" r:id="rId12"/>
    <p:sldId id="308" r:id="rId13"/>
    <p:sldId id="279" r:id="rId14"/>
    <p:sldId id="280" r:id="rId15"/>
    <p:sldId id="310" r:id="rId16"/>
    <p:sldId id="281" r:id="rId17"/>
    <p:sldId id="311" r:id="rId18"/>
    <p:sldId id="282" r:id="rId19"/>
    <p:sldId id="283" r:id="rId20"/>
    <p:sldId id="284" r:id="rId21"/>
    <p:sldId id="285" r:id="rId22"/>
    <p:sldId id="315" r:id="rId23"/>
    <p:sldId id="286" r:id="rId24"/>
    <p:sldId id="312" r:id="rId25"/>
    <p:sldId id="275" r:id="rId26"/>
    <p:sldId id="276" r:id="rId27"/>
    <p:sldId id="313" r:id="rId28"/>
    <p:sldId id="278" r:id="rId29"/>
    <p:sldId id="314" r:id="rId30"/>
    <p:sldId id="287" r:id="rId31"/>
    <p:sldId id="302" r:id="rId32"/>
    <p:sldId id="290" r:id="rId33"/>
    <p:sldId id="291" r:id="rId34"/>
    <p:sldId id="292" r:id="rId35"/>
    <p:sldId id="293" r:id="rId36"/>
    <p:sldId id="294" r:id="rId37"/>
    <p:sldId id="295" r:id="rId38"/>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94" autoAdjust="0"/>
    <p:restoredTop sz="97359" autoAdjust="0"/>
  </p:normalViewPr>
  <p:slideViewPr>
    <p:cSldViewPr>
      <p:cViewPr>
        <p:scale>
          <a:sx n="72" d="100"/>
          <a:sy n="72" d="100"/>
        </p:scale>
        <p:origin x="-1206" y="-19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6FDEB68-1977-4FDD-A152-5EDD1DD5FDA6}" type="datetimeFigureOut">
              <a:rPr lang="es-AR" smtClean="0"/>
              <a:pPr/>
              <a:t>04/07/2016</a:t>
            </a:fld>
            <a:endParaRPr lang="es-A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FA24F83-E50D-41C4-95BC-562159F838FC}" type="slidenum">
              <a:rPr lang="es-AR" smtClean="0"/>
              <a:pPr/>
              <a:t>‹Nº›</a:t>
            </a:fld>
            <a:endParaRPr lang="es-AR"/>
          </a:p>
        </p:txBody>
      </p:sp>
    </p:spTree>
    <p:extLst>
      <p:ext uri="{BB962C8B-B14F-4D97-AF65-F5344CB8AC3E}">
        <p14:creationId xmlns:p14="http://schemas.microsoft.com/office/powerpoint/2010/main" xmlns="" val="2072643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6 Triángulo isósceles"/>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7 Título"/>
          <p:cNvSpPr>
            <a:spLocks noGrp="1"/>
          </p:cNvSpPr>
          <p:nvPr>
            <p:ph type="ctrTitle"/>
          </p:nvPr>
        </p:nvSpPr>
        <p:spPr>
          <a:xfrm>
            <a:off x="540544" y="776288"/>
            <a:ext cx="8062912" cy="1470025"/>
          </a:xfrm>
        </p:spPr>
        <p:txBody>
          <a:bodyPr anchor="b">
            <a:normAutofit/>
          </a:bodyPr>
          <a:lstStyle>
            <a:lvl1pPr algn="r">
              <a:defRPr sz="4400"/>
            </a:lvl1pPr>
          </a:lstStyle>
          <a:p>
            <a:r>
              <a:rPr kumimoji="0" lang="es-ES" smtClean="0"/>
              <a:t>Haga clic para modificar el estilo de título del patrón</a:t>
            </a:r>
            <a:endParaRPr kumimoji="0" lang="en-US"/>
          </a:p>
        </p:txBody>
      </p:sp>
      <p:sp>
        <p:nvSpPr>
          <p:cNvPr id="9" name="8 Subtítulo"/>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a:xfrm>
            <a:off x="1371600" y="6012656"/>
            <a:ext cx="5791200" cy="365125"/>
          </a:xfrm>
        </p:spPr>
        <p:txBody>
          <a:bodyPr tIns="0" bIns="0" anchor="t"/>
          <a:lstStyle>
            <a:lvl1pPr algn="r">
              <a:defRPr sz="1000"/>
            </a:lvl1pPr>
          </a:lstStyle>
          <a:p>
            <a:fld id="{CC211B84-631A-464B-BD9B-9DC3A643E948}" type="datetimeFigureOut">
              <a:rPr lang="es-AR" smtClean="0"/>
              <a:pPr/>
              <a:t>04/07/2016</a:t>
            </a:fld>
            <a:endParaRPr lang="es-AR" dirty="0"/>
          </a:p>
        </p:txBody>
      </p:sp>
      <p:sp>
        <p:nvSpPr>
          <p:cNvPr id="17" name="16 Marcador de pie de página"/>
          <p:cNvSpPr>
            <a:spLocks noGrp="1"/>
          </p:cNvSpPr>
          <p:nvPr>
            <p:ph type="ftr" sz="quarter" idx="11"/>
          </p:nvPr>
        </p:nvSpPr>
        <p:spPr>
          <a:xfrm>
            <a:off x="1371600" y="5650704"/>
            <a:ext cx="5791200" cy="365125"/>
          </a:xfrm>
        </p:spPr>
        <p:txBody>
          <a:bodyPr tIns="0" bIns="0" anchor="b"/>
          <a:lstStyle>
            <a:lvl1pPr algn="r">
              <a:defRPr sz="1100"/>
            </a:lvl1pPr>
          </a:lstStyle>
          <a:p>
            <a:endParaRPr lang="es-AR" dirty="0"/>
          </a:p>
        </p:txBody>
      </p:sp>
      <p:sp>
        <p:nvSpPr>
          <p:cNvPr id="29" name="28 Marcador de número de diapositiva"/>
          <p:cNvSpPr>
            <a:spLocks noGrp="1"/>
          </p:cNvSpPr>
          <p:nvPr>
            <p:ph type="sldNum" sz="quarter" idx="12"/>
          </p:nvPr>
        </p:nvSpPr>
        <p:spPr>
          <a:xfrm>
            <a:off x="8392247" y="5752307"/>
            <a:ext cx="502920" cy="365125"/>
          </a:xfrm>
        </p:spPr>
        <p:txBody>
          <a:bodyPr anchor="ctr"/>
          <a:lstStyle>
            <a:lvl1pPr algn="ctr">
              <a:defRPr sz="1300">
                <a:solidFill>
                  <a:srgbClr val="FFFFFF"/>
                </a:solidFill>
              </a:defRPr>
            </a:lvl1pPr>
          </a:lstStyle>
          <a:p>
            <a:fld id="{2321CCF7-CC2D-4469-A9AF-038D032289E5}" type="slidenum">
              <a:rPr lang="es-AR" smtClean="0"/>
              <a:pPr/>
              <a:t>‹Nº›</a:t>
            </a:fld>
            <a:endParaRPr lang="es-A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229600" cy="1399032"/>
          </a:xfrm>
        </p:spPr>
        <p:txBody>
          <a:bodyPr/>
          <a:lstStyle/>
          <a:p>
            <a:r>
              <a:rPr kumimoji="0" lang="es-ES" smtClean="0"/>
              <a:t>Haga clic para modificar el estilo de título del patrón</a:t>
            </a:r>
            <a:endParaRPr kumimoji="0" lang="en-US"/>
          </a:p>
        </p:txBody>
      </p:sp>
      <p:sp>
        <p:nvSpPr>
          <p:cNvPr id="3" name="2 Marcador de contenido"/>
          <p:cNvSpPr>
            <a:spLocks noGrp="1"/>
          </p:cNvSpPr>
          <p:nvPr>
            <p:ph idx="1"/>
          </p:nvPr>
        </p:nvSpPr>
        <p:spPr>
          <a:xfrm>
            <a:off x="457200" y="1882808"/>
            <a:ext cx="8229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a:xfrm>
            <a:off x="4791456" y="6480048"/>
            <a:ext cx="2133600" cy="301752"/>
          </a:xfrm>
        </p:spPr>
        <p:txBody>
          <a:bodyPr/>
          <a:lstStyle/>
          <a:p>
            <a:fld id="{CC211B84-631A-464B-BD9B-9DC3A643E948}" type="datetimeFigureOut">
              <a:rPr lang="es-AR" smtClean="0"/>
              <a:pPr/>
              <a:t>04/07/2016</a:t>
            </a:fld>
            <a:endParaRPr lang="es-AR" dirty="0"/>
          </a:p>
        </p:txBody>
      </p:sp>
      <p:sp>
        <p:nvSpPr>
          <p:cNvPr id="5" name="4 Marcador de pie de página"/>
          <p:cNvSpPr>
            <a:spLocks noGrp="1"/>
          </p:cNvSpPr>
          <p:nvPr>
            <p:ph type="ftr" sz="quarter" idx="11"/>
          </p:nvPr>
        </p:nvSpPr>
        <p:spPr>
          <a:xfrm>
            <a:off x="457200" y="6480969"/>
            <a:ext cx="4260056" cy="300831"/>
          </a:xfrm>
        </p:spPr>
        <p:txBody>
          <a:bodyPr/>
          <a:lstStyle/>
          <a:p>
            <a:endParaRPr lang="es-AR" dirty="0"/>
          </a:p>
        </p:txBody>
      </p:sp>
      <p:sp>
        <p:nvSpPr>
          <p:cNvPr id="6" name="5 Marcador de número de diapositiva"/>
          <p:cNvSpPr>
            <a:spLocks noGrp="1"/>
          </p:cNvSpPr>
          <p:nvPr>
            <p:ph type="sldNum" sz="quarter" idx="12"/>
          </p:nvPr>
        </p:nvSpPr>
        <p:spPr/>
        <p:txBody>
          <a:bodyPr/>
          <a:lstStyle/>
          <a:p>
            <a:fld id="{2321CCF7-CC2D-4469-A9AF-038D032289E5}" type="slidenum">
              <a:rPr lang="es-AR" smtClean="0"/>
              <a:pPr/>
              <a:t>‹Nº›</a:t>
            </a:fld>
            <a:endParaRPr lang="es-A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2">
        <a:schemeClr val="bg1"/>
      </p:bgRef>
    </p:bg>
    <p:spTree>
      <p:nvGrpSpPr>
        <p:cNvPr id="1" name=""/>
        <p:cNvGrpSpPr/>
        <p:nvPr/>
      </p:nvGrpSpPr>
      <p:grpSpPr>
        <a:xfrm>
          <a:off x="0" y="0"/>
          <a:ext cx="0" cy="0"/>
          <a:chOff x="0" y="0"/>
          <a:chExt cx="0" cy="0"/>
        </a:xfrm>
      </p:grpSpPr>
      <p:sp>
        <p:nvSpPr>
          <p:cNvPr id="9" name="8 Triángulo rectángulo"/>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0" eaLnBrk="1" latinLnBrk="0" hangingPunct="1"/>
            <a:endParaRPr kumimoji="0" lang="en-US" sz="1800" kern="1200" dirty="0">
              <a:solidFill>
                <a:schemeClr val="lt1"/>
              </a:solidFill>
              <a:latin typeface="+mn-lt"/>
              <a:ea typeface="+mn-ea"/>
              <a:cs typeface="+mn-cs"/>
            </a:endParaRPr>
          </a:p>
        </p:txBody>
      </p:sp>
      <p:sp>
        <p:nvSpPr>
          <p:cNvPr id="8" name="7 Triángulo isósceles"/>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3 Marcador de fecha"/>
          <p:cNvSpPr>
            <a:spLocks noGrp="1"/>
          </p:cNvSpPr>
          <p:nvPr>
            <p:ph type="dt" sz="half" idx="10"/>
          </p:nvPr>
        </p:nvSpPr>
        <p:spPr>
          <a:xfrm>
            <a:off x="6955632" y="6477000"/>
            <a:ext cx="2133600" cy="304800"/>
          </a:xfrm>
        </p:spPr>
        <p:txBody>
          <a:bodyPr/>
          <a:lstStyle/>
          <a:p>
            <a:fld id="{CC211B84-631A-464B-BD9B-9DC3A643E948}" type="datetimeFigureOut">
              <a:rPr lang="es-AR" smtClean="0"/>
              <a:pPr/>
              <a:t>04/07/2016</a:t>
            </a:fld>
            <a:endParaRPr lang="es-AR" dirty="0"/>
          </a:p>
        </p:txBody>
      </p:sp>
      <p:sp>
        <p:nvSpPr>
          <p:cNvPr id="5" name="4 Marcador de pie de página"/>
          <p:cNvSpPr>
            <a:spLocks noGrp="1"/>
          </p:cNvSpPr>
          <p:nvPr>
            <p:ph type="ftr" sz="quarter" idx="11"/>
          </p:nvPr>
        </p:nvSpPr>
        <p:spPr>
          <a:xfrm>
            <a:off x="2619376" y="6480969"/>
            <a:ext cx="4260056" cy="300831"/>
          </a:xfrm>
        </p:spPr>
        <p:txBody>
          <a:bodyPr/>
          <a:lstStyle/>
          <a:p>
            <a:endParaRPr lang="es-AR" dirty="0"/>
          </a:p>
        </p:txBody>
      </p:sp>
      <p:sp>
        <p:nvSpPr>
          <p:cNvPr id="6" name="5 Marcador de número de diapositiva"/>
          <p:cNvSpPr>
            <a:spLocks noGrp="1"/>
          </p:cNvSpPr>
          <p:nvPr>
            <p:ph type="sldNum" sz="quarter" idx="12"/>
          </p:nvPr>
        </p:nvSpPr>
        <p:spPr>
          <a:xfrm>
            <a:off x="8451056" y="809624"/>
            <a:ext cx="502920" cy="300831"/>
          </a:xfrm>
        </p:spPr>
        <p:txBody>
          <a:bodyPr/>
          <a:lstStyle/>
          <a:p>
            <a:fld id="{2321CCF7-CC2D-4469-A9AF-038D032289E5}" type="slidenum">
              <a:rPr lang="es-AR" smtClean="0"/>
              <a:pPr/>
              <a:t>‹Nº›</a:t>
            </a:fld>
            <a:endParaRPr lang="es-AR" dirty="0"/>
          </a:p>
        </p:txBody>
      </p:sp>
      <p:cxnSp>
        <p:nvCxnSpPr>
          <p:cNvPr id="11" name="10 Conector recto"/>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9 Conector recto"/>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1 Título"/>
          <p:cNvSpPr>
            <a:spLocks noGrp="1"/>
          </p:cNvSpPr>
          <p:nvPr>
            <p:ph type="title"/>
          </p:nvPr>
        </p:nvSpPr>
        <p:spPr>
          <a:xfrm>
            <a:off x="381000" y="271464"/>
            <a:ext cx="7239000" cy="1362075"/>
          </a:xfrm>
        </p:spPr>
        <p:txBody>
          <a:bodyPr anchor="ctr"/>
          <a:lstStyle>
            <a:lvl1pPr marL="0" algn="l">
              <a:buNone/>
              <a:defRPr sz="3600" b="1" cap="none"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381000" y="1633536"/>
            <a:ext cx="3886200" cy="2286000"/>
          </a:xfrm>
        </p:spPr>
        <p:txBody>
          <a:bodyPr anchor="t"/>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marL="0" algn="l">
              <a:defRPr/>
            </a:lvl1pPr>
          </a:lstStyle>
          <a:p>
            <a:r>
              <a:rPr kumimoji="0" lang="es-ES" smtClean="0"/>
              <a:t>Haga clic para modificar el estilo de título del patrón</a:t>
            </a:r>
            <a:endParaRPr kumimoji="0" lang="en-US"/>
          </a:p>
        </p:txBody>
      </p:sp>
      <p:sp>
        <p:nvSpPr>
          <p:cNvPr id="3" name="2 Marcador de contenido"/>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a:xfrm>
            <a:off x="4791456" y="6480969"/>
            <a:ext cx="2133600" cy="301752"/>
          </a:xfrm>
        </p:spPr>
        <p:txBody>
          <a:bodyPr/>
          <a:lstStyle/>
          <a:p>
            <a:fld id="{CC211B84-631A-464B-BD9B-9DC3A643E948}" type="datetimeFigureOut">
              <a:rPr lang="es-AR" smtClean="0"/>
              <a:pPr/>
              <a:t>04/07/2016</a:t>
            </a:fld>
            <a:endParaRPr lang="es-AR" dirty="0"/>
          </a:p>
        </p:txBody>
      </p:sp>
      <p:sp>
        <p:nvSpPr>
          <p:cNvPr id="6" name="5 Marcador de pie de página"/>
          <p:cNvSpPr>
            <a:spLocks noGrp="1"/>
          </p:cNvSpPr>
          <p:nvPr>
            <p:ph type="ftr" sz="quarter" idx="11"/>
          </p:nvPr>
        </p:nvSpPr>
        <p:spPr>
          <a:xfrm>
            <a:off x="457200" y="6480969"/>
            <a:ext cx="4260056" cy="301752"/>
          </a:xfrm>
        </p:spPr>
        <p:txBody>
          <a:bodyPr/>
          <a:lstStyle/>
          <a:p>
            <a:endParaRPr lang="es-AR" dirty="0"/>
          </a:p>
        </p:txBody>
      </p:sp>
      <p:sp>
        <p:nvSpPr>
          <p:cNvPr id="7" name="6 Marcador de número de diapositiva"/>
          <p:cNvSpPr>
            <a:spLocks noGrp="1"/>
          </p:cNvSpPr>
          <p:nvPr>
            <p:ph type="sldNum" sz="quarter" idx="12"/>
          </p:nvPr>
        </p:nvSpPr>
        <p:spPr>
          <a:xfrm>
            <a:off x="7589520" y="6480969"/>
            <a:ext cx="502920" cy="301752"/>
          </a:xfrm>
        </p:spPr>
        <p:txBody>
          <a:bodyPr/>
          <a:lstStyle/>
          <a:p>
            <a:fld id="{2321CCF7-CC2D-4469-A9AF-038D032289E5}" type="slidenum">
              <a:rPr lang="es-AR" smtClean="0"/>
              <a:pPr/>
              <a:t>‹Nº›</a:t>
            </a:fld>
            <a:endParaRPr lang="es-A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2">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a:xfrm>
            <a:off x="4791456" y="6480969"/>
            <a:ext cx="2130552" cy="301752"/>
          </a:xfrm>
        </p:spPr>
        <p:txBody>
          <a:bodyPr/>
          <a:lstStyle/>
          <a:p>
            <a:fld id="{CC211B84-631A-464B-BD9B-9DC3A643E948}" type="datetimeFigureOut">
              <a:rPr lang="es-AR" smtClean="0"/>
              <a:pPr/>
              <a:t>04/07/2016</a:t>
            </a:fld>
            <a:endParaRPr lang="es-AR" dirty="0"/>
          </a:p>
        </p:txBody>
      </p:sp>
      <p:sp>
        <p:nvSpPr>
          <p:cNvPr id="8" name="7 Marcador de pie de página"/>
          <p:cNvSpPr>
            <a:spLocks noGrp="1"/>
          </p:cNvSpPr>
          <p:nvPr>
            <p:ph type="ftr" sz="quarter" idx="11"/>
          </p:nvPr>
        </p:nvSpPr>
        <p:spPr>
          <a:xfrm>
            <a:off x="457200" y="6480969"/>
            <a:ext cx="4261104" cy="301752"/>
          </a:xfrm>
        </p:spPr>
        <p:txBody>
          <a:bodyPr/>
          <a:lstStyle/>
          <a:p>
            <a:endParaRPr lang="es-AR" dirty="0"/>
          </a:p>
        </p:txBody>
      </p:sp>
      <p:sp>
        <p:nvSpPr>
          <p:cNvPr id="9" name="8 Marcador de número de diapositiva"/>
          <p:cNvSpPr>
            <a:spLocks noGrp="1"/>
          </p:cNvSpPr>
          <p:nvPr>
            <p:ph type="sldNum" sz="quarter" idx="12"/>
          </p:nvPr>
        </p:nvSpPr>
        <p:spPr>
          <a:xfrm>
            <a:off x="7589520" y="6483096"/>
            <a:ext cx="502920" cy="301752"/>
          </a:xfrm>
        </p:spPr>
        <p:txBody>
          <a:bodyPr/>
          <a:lstStyle>
            <a:lvl1pPr algn="ctr">
              <a:defRPr/>
            </a:lvl1pPr>
          </a:lstStyle>
          <a:p>
            <a:fld id="{2321CCF7-CC2D-4469-A9AF-038D032289E5}" type="slidenum">
              <a:rPr lang="es-AR" smtClean="0"/>
              <a:pPr/>
              <a:t>‹Nº›</a:t>
            </a:fld>
            <a:endParaRPr lang="es-AR" dirty="0"/>
          </a:p>
        </p:txBody>
      </p:sp>
    </p:spTree>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b="0"/>
            </a:lvl1p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CC211B84-631A-464B-BD9B-9DC3A643E948}" type="datetimeFigureOut">
              <a:rPr lang="es-AR" smtClean="0"/>
              <a:pPr/>
              <a:t>04/07/2016</a:t>
            </a:fld>
            <a:endParaRPr lang="es-AR" dirty="0"/>
          </a:p>
        </p:txBody>
      </p:sp>
      <p:sp>
        <p:nvSpPr>
          <p:cNvPr id="4" name="3 Marcador de pie de página"/>
          <p:cNvSpPr>
            <a:spLocks noGrp="1"/>
          </p:cNvSpPr>
          <p:nvPr>
            <p:ph type="ftr" sz="quarter" idx="11"/>
          </p:nvPr>
        </p:nvSpPr>
        <p:spPr/>
        <p:txBody>
          <a:bodyPr/>
          <a:lstStyle/>
          <a:p>
            <a:endParaRPr lang="es-AR" dirty="0"/>
          </a:p>
        </p:txBody>
      </p:sp>
      <p:sp>
        <p:nvSpPr>
          <p:cNvPr id="5" name="4 Marcador de número de diapositiva"/>
          <p:cNvSpPr>
            <a:spLocks noGrp="1"/>
          </p:cNvSpPr>
          <p:nvPr>
            <p:ph type="sldNum" sz="quarter" idx="12"/>
          </p:nvPr>
        </p:nvSpPr>
        <p:spPr/>
        <p:txBody>
          <a:bodyPr/>
          <a:lstStyle/>
          <a:p>
            <a:fld id="{2321CCF7-CC2D-4469-A9AF-038D032289E5}" type="slidenum">
              <a:rPr lang="es-AR" smtClean="0"/>
              <a:pPr/>
              <a:t>‹Nº›</a:t>
            </a:fld>
            <a:endParaRPr lang="es-A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a:xfrm>
            <a:off x="4791456" y="6480969"/>
            <a:ext cx="2133600" cy="301752"/>
          </a:xfrm>
        </p:spPr>
        <p:txBody>
          <a:bodyPr/>
          <a:lstStyle/>
          <a:p>
            <a:fld id="{CC211B84-631A-464B-BD9B-9DC3A643E948}" type="datetimeFigureOut">
              <a:rPr lang="es-AR" smtClean="0"/>
              <a:pPr/>
              <a:t>04/07/2016</a:t>
            </a:fld>
            <a:endParaRPr lang="es-AR" dirty="0"/>
          </a:p>
        </p:txBody>
      </p:sp>
      <p:sp>
        <p:nvSpPr>
          <p:cNvPr id="3" name="2 Marcador de pie de página"/>
          <p:cNvSpPr>
            <a:spLocks noGrp="1"/>
          </p:cNvSpPr>
          <p:nvPr>
            <p:ph type="ftr" sz="quarter" idx="11"/>
          </p:nvPr>
        </p:nvSpPr>
        <p:spPr>
          <a:xfrm>
            <a:off x="457200" y="6481890"/>
            <a:ext cx="4260056" cy="300831"/>
          </a:xfrm>
        </p:spPr>
        <p:txBody>
          <a:bodyPr/>
          <a:lstStyle/>
          <a:p>
            <a:endParaRPr lang="es-AR" dirty="0"/>
          </a:p>
        </p:txBody>
      </p:sp>
      <p:sp>
        <p:nvSpPr>
          <p:cNvPr id="4" name="3 Marcador de número de diapositiva"/>
          <p:cNvSpPr>
            <a:spLocks noGrp="1"/>
          </p:cNvSpPr>
          <p:nvPr>
            <p:ph type="sldNum" sz="quarter" idx="12"/>
          </p:nvPr>
        </p:nvSpPr>
        <p:spPr>
          <a:xfrm>
            <a:off x="7589520" y="6480969"/>
            <a:ext cx="502920" cy="301752"/>
          </a:xfrm>
        </p:spPr>
        <p:txBody>
          <a:bodyPr/>
          <a:lstStyle/>
          <a:p>
            <a:fld id="{2321CCF7-CC2D-4469-A9AF-038D032289E5}" type="slidenum">
              <a:rPr lang="es-AR" smtClean="0"/>
              <a:pPr/>
              <a:t>‹Nº›</a:t>
            </a:fld>
            <a:endParaRPr lang="es-A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2">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1135856" y="367664"/>
            <a:ext cx="2438400" cy="5943600"/>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a:xfrm>
            <a:off x="6278976" y="6556248"/>
            <a:ext cx="2133600" cy="301752"/>
          </a:xfrm>
        </p:spPr>
        <p:txBody>
          <a:bodyPr/>
          <a:lstStyle>
            <a:lvl1pPr>
              <a:defRPr sz="900"/>
            </a:lvl1pPr>
          </a:lstStyle>
          <a:p>
            <a:fld id="{CC211B84-631A-464B-BD9B-9DC3A643E948}" type="datetimeFigureOut">
              <a:rPr lang="es-AR" smtClean="0"/>
              <a:pPr/>
              <a:t>04/07/2016</a:t>
            </a:fld>
            <a:endParaRPr lang="es-AR" dirty="0"/>
          </a:p>
        </p:txBody>
      </p:sp>
      <p:sp>
        <p:nvSpPr>
          <p:cNvPr id="6" name="5 Marcador de pie de página"/>
          <p:cNvSpPr>
            <a:spLocks noGrp="1"/>
          </p:cNvSpPr>
          <p:nvPr>
            <p:ph type="ftr" sz="quarter" idx="11"/>
          </p:nvPr>
        </p:nvSpPr>
        <p:spPr>
          <a:xfrm>
            <a:off x="1135856" y="6556248"/>
            <a:ext cx="5143120" cy="301752"/>
          </a:xfrm>
        </p:spPr>
        <p:txBody>
          <a:bodyPr/>
          <a:lstStyle>
            <a:lvl1pPr>
              <a:defRPr sz="900"/>
            </a:lvl1pPr>
          </a:lstStyle>
          <a:p>
            <a:endParaRPr lang="es-AR" dirty="0"/>
          </a:p>
        </p:txBody>
      </p:sp>
      <p:sp>
        <p:nvSpPr>
          <p:cNvPr id="7" name="6 Marcador de número de diapositiva"/>
          <p:cNvSpPr>
            <a:spLocks noGrp="1"/>
          </p:cNvSpPr>
          <p:nvPr>
            <p:ph type="sldNum" sz="quarter" idx="12"/>
          </p:nvPr>
        </p:nvSpPr>
        <p:spPr>
          <a:xfrm>
            <a:off x="8410576" y="6556248"/>
            <a:ext cx="502920" cy="301752"/>
          </a:xfrm>
        </p:spPr>
        <p:txBody>
          <a:bodyPr/>
          <a:lstStyle>
            <a:lvl1pPr>
              <a:defRPr sz="900"/>
            </a:lvl1pPr>
          </a:lstStyle>
          <a:p>
            <a:fld id="{2321CCF7-CC2D-4469-A9AF-038D032289E5}" type="slidenum">
              <a:rPr lang="es-AR" smtClean="0"/>
              <a:pPr/>
              <a:t>‹Nº›</a:t>
            </a:fld>
            <a:endParaRPr lang="es-AR" dirty="0"/>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19456" y="150896"/>
            <a:ext cx="914400" cy="6400800"/>
          </a:xfrm>
        </p:spPr>
        <p:txBody>
          <a:bodyPr vert="vert270" anchor="b"/>
          <a:lstStyle>
            <a:lvl1pPr marL="0" algn="l">
              <a:buNone/>
              <a:defRPr sz="3000" b="0" cap="all" baseline="0"/>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1138237" y="373966"/>
            <a:ext cx="7333488" cy="5486400"/>
          </a:xfrm>
          <a:solidFill>
            <a:schemeClr val="bg2">
              <a:shade val="50000"/>
            </a:schemeClr>
          </a:solidFill>
        </p:spPr>
        <p:txBody>
          <a:bodyPr/>
          <a:lstStyle>
            <a:lvl1pPr marL="0" indent="0">
              <a:buNone/>
              <a:defRPr sz="3200"/>
            </a:lvl1pPr>
          </a:lstStyle>
          <a:p>
            <a:r>
              <a:rPr kumimoji="0" lang="es-ES" dirty="0" smtClean="0"/>
              <a:t>Haga clic en el icono para agregar una imagen</a:t>
            </a:r>
            <a:endParaRPr kumimoji="0" lang="en-US" dirty="0"/>
          </a:p>
        </p:txBody>
      </p:sp>
      <p:sp>
        <p:nvSpPr>
          <p:cNvPr id="4" name="3 Marcador de texto"/>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a:xfrm>
            <a:off x="6108192" y="6556248"/>
            <a:ext cx="2103120" cy="301752"/>
          </a:xfrm>
        </p:spPr>
        <p:txBody>
          <a:bodyPr/>
          <a:lstStyle>
            <a:lvl1pPr>
              <a:defRPr sz="900"/>
            </a:lvl1pPr>
          </a:lstStyle>
          <a:p>
            <a:fld id="{CC211B84-631A-464B-BD9B-9DC3A643E948}" type="datetimeFigureOut">
              <a:rPr lang="es-AR" smtClean="0"/>
              <a:pPr/>
              <a:t>04/07/2016</a:t>
            </a:fld>
            <a:endParaRPr lang="es-AR" dirty="0"/>
          </a:p>
        </p:txBody>
      </p:sp>
      <p:sp>
        <p:nvSpPr>
          <p:cNvPr id="6" name="5 Marcador de pie de página"/>
          <p:cNvSpPr>
            <a:spLocks noGrp="1"/>
          </p:cNvSpPr>
          <p:nvPr>
            <p:ph type="ftr" sz="quarter" idx="11"/>
          </p:nvPr>
        </p:nvSpPr>
        <p:spPr>
          <a:xfrm>
            <a:off x="1170432" y="6557169"/>
            <a:ext cx="4948072" cy="301752"/>
          </a:xfrm>
        </p:spPr>
        <p:txBody>
          <a:bodyPr/>
          <a:lstStyle>
            <a:lvl1pPr>
              <a:defRPr sz="900"/>
            </a:lvl1pPr>
          </a:lstStyle>
          <a:p>
            <a:endParaRPr lang="es-AR" dirty="0"/>
          </a:p>
        </p:txBody>
      </p:sp>
      <p:sp>
        <p:nvSpPr>
          <p:cNvPr id="7" name="6 Marcador de número de diapositiva"/>
          <p:cNvSpPr>
            <a:spLocks noGrp="1"/>
          </p:cNvSpPr>
          <p:nvPr>
            <p:ph type="sldNum" sz="quarter" idx="12"/>
          </p:nvPr>
        </p:nvSpPr>
        <p:spPr>
          <a:xfrm>
            <a:off x="8217192" y="6556248"/>
            <a:ext cx="365760" cy="301752"/>
          </a:xfrm>
        </p:spPr>
        <p:txBody>
          <a:bodyPr/>
          <a:lstStyle>
            <a:lvl1pPr algn="ctr">
              <a:defRPr sz="900"/>
            </a:lvl1pPr>
          </a:lstStyle>
          <a:p>
            <a:fld id="{2321CCF7-CC2D-4469-A9AF-038D032289E5}" type="slidenum">
              <a:rPr lang="es-AR" smtClean="0"/>
              <a:pPr/>
              <a:t>‹Nº›</a:t>
            </a:fld>
            <a:endParaRPr lang="es-AR"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CC211B84-631A-464B-BD9B-9DC3A643E948}" type="datetimeFigureOut">
              <a:rPr lang="es-AR" smtClean="0"/>
              <a:pPr/>
              <a:t>04/07/2016</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2321CCF7-CC2D-4469-A9AF-038D032289E5}" type="slidenum">
              <a:rPr lang="es-AR" smtClean="0"/>
              <a:pPr/>
              <a:t>‹Nº›</a:t>
            </a:fld>
            <a:endParaRPr lang="es-A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781800" y="381000"/>
            <a:ext cx="1905000" cy="5486400"/>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381000"/>
            <a:ext cx="6248400" cy="5486400"/>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CC211B84-631A-464B-BD9B-9DC3A643E948}" type="datetimeFigureOut">
              <a:rPr lang="es-AR" smtClean="0"/>
              <a:pPr/>
              <a:t>04/07/2016</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2321CCF7-CC2D-4469-A9AF-038D032289E5}" type="slidenum">
              <a:rPr lang="es-AR" smtClean="0"/>
              <a:pPr/>
              <a:t>‹Nº›</a:t>
            </a:fld>
            <a:endParaRPr lang="es-A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10 Triángulo rectángulo"/>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cxnSp>
        <p:nvCxnSpPr>
          <p:cNvPr id="8" name="7 Conector recto"/>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8 Conector recto"/>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21 Marcador de título"/>
          <p:cNvSpPr>
            <a:spLocks noGrp="1"/>
          </p:cNvSpPr>
          <p:nvPr>
            <p:ph type="title"/>
          </p:nvPr>
        </p:nvSpPr>
        <p:spPr>
          <a:xfrm>
            <a:off x="457200" y="267494"/>
            <a:ext cx="8229600" cy="1399032"/>
          </a:xfrm>
          <a:prstGeom prst="rect">
            <a:avLst/>
          </a:prstGeom>
        </p:spPr>
        <p:txBody>
          <a:bodyPr vert="horz" anchor="ctr">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457200" y="1882808"/>
            <a:ext cx="8229600" cy="4572000"/>
          </a:xfrm>
          <a:prstGeom prst="rect">
            <a:avLst/>
          </a:prstGeom>
        </p:spPr>
        <p:txBody>
          <a:bodyPr vert="horz" anchor="t">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4791456" y="6480969"/>
            <a:ext cx="2133600" cy="301752"/>
          </a:xfrm>
          <a:prstGeom prst="rect">
            <a:avLst/>
          </a:prstGeom>
        </p:spPr>
        <p:txBody>
          <a:bodyPr vert="horz" anchor="b"/>
          <a:lstStyle>
            <a:lvl1pPr algn="l" eaLnBrk="1" latinLnBrk="0" hangingPunct="1">
              <a:defRPr kumimoji="0" sz="1000" b="0">
                <a:solidFill>
                  <a:schemeClr val="tx1"/>
                </a:solidFill>
              </a:defRPr>
            </a:lvl1pPr>
          </a:lstStyle>
          <a:p>
            <a:fld id="{CC211B84-631A-464B-BD9B-9DC3A643E948}" type="datetimeFigureOut">
              <a:rPr lang="es-AR" smtClean="0"/>
              <a:pPr/>
              <a:t>04/07/2016</a:t>
            </a:fld>
            <a:endParaRPr lang="es-AR" dirty="0"/>
          </a:p>
        </p:txBody>
      </p:sp>
      <p:sp>
        <p:nvSpPr>
          <p:cNvPr id="3" name="2 Marcador de pie de página"/>
          <p:cNvSpPr>
            <a:spLocks noGrp="1"/>
          </p:cNvSpPr>
          <p:nvPr>
            <p:ph type="ftr" sz="quarter" idx="3"/>
          </p:nvPr>
        </p:nvSpPr>
        <p:spPr>
          <a:xfrm>
            <a:off x="457200" y="6481890"/>
            <a:ext cx="4260056" cy="300831"/>
          </a:xfrm>
          <a:prstGeom prst="rect">
            <a:avLst/>
          </a:prstGeom>
        </p:spPr>
        <p:txBody>
          <a:bodyPr vert="horz" anchor="b"/>
          <a:lstStyle>
            <a:lvl1pPr algn="r" eaLnBrk="1" latinLnBrk="0" hangingPunct="1">
              <a:defRPr kumimoji="0" sz="1000">
                <a:solidFill>
                  <a:schemeClr val="tx1"/>
                </a:solidFill>
              </a:defRPr>
            </a:lvl1pPr>
          </a:lstStyle>
          <a:p>
            <a:endParaRPr lang="es-AR" dirty="0"/>
          </a:p>
        </p:txBody>
      </p:sp>
      <p:sp>
        <p:nvSpPr>
          <p:cNvPr id="23" name="22 Marcador de número de diapositiva"/>
          <p:cNvSpPr>
            <a:spLocks noGrp="1"/>
          </p:cNvSpPr>
          <p:nvPr>
            <p:ph type="sldNum" sz="quarter" idx="4"/>
          </p:nvPr>
        </p:nvSpPr>
        <p:spPr>
          <a:xfrm>
            <a:off x="7589520" y="6480969"/>
            <a:ext cx="502920" cy="301752"/>
          </a:xfrm>
          <a:prstGeom prst="rect">
            <a:avLst/>
          </a:prstGeom>
        </p:spPr>
        <p:txBody>
          <a:bodyPr vert="horz" anchor="b"/>
          <a:lstStyle>
            <a:lvl1pPr algn="ctr" eaLnBrk="1" latinLnBrk="0" hangingPunct="1">
              <a:defRPr kumimoji="0" sz="1200">
                <a:solidFill>
                  <a:schemeClr val="tx1"/>
                </a:solidFill>
              </a:defRPr>
            </a:lvl1pPr>
          </a:lstStyle>
          <a:p>
            <a:fld id="{2321CCF7-CC2D-4469-A9AF-038D032289E5}" type="slidenum">
              <a:rPr lang="es-AR" smtClean="0"/>
              <a:pPr/>
              <a:t>‹Nº›</a:t>
            </a:fld>
            <a:endParaRPr lang="es-AR" dirty="0"/>
          </a:p>
        </p:txBody>
      </p:sp>
    </p:spTree>
  </p:cSld>
  <p:clrMap bg1="dk1" tx1="lt1" bg2="dk2" tx2="lt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xStyles>
    <p:title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2636912"/>
            <a:ext cx="8229600" cy="1399032"/>
          </a:xfrm>
        </p:spPr>
        <p:txBody>
          <a:bodyPr>
            <a:noAutofit/>
          </a:bodyPr>
          <a:lstStyle/>
          <a:p>
            <a:pPr algn="ctr"/>
            <a:r>
              <a:rPr lang="es-AR" sz="6600" dirty="0" smtClean="0">
                <a:latin typeface="Arial Black" pitchFamily="34" charset="0"/>
              </a:rPr>
              <a:t>¿Qué es el </a:t>
            </a:r>
            <a:r>
              <a:rPr lang="es-AR" sz="6600" b="1" dirty="0" smtClean="0">
                <a:latin typeface="Arial Black" pitchFamily="34" charset="0"/>
              </a:rPr>
              <a:t>Phishing</a:t>
            </a:r>
            <a:r>
              <a:rPr lang="es-AR" sz="6600" dirty="0" smtClean="0">
                <a:latin typeface="Arial Black" pitchFamily="34" charset="0"/>
              </a:rPr>
              <a:t>?</a:t>
            </a:r>
            <a:endParaRPr lang="es-AR" sz="6600" dirty="0">
              <a:latin typeface="Arial Black" pitchFamily="34" charset="0"/>
            </a:endParaRPr>
          </a:p>
        </p:txBody>
      </p:sp>
      <p:sp>
        <p:nvSpPr>
          <p:cNvPr id="3" name="2 Marcador de contenido"/>
          <p:cNvSpPr>
            <a:spLocks noGrp="1"/>
          </p:cNvSpPr>
          <p:nvPr>
            <p:ph idx="1"/>
          </p:nvPr>
        </p:nvSpPr>
        <p:spPr>
          <a:xfrm>
            <a:off x="483704" y="6905381"/>
            <a:ext cx="8229600" cy="4572000"/>
          </a:xfrm>
        </p:spPr>
        <p:txBody>
          <a:bodyPr>
            <a:normAutofit/>
          </a:bodyPr>
          <a:lstStyle/>
          <a:p>
            <a:pPr algn="just">
              <a:buNone/>
            </a:pPr>
            <a:r>
              <a:rPr lang="es-AR" dirty="0" smtClean="0"/>
              <a:t>     </a:t>
            </a:r>
            <a:endParaRPr lang="es-AR" dirty="0"/>
          </a:p>
        </p:txBody>
      </p:sp>
    </p:spTree>
  </p:cSld>
  <p:clrMapOvr>
    <a:masterClrMapping/>
  </p:clrMapOvr>
  <p:transition>
    <p:pull dir="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6858000"/>
            <a:ext cx="8229600" cy="1399032"/>
          </a:xfrm>
        </p:spPr>
        <p:txBody>
          <a:bodyPr>
            <a:normAutofit/>
          </a:bodyPr>
          <a:lstStyle/>
          <a:p>
            <a:endParaRPr lang="es-AR" dirty="0"/>
          </a:p>
        </p:txBody>
      </p:sp>
      <p:sp>
        <p:nvSpPr>
          <p:cNvPr id="3" name="2 Marcador de contenido"/>
          <p:cNvSpPr>
            <a:spLocks noGrp="1"/>
          </p:cNvSpPr>
          <p:nvPr>
            <p:ph idx="1"/>
          </p:nvPr>
        </p:nvSpPr>
        <p:spPr>
          <a:xfrm>
            <a:off x="467544" y="620688"/>
            <a:ext cx="8229600" cy="7128792"/>
          </a:xfrm>
        </p:spPr>
        <p:txBody>
          <a:bodyPr>
            <a:normAutofit fontScale="62500" lnSpcReduction="20000"/>
          </a:bodyPr>
          <a:lstStyle/>
          <a:p>
            <a:pPr algn="just">
              <a:lnSpc>
                <a:spcPct val="170000"/>
              </a:lnSpc>
              <a:buNone/>
            </a:pPr>
            <a:r>
              <a:rPr lang="es-AR" sz="3200" dirty="0" smtClean="0"/>
              <a:t>    </a:t>
            </a:r>
            <a:r>
              <a:rPr lang="es-AR" sz="3700" dirty="0" smtClean="0"/>
              <a:t>El término phishing proviene de la palabra inglesa "fishing" (pesca), haciendo alusión al intento de hacer que los usuarios "</a:t>
            </a:r>
            <a:r>
              <a:rPr lang="es-AR" sz="3700" b="1" dirty="0" smtClean="0"/>
              <a:t>muerdan el anzuelo</a:t>
            </a:r>
            <a:r>
              <a:rPr lang="es-AR" sz="3700" dirty="0" smtClean="0"/>
              <a:t>".</a:t>
            </a:r>
          </a:p>
          <a:p>
            <a:pPr algn="just">
              <a:lnSpc>
                <a:spcPct val="170000"/>
              </a:lnSpc>
              <a:buNone/>
            </a:pPr>
            <a:r>
              <a:rPr lang="es-AR" sz="3700" dirty="0" smtClean="0"/>
              <a:t>    Phishing o suplantación de identidad se denomina a un tipo de abuso informático, que se comete mediante el uso de un tipo de ingeniería social caracterizado por intentar adquirir información confidencial de forma fraudulenta (puede ser una contraseña, información detallada sobre tarjetas de crédito, información bancaria, etc).</a:t>
            </a:r>
            <a:r>
              <a:rPr lang="es-AR" sz="3400" dirty="0" smtClean="0"/>
              <a:t> </a:t>
            </a:r>
          </a:p>
          <a:p>
            <a:pPr algn="just">
              <a:lnSpc>
                <a:spcPct val="170000"/>
              </a:lnSpc>
              <a:buNone/>
            </a:pPr>
            <a:r>
              <a:rPr lang="es-AR" sz="3200" dirty="0" smtClean="0"/>
              <a:t>     </a:t>
            </a:r>
          </a:p>
          <a:p>
            <a:pPr algn="just">
              <a:lnSpc>
                <a:spcPct val="170000"/>
              </a:lnSpc>
              <a:buNone/>
            </a:pPr>
            <a:endParaRPr lang="es-A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08520" y="548680"/>
            <a:ext cx="9491495" cy="5816218"/>
          </a:xfrm>
        </p:spPr>
      </p:pic>
    </p:spTree>
    <p:extLst>
      <p:ext uri="{BB962C8B-B14F-4D97-AF65-F5344CB8AC3E}">
        <p14:creationId xmlns:p14="http://schemas.microsoft.com/office/powerpoint/2010/main" xmlns="" val="851393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0" y="548680"/>
            <a:ext cx="9174066" cy="5904656"/>
          </a:xfrm>
        </p:spPr>
      </p:pic>
    </p:spTree>
    <p:extLst>
      <p:ext uri="{BB962C8B-B14F-4D97-AF65-F5344CB8AC3E}">
        <p14:creationId xmlns:p14="http://schemas.microsoft.com/office/powerpoint/2010/main" xmlns="" val="29534811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2564904"/>
            <a:ext cx="8229600" cy="1399032"/>
          </a:xfrm>
        </p:spPr>
        <p:txBody>
          <a:bodyPr>
            <a:noAutofit/>
          </a:bodyPr>
          <a:lstStyle/>
          <a:p>
            <a:pPr algn="ctr"/>
            <a:r>
              <a:rPr lang="es-AR" sz="6600" b="1" dirty="0" smtClean="0"/>
              <a:t>¿Qué métodos utilizan?</a:t>
            </a:r>
            <a:endParaRPr lang="es-AR" sz="6600" dirty="0"/>
          </a:p>
        </p:txBody>
      </p:sp>
      <p:sp>
        <p:nvSpPr>
          <p:cNvPr id="3" name="2 Marcador de contenido"/>
          <p:cNvSpPr>
            <a:spLocks noGrp="1"/>
          </p:cNvSpPr>
          <p:nvPr>
            <p:ph idx="1"/>
          </p:nvPr>
        </p:nvSpPr>
        <p:spPr>
          <a:xfrm>
            <a:off x="251520" y="6858000"/>
            <a:ext cx="8229600" cy="4572000"/>
          </a:xfrm>
        </p:spPr>
        <p:txBody>
          <a:bodyPr/>
          <a:lstStyle/>
          <a:p>
            <a:endParaRPr lang="es-AR" dirty="0"/>
          </a:p>
        </p:txBody>
      </p:sp>
    </p:spTree>
  </p:cSld>
  <p:clrMapOvr>
    <a:masterClrMapping/>
  </p:clrMapOvr>
  <p:transition>
    <p:pull dir="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67544" y="404664"/>
            <a:ext cx="8229600" cy="6120680"/>
          </a:xfrm>
        </p:spPr>
        <p:txBody>
          <a:bodyPr>
            <a:noAutofit/>
          </a:bodyPr>
          <a:lstStyle/>
          <a:p>
            <a:pPr algn="just">
              <a:buNone/>
            </a:pPr>
            <a:r>
              <a:rPr lang="es-AR" sz="2400" dirty="0" smtClean="0"/>
              <a:t>     Cuales son las variantes del </a:t>
            </a:r>
            <a:r>
              <a:rPr lang="es-AR" sz="2400" dirty="0" err="1" smtClean="0"/>
              <a:t>Phishing</a:t>
            </a:r>
            <a:r>
              <a:rPr lang="es-AR" sz="2400" dirty="0" smtClean="0"/>
              <a:t> :</a:t>
            </a:r>
          </a:p>
          <a:p>
            <a:pPr algn="just">
              <a:buNone/>
            </a:pPr>
            <a:endParaRPr lang="es-AR" sz="2400" dirty="0" smtClean="0"/>
          </a:p>
          <a:p>
            <a:pPr marL="578358" indent="-514350" algn="just">
              <a:buNone/>
            </a:pPr>
            <a:r>
              <a:rPr lang="es-AR" sz="2400" b="1" dirty="0" smtClean="0">
                <a:solidFill>
                  <a:schemeClr val="accent2">
                    <a:lumMod val="60000"/>
                    <a:lumOff val="40000"/>
                  </a:schemeClr>
                </a:solidFill>
                <a:effectLst>
                  <a:outerShdw blurRad="38100" dist="38100" dir="2700000" algn="tl">
                    <a:srgbClr val="000000">
                      <a:alpha val="43137"/>
                    </a:srgbClr>
                  </a:outerShdw>
                </a:effectLst>
              </a:rPr>
              <a:t>1.</a:t>
            </a:r>
            <a:r>
              <a:rPr lang="es-AR" sz="2400" dirty="0" smtClean="0"/>
              <a:t>  </a:t>
            </a:r>
            <a:r>
              <a:rPr lang="es-AR" sz="2400" b="1" dirty="0" smtClean="0"/>
              <a:t>SMS/MMS: </a:t>
            </a:r>
            <a:r>
              <a:rPr lang="es-AR" sz="2400" dirty="0" smtClean="0"/>
              <a:t>La recepción de un mensaje donde le solicitan sus datos personales.</a:t>
            </a:r>
          </a:p>
          <a:p>
            <a:pPr marL="64008" indent="0" algn="just">
              <a:buNone/>
            </a:pPr>
            <a:r>
              <a:rPr lang="es-AR" sz="2400" b="1" dirty="0">
                <a:solidFill>
                  <a:schemeClr val="accent2">
                    <a:lumMod val="60000"/>
                    <a:lumOff val="40000"/>
                  </a:schemeClr>
                </a:solidFill>
                <a:effectLst>
                  <a:outerShdw blurRad="38100" dist="38100" dir="2700000" algn="tl">
                    <a:srgbClr val="000000">
                      <a:alpha val="43137"/>
                    </a:srgbClr>
                  </a:outerShdw>
                </a:effectLst>
              </a:rPr>
              <a:t>2.</a:t>
            </a:r>
            <a:r>
              <a:rPr lang="es-AR" sz="2400" dirty="0" smtClean="0"/>
              <a:t> </a:t>
            </a:r>
            <a:r>
              <a:rPr lang="es-AR" sz="2400" b="1" dirty="0" smtClean="0"/>
              <a:t>Llamada telefónica:</a:t>
            </a:r>
            <a:r>
              <a:rPr lang="es-AR" sz="2400" dirty="0" smtClean="0"/>
              <a:t> Pueden recibir una llamada telefónica en la que el emisor suplanta a una entidad privada o pública para que usted le facilite datos privados. </a:t>
            </a:r>
          </a:p>
          <a:p>
            <a:pPr marL="64008" indent="0" algn="just">
              <a:buNone/>
            </a:pPr>
            <a:r>
              <a:rPr lang="es-AR" sz="2400" b="1" dirty="0">
                <a:solidFill>
                  <a:schemeClr val="accent2">
                    <a:lumMod val="60000"/>
                    <a:lumOff val="40000"/>
                  </a:schemeClr>
                </a:solidFill>
                <a:effectLst>
                  <a:outerShdw blurRad="38100" dist="38100" dir="2700000" algn="tl">
                    <a:srgbClr val="000000">
                      <a:alpha val="43137"/>
                    </a:srgbClr>
                  </a:outerShdw>
                </a:effectLst>
              </a:rPr>
              <a:t>3.</a:t>
            </a:r>
            <a:r>
              <a:rPr lang="es-AR" sz="2400" dirty="0"/>
              <a:t> </a:t>
            </a:r>
            <a:r>
              <a:rPr lang="es-AR" sz="2400" b="1" dirty="0"/>
              <a:t>Página web o ventana emergente:</a:t>
            </a:r>
            <a:r>
              <a:rPr lang="es-AR" sz="2400" dirty="0"/>
              <a:t> En ella se simula suplantando visualmente la imagen de una entidad </a:t>
            </a:r>
            <a:r>
              <a:rPr lang="es-AR" sz="2400" dirty="0" smtClean="0"/>
              <a:t>oficial, </a:t>
            </a:r>
            <a:r>
              <a:rPr lang="es-AR" sz="2400" dirty="0"/>
              <a:t>empresas, etc., pareciendo ser las oficiales</a:t>
            </a:r>
            <a:r>
              <a:rPr lang="es-AR" sz="2400" dirty="0" smtClean="0"/>
              <a:t>.</a:t>
            </a:r>
          </a:p>
          <a:p>
            <a:pPr marL="64008" indent="0" algn="just">
              <a:buNone/>
            </a:pPr>
            <a:r>
              <a:rPr lang="es-AR" sz="2400" b="1" dirty="0">
                <a:solidFill>
                  <a:schemeClr val="accent2">
                    <a:lumMod val="60000"/>
                    <a:lumOff val="40000"/>
                  </a:schemeClr>
                </a:solidFill>
                <a:effectLst>
                  <a:outerShdw blurRad="38100" dist="38100" dir="2700000" algn="tl">
                    <a:srgbClr val="000000">
                      <a:alpha val="43137"/>
                    </a:srgbClr>
                  </a:outerShdw>
                </a:effectLst>
              </a:rPr>
              <a:t>4.</a:t>
            </a:r>
            <a:r>
              <a:rPr lang="es-AR" sz="2400" b="1" dirty="0">
                <a:effectLst>
                  <a:outerShdw blurRad="38100" dist="38100" dir="2700000" algn="tl">
                    <a:srgbClr val="000000">
                      <a:alpha val="43137"/>
                    </a:srgbClr>
                  </a:outerShdw>
                </a:effectLst>
              </a:rPr>
              <a:t> </a:t>
            </a:r>
            <a:r>
              <a:rPr lang="es-AR" sz="2400" b="1" dirty="0"/>
              <a:t>Correo electrónico</a:t>
            </a:r>
            <a:r>
              <a:rPr lang="es-AR" sz="2400" dirty="0"/>
              <a:t>: El procedimiento es la recepción de un correo electrónico donde SIMULAN a la entidad u organismo que quieren suplantar para obtener datos del usuario. </a:t>
            </a:r>
            <a:r>
              <a:rPr lang="es-AR" sz="2400" dirty="0" smtClean="0"/>
              <a:t/>
            </a:r>
            <a:br>
              <a:rPr lang="es-AR" sz="2400" dirty="0" smtClean="0"/>
            </a:br>
            <a:endParaRPr lang="es-AR" sz="2400" dirty="0"/>
          </a:p>
        </p:txBody>
      </p:sp>
    </p:spTree>
  </p:cSld>
  <p:clrMapOvr>
    <a:masterClrMapping/>
  </p:clrMapOvr>
  <p:transition>
    <p:pull dir="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2348880"/>
            <a:ext cx="8229600" cy="1399032"/>
          </a:xfrm>
        </p:spPr>
        <p:txBody>
          <a:bodyPr>
            <a:noAutofit/>
          </a:bodyPr>
          <a:lstStyle/>
          <a:p>
            <a:pPr algn="ctr"/>
            <a:r>
              <a:rPr lang="es-AR" sz="6600" b="1" dirty="0" smtClean="0"/>
              <a:t>Consejos para protegerse del </a:t>
            </a:r>
            <a:r>
              <a:rPr lang="es-AR" sz="6600" b="1" dirty="0" err="1" smtClean="0"/>
              <a:t>phishing</a:t>
            </a:r>
            <a:endParaRPr lang="es-AR" sz="6600" b="1" dirty="0"/>
          </a:p>
        </p:txBody>
      </p:sp>
    </p:spTree>
    <p:extLst>
      <p:ext uri="{BB962C8B-B14F-4D97-AF65-F5344CB8AC3E}">
        <p14:creationId xmlns:p14="http://schemas.microsoft.com/office/powerpoint/2010/main" xmlns="" val="269479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6858000"/>
            <a:ext cx="8229600" cy="1399032"/>
          </a:xfrm>
        </p:spPr>
        <p:txBody>
          <a:bodyPr/>
          <a:lstStyle/>
          <a:p>
            <a:endParaRPr lang="es-AR" dirty="0"/>
          </a:p>
        </p:txBody>
      </p:sp>
      <p:sp>
        <p:nvSpPr>
          <p:cNvPr id="3" name="2 Marcador de contenido"/>
          <p:cNvSpPr>
            <a:spLocks noGrp="1"/>
          </p:cNvSpPr>
          <p:nvPr>
            <p:ph idx="1"/>
          </p:nvPr>
        </p:nvSpPr>
        <p:spPr>
          <a:xfrm>
            <a:off x="467544" y="0"/>
            <a:ext cx="8229600" cy="6525344"/>
          </a:xfrm>
        </p:spPr>
        <p:txBody>
          <a:bodyPr>
            <a:noAutofit/>
          </a:bodyPr>
          <a:lstStyle/>
          <a:p>
            <a:pPr algn="just">
              <a:lnSpc>
                <a:spcPct val="170000"/>
              </a:lnSpc>
            </a:pPr>
            <a:r>
              <a:rPr lang="es-AR" sz="2100" dirty="0"/>
              <a:t>La regla de oro, nunca le entregue sus datos por correo electrónico. Las empresas y bancos jamás le solicitaran sus datos financieros o de sus tarjetas de crédito por correo</a:t>
            </a:r>
            <a:r>
              <a:rPr lang="es-AR" sz="2100" dirty="0" smtClean="0"/>
              <a:t>.</a:t>
            </a:r>
          </a:p>
          <a:p>
            <a:pPr algn="just">
              <a:lnSpc>
                <a:spcPct val="170000"/>
              </a:lnSpc>
            </a:pPr>
            <a:r>
              <a:rPr lang="es-AR" sz="2100" dirty="0" smtClean="0"/>
              <a:t>Si </a:t>
            </a:r>
            <a:r>
              <a:rPr lang="es-AR" sz="2100" dirty="0"/>
              <a:t>duda de la veracidad del correo electrónico, jamás haga clic en un link incluido en el mismo. </a:t>
            </a:r>
            <a:endParaRPr lang="es-AR" sz="2100" dirty="0" smtClean="0"/>
          </a:p>
          <a:p>
            <a:pPr algn="just">
              <a:lnSpc>
                <a:spcPct val="170000"/>
              </a:lnSpc>
            </a:pPr>
            <a:r>
              <a:rPr lang="es-AR" sz="2100" dirty="0" smtClean="0"/>
              <a:t>Si </a:t>
            </a:r>
            <a:r>
              <a:rPr lang="es-AR" sz="2100" dirty="0"/>
              <a:t>aún desea ingresar, no haga clic en el enlace. Escriba la dirección en la barra de su navegador. </a:t>
            </a:r>
            <a:endParaRPr lang="es-AR" sz="2100" dirty="0" smtClean="0"/>
          </a:p>
          <a:p>
            <a:pPr algn="just">
              <a:lnSpc>
                <a:spcPct val="170000"/>
              </a:lnSpc>
            </a:pPr>
            <a:r>
              <a:rPr lang="es-AR" sz="2100" dirty="0" smtClean="0"/>
              <a:t>Si </a:t>
            </a:r>
            <a:r>
              <a:rPr lang="es-AR" sz="2100" dirty="0"/>
              <a:t>aún duda de su veracidad, llame o concurra a su banco y verifique los hechos. </a:t>
            </a:r>
            <a:endParaRPr lang="es-AR" sz="2100" dirty="0" smtClean="0"/>
          </a:p>
          <a:p>
            <a:pPr algn="just">
              <a:lnSpc>
                <a:spcPct val="170000"/>
              </a:lnSpc>
            </a:pPr>
            <a:r>
              <a:rPr lang="es-AR" sz="2100" dirty="0" smtClean="0"/>
              <a:t>Si </a:t>
            </a:r>
            <a:r>
              <a:rPr lang="es-AR" sz="2100" dirty="0"/>
              <a:t>recibe un email de este tipo de </a:t>
            </a:r>
            <a:r>
              <a:rPr lang="es-AR" sz="2100" dirty="0" err="1"/>
              <a:t>phishing</a:t>
            </a:r>
            <a:r>
              <a:rPr lang="es-AR" sz="2100" dirty="0"/>
              <a:t>, ignórelo y jamás lo responda. </a:t>
            </a:r>
            <a:endParaRPr lang="es-AR" sz="2100" dirty="0" smtClean="0"/>
          </a:p>
        </p:txBody>
      </p:sp>
    </p:spTree>
  </p:cSld>
  <p:clrMapOvr>
    <a:masterClrMapping/>
  </p:clrMapOvr>
  <p:transition>
    <p:pull dir="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a:xfrm>
            <a:off x="457200" y="404664"/>
            <a:ext cx="8229600" cy="6050144"/>
          </a:xfrm>
        </p:spPr>
        <p:txBody>
          <a:bodyPr>
            <a:normAutofit fontScale="70000" lnSpcReduction="20000"/>
          </a:bodyPr>
          <a:lstStyle/>
          <a:p>
            <a:pPr algn="just">
              <a:lnSpc>
                <a:spcPct val="170000"/>
              </a:lnSpc>
            </a:pPr>
            <a:r>
              <a:rPr lang="es-AR" dirty="0" smtClean="0"/>
              <a:t>Compruebe que la página web en la que ha entrado es una dirección segura ha de empezar con </a:t>
            </a:r>
            <a:r>
              <a:rPr lang="es-AR" dirty="0" err="1" smtClean="0"/>
              <a:t>https</a:t>
            </a:r>
            <a:r>
              <a:rPr lang="es-AR" dirty="0" smtClean="0"/>
              <a:t>:// y un pequeño candado cerrado debe aparecer en la barra de estado de nuestro navegador. </a:t>
            </a:r>
          </a:p>
          <a:p>
            <a:pPr algn="just">
              <a:lnSpc>
                <a:spcPct val="170000"/>
              </a:lnSpc>
            </a:pPr>
            <a:r>
              <a:rPr lang="es-AR" dirty="0" smtClean="0"/>
              <a:t>Cerciórese de siempre escribir correctamente la dirección del sitio web que desea visitar ya que existen cientos de intentos de engaños de las páginas más populares con solo una o dos letras de diferencia. </a:t>
            </a:r>
          </a:p>
          <a:p>
            <a:pPr algn="just">
              <a:lnSpc>
                <a:spcPct val="170000"/>
              </a:lnSpc>
            </a:pPr>
            <a:r>
              <a:rPr lang="es-AR" dirty="0" smtClean="0"/>
              <a:t>Si sospecha que fue víctima del </a:t>
            </a:r>
            <a:r>
              <a:rPr lang="es-AR" dirty="0" err="1" smtClean="0"/>
              <a:t>Phishing</a:t>
            </a:r>
            <a:r>
              <a:rPr lang="es-AR" dirty="0" smtClean="0"/>
              <a:t>, cambie inmediatamente todas sus contraseñas y póngase en contacto con la empresa o entidad financiera para informarles.</a:t>
            </a:r>
          </a:p>
          <a:p>
            <a:pPr>
              <a:lnSpc>
                <a:spcPct val="170000"/>
              </a:lnSpc>
            </a:pPr>
            <a:endParaRPr lang="es-A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0" y="0"/>
            <a:ext cx="9185342" cy="6858000"/>
          </a:xfrm>
        </p:spPr>
      </p:pic>
    </p:spTree>
    <p:extLst>
      <p:ext uri="{BB962C8B-B14F-4D97-AF65-F5344CB8AC3E}">
        <p14:creationId xmlns:p14="http://schemas.microsoft.com/office/powerpoint/2010/main" xmlns="" val="32698830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pic>
        <p:nvPicPr>
          <p:cNvPr id="4" name="3 Marcador de contenido" descr="Original EMAIL.jpg"/>
          <p:cNvPicPr>
            <a:picLocks noGrp="1" noChangeAspect="1"/>
          </p:cNvPicPr>
          <p:nvPr>
            <p:ph idx="1"/>
          </p:nvPr>
        </p:nvPicPr>
        <p:blipFill>
          <a:blip r:embed="rId2" cstate="print"/>
          <a:stretch>
            <a:fillRect/>
          </a:stretch>
        </p:blipFill>
        <p:spPr>
          <a:xfrm>
            <a:off x="755576" y="715804"/>
            <a:ext cx="7416824" cy="5860139"/>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4 Marcador de contenido" descr="Original SITIO WEB.jpg"/>
          <p:cNvPicPr>
            <a:picLocks noGrp="1" noChangeAspect="1"/>
          </p:cNvPicPr>
          <p:nvPr>
            <p:ph idx="1"/>
          </p:nvPr>
        </p:nvPicPr>
        <p:blipFill>
          <a:blip r:embed="rId2" cstate="print"/>
          <a:stretch>
            <a:fillRect/>
          </a:stretch>
        </p:blipFill>
        <p:spPr>
          <a:xfrm>
            <a:off x="971600" y="476672"/>
            <a:ext cx="7488832" cy="6195438"/>
          </a:xfrm>
        </p:spPr>
      </p:pic>
    </p:spTree>
    <p:extLst>
      <p:ext uri="{BB962C8B-B14F-4D97-AF65-F5344CB8AC3E}">
        <p14:creationId xmlns:p14="http://schemas.microsoft.com/office/powerpoint/2010/main" xmlns="" val="34109802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2564904"/>
            <a:ext cx="8229600" cy="1399032"/>
          </a:xfrm>
        </p:spPr>
        <p:txBody>
          <a:bodyPr>
            <a:noAutofit/>
          </a:bodyPr>
          <a:lstStyle/>
          <a:p>
            <a:pPr algn="ctr"/>
            <a:r>
              <a:rPr lang="es-AR" sz="6600" b="1" dirty="0" smtClean="0">
                <a:effectLst>
                  <a:outerShdw blurRad="38100" dist="38100" dir="2700000" algn="tl">
                    <a:srgbClr val="000000">
                      <a:alpha val="43137"/>
                    </a:srgbClr>
                  </a:outerShdw>
                </a:effectLst>
              </a:rPr>
              <a:t>Lavado de dinero producto del </a:t>
            </a:r>
            <a:r>
              <a:rPr lang="es-AR" sz="6600" b="1" dirty="0" err="1" smtClean="0">
                <a:effectLst>
                  <a:outerShdw blurRad="38100" dist="38100" dir="2700000" algn="tl">
                    <a:srgbClr val="000000">
                      <a:alpha val="43137"/>
                    </a:srgbClr>
                  </a:outerShdw>
                </a:effectLst>
              </a:rPr>
              <a:t>Phishing</a:t>
            </a:r>
            <a:endParaRPr lang="es-AR" sz="6600" b="1" dirty="0">
              <a:effectLst>
                <a:outerShdw blurRad="38100" dist="38100" dir="2700000" algn="tl">
                  <a:srgbClr val="000000">
                    <a:alpha val="43137"/>
                  </a:srgbClr>
                </a:outerShdw>
              </a:effectLst>
            </a:endParaRPr>
          </a:p>
        </p:txBody>
      </p:sp>
      <p:sp>
        <p:nvSpPr>
          <p:cNvPr id="3" name="2 Marcador de contenido"/>
          <p:cNvSpPr>
            <a:spLocks noGrp="1"/>
          </p:cNvSpPr>
          <p:nvPr>
            <p:ph idx="1"/>
          </p:nvPr>
        </p:nvSpPr>
        <p:spPr>
          <a:xfrm>
            <a:off x="179512" y="6858000"/>
            <a:ext cx="8229600" cy="4572000"/>
          </a:xfrm>
        </p:spPr>
        <p:txBody>
          <a:bodyPr/>
          <a:lstStyle/>
          <a:p>
            <a:endParaRPr lang="es-AR" dirty="0"/>
          </a:p>
        </p:txBody>
      </p:sp>
    </p:spTree>
  </p:cSld>
  <p:clrMapOvr>
    <a:masterClrMapping/>
  </p:clrMapOvr>
  <p:transition>
    <p:pull dir="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6858000"/>
            <a:ext cx="8229600" cy="1399032"/>
          </a:xfrm>
        </p:spPr>
        <p:txBody>
          <a:bodyPr/>
          <a:lstStyle/>
          <a:p>
            <a:endParaRPr lang="es-AR" dirty="0"/>
          </a:p>
        </p:txBody>
      </p:sp>
      <p:sp>
        <p:nvSpPr>
          <p:cNvPr id="3" name="2 Marcador de contenido"/>
          <p:cNvSpPr>
            <a:spLocks noGrp="1"/>
          </p:cNvSpPr>
          <p:nvPr>
            <p:ph idx="1"/>
          </p:nvPr>
        </p:nvSpPr>
        <p:spPr>
          <a:xfrm>
            <a:off x="395536" y="404664"/>
            <a:ext cx="8229600" cy="6192688"/>
          </a:xfrm>
        </p:spPr>
        <p:txBody>
          <a:bodyPr>
            <a:noAutofit/>
          </a:bodyPr>
          <a:lstStyle/>
          <a:p>
            <a:pPr algn="just">
              <a:lnSpc>
                <a:spcPct val="150000"/>
              </a:lnSpc>
              <a:buNone/>
            </a:pPr>
            <a:r>
              <a:rPr lang="es-AR" sz="2200" dirty="0" smtClean="0"/>
              <a:t>     </a:t>
            </a:r>
            <a:r>
              <a:rPr lang="es-AR" sz="2400" dirty="0" smtClean="0"/>
              <a:t>Actualmente empresas ficticias intentan reclutar tele trabajadores por medio de correo electrónicos, chats, irc y otros medios, ofreciéndoles no sólo trabajar desde casa sino también otros jugosos beneficios. Aquellas personas que aceptan la oferta se convierten automáticamente en víctimas que incurren en un grave delito sin saberlo: el blanqueo de dinero obtenido a través del acto fraudulento de phishing.</a:t>
            </a:r>
          </a:p>
          <a:p>
            <a:pPr>
              <a:buNone/>
            </a:pPr>
            <a:r>
              <a:rPr lang="es-AR" sz="3200" dirty="0" smtClean="0"/>
              <a:t/>
            </a:r>
            <a:br>
              <a:rPr lang="es-AR" sz="3200" dirty="0" smtClean="0"/>
            </a:br>
            <a:endParaRPr lang="es-AR" sz="3200" dirty="0"/>
          </a:p>
        </p:txBody>
      </p:sp>
    </p:spTree>
  </p:cSld>
  <p:clrMapOvr>
    <a:masterClrMapping/>
  </p:clrMapOvr>
  <p:transition>
    <p:pull dir="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a:xfrm>
            <a:off x="457200" y="764704"/>
            <a:ext cx="8229600" cy="5690104"/>
          </a:xfrm>
        </p:spPr>
        <p:txBody>
          <a:bodyPr>
            <a:normAutofit fontScale="85000" lnSpcReduction="20000"/>
          </a:bodyPr>
          <a:lstStyle/>
          <a:p>
            <a:pPr>
              <a:lnSpc>
                <a:spcPct val="150000"/>
              </a:lnSpc>
            </a:pPr>
            <a:r>
              <a:rPr lang="es-AR" sz="3200" dirty="0" smtClean="0"/>
              <a:t>Para que una persona pueda darse de alta con esta clase de «empresas» debe rellenar un formulario en el cual indicará, entre otros datos, su número de cuenta bancaria. Esto tiene la finalidad de ingresar en la cuenta del trabajador-víctima el dinero procedente de estafas bancarias realizadas por el método de </a:t>
            </a:r>
            <a:r>
              <a:rPr lang="es-AR" sz="3200" dirty="0" err="1" smtClean="0"/>
              <a:t>phishing</a:t>
            </a:r>
            <a:r>
              <a:rPr lang="es-AR" sz="3200" dirty="0" smtClean="0"/>
              <a:t>. Una vez contratada, la víctima se convierte automáticamente en lo que se conoce vulgarmente como mulero.</a:t>
            </a:r>
          </a:p>
          <a:p>
            <a:endParaRPr lang="es-A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67544" y="404664"/>
            <a:ext cx="8229600" cy="6858000"/>
          </a:xfrm>
        </p:spPr>
        <p:txBody>
          <a:bodyPr>
            <a:normAutofit fontScale="85000" lnSpcReduction="10000"/>
          </a:bodyPr>
          <a:lstStyle/>
          <a:p>
            <a:pPr algn="just">
              <a:lnSpc>
                <a:spcPct val="150000"/>
              </a:lnSpc>
              <a:buNone/>
            </a:pPr>
            <a:r>
              <a:rPr lang="es-AR" dirty="0" smtClean="0"/>
              <a:t>    </a:t>
            </a:r>
            <a:r>
              <a:rPr lang="es-AR" sz="3300" dirty="0" smtClean="0"/>
              <a:t>Con cada acto fraudulento de phishing la víctima recibe el cuantioso ingreso en su cuenta bancaria y la empresa le notifica del hecho. Una vez recibido este ingreso, la víctima se quedará un porcentaje del dinero total, pudiendo rondar el 10%-20%, como comisión de trabajo y el resto lo reenviará a través de sistemas de envío de dinero a cuentas indicadas por la seudo-empresa.</a:t>
            </a:r>
          </a:p>
          <a:p>
            <a:pPr algn="just">
              <a:buNone/>
            </a:pPr>
            <a:r>
              <a:rPr lang="es-AR" dirty="0" smtClean="0"/>
              <a:t>    </a:t>
            </a:r>
            <a:endParaRPr lang="es-AR" dirty="0"/>
          </a:p>
        </p:txBody>
      </p:sp>
    </p:spTree>
  </p:cSld>
  <p:clrMapOvr>
    <a:masterClrMapping/>
  </p:clrMapOvr>
  <p:transition>
    <p:pull dir="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a:xfrm>
            <a:off x="457200" y="476672"/>
            <a:ext cx="8229600" cy="5978136"/>
          </a:xfrm>
        </p:spPr>
        <p:txBody>
          <a:bodyPr>
            <a:normAutofit fontScale="92500"/>
          </a:bodyPr>
          <a:lstStyle/>
          <a:p>
            <a:pPr>
              <a:lnSpc>
                <a:spcPct val="150000"/>
              </a:lnSpc>
            </a:pPr>
            <a:r>
              <a:rPr lang="es-AR" dirty="0" smtClean="0"/>
              <a:t>Dado el desconocimiento de la víctima (muchas veces motivado por la necesidad económica) ésta se ve involucrada en un acto de estafa importante, pudiendo ser requerido por la justicia previa denuncia de los bancos. Estas denuncias se suelen resolver con la imposición de devolver todo el dinero sustraído a la víctima, obviando que este únicamente recibió una comisión.</a:t>
            </a:r>
            <a:endParaRPr lang="es-A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315416"/>
            <a:ext cx="8229600" cy="1399032"/>
          </a:xfrm>
        </p:spPr>
        <p:txBody>
          <a:bodyPr/>
          <a:lstStyle/>
          <a:p>
            <a:r>
              <a:rPr lang="es-AR" b="1" dirty="0" smtClean="0"/>
              <a:t>Fases</a:t>
            </a:r>
            <a:endParaRPr lang="es-AR" dirty="0"/>
          </a:p>
        </p:txBody>
      </p:sp>
      <p:sp>
        <p:nvSpPr>
          <p:cNvPr id="3" name="2 Marcador de contenido"/>
          <p:cNvSpPr>
            <a:spLocks noGrp="1"/>
          </p:cNvSpPr>
          <p:nvPr>
            <p:ph idx="1"/>
          </p:nvPr>
        </p:nvSpPr>
        <p:spPr>
          <a:xfrm>
            <a:off x="539552" y="836712"/>
            <a:ext cx="8229600" cy="6021288"/>
          </a:xfrm>
        </p:spPr>
        <p:txBody>
          <a:bodyPr>
            <a:normAutofit fontScale="77500" lnSpcReduction="20000"/>
          </a:bodyPr>
          <a:lstStyle/>
          <a:p>
            <a:pPr algn="just">
              <a:lnSpc>
                <a:spcPct val="150000"/>
              </a:lnSpc>
              <a:buNone/>
            </a:pPr>
            <a:r>
              <a:rPr lang="es-AR" b="1" dirty="0" smtClean="0">
                <a:solidFill>
                  <a:schemeClr val="accent2">
                    <a:lumMod val="60000"/>
                    <a:lumOff val="40000"/>
                  </a:schemeClr>
                </a:solidFill>
                <a:effectLst>
                  <a:outerShdw blurRad="38100" dist="38100" dir="2700000" algn="tl">
                    <a:srgbClr val="000000">
                      <a:alpha val="43137"/>
                    </a:srgbClr>
                  </a:outerShdw>
                </a:effectLst>
              </a:rPr>
              <a:t>1.</a:t>
            </a:r>
            <a:r>
              <a:rPr lang="es-AR" b="1" dirty="0" smtClean="0">
                <a:solidFill>
                  <a:srgbClr val="FF0000"/>
                </a:solidFill>
                <a:effectLst>
                  <a:outerShdw blurRad="38100" dist="38100" dir="2700000" algn="tl">
                    <a:srgbClr val="000000">
                      <a:alpha val="43137"/>
                    </a:srgbClr>
                  </a:outerShdw>
                </a:effectLst>
              </a:rPr>
              <a:t> </a:t>
            </a:r>
            <a:r>
              <a:rPr lang="es-AR" sz="3600" dirty="0" smtClean="0"/>
              <a:t>En la primera fase, la red de estafadores se nutre de usuarios de chat, foros o correos electrónicos, a través de mensajes de ofertas de empleo con una gran rentabilidad o disposición de dinero (</a:t>
            </a:r>
            <a:r>
              <a:rPr lang="es-AR" sz="3600" i="1" dirty="0" smtClean="0"/>
              <a:t>hoax</a:t>
            </a:r>
            <a:r>
              <a:rPr lang="es-AR" sz="3600" dirty="0" smtClean="0"/>
              <a:t> o </a:t>
            </a:r>
            <a:r>
              <a:rPr lang="es-AR" sz="3600" i="1" dirty="0" smtClean="0"/>
              <a:t>scam</a:t>
            </a:r>
            <a:r>
              <a:rPr lang="es-AR" sz="3600" dirty="0" smtClean="0"/>
              <a:t>). En el caso de que caigan en la trampa, los presuntos intermediarios de la estafa, deben rellenar determinados campos, tales como: Datos personales y número de cuenta bancaria.</a:t>
            </a:r>
            <a:endParaRPr lang="es-AR" sz="3600" dirty="0"/>
          </a:p>
        </p:txBody>
      </p:sp>
    </p:spTree>
  </p:cSld>
  <p:clrMapOvr>
    <a:masterClrMapping/>
  </p:clrMapOvr>
  <p:transition>
    <p:pull dir="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7101408"/>
            <a:ext cx="8229600" cy="1399032"/>
          </a:xfrm>
        </p:spPr>
        <p:txBody>
          <a:bodyPr/>
          <a:lstStyle/>
          <a:p>
            <a:endParaRPr lang="es-AR" dirty="0"/>
          </a:p>
        </p:txBody>
      </p:sp>
      <p:sp>
        <p:nvSpPr>
          <p:cNvPr id="3" name="2 Marcador de contenido"/>
          <p:cNvSpPr>
            <a:spLocks noGrp="1"/>
          </p:cNvSpPr>
          <p:nvPr>
            <p:ph idx="1"/>
          </p:nvPr>
        </p:nvSpPr>
        <p:spPr>
          <a:xfrm>
            <a:off x="467544" y="404664"/>
            <a:ext cx="8229600" cy="6120680"/>
          </a:xfrm>
        </p:spPr>
        <p:txBody>
          <a:bodyPr>
            <a:normAutofit fontScale="92500" lnSpcReduction="20000"/>
          </a:bodyPr>
          <a:lstStyle/>
          <a:p>
            <a:pPr algn="just">
              <a:buNone/>
            </a:pPr>
            <a:r>
              <a:rPr lang="es-AR" b="1" dirty="0" smtClean="0">
                <a:solidFill>
                  <a:schemeClr val="accent2">
                    <a:lumMod val="60000"/>
                    <a:lumOff val="40000"/>
                  </a:schemeClr>
                </a:solidFill>
                <a:effectLst>
                  <a:outerShdw blurRad="38100" dist="38100" dir="2700000" algn="tl">
                    <a:srgbClr val="000000">
                      <a:alpha val="43137"/>
                    </a:srgbClr>
                  </a:outerShdw>
                </a:effectLst>
              </a:rPr>
              <a:t>2.</a:t>
            </a:r>
            <a:r>
              <a:rPr lang="es-AR" dirty="0" smtClean="0"/>
              <a:t> Se comete el phishing, ya sea el envío global de millones de correos electrónicos bajo la apariencia de entidades bancarias, solicitando las claves de la cuenta bancaria (phishing) o con ataques específicos.</a:t>
            </a:r>
          </a:p>
          <a:p>
            <a:pPr algn="just">
              <a:buNone/>
            </a:pPr>
            <a:r>
              <a:rPr lang="es-AR" b="1" dirty="0" smtClean="0">
                <a:solidFill>
                  <a:schemeClr val="accent2">
                    <a:lumMod val="60000"/>
                    <a:lumOff val="40000"/>
                  </a:schemeClr>
                </a:solidFill>
                <a:effectLst>
                  <a:outerShdw blurRad="38100" dist="38100" dir="2700000" algn="tl">
                    <a:srgbClr val="000000">
                      <a:alpha val="43137"/>
                    </a:srgbClr>
                  </a:outerShdw>
                </a:effectLst>
              </a:rPr>
              <a:t>3.</a:t>
            </a:r>
            <a:r>
              <a:rPr lang="es-AR" dirty="0" smtClean="0"/>
              <a:t> El tercer paso consiste en que los estafadores comienzan a retirar sumas importantes de dinero, las cuales son transmitidas a las cuentas de los intermediarios (muleros).</a:t>
            </a:r>
          </a:p>
          <a:p>
            <a:pPr algn="just">
              <a:buNone/>
            </a:pPr>
            <a:r>
              <a:rPr lang="es-AR" b="1" dirty="0" smtClean="0">
                <a:solidFill>
                  <a:schemeClr val="accent2">
                    <a:lumMod val="60000"/>
                    <a:lumOff val="40000"/>
                  </a:schemeClr>
                </a:solidFill>
                <a:effectLst>
                  <a:outerShdw blurRad="38100" dist="38100" dir="2700000" algn="tl">
                    <a:srgbClr val="000000">
                      <a:alpha val="43137"/>
                    </a:srgbClr>
                  </a:outerShdw>
                </a:effectLst>
              </a:rPr>
              <a:t>4.</a:t>
            </a:r>
            <a:r>
              <a:rPr lang="es-AR" dirty="0" smtClean="0"/>
              <a:t> Los intermediarios realizan el traspaso a las cuentas de los estafadores, llevándose éstos las cantidades de dinero y aquéllos —los intermediarios— el porcentaje de la comisión.</a:t>
            </a:r>
            <a:endParaRPr lang="es-AR" dirty="0"/>
          </a:p>
        </p:txBody>
      </p:sp>
    </p:spTree>
  </p:cSld>
  <p:clrMapOvr>
    <a:masterClrMapping/>
  </p:clrMapOvr>
  <p:transition>
    <p:pull dir="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2492896"/>
            <a:ext cx="8229600" cy="1399032"/>
          </a:xfrm>
        </p:spPr>
        <p:txBody>
          <a:bodyPr>
            <a:noAutofit/>
          </a:bodyPr>
          <a:lstStyle/>
          <a:p>
            <a:pPr algn="ctr"/>
            <a:r>
              <a:rPr lang="es-AR" sz="6000" b="1" dirty="0" smtClean="0"/>
              <a:t>Daños causados por el </a:t>
            </a:r>
            <a:r>
              <a:rPr lang="es-AR" sz="6000" b="1" dirty="0" err="1" smtClean="0"/>
              <a:t>Phishing</a:t>
            </a:r>
            <a:endParaRPr lang="es-AR" sz="6000" b="1" dirty="0"/>
          </a:p>
        </p:txBody>
      </p:sp>
      <p:sp>
        <p:nvSpPr>
          <p:cNvPr id="3" name="2 Marcador de contenido"/>
          <p:cNvSpPr>
            <a:spLocks noGrp="1"/>
          </p:cNvSpPr>
          <p:nvPr>
            <p:ph idx="1"/>
          </p:nvPr>
        </p:nvSpPr>
        <p:spPr>
          <a:xfrm>
            <a:off x="179512" y="6858000"/>
            <a:ext cx="8229600" cy="4572000"/>
          </a:xfrm>
        </p:spPr>
        <p:txBody>
          <a:bodyPr/>
          <a:lstStyle/>
          <a:p>
            <a:endParaRPr lang="es-AR" dirty="0"/>
          </a:p>
        </p:txBody>
      </p:sp>
    </p:spTree>
  </p:cSld>
  <p:clrMapOvr>
    <a:masterClrMapping/>
  </p:clrMapOvr>
  <p:transition>
    <p:pull dir="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6858000"/>
            <a:ext cx="8229600" cy="1399032"/>
          </a:xfrm>
        </p:spPr>
        <p:txBody>
          <a:bodyPr/>
          <a:lstStyle/>
          <a:p>
            <a:endParaRPr lang="es-AR" dirty="0"/>
          </a:p>
        </p:txBody>
      </p:sp>
      <p:sp>
        <p:nvSpPr>
          <p:cNvPr id="3" name="2 Marcador de contenido"/>
          <p:cNvSpPr>
            <a:spLocks noGrp="1"/>
          </p:cNvSpPr>
          <p:nvPr>
            <p:ph idx="1"/>
          </p:nvPr>
        </p:nvSpPr>
        <p:spPr>
          <a:xfrm>
            <a:off x="467544" y="404664"/>
            <a:ext cx="8229600" cy="6120680"/>
          </a:xfrm>
        </p:spPr>
        <p:txBody>
          <a:bodyPr>
            <a:normAutofit fontScale="85000" lnSpcReduction="10000"/>
          </a:bodyPr>
          <a:lstStyle/>
          <a:p>
            <a:pPr algn="just">
              <a:lnSpc>
                <a:spcPct val="170000"/>
              </a:lnSpc>
              <a:buNone/>
            </a:pPr>
            <a:r>
              <a:rPr lang="es-AR" dirty="0" smtClean="0"/>
              <a:t>    Los daños causados por el phishing oscilan entre la pérdida del acceso al correo electrónico a pérdidas económicas sustanciales. Este tipo de robo de identidad se está haciendo cada vez más popular por la facilidad con que personas confiadas normalmente revelan información personal a los phishers, incluyendo números de tarjetas de crédito y números de seguridad social. </a:t>
            </a:r>
            <a:endParaRPr lang="es-AR" dirty="0"/>
          </a:p>
        </p:txBody>
      </p:sp>
    </p:spTree>
  </p:cSld>
  <p:clrMapOvr>
    <a:masterClrMapping/>
  </p:clrMapOvr>
  <p:transition>
    <p:pull dir="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a:xfrm>
            <a:off x="457200" y="260648"/>
            <a:ext cx="8229600" cy="6194160"/>
          </a:xfrm>
        </p:spPr>
        <p:txBody>
          <a:bodyPr/>
          <a:lstStyle/>
          <a:p>
            <a:r>
              <a:rPr lang="es-AR" sz="4000" dirty="0" smtClean="0"/>
              <a:t>Una vez que esta información es adquirida, los </a:t>
            </a:r>
            <a:r>
              <a:rPr lang="es-AR" sz="4000" dirty="0" err="1" smtClean="0"/>
              <a:t>phishers</a:t>
            </a:r>
            <a:r>
              <a:rPr lang="es-AR" sz="4000" dirty="0" smtClean="0"/>
              <a:t> pueden usar datos personales para crear cuentas falsas utilizando el nombre de la víctima, gastar el crédito de la víctima, o incluso impedir a las víctimas acceder a sus propias cuentas.</a:t>
            </a:r>
          </a:p>
          <a:p>
            <a:endParaRPr lang="es-A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6858000"/>
            <a:ext cx="8229600" cy="1399032"/>
          </a:xfrm>
        </p:spPr>
        <p:txBody>
          <a:bodyPr/>
          <a:lstStyle/>
          <a:p>
            <a:endParaRPr lang="es-AR" dirty="0"/>
          </a:p>
        </p:txBody>
      </p:sp>
      <p:sp>
        <p:nvSpPr>
          <p:cNvPr id="3" name="2 Marcador de contenido"/>
          <p:cNvSpPr>
            <a:spLocks noGrp="1"/>
          </p:cNvSpPr>
          <p:nvPr>
            <p:ph idx="1"/>
          </p:nvPr>
        </p:nvSpPr>
        <p:spPr>
          <a:xfrm>
            <a:off x="467544" y="404664"/>
            <a:ext cx="8229600" cy="6120680"/>
          </a:xfrm>
        </p:spPr>
        <p:txBody>
          <a:bodyPr>
            <a:normAutofit fontScale="62500" lnSpcReduction="20000"/>
          </a:bodyPr>
          <a:lstStyle/>
          <a:p>
            <a:pPr algn="just">
              <a:lnSpc>
                <a:spcPct val="170000"/>
              </a:lnSpc>
              <a:buNone/>
            </a:pPr>
            <a:r>
              <a:rPr lang="es-AR" dirty="0" smtClean="0"/>
              <a:t>      </a:t>
            </a:r>
            <a:r>
              <a:rPr lang="es-AR" sz="4300" dirty="0" smtClean="0"/>
              <a:t>Se estima que entre mayo de 2004 y mayo de 2005, aproximadamente 1,2 millones de usuarios de computadoras en los Estados Unidos tuvieron pérdidas a causa del </a:t>
            </a:r>
            <a:r>
              <a:rPr lang="es-AR" sz="4300" i="1" dirty="0" smtClean="0"/>
              <a:t>phishing</a:t>
            </a:r>
            <a:r>
              <a:rPr lang="es-AR" sz="4300" dirty="0" smtClean="0"/>
              <a:t>, lo que suma a aproximadamente $929 millones de dólares estadounidenses. Los negocios en los Estados Unidos perdieron cerca de 2000 millones de dólares al año mientras sus clientes eran víctimas. </a:t>
            </a:r>
            <a:r>
              <a:rPr lang="es-AR" dirty="0" smtClean="0"/>
              <a:t/>
            </a:r>
            <a:br>
              <a:rPr lang="es-AR" dirty="0" smtClean="0"/>
            </a:br>
            <a:endParaRPr lang="es-AR" dirty="0"/>
          </a:p>
        </p:txBody>
      </p:sp>
    </p:spTree>
  </p:cSld>
  <p:clrMapOvr>
    <a:masterClrMapping/>
  </p:clrMapOvr>
  <p:transition>
    <p:pull dir="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p:txBody>
          <a:bodyPr>
            <a:normAutofit fontScale="92500" lnSpcReduction="10000"/>
          </a:bodyPr>
          <a:lstStyle/>
          <a:p>
            <a:pPr>
              <a:lnSpc>
                <a:spcPct val="150000"/>
              </a:lnSpc>
            </a:pPr>
            <a:r>
              <a:rPr lang="es-AR" sz="3200" dirty="0" smtClean="0"/>
              <a:t>El Reino Unido también sufrió el alto incremento en la práctica del </a:t>
            </a:r>
            <a:r>
              <a:rPr lang="es-AR" sz="3200" dirty="0" err="1" smtClean="0"/>
              <a:t>phishing</a:t>
            </a:r>
            <a:r>
              <a:rPr lang="es-AR" sz="3200" dirty="0" smtClean="0"/>
              <a:t>. En marzo del 2005, la cantidad de dinero reportado que perdió el Reino Unido a causa de esta práctica fue de aproximadamente £12 millones de libras esterlinas.</a:t>
            </a:r>
          </a:p>
          <a:p>
            <a:endParaRPr lang="es-A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2636912"/>
            <a:ext cx="8229600" cy="1399032"/>
          </a:xfrm>
        </p:spPr>
        <p:txBody>
          <a:bodyPr>
            <a:noAutofit/>
          </a:bodyPr>
          <a:lstStyle/>
          <a:p>
            <a:pPr algn="ctr"/>
            <a:r>
              <a:rPr lang="es-AR" sz="6600" b="1" dirty="0" smtClean="0"/>
              <a:t>El Phishing como delito</a:t>
            </a:r>
            <a:endParaRPr lang="es-AR" sz="6600" b="1" dirty="0"/>
          </a:p>
        </p:txBody>
      </p:sp>
      <p:sp>
        <p:nvSpPr>
          <p:cNvPr id="3" name="2 Marcador de contenido"/>
          <p:cNvSpPr>
            <a:spLocks noGrp="1"/>
          </p:cNvSpPr>
          <p:nvPr>
            <p:ph idx="1"/>
          </p:nvPr>
        </p:nvSpPr>
        <p:spPr>
          <a:xfrm>
            <a:off x="323528" y="6858000"/>
            <a:ext cx="8229600" cy="4572000"/>
          </a:xfrm>
        </p:spPr>
        <p:txBody>
          <a:bodyPr/>
          <a:lstStyle/>
          <a:p>
            <a:endParaRPr lang="es-AR" dirty="0"/>
          </a:p>
        </p:txBody>
      </p:sp>
    </p:spTree>
  </p:cSld>
  <p:clrMapOvr>
    <a:masterClrMapping/>
  </p:clrMapOvr>
  <p:transition>
    <p:pull dir="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457200" y="548680"/>
            <a:ext cx="8229600" cy="5906128"/>
          </a:xfrm>
        </p:spPr>
        <p:txBody>
          <a:bodyPr>
            <a:normAutofit/>
          </a:bodyPr>
          <a:lstStyle/>
          <a:p>
            <a:pPr algn="just"/>
            <a:r>
              <a:rPr lang="es-AR" b="1" dirty="0" smtClean="0"/>
              <a:t>General</a:t>
            </a:r>
            <a:r>
              <a:rPr lang="es-AR" b="1" dirty="0"/>
              <a:t>:</a:t>
            </a:r>
            <a:r>
              <a:rPr lang="es-AR" dirty="0"/>
              <a:t> </a:t>
            </a:r>
            <a:r>
              <a:rPr lang="es-AR" i="1" dirty="0">
                <a:solidFill>
                  <a:schemeClr val="accent5">
                    <a:lumMod val="40000"/>
                    <a:lumOff val="60000"/>
                  </a:schemeClr>
                </a:solidFill>
              </a:rPr>
              <a:t>Convenio sobre </a:t>
            </a:r>
            <a:r>
              <a:rPr lang="es-AR" i="1" dirty="0" err="1">
                <a:solidFill>
                  <a:schemeClr val="accent5">
                    <a:lumMod val="40000"/>
                    <a:lumOff val="60000"/>
                  </a:schemeClr>
                </a:solidFill>
              </a:rPr>
              <a:t>cibercriminalidad</a:t>
            </a:r>
            <a:r>
              <a:rPr lang="es-AR" i="1" dirty="0">
                <a:solidFill>
                  <a:schemeClr val="accent5">
                    <a:lumMod val="40000"/>
                    <a:lumOff val="60000"/>
                  </a:schemeClr>
                </a:solidFill>
              </a:rPr>
              <a:t> de </a:t>
            </a:r>
            <a:r>
              <a:rPr lang="es-AR" i="1" dirty="0" smtClean="0">
                <a:solidFill>
                  <a:schemeClr val="accent5">
                    <a:lumMod val="40000"/>
                    <a:lumOff val="60000"/>
                  </a:schemeClr>
                </a:solidFill>
              </a:rPr>
              <a:t>Budapest</a:t>
            </a:r>
            <a:r>
              <a:rPr lang="es-AR" dirty="0" smtClean="0">
                <a:solidFill>
                  <a:schemeClr val="accent5">
                    <a:lumMod val="40000"/>
                    <a:lumOff val="60000"/>
                  </a:schemeClr>
                </a:solidFill>
              </a:rPr>
              <a:t>. </a:t>
            </a:r>
            <a:r>
              <a:rPr lang="es-AR" dirty="0" smtClean="0"/>
              <a:t>Fue creado en 2001 </a:t>
            </a:r>
            <a:r>
              <a:rPr lang="es-AR" dirty="0"/>
              <a:t>y entró en vigor el 1 de julio de 2004.</a:t>
            </a:r>
            <a:r>
              <a:rPr lang="es-AR" dirty="0" smtClean="0"/>
              <a:t>  Es el </a:t>
            </a:r>
            <a:r>
              <a:rPr lang="es-AR" dirty="0"/>
              <a:t>único acuerdo internacional que cubre todas las áreas relevantes de la legislación sobre </a:t>
            </a:r>
            <a:r>
              <a:rPr lang="es-AR" dirty="0" err="1"/>
              <a:t>ciberdelincuencia</a:t>
            </a:r>
            <a:r>
              <a:rPr lang="es-AR" dirty="0"/>
              <a:t> (derecho penal, derecho procesal y cooperación internacional) y trata con carácter prioritario una política penal contra la </a:t>
            </a:r>
            <a:r>
              <a:rPr lang="es-AR" dirty="0" err="1" smtClean="0"/>
              <a:t>ciberdelincuencia</a:t>
            </a:r>
            <a:r>
              <a:rPr lang="es-AR" dirty="0" smtClean="0"/>
              <a:t>.</a:t>
            </a:r>
          </a:p>
          <a:p>
            <a:pPr algn="just"/>
            <a:endParaRPr lang="es-AR" dirty="0"/>
          </a:p>
        </p:txBody>
      </p:sp>
    </p:spTree>
  </p:cSld>
  <p:clrMapOvr>
    <a:masterClrMapping/>
  </p:clrMapOvr>
  <p:transition>
    <p:pull dir="rd"/>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a:xfrm>
            <a:off x="457200" y="404664"/>
            <a:ext cx="8229600" cy="6050144"/>
          </a:xfrm>
        </p:spPr>
        <p:txBody>
          <a:bodyPr>
            <a:normAutofit fontScale="70000" lnSpcReduction="20000"/>
          </a:bodyPr>
          <a:lstStyle/>
          <a:p>
            <a:pPr algn="just">
              <a:lnSpc>
                <a:spcPct val="170000"/>
              </a:lnSpc>
            </a:pPr>
            <a:r>
              <a:rPr lang="es-AR" dirty="0" smtClean="0"/>
              <a:t>En los </a:t>
            </a:r>
            <a:r>
              <a:rPr lang="es-AR" b="1" dirty="0" smtClean="0"/>
              <a:t>Estados Unidos</a:t>
            </a:r>
            <a:r>
              <a:rPr lang="es-AR" dirty="0" smtClean="0"/>
              <a:t>, el senador Patrick </a:t>
            </a:r>
            <a:r>
              <a:rPr lang="es-AR" dirty="0" err="1" smtClean="0"/>
              <a:t>Leahy</a:t>
            </a:r>
            <a:r>
              <a:rPr lang="es-AR" dirty="0" smtClean="0"/>
              <a:t> introdujo el Ley Anti-</a:t>
            </a:r>
            <a:r>
              <a:rPr lang="es-AR" dirty="0" err="1" smtClean="0"/>
              <a:t>Phishing</a:t>
            </a:r>
            <a:r>
              <a:rPr lang="es-AR" dirty="0" smtClean="0"/>
              <a:t> de 2005 el 1 de marzo de 2005. Esta ley federal de anti-</a:t>
            </a:r>
            <a:r>
              <a:rPr lang="es-AR" i="1" dirty="0" err="1" smtClean="0"/>
              <a:t>phishing</a:t>
            </a:r>
            <a:r>
              <a:rPr lang="es-AR" dirty="0" smtClean="0"/>
              <a:t> establecía que aquellos criminales que crearan páginas web falsas o enviaran </a:t>
            </a:r>
            <a:r>
              <a:rPr lang="es-AR" dirty="0" err="1" smtClean="0"/>
              <a:t>spam</a:t>
            </a:r>
            <a:r>
              <a:rPr lang="es-AR" dirty="0" smtClean="0"/>
              <a:t> a cuentas de correo electrónico con la intención de estafar a los usuarios podrían recibir una multa de hasta $250,000 USD y penas de cárcel por un término de hasta 5 años.</a:t>
            </a:r>
          </a:p>
          <a:p>
            <a:pPr algn="just">
              <a:lnSpc>
                <a:spcPct val="170000"/>
              </a:lnSpc>
              <a:buNone/>
            </a:pPr>
            <a:r>
              <a:rPr lang="es-AR" dirty="0" smtClean="0"/>
              <a:t>     Algunos Estados tienen leyes que tratan las prácticas fraudulentas o engañosas o el robo de identidad y que también podría aplicarse a los delitos de </a:t>
            </a:r>
            <a:r>
              <a:rPr lang="es-AR" dirty="0" err="1" smtClean="0"/>
              <a:t>phishing</a:t>
            </a:r>
            <a:r>
              <a:rPr lang="es-AR" dirty="0" smtClean="0"/>
              <a:t>.</a:t>
            </a:r>
          </a:p>
          <a:p>
            <a:endParaRPr lang="es-A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229600" cy="1145282"/>
          </a:xfrm>
        </p:spPr>
        <p:txBody>
          <a:bodyPr/>
          <a:lstStyle/>
          <a:p>
            <a:r>
              <a:rPr lang="es-AR" b="1" dirty="0" smtClean="0"/>
              <a:t>Argentina:</a:t>
            </a:r>
            <a:endParaRPr lang="es-AR" dirty="0"/>
          </a:p>
        </p:txBody>
      </p:sp>
      <p:sp>
        <p:nvSpPr>
          <p:cNvPr id="3" name="2 Marcador de contenido"/>
          <p:cNvSpPr>
            <a:spLocks noGrp="1"/>
          </p:cNvSpPr>
          <p:nvPr>
            <p:ph idx="1"/>
          </p:nvPr>
        </p:nvSpPr>
        <p:spPr>
          <a:xfrm>
            <a:off x="457200" y="1340768"/>
            <a:ext cx="8229600" cy="5256584"/>
          </a:xfrm>
        </p:spPr>
        <p:txBody>
          <a:bodyPr>
            <a:normAutofit fontScale="85000" lnSpcReduction="20000"/>
          </a:bodyPr>
          <a:lstStyle/>
          <a:p>
            <a:pPr algn="just">
              <a:buNone/>
            </a:pPr>
            <a:r>
              <a:rPr lang="es-AR" dirty="0" smtClean="0"/>
              <a:t>     </a:t>
            </a:r>
          </a:p>
          <a:p>
            <a:pPr algn="just">
              <a:buNone/>
            </a:pPr>
            <a:r>
              <a:rPr lang="es-AR" dirty="0"/>
              <a:t>	</a:t>
            </a:r>
            <a:r>
              <a:rPr lang="es-AR" dirty="0" smtClean="0"/>
              <a:t>En vistas del incremento exponencial de los casos de Suplantación de Identidad Digital y Phishing, Segu-Info y La Red El Derecho Informático se han unido para generar la Primera Cruzada por  la Identidad Digital - Argentina 2012.</a:t>
            </a:r>
          </a:p>
          <a:p>
            <a:pPr algn="just">
              <a:buNone/>
            </a:pPr>
            <a:r>
              <a:rPr lang="es-AR" dirty="0" smtClean="0"/>
              <a:t>      La Cruzada posee como bases dos Proyectos de Ley presentados ante el Senado de la Nación,  impulsados por la Senadora Nacional María de los Ángeles Higo net y el Senador Nacional Carlos Verna.</a:t>
            </a:r>
          </a:p>
          <a:p>
            <a:pPr algn="just">
              <a:buNone/>
            </a:pPr>
            <a:r>
              <a:rPr lang="es-AR" dirty="0" smtClean="0"/>
              <a:t>      </a:t>
            </a:r>
          </a:p>
          <a:p>
            <a:pPr algn="just">
              <a:buNone/>
            </a:pPr>
            <a:r>
              <a:rPr lang="es-AR" dirty="0" smtClean="0"/>
              <a:t>      </a:t>
            </a:r>
          </a:p>
        </p:txBody>
      </p:sp>
    </p:spTree>
  </p:cSld>
  <p:clrMapOvr>
    <a:masterClrMapping/>
  </p:clrMapOvr>
  <p:transition>
    <p:pull dir="rd"/>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a:xfrm>
            <a:off x="457200" y="404664"/>
            <a:ext cx="8229600" cy="6768752"/>
          </a:xfrm>
        </p:spPr>
        <p:txBody>
          <a:bodyPr>
            <a:normAutofit fontScale="62500" lnSpcReduction="20000"/>
          </a:bodyPr>
          <a:lstStyle/>
          <a:p>
            <a:pPr algn="just">
              <a:lnSpc>
                <a:spcPct val="170000"/>
              </a:lnSpc>
              <a:buNone/>
            </a:pPr>
            <a:r>
              <a:rPr lang="es-AR" dirty="0" smtClean="0"/>
              <a:t>El primero de los proyectos fue presentado bajo el Nº de Expediente S-2257/11 -  Proyecto de Ley para tipificar el </a:t>
            </a:r>
            <a:r>
              <a:rPr lang="es-AR" dirty="0" err="1" smtClean="0"/>
              <a:t>Phishing</a:t>
            </a:r>
            <a:r>
              <a:rPr lang="es-AR" dirty="0" smtClean="0"/>
              <a:t> o Captación Ilegítima de Datos, ingresado en fecha 19 de Septiembre de 2011 y desde el cuál se busca combatir las diferentes técnicas de obtención ilegítima de información personal.</a:t>
            </a:r>
          </a:p>
          <a:p>
            <a:pPr algn="just">
              <a:lnSpc>
                <a:spcPct val="170000"/>
              </a:lnSpc>
              <a:buNone/>
            </a:pPr>
            <a:r>
              <a:rPr lang="es-AR" dirty="0" smtClean="0"/>
              <a:t> 	El segundo fue presentado bajo el Nº de Expediente S-1312/12 - Proyecto de Ley para tipificar la Suplantación de Identidad Digital, ingresado en fecha 15 de Mayo de 2012 y tiene como objetivo la penalización de la persona que se hace pasar por otra, a través de cualquier medio electrónico con fines de dañar o perjudicar.</a:t>
            </a:r>
          </a:p>
          <a:p>
            <a:pPr algn="just">
              <a:lnSpc>
                <a:spcPct val="170000"/>
              </a:lnSpc>
              <a:buNone/>
            </a:pPr>
            <a:r>
              <a:rPr lang="es-AR" dirty="0" smtClean="0"/>
              <a:t>	Ambos proyectos ya fueron girados a la Comisión de Justicia y Asuntos Penales.</a:t>
            </a:r>
          </a:p>
          <a:p>
            <a:pPr>
              <a:lnSpc>
                <a:spcPct val="170000"/>
              </a:lnSpc>
            </a:pPr>
            <a:endParaRPr lang="es-A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2708920"/>
            <a:ext cx="8229600" cy="1399032"/>
          </a:xfrm>
        </p:spPr>
        <p:txBody>
          <a:bodyPr>
            <a:noAutofit/>
          </a:bodyPr>
          <a:lstStyle/>
          <a:p>
            <a:pPr algn="ctr"/>
            <a:r>
              <a:rPr lang="es-AR" sz="6600" b="1" dirty="0" smtClean="0"/>
              <a:t>¿Qué es el  Pharming?</a:t>
            </a:r>
            <a:endParaRPr lang="es-AR" sz="6600" b="1" dirty="0"/>
          </a:p>
        </p:txBody>
      </p:sp>
      <p:sp>
        <p:nvSpPr>
          <p:cNvPr id="3" name="2 Marcador de contenido"/>
          <p:cNvSpPr>
            <a:spLocks noGrp="1"/>
          </p:cNvSpPr>
          <p:nvPr>
            <p:ph idx="1"/>
          </p:nvPr>
        </p:nvSpPr>
        <p:spPr>
          <a:xfrm>
            <a:off x="251520" y="6858000"/>
            <a:ext cx="8229600" cy="4572000"/>
          </a:xfrm>
        </p:spPr>
        <p:txBody>
          <a:bodyPr/>
          <a:lstStyle/>
          <a:p>
            <a:endParaRPr lang="es-AR" dirty="0"/>
          </a:p>
        </p:txBody>
      </p:sp>
    </p:spTree>
  </p:cSld>
  <p:clrMapOvr>
    <a:masterClrMapping/>
  </p:clrMapOvr>
  <p:transition>
    <p:pull dir="r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pic>
        <p:nvPicPr>
          <p:cNvPr id="4" name="3 Marcador de contenido" descr="Clipboard01.bmp"/>
          <p:cNvPicPr>
            <a:picLocks noGrp="1" noChangeAspect="1"/>
          </p:cNvPicPr>
          <p:nvPr>
            <p:ph idx="1"/>
          </p:nvPr>
        </p:nvPicPr>
        <p:blipFill>
          <a:blip r:embed="rId2" cstate="print"/>
          <a:stretch>
            <a:fillRect/>
          </a:stretch>
        </p:blipFill>
        <p:spPr>
          <a:xfrm>
            <a:off x="0" y="0"/>
            <a:ext cx="9144000" cy="6858000"/>
          </a:xfr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2708920"/>
            <a:ext cx="8229600" cy="1399032"/>
          </a:xfrm>
        </p:spPr>
        <p:txBody>
          <a:bodyPr>
            <a:noAutofit/>
          </a:bodyPr>
          <a:lstStyle/>
          <a:p>
            <a:pPr algn="ctr"/>
            <a:r>
              <a:rPr lang="es-AR" sz="6600" b="1" dirty="0" smtClean="0"/>
              <a:t>Tipos de </a:t>
            </a:r>
            <a:r>
              <a:rPr lang="es-AR" sz="6600" b="1" dirty="0" err="1" smtClean="0"/>
              <a:t>Pharming</a:t>
            </a:r>
            <a:endParaRPr lang="es-AR" sz="6600" b="1" dirty="0"/>
          </a:p>
        </p:txBody>
      </p:sp>
      <p:sp>
        <p:nvSpPr>
          <p:cNvPr id="3" name="2 Marcador de contenido"/>
          <p:cNvSpPr>
            <a:spLocks noGrp="1"/>
          </p:cNvSpPr>
          <p:nvPr>
            <p:ph idx="1"/>
          </p:nvPr>
        </p:nvSpPr>
        <p:spPr>
          <a:xfrm>
            <a:off x="395536" y="7029400"/>
            <a:ext cx="8229600" cy="4572000"/>
          </a:xfrm>
        </p:spPr>
        <p:txBody>
          <a:bodyPr/>
          <a:lstStyle/>
          <a:p>
            <a:endParaRPr lang="es-AR" dirty="0"/>
          </a:p>
        </p:txBody>
      </p:sp>
    </p:spTree>
  </p:cSld>
  <p:clrMapOvr>
    <a:masterClrMapping/>
  </p:clrMapOvr>
  <p:transition>
    <p:pull dir="rd"/>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243408"/>
            <a:ext cx="8229600" cy="1399032"/>
          </a:xfrm>
        </p:spPr>
        <p:txBody>
          <a:bodyPr/>
          <a:lstStyle/>
          <a:p>
            <a:r>
              <a:rPr lang="es-AR" b="1" dirty="0" smtClean="0"/>
              <a:t>Pharming local:</a:t>
            </a:r>
            <a:endParaRPr lang="es-AR" dirty="0"/>
          </a:p>
        </p:txBody>
      </p:sp>
      <p:sp>
        <p:nvSpPr>
          <p:cNvPr id="3" name="2 Marcador de contenido"/>
          <p:cNvSpPr>
            <a:spLocks noGrp="1"/>
          </p:cNvSpPr>
          <p:nvPr>
            <p:ph idx="1"/>
          </p:nvPr>
        </p:nvSpPr>
        <p:spPr>
          <a:xfrm>
            <a:off x="457200" y="836712"/>
            <a:ext cx="8229600" cy="6264696"/>
          </a:xfrm>
        </p:spPr>
        <p:txBody>
          <a:bodyPr>
            <a:normAutofit fontScale="77500" lnSpcReduction="20000"/>
          </a:bodyPr>
          <a:lstStyle/>
          <a:p>
            <a:pPr algn="just">
              <a:lnSpc>
                <a:spcPct val="160000"/>
              </a:lnSpc>
              <a:buNone/>
            </a:pPr>
            <a:r>
              <a:rPr lang="es-AR" dirty="0" smtClean="0"/>
              <a:t>    El que se logra al introducir un troyano o virus en el equipo de la víctima, el cual se encarga de alterar los registros de nombres que se encuentran el archivo "hosts" (sin extensión) que se ubica en diferentes direcciones dependiendo del sistema operativo de la víctima. Se denomina local porque el ataque se realiza en el equipo del usuario. Aquí es precisamente donde el proceso se parece más al phishing debido a que los usuarios se infectan uno a la vez y el término de "granja" pierde sentido.</a:t>
            </a:r>
            <a:endParaRPr lang="es-AR" dirty="0"/>
          </a:p>
        </p:txBody>
      </p:sp>
    </p:spTree>
  </p:cSld>
  <p:clrMapOvr>
    <a:masterClrMapping/>
  </p:clrMapOvr>
  <p:transition>
    <p:pull dir="rd"/>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171400"/>
            <a:ext cx="8229600" cy="1399032"/>
          </a:xfrm>
        </p:spPr>
        <p:txBody>
          <a:bodyPr/>
          <a:lstStyle/>
          <a:p>
            <a:r>
              <a:rPr lang="es-AR" b="1" dirty="0" smtClean="0"/>
              <a:t>Drive-By Pharming:</a:t>
            </a:r>
            <a:endParaRPr lang="es-AR" dirty="0"/>
          </a:p>
        </p:txBody>
      </p:sp>
      <p:sp>
        <p:nvSpPr>
          <p:cNvPr id="3" name="2 Marcador de contenido"/>
          <p:cNvSpPr>
            <a:spLocks noGrp="1"/>
          </p:cNvSpPr>
          <p:nvPr>
            <p:ph idx="1"/>
          </p:nvPr>
        </p:nvSpPr>
        <p:spPr>
          <a:xfrm>
            <a:off x="457200" y="980728"/>
            <a:ext cx="8229600" cy="6192688"/>
          </a:xfrm>
        </p:spPr>
        <p:txBody>
          <a:bodyPr>
            <a:normAutofit fontScale="55000" lnSpcReduction="20000"/>
          </a:bodyPr>
          <a:lstStyle/>
          <a:p>
            <a:pPr algn="just">
              <a:lnSpc>
                <a:spcPct val="170000"/>
              </a:lnSpc>
              <a:buNone/>
            </a:pPr>
            <a:r>
              <a:rPr lang="es-AR" dirty="0" smtClean="0"/>
              <a:t>     </a:t>
            </a:r>
            <a:r>
              <a:rPr lang="es-AR" sz="3600" dirty="0" smtClean="0">
                <a:latin typeface="+mj-lt"/>
                <a:cs typeface="Arial" pitchFamily="34" charset="0"/>
              </a:rPr>
              <a:t>Este se realiza atacando directamente a los FIREWALLS o ROUTERS (enrutadores), y cambiando la dirección del servidor DNS a la de un servidor DNS bajo poder del hacker, que indudablemente resolverá las direcciones tal como éste lo desee. </a:t>
            </a:r>
          </a:p>
          <a:p>
            <a:pPr algn="just">
              <a:lnSpc>
                <a:spcPct val="170000"/>
              </a:lnSpc>
              <a:buNone/>
            </a:pPr>
            <a:r>
              <a:rPr lang="es-AR" sz="3600" dirty="0" smtClean="0">
                <a:latin typeface="+mj-lt"/>
                <a:cs typeface="Arial" pitchFamily="34" charset="0"/>
              </a:rPr>
              <a:t>Técnica hasta hace poco utilizada solo para propósito académico (por al dificultad que existe para acceder a los </a:t>
            </a:r>
            <a:r>
              <a:rPr lang="es-AR" sz="3600" dirty="0" err="1" smtClean="0">
                <a:latin typeface="+mj-lt"/>
                <a:cs typeface="Arial" pitchFamily="34" charset="0"/>
              </a:rPr>
              <a:t>routers</a:t>
            </a:r>
            <a:r>
              <a:rPr lang="es-AR" sz="3600" dirty="0" smtClean="0">
                <a:latin typeface="+mj-lt"/>
                <a:cs typeface="Arial" pitchFamily="34" charset="0"/>
              </a:rPr>
              <a:t> empresariales), sin embargo ha cobrado auge en la actualidad debido a las plataformas wireless que en muchos casos utilizan enrutadores cuyos usuarios no han cambiado la clave administrativa que traen estos equipos por defecto.</a:t>
            </a:r>
          </a:p>
          <a:p>
            <a:pPr algn="just">
              <a:lnSpc>
                <a:spcPct val="170000"/>
              </a:lnSpc>
              <a:buNone/>
            </a:pPr>
            <a:r>
              <a:rPr lang="es-AR" sz="3600" b="1" dirty="0" smtClean="0">
                <a:latin typeface="+mj-lt"/>
                <a:cs typeface="Arial" pitchFamily="34" charset="0"/>
              </a:rPr>
              <a:t>Servidor DNS </a:t>
            </a:r>
            <a:r>
              <a:rPr lang="es-AR" sz="3600" dirty="0" smtClean="0">
                <a:latin typeface="+mj-lt"/>
                <a:cs typeface="Arial" pitchFamily="34" charset="0"/>
              </a:rPr>
              <a:t>(Sistema de Nombres de Dominio) </a:t>
            </a:r>
            <a:endParaRPr lang="es-AR" sz="3600" dirty="0">
              <a:latin typeface="+mj-lt"/>
              <a:cs typeface="Arial" pitchFamily="34" charset="0"/>
            </a:endParaRPr>
          </a:p>
        </p:txBody>
      </p:sp>
    </p:spTree>
  </p:cSld>
  <p:clrMapOvr>
    <a:masterClrMapping/>
  </p:clrMapOvr>
  <p:transition>
    <p:pull dir="rd"/>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b="1" dirty="0" smtClean="0"/>
              <a:t>DNS Poisoning (Envenenamiento de DNS):</a:t>
            </a:r>
            <a:endParaRPr lang="es-AR" dirty="0"/>
          </a:p>
        </p:txBody>
      </p:sp>
      <p:sp>
        <p:nvSpPr>
          <p:cNvPr id="3" name="2 Marcador de contenido"/>
          <p:cNvSpPr>
            <a:spLocks noGrp="1"/>
          </p:cNvSpPr>
          <p:nvPr>
            <p:ph idx="1"/>
          </p:nvPr>
        </p:nvSpPr>
        <p:spPr/>
        <p:txBody>
          <a:bodyPr>
            <a:normAutofit fontScale="70000" lnSpcReduction="20000"/>
          </a:bodyPr>
          <a:lstStyle/>
          <a:p>
            <a:pPr algn="just">
              <a:lnSpc>
                <a:spcPct val="170000"/>
              </a:lnSpc>
              <a:buNone/>
            </a:pPr>
            <a:r>
              <a:rPr lang="es-AR" dirty="0" smtClean="0"/>
              <a:t>    Se basa en vulnerabilidades de los servidores DNS en lo que respecta al control de su caché de direcciones. Aunque es muy peligrosa actualmente son muy pocos los casos, debido a que los servicios de DNS de gran escala están en manos de proveedores de Internet que ya han corregido este tipo de fallas. </a:t>
            </a:r>
          </a:p>
          <a:p>
            <a:pPr algn="just">
              <a:lnSpc>
                <a:spcPct val="170000"/>
              </a:lnSpc>
              <a:buNone/>
            </a:pPr>
            <a:r>
              <a:rPr lang="es-AR" dirty="0" smtClean="0"/>
              <a:t>Sin embargo sigue latente la posibilidad de que se descubra alguna nueva vulnerabilidad que permita este tipo de ataque nuevamente.</a:t>
            </a:r>
          </a:p>
          <a:p>
            <a:endParaRPr lang="es-AR" dirty="0"/>
          </a:p>
        </p:txBody>
      </p:sp>
    </p:spTree>
  </p:cSld>
  <p:clrMapOvr>
    <a:masterClrMapping/>
  </p:clrMapOvr>
  <p:transition>
    <p:pull dir="rd"/>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2636912"/>
            <a:ext cx="8229600" cy="1399032"/>
          </a:xfrm>
        </p:spPr>
        <p:txBody>
          <a:bodyPr>
            <a:noAutofit/>
          </a:bodyPr>
          <a:lstStyle/>
          <a:p>
            <a:pPr algn="ctr"/>
            <a:r>
              <a:rPr lang="es-AR" sz="6600" b="1" dirty="0" smtClean="0"/>
              <a:t>¿Cómo saber si ha sido victima de un ataque de Pharming?</a:t>
            </a:r>
            <a:endParaRPr lang="es-AR" sz="6600" dirty="0"/>
          </a:p>
        </p:txBody>
      </p:sp>
      <p:sp>
        <p:nvSpPr>
          <p:cNvPr id="3" name="2 Marcador de contenido"/>
          <p:cNvSpPr>
            <a:spLocks noGrp="1"/>
          </p:cNvSpPr>
          <p:nvPr>
            <p:ph idx="1"/>
          </p:nvPr>
        </p:nvSpPr>
        <p:spPr>
          <a:xfrm>
            <a:off x="467544" y="6858000"/>
            <a:ext cx="8229600" cy="4572000"/>
          </a:xfrm>
        </p:spPr>
        <p:txBody>
          <a:bodyPr/>
          <a:lstStyle/>
          <a:p>
            <a:endParaRPr lang="es-AR" dirty="0"/>
          </a:p>
        </p:txBody>
      </p:sp>
    </p:spTree>
  </p:cSld>
  <p:clrMapOvr>
    <a:masterClrMapping/>
  </p:clrMapOvr>
  <p:transition>
    <p:pull dir="rd"/>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7029400"/>
            <a:ext cx="8229600" cy="1399032"/>
          </a:xfrm>
        </p:spPr>
        <p:txBody>
          <a:bodyPr/>
          <a:lstStyle/>
          <a:p>
            <a:endParaRPr lang="es-AR" dirty="0"/>
          </a:p>
        </p:txBody>
      </p:sp>
      <p:sp>
        <p:nvSpPr>
          <p:cNvPr id="3" name="2 Marcador de contenido"/>
          <p:cNvSpPr>
            <a:spLocks noGrp="1"/>
          </p:cNvSpPr>
          <p:nvPr>
            <p:ph idx="1"/>
          </p:nvPr>
        </p:nvSpPr>
        <p:spPr>
          <a:xfrm>
            <a:off x="467544" y="476672"/>
            <a:ext cx="8229600" cy="6120680"/>
          </a:xfrm>
        </p:spPr>
        <p:txBody>
          <a:bodyPr/>
          <a:lstStyle/>
          <a:p>
            <a:pPr marL="448056" lvl="1" indent="-384048" algn="just">
              <a:buSzPct val="80000"/>
              <a:buNone/>
            </a:pPr>
            <a:r>
              <a:rPr lang="es-AR" dirty="0" smtClean="0"/>
              <a:t>    </a:t>
            </a:r>
            <a:r>
              <a:rPr lang="es-AR" sz="2800" dirty="0" smtClean="0"/>
              <a:t>Para la mayoría de los usuarios la técnica más usada es la de la </a:t>
            </a:r>
            <a:r>
              <a:rPr lang="es-AR" sz="2800" b="1" dirty="0" smtClean="0"/>
              <a:t>infección del archivo host (pharming local)</a:t>
            </a:r>
            <a:r>
              <a:rPr lang="es-AR" sz="2800" dirty="0" smtClean="0"/>
              <a:t>. Simplemente busque el archivo host en su sistema y elimine cualquier línea con direcciones IP excepto aquella que define a "local host" como 127.0.0.1.</a:t>
            </a:r>
          </a:p>
          <a:p>
            <a:pPr algn="just">
              <a:buNone/>
            </a:pPr>
            <a:endParaRPr lang="es-AR" sz="2800" dirty="0" smtClean="0"/>
          </a:p>
          <a:p>
            <a:pPr algn="just">
              <a:buNone/>
            </a:pPr>
            <a:r>
              <a:rPr lang="es-AR" sz="2800" dirty="0" smtClean="0"/>
              <a:t>    Si tiene acceso a su router verifique que el número IP del servidor DNS configurado en el router sea el que le ha designado su proveedor de Internet o el administrador del sistema.</a:t>
            </a:r>
          </a:p>
        </p:txBody>
      </p:sp>
    </p:spTree>
  </p:cSld>
  <p:clrMapOvr>
    <a:masterClrMapping/>
  </p:clrMapOvr>
  <p:transition>
    <p:pull dir="rd"/>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ío">
  <a:themeElements>
    <a:clrScheme name="Brío">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Brí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Brío">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3874</TotalTime>
  <Words>1641</Words>
  <Application>Microsoft Office PowerPoint</Application>
  <PresentationFormat>Presentación en pantalla (4:3)</PresentationFormat>
  <Paragraphs>66</Paragraphs>
  <Slides>37</Slides>
  <Notes>0</Notes>
  <HiddenSlides>0</HiddenSlides>
  <MMClips>0</MMClips>
  <ScaleCrop>false</ScaleCrop>
  <HeadingPairs>
    <vt:vector size="4" baseType="variant">
      <vt:variant>
        <vt:lpstr>Tema</vt:lpstr>
      </vt:variant>
      <vt:variant>
        <vt:i4>1</vt:i4>
      </vt:variant>
      <vt:variant>
        <vt:lpstr>Títulos de diapositiva</vt:lpstr>
      </vt:variant>
      <vt:variant>
        <vt:i4>37</vt:i4>
      </vt:variant>
    </vt:vector>
  </HeadingPairs>
  <TitlesOfParts>
    <vt:vector size="38" baseType="lpstr">
      <vt:lpstr>Brío</vt:lpstr>
      <vt:lpstr>¿Qué es el Phishing?</vt:lpstr>
      <vt:lpstr>Diapositiva 2</vt:lpstr>
      <vt:lpstr>Diapositiva 3</vt:lpstr>
      <vt:lpstr>Diapositiva 4</vt:lpstr>
      <vt:lpstr>¿Qué métodos utilizan?</vt:lpstr>
      <vt:lpstr>Diapositiva 6</vt:lpstr>
      <vt:lpstr>Consejos para protegerse del phishing</vt:lpstr>
      <vt:lpstr>Diapositiva 8</vt:lpstr>
      <vt:lpstr>Diapositiva 9</vt:lpstr>
      <vt:lpstr>Diapositiva 10</vt:lpstr>
      <vt:lpstr>Diapositiva 11</vt:lpstr>
      <vt:lpstr>Diapositiva 12</vt:lpstr>
      <vt:lpstr>Lavado de dinero producto del Phishing</vt:lpstr>
      <vt:lpstr>Diapositiva 14</vt:lpstr>
      <vt:lpstr>Diapositiva 15</vt:lpstr>
      <vt:lpstr>Diapositiva 16</vt:lpstr>
      <vt:lpstr>Diapositiva 17</vt:lpstr>
      <vt:lpstr>Fases</vt:lpstr>
      <vt:lpstr>Diapositiva 19</vt:lpstr>
      <vt:lpstr>Daños causados por el Phishing</vt:lpstr>
      <vt:lpstr>Diapositiva 21</vt:lpstr>
      <vt:lpstr>Diapositiva 22</vt:lpstr>
      <vt:lpstr>Diapositiva 23</vt:lpstr>
      <vt:lpstr>Diapositiva 24</vt:lpstr>
      <vt:lpstr>El Phishing como delito</vt:lpstr>
      <vt:lpstr>Diapositiva 26</vt:lpstr>
      <vt:lpstr>Diapositiva 27</vt:lpstr>
      <vt:lpstr>Argentina:</vt:lpstr>
      <vt:lpstr>Diapositiva 29</vt:lpstr>
      <vt:lpstr>¿Qué es el  Pharming?</vt:lpstr>
      <vt:lpstr>Diapositiva 31</vt:lpstr>
      <vt:lpstr>Tipos de Pharming</vt:lpstr>
      <vt:lpstr>Pharming local:</vt:lpstr>
      <vt:lpstr>Drive-By Pharming:</vt:lpstr>
      <vt:lpstr>DNS Poisoning (Envenenamiento de DNS):</vt:lpstr>
      <vt:lpstr>¿Cómo saber si ha sido victima de un ataque de Pharming?</vt:lpstr>
      <vt:lpstr>Diapositiva 37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Usuario</dc:creator>
  <cp:lastModifiedBy>Silvia</cp:lastModifiedBy>
  <cp:revision>150</cp:revision>
  <dcterms:created xsi:type="dcterms:W3CDTF">2013-11-17T18:22:38Z</dcterms:created>
  <dcterms:modified xsi:type="dcterms:W3CDTF">2016-07-04T12:22:46Z</dcterms:modified>
</cp:coreProperties>
</file>