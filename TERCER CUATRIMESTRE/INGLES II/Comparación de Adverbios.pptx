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iciosferroviarioschaco@outlook.com" initials="s" lastIdx="1" clrIdx="0">
    <p:extLst>
      <p:ext uri="{19B8F6BF-5375-455C-9EA6-DF929625EA0E}">
        <p15:presenceInfo xmlns:p15="http://schemas.microsoft.com/office/powerpoint/2012/main" userId="3ba45552e46322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0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83CAB-6A19-4F20-85AF-CE608C693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38B42-1485-474D-A4D2-59146C723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1DAB0B-FE69-4675-BD9F-87FFBE76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326274-916C-4412-848B-2D7F9BA77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5F6931-CBD1-4A10-9CE8-DD8A5CFB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7857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95475-FD70-4928-B083-0DE6DCFF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8109E6-D41F-48E0-91D5-080BB4F5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FB880C-FD6F-4848-B9A2-D8EBC211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C72B0-CA1B-4BB8-A764-8F9C283F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C23A40-C3F8-4E96-BD4C-E3F7BEC0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1219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6E405-8535-430D-A872-344326FD0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646266-A9BC-46B6-8FB4-CE6831DC0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1076BD-FD3B-4BBA-B061-9CE35F2F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11C86C-C402-4CF1-BBE0-AC4459B8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644CFC-A7FA-47F6-882A-B61C1DBC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39956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C25CF-3A58-43A9-9823-F8D93259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FC7F0-346F-42EB-B5F0-2DABE85E3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832BEE-6094-49DC-91B9-7BB4BB6CC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5E8245-4D7B-4215-8E4A-B5E096126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7B829B-2E70-463E-8E18-B9A08EA8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B03B3B-EDE1-475B-9A36-7F5F4D3C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73063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2B901-09EC-4FEF-B305-671662BD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41CC32-FB33-483F-B515-195033B22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2F5981-369B-4FB3-ACE9-424273112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183A3A-4C92-4951-8877-D6989FFA1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75B010-C96A-4C5D-AC69-B4741243F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D95146-B1C7-4368-9272-72914E50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D9A8D1-814B-44A4-AC0B-6FEB850A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674307-EC50-47D3-92AC-387C446E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3388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33629-5756-43DC-8248-2BAD14E8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4E2C16F-25CE-46A8-8B8B-AD8D927D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0E4372-D40C-4AF3-98D0-DB29DA0A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CF52F7-5EE1-42AA-BE29-5FEFFD53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3179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5B1283-53CF-4B1B-ADA3-BF0B9AC52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EBF70AE-FE70-40AB-9B57-38F3A624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B88405-E77F-4897-825E-19C1FD20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7877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629BE-C41C-4DCA-9DF2-5E5CB472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2B46C4-E91F-468D-A816-5BBBF3634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3981CF-92DD-443B-8A8D-E00F202B8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BB2035-7CCD-4511-B594-FC0CEEB8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57D961-1451-45DB-A22E-F17E328C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21CD14-E5BC-4A7C-A3DA-6666E0B5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1770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7085C-2BA2-41D9-A2AC-49D35ED3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9E7E4A-4F67-49D0-B925-F3C554A0E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3E4B44-C013-464E-93CC-AF94FA659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277798-AC86-48DB-8E7A-835F8388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DB5C73-BC33-4941-84DB-7A0B8CE38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56A9A4-241B-43C5-90CF-83638710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4376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1A86C-3701-433B-AB4F-07383C35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FDF54A-BE46-4D97-AAF8-60940ABA6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84C386-DAE5-4551-93B2-181C0CD9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560CE7-1C1C-49F7-A110-C0474739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105ADD-F478-4673-92D7-2E78C3EB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1820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18DCC-82D1-4675-9AD0-CD7045BB3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E476D7-DB84-4BAF-9C6F-3D4312881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A7E02D-67CE-4374-94E3-640587B4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125D71-0C2B-432C-B960-9ED57AEB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D23191-9BF6-48CB-B741-437E5026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08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794C3B-5529-4659-A54F-33D18407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144D5B-FC8C-44E0-9B31-E2BCF73D2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26047-7966-4893-A233-E0FA9EB8D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104F6-B190-4C93-92B7-570D11488DFA}" type="datetimeFigureOut">
              <a:rPr lang="es-AR" smtClean="0"/>
              <a:t>29/4/2025</a:t>
            </a:fld>
            <a:endParaRPr lang="es-A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B7C38B-C75C-4051-AD71-D20BFB265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E20654-DF68-4B54-8680-12E61E37A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13C0B-DC1A-46C1-AE0E-513707AFD175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0340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66CD62-899F-425F-8E13-90AE39772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80808"/>
                </a:solidFill>
                <a:latin typeface="Arial Rounded MT Bold" panose="020F0704030504030204" pitchFamily="34" charset="0"/>
              </a:rPr>
              <a:t>UNIDAD 2</a:t>
            </a:r>
            <a:endParaRPr lang="es-AR" sz="3200" dirty="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s-AR" sz="4000" dirty="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Comparación de Adverbios</a:t>
            </a:r>
            <a:br>
              <a:rPr lang="es-AR" sz="4000" dirty="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AR" sz="4000" dirty="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0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562843"/>
            <a:ext cx="10457770" cy="4074946"/>
          </a:xfrm>
          <a:noFill/>
        </p:spPr>
        <p:txBody>
          <a:bodyPr anchor="ctr">
            <a:normAutofit fontScale="90000"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2800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AR" sz="280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3100" b="1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   Gramatical</a:t>
            </a:r>
            <a:r>
              <a:rPr lang="es-AR" sz="3100" b="1" i="1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AR" sz="2200" b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     Clasificación:</a:t>
            </a:r>
            <a: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b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Según su significado los adverbios pueden ser de:</a:t>
            </a:r>
            <a:br>
              <a:rPr lang="es-AR" sz="1800" b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AR" sz="1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s-AR" sz="1800" b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MODO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(bien), 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slowly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(lentamente), etc.</a:t>
            </a: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s-AR" sz="1800" b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TIEMPO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(alguna vez), 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(hoy), etc.</a:t>
            </a: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s-AR" sz="1800" b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LUGAR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Here (aquí), 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alli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etc.</a:t>
            </a: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s-AR" sz="1800" b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FRECUENCIA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(siempre), </a:t>
            </a:r>
            <a:r>
              <a:rPr lang="es-AR" sz="180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 menudo), etc.</a:t>
            </a: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4000"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AR" sz="40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45" y="494340"/>
            <a:ext cx="9917078" cy="1141851"/>
          </a:xfrm>
          <a:noFill/>
        </p:spPr>
        <p:txBody>
          <a:bodyPr>
            <a:normAutofit/>
          </a:bodyPr>
          <a:lstStyle/>
          <a:p>
            <a:r>
              <a:rPr lang="es-AR" sz="3200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65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562843"/>
            <a:ext cx="10457770" cy="4074946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2. Estudios morfológicos:</a:t>
            </a: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2.1     Tipos de adverbios según sus formas: los adverbios pueden ser:</a:t>
            </a: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                                                     SIMPLES</a:t>
            </a: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                                                     DERIVADOS</a:t>
            </a: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                                                     COMPUESTOS</a:t>
            </a: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45" y="494340"/>
            <a:ext cx="9917078" cy="1141851"/>
          </a:xfrm>
          <a:noFill/>
        </p:spPr>
        <p:txBody>
          <a:bodyPr>
            <a:normAutofit/>
          </a:bodyPr>
          <a:lstStyle/>
          <a:p>
            <a:r>
              <a:rPr lang="es-AR" sz="3200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67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232" y="1784598"/>
            <a:ext cx="11147755" cy="5368936"/>
          </a:xfrm>
          <a:noFill/>
        </p:spPr>
        <p:txBody>
          <a:bodyPr anchor="ctr">
            <a:normAutofit fontScale="90000"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a.  Adverbios simples: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son de fácil reconocimiento por su forma dentro de un texto en inglés.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 Ejemplos en oraciones: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again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meet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    Adverbios derivados: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su mayoría se forman agregando el sufijo “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(“-mente” en castellano) a un adjetivo, por ejemplo los puntos.</a:t>
            </a: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(lento)…………………………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(lentamente)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                                           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                                                  Adv.</a:t>
            </a:r>
            <a:b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                                   -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substance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reacts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slowly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Cambios ortográficos que sufren los adjetivos cuando se les </a:t>
            </a:r>
            <a:r>
              <a:rPr lang="es-AR" sz="1800" u="sng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agregan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 la formación de un adverbio: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u="sng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-En general los adjetivos agregan –</a:t>
            </a:r>
            <a:r>
              <a:rPr lang="es-AR" sz="1800" u="sng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s-AR" sz="1800" u="sng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sin sufrir modificaciones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Extreme (extremo/a/s)…………..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Extremel</a:t>
            </a:r>
            <a:r>
              <a:rPr lang="es-AR" sz="1800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(primero/a/s)…………..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Firstl</a:t>
            </a:r>
            <a:r>
              <a:rPr lang="es-AR" sz="1800" b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u="sng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-Algunos adjetivos terminados en “e” la pierdan al agregar –</a:t>
            </a:r>
            <a:r>
              <a:rPr lang="es-AR" sz="1800" u="sng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s-AR" sz="1800" u="sng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por ejemplo:</a:t>
            </a:r>
            <a:br>
              <a:rPr lang="es-AR" sz="1800" u="sng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A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</a:t>
            </a:r>
            <a:r>
              <a:rPr lang="es-AR" sz="1800" dirty="0">
                <a:solidFill>
                  <a:srgbClr val="212529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(total, completo/a/s)……………</a:t>
            </a:r>
            <a:r>
              <a:rPr lang="es-AR" sz="1800" dirty="0" err="1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completel</a:t>
            </a:r>
            <a:r>
              <a:rPr lang="es-AR" sz="1800" b="1" dirty="0" err="1">
                <a:solidFill>
                  <a:srgbClr val="FF0000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 dirty="0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931" y="90913"/>
            <a:ext cx="9917078" cy="1338843"/>
          </a:xfrm>
          <a:noFill/>
        </p:spPr>
        <p:txBody>
          <a:bodyPr>
            <a:normAutofit/>
          </a:bodyPr>
          <a:lstStyle/>
          <a:p>
            <a:r>
              <a:rPr lang="es-AR" sz="3200" kern="1800" dirty="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 dirty="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43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2238375"/>
            <a:ext cx="10457770" cy="2657834"/>
          </a:xfrm>
          <a:noFill/>
        </p:spPr>
        <p:txBody>
          <a:bodyPr anchor="ctr"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  Adverbios compuestos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se forman a partir de la unión de dos o más palabras. Ejemplos en oraciones: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AR" sz="1800" b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Nowadays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concerned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AR" sz="1800" b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Anyhow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try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again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 dirty="0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45" y="494340"/>
            <a:ext cx="9917078" cy="1141851"/>
          </a:xfrm>
          <a:noFill/>
        </p:spPr>
        <p:txBody>
          <a:bodyPr>
            <a:normAutofit/>
          </a:bodyPr>
          <a:lstStyle/>
          <a:p>
            <a:r>
              <a:rPr lang="es-AR" sz="3200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91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 fontScale="90000"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Estudio sintáctico: los adverbios se pueden ubicar en las siguientes posiciones: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  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Modificando a un adjetivo: cuando el adverbio modifica a un adjetivo se ubica delante del mismo, por </a:t>
            </a:r>
            <a:b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ejemplo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quantities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 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Modificando a otro adverbio: en este caso también se ubica delante del adverbio al que modifica, por                    </a:t>
            </a:r>
            <a:b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ejemplo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  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understands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b="1" i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quite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lang="es-AR" sz="1800" b="1" i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br>
              <a:rPr lang="es-AR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  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Modificando a un verbo: en este caso se puede ubicar</a:t>
            </a: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  i.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Delante del verbo, por ejemplo:             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secretly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decided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br>
              <a:rPr lang="es-AR" sz="18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 </a:t>
            </a:r>
            <a:r>
              <a:rPr lang="es-AR" sz="1800" b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Después del auxiliar en caso de tiempos verbales compuestos, </a:t>
            </a:r>
            <a:b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por ejemplo: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clearly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indentified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br>
              <a:rPr lang="es-AR" sz="18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   </a:t>
            </a:r>
            <a:r>
              <a:rPr lang="es-AR" sz="1800" b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Después del verbo, por ejemplo            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speaks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slowly</a:t>
            </a:r>
            <a:r>
              <a:rPr lang="es-AR" sz="1800" b="1" i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br>
              <a:rPr lang="es-AR" sz="18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 </a:t>
            </a:r>
            <a:r>
              <a:rPr lang="es-AR" sz="1800" b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algunos casos se puede ubicar después del bloque nominal: </a:t>
            </a:r>
            <a:b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analizad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substances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carefully</a:t>
            </a:r>
            <a:r>
              <a:rPr lang="es-AR" sz="1800" b="1" i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br>
              <a:rPr lang="es-AR" sz="18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sz="1800" b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 v.   </a:t>
            </a:r>
            <a:r>
              <a:rPr lang="es-AR" sz="1800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al principio de la </a:t>
            </a:r>
            <a:r>
              <a:rPr lang="es-AR" sz="1800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oracion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  </a:t>
            </a:r>
            <a:r>
              <a:rPr lang="es-AR" sz="1800" b="1" i="1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screen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shows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800" i="1" dirty="0" err="1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requested</a:t>
            </a:r>
            <a:r>
              <a:rPr lang="es-AR" sz="1800" i="1" dirty="0"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  <a:br>
              <a:rPr lang="es-AR" sz="1800" i="1" dirty="0">
                <a:solidFill>
                  <a:srgbClr val="21252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 dirty="0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45" y="494340"/>
            <a:ext cx="9917078" cy="1141851"/>
          </a:xfrm>
          <a:noFill/>
        </p:spPr>
        <p:txBody>
          <a:bodyPr>
            <a:normAutofit/>
          </a:bodyPr>
          <a:lstStyle/>
          <a:p>
            <a:r>
              <a:rPr lang="es-AR" sz="3200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97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45" y="494340"/>
            <a:ext cx="9917078" cy="1141851"/>
          </a:xfrm>
          <a:noFill/>
        </p:spPr>
        <p:txBody>
          <a:bodyPr>
            <a:normAutofit/>
          </a:bodyPr>
          <a:lstStyle/>
          <a:p>
            <a:r>
              <a:rPr lang="es-AR" sz="3200" kern="1800" dirty="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 dirty="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7223A8-85B5-40AF-A4C5-509EBB7D0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00" y="1408787"/>
            <a:ext cx="10903606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2.2     </a:t>
            </a:r>
            <a:r>
              <a:rPr kumimoji="0" lang="es-AR" altLang="es-AR" sz="2400" b="1" i="0" u="sng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Comparación de adverbios</a:t>
            </a:r>
            <a:r>
              <a:rPr kumimoji="0" lang="es-AR" altLang="es-AR" sz="2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:  el mecanismo de la comparación de adverbios es similar a la de los adjetivos:</a:t>
            </a:r>
            <a:endParaRPr kumimoji="0" lang="es-AR" altLang="es-A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AR" altLang="es-AR" sz="2400" b="1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Arial Rounded MT Bold" panose="020F07040305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24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Grados de comparación: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AR" altLang="es-A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b="1" i="0" u="sng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Grado positivo</a:t>
            </a:r>
            <a:r>
              <a:rPr kumimoji="0" lang="es-AR" altLang="es-AR" sz="2400" b="0" i="0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   </a:t>
            </a:r>
            <a:r>
              <a:rPr kumimoji="0" lang="es-AR" altLang="es-AR" sz="2400" b="1" i="0" u="sng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Grado comparativo</a:t>
            </a:r>
            <a:r>
              <a:rPr kumimoji="0" lang="es-AR" altLang="es-AR" sz="2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  </a:t>
            </a:r>
            <a:r>
              <a:rPr kumimoji="0" lang="es-AR" altLang="es-AR" sz="2400" b="1" i="0" u="sng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Grado Superlativo</a:t>
            </a:r>
            <a:endParaRPr kumimoji="0" lang="es-AR" altLang="es-AR" sz="2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Soon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         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Sooner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             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Soonest</a:t>
            </a:r>
            <a:endParaRPr kumimoji="0" lang="es-AR" altLang="es-A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Late                       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Later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                 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Latest</a:t>
            </a:r>
            <a:endParaRPr kumimoji="0" lang="es-AR" altLang="es-A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Easily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         More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Easily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      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Most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easly</a:t>
            </a:r>
            <a:endParaRPr kumimoji="0" lang="es-AR" altLang="es-A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Badly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Worse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               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Worst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</a:t>
            </a:r>
            <a:endParaRPr kumimoji="0" lang="es-AR" altLang="es-A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Little                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Less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                   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Least</a:t>
            </a:r>
            <a:endParaRPr kumimoji="0" lang="es-AR" altLang="es-A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Much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       More                               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Most</a:t>
            </a:r>
            <a:endParaRPr kumimoji="0" lang="es-AR" altLang="es-A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Well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 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Better</a:t>
            </a:r>
            <a:r>
              <a:rPr kumimoji="0" lang="es-AR" altLang="es-AR" sz="24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                       </a:t>
            </a:r>
            <a:r>
              <a:rPr kumimoji="0" lang="es-AR" altLang="es-AR" sz="240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Best</a:t>
            </a:r>
            <a:endParaRPr kumimoji="0" lang="es-AR" altLang="es-AR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1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1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54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45" y="494340"/>
            <a:ext cx="9917078" cy="1141851"/>
          </a:xfrm>
          <a:noFill/>
        </p:spPr>
        <p:txBody>
          <a:bodyPr>
            <a:normAutofit/>
          </a:bodyPr>
          <a:lstStyle/>
          <a:p>
            <a:r>
              <a:rPr lang="es-AR" sz="3200" kern="1800" dirty="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 dirty="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7223A8-85B5-40AF-A4C5-509EBB7D0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2943681"/>
            <a:ext cx="102520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C012D64-6F45-480A-BACF-A6F4B55C885B}"/>
              </a:ext>
            </a:extLst>
          </p:cNvPr>
          <p:cNvSpPr txBox="1"/>
          <p:nvPr/>
        </p:nvSpPr>
        <p:spPr>
          <a:xfrm>
            <a:off x="1042738" y="1706880"/>
            <a:ext cx="1045776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4. Construcciones con comparativos: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Con el grado comparativo se usa la conjunci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ó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 THAN (que). Ejemplo: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                                            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Line A </a:t>
            </a:r>
            <a:r>
              <a:rPr kumimoji="0" lang="es-AR" altLang="es-AR" sz="16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is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sz="16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longer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sz="16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than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Line B.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sz="1600" dirty="0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b. 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Cuando se expresa igualdad o desigualdad se usa la construcci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ó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n: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Ejemplos: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Line A </a:t>
            </a:r>
            <a:r>
              <a:rPr kumimoji="0" lang="es-AR" altLang="es-AR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is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as </a:t>
            </a:r>
            <a:r>
              <a:rPr kumimoji="0" lang="es-AR" altLang="es-AR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long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as Line B.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                   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Line A </a:t>
            </a:r>
            <a:r>
              <a:rPr kumimoji="0" lang="es-AR" altLang="es-AR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is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not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as </a:t>
            </a:r>
            <a:r>
              <a:rPr kumimoji="0" lang="es-AR" altLang="es-AR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long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as Line B.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c. 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Para expresar aumento proporcional o causa y resultado, se usan las siguientes construcciones: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</a:t>
            </a:r>
            <a:r>
              <a:rPr kumimoji="0" lang="es-AR" altLang="es-AR" sz="1600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The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+ comparativo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……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 THE + comparativo</a:t>
            </a:r>
            <a:endParaRPr kumimoji="0" lang="es-AR" altLang="es-A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Cuanto Mas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……………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.Mas</a:t>
            </a:r>
            <a:endParaRPr kumimoji="0" lang="es-AR" altLang="es-A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A mayor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………………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..Mayor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d. Aumento o disminuci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ó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 gradual se expresa mediante comparaci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ó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 unidos por AND.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This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book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is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more and more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interesting</a:t>
            </a:r>
            <a:r>
              <a:rPr lang="es-AR" altLang="es-AR" b="1" dirty="0">
                <a:solidFill>
                  <a:srgbClr val="212529"/>
                </a:solidFill>
                <a:ea typeface="Times New Roman" panose="02020603050405020304" pitchFamily="18" charset="0"/>
                <a:cs typeface="Segoe UI" panose="020B0502040204020203" pitchFamily="34" charset="0"/>
              </a:rPr>
              <a:t>…</a:t>
            </a:r>
            <a:endParaRPr kumimoji="0" lang="es-AR" altLang="es-A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469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45" y="494340"/>
            <a:ext cx="9917078" cy="1141851"/>
          </a:xfrm>
          <a:noFill/>
        </p:spPr>
        <p:txBody>
          <a:bodyPr>
            <a:normAutofit/>
          </a:bodyPr>
          <a:lstStyle/>
          <a:p>
            <a:r>
              <a:rPr lang="es-AR" sz="3200" kern="1800">
                <a:solidFill>
                  <a:srgbClr val="212529"/>
                </a:solidFill>
                <a:effectLst/>
                <a:latin typeface="Arial Rounded MT Bold" panose="020F07040305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adverbio. Tipos. Usos. Funciones. Grados de comparación. Clasificaciones.</a:t>
            </a:r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7223A8-85B5-40AF-A4C5-509EBB7D0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2943681"/>
            <a:ext cx="102520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C012D64-6F45-480A-BACF-A6F4B55C885B}"/>
              </a:ext>
            </a:extLst>
          </p:cNvPr>
          <p:cNvSpPr txBox="1"/>
          <p:nvPr/>
        </p:nvSpPr>
        <p:spPr>
          <a:xfrm>
            <a:off x="1042738" y="1706880"/>
            <a:ext cx="104577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4. Construcciones con comparativos: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c. Para expresar aumento proporcional o causa y resultado, se usan las siguientes construcciones: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The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+ comparativo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……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 THE + comparativo</a:t>
            </a:r>
            <a:endParaRPr kumimoji="0" lang="es-AR" altLang="es-A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Cuanto </a:t>
            </a:r>
            <a:r>
              <a:rPr lang="es-AR" altLang="es-AR" b="1" dirty="0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má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……………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</a:t>
            </a:r>
            <a:r>
              <a:rPr lang="es-AR" altLang="es-AR" b="1" dirty="0">
                <a:solidFill>
                  <a:srgbClr val="212529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má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</a:t>
            </a:r>
            <a:endParaRPr kumimoji="0" lang="es-AR" altLang="es-A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A mayor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………………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..Mayor</a:t>
            </a: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d. Aumento o disminuci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ó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 gradual se expresa mediante comparaci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ó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 unidos por AND.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AR" altLang="es-A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This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book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is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 more and more </a:t>
            </a:r>
            <a:r>
              <a:rPr kumimoji="0" lang="es-AR" altLang="es-AR" b="1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interesting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,</a:t>
            </a:r>
            <a:endParaRPr kumimoji="0" lang="es-AR" altLang="es-A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782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15" y="3084518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 dirty="0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418" y="1039003"/>
            <a:ext cx="11062030" cy="1141851"/>
          </a:xfrm>
          <a:noFill/>
        </p:spPr>
        <p:txBody>
          <a:bodyPr>
            <a:normAutofit/>
          </a:bodyPr>
          <a:lstStyle/>
          <a:p>
            <a:r>
              <a:rPr lang="es-AR" sz="2800" b="1" kern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B) Nivel contextual y textual: Modelo de organización: Comparación.</a:t>
            </a:r>
            <a:endParaRPr lang="es-AR" sz="2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sz="3200" dirty="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7223A8-85B5-40AF-A4C5-509EBB7D0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4" y="226641"/>
            <a:ext cx="850546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as….as                  are similar                     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each</a:t>
            </a: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as many….as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equal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to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either</a:t>
            </a: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as much….as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is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like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 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all</a:t>
            </a: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the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same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…as       similar/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ly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both</a:t>
            </a: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similar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to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equal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/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ly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          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alike</a:t>
            </a: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the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same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             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compared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to</a:t>
            </a:r>
            <a:r>
              <a:rPr lang="es-AR" altLang="es-AR" sz="2400" dirty="0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/</a:t>
            </a:r>
            <a:r>
              <a:rPr lang="es-AR" altLang="es-AR" sz="2400" dirty="0" err="1">
                <a:solidFill>
                  <a:srgbClr val="21252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with</a:t>
            </a:r>
            <a:endParaRPr lang="es-AR" altLang="es-AR" sz="2400" dirty="0">
              <a:solidFill>
                <a:srgbClr val="212529"/>
              </a:solidFill>
              <a:latin typeface="Calibri" panose="020F0502020204030204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0559FF-32B3-083E-A7ED-21F5589390A6}"/>
              </a:ext>
            </a:extLst>
          </p:cNvPr>
          <p:cNvSpPr txBox="1"/>
          <p:nvPr/>
        </p:nvSpPr>
        <p:spPr>
          <a:xfrm>
            <a:off x="1455646" y="1931725"/>
            <a:ext cx="88787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400"/>
              </a:spcBef>
              <a:spcAft>
                <a:spcPts val="1400"/>
              </a:spcAft>
              <a:buFont typeface="+mj-lt"/>
              <a:buAutoNum type="arabicPeriod"/>
            </a:pP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Equivalence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: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 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the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following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words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or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constructions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are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used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to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show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that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things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or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people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are similar in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same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way</a:t>
            </a:r>
            <a:endParaRPr lang="es-AR" sz="2400" b="0" i="0" u="none" strike="noStrike" dirty="0">
              <a:solidFill>
                <a:srgbClr val="21252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5787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40" y="193635"/>
            <a:ext cx="11062030" cy="1141851"/>
          </a:xfrm>
          <a:noFill/>
        </p:spPr>
        <p:txBody>
          <a:bodyPr>
            <a:normAutofit/>
          </a:bodyPr>
          <a:lstStyle/>
          <a:p>
            <a:r>
              <a:rPr lang="es-AR" sz="2800" b="1" kern="180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B) Nivel contextual y textual: Modelo de organización: Comparación.</a:t>
            </a:r>
            <a:endParaRPr lang="es-AR" sz="28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0559FF-32B3-083E-A7ED-21F5589390A6}"/>
              </a:ext>
            </a:extLst>
          </p:cNvPr>
          <p:cNvSpPr txBox="1"/>
          <p:nvPr/>
        </p:nvSpPr>
        <p:spPr>
          <a:xfrm>
            <a:off x="1289661" y="724654"/>
            <a:ext cx="8878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400"/>
              </a:spcBef>
              <a:spcAft>
                <a:spcPts val="1400"/>
              </a:spcAft>
            </a:pPr>
            <a:r>
              <a:rPr lang="es-AR" sz="2400" b="0" i="0" u="none" strike="noStrike" err="1">
                <a:solidFill>
                  <a:srgbClr val="212529"/>
                </a:solidFill>
                <a:effectLst/>
              </a:rPr>
              <a:t>Some</a:t>
            </a:r>
            <a:r>
              <a:rPr lang="es-AR" sz="2400" b="0" i="0" u="none" strike="noStrike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err="1">
                <a:solidFill>
                  <a:srgbClr val="212529"/>
                </a:solidFill>
                <a:effectLst/>
              </a:rPr>
              <a:t>examples</a:t>
            </a:r>
            <a:r>
              <a:rPr lang="es-AR" sz="2400" b="0" i="0" u="none" strike="noStrike">
                <a:solidFill>
                  <a:srgbClr val="212529"/>
                </a:solidFill>
                <a:effectLst/>
              </a:rPr>
              <a:t>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C8617FF-64B6-F5F6-48CA-640092899AAD}"/>
              </a:ext>
            </a:extLst>
          </p:cNvPr>
          <p:cNvSpPr txBox="1"/>
          <p:nvPr/>
        </p:nvSpPr>
        <p:spPr>
          <a:xfrm>
            <a:off x="886503" y="1813274"/>
            <a:ext cx="11062029" cy="390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Here,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the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term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“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processor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”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is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equivalent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to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the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central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processing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unit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Laptops are as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powerful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as micro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computers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Some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companies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have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as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many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computers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as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employees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Some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companies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use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both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disk and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conventional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filing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systems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for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storing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data.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A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computer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virus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is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like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a virus in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the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human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body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.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It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can do a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lot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of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damage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Many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word-processing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programs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are similar in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that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they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share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certain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common</a:t>
            </a: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function</a:t>
            </a:r>
            <a:r>
              <a:rPr lang="es-AR" sz="1800" b="0" i="0" u="none" strike="noStrike" dirty="0">
                <a:solidFill>
                  <a:srgbClr val="212529"/>
                </a:solidFill>
                <a:effectLst/>
                <a:latin typeface="Quattrocento Sans" panose="020B05020500000200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495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40" y="193635"/>
            <a:ext cx="11062030" cy="1141851"/>
          </a:xfrm>
          <a:noFill/>
        </p:spPr>
        <p:txBody>
          <a:bodyPr>
            <a:normAutofit/>
          </a:bodyPr>
          <a:lstStyle/>
          <a:p>
            <a:r>
              <a:rPr lang="es-AR" sz="2800" b="1" kern="180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B) Nivel contextual y textual: Modelo de organización: Comparación.</a:t>
            </a:r>
            <a:endParaRPr lang="es-AR" sz="28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CAFE626-D017-A8EB-5EA3-0090F6AC89DD}"/>
              </a:ext>
            </a:extLst>
          </p:cNvPr>
          <p:cNvSpPr txBox="1"/>
          <p:nvPr/>
        </p:nvSpPr>
        <p:spPr>
          <a:xfrm>
            <a:off x="1302749" y="871110"/>
            <a:ext cx="101453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400"/>
              </a:spcBef>
              <a:spcAft>
                <a:spcPts val="1400"/>
              </a:spcAft>
              <a:buFont typeface="+mj-lt"/>
              <a:buAutoNum type="arabicPeriod" startAt="2"/>
            </a:pPr>
            <a:r>
              <a:rPr lang="es-AR" sz="2400" b="1" i="0" u="none" strike="noStrike" dirty="0">
                <a:solidFill>
                  <a:srgbClr val="212529"/>
                </a:solidFill>
                <a:effectLst/>
              </a:rPr>
              <a:t>Non-</a:t>
            </a:r>
            <a:r>
              <a:rPr lang="es-AR" sz="2400" b="1" i="0" u="none" strike="noStrike" dirty="0" err="1">
                <a:solidFill>
                  <a:srgbClr val="212529"/>
                </a:solidFill>
                <a:effectLst/>
              </a:rPr>
              <a:t>equivalence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: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The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following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words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and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constructions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are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used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to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compare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or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contrast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things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or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people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that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are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separate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from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each</a:t>
            </a:r>
            <a:r>
              <a:rPr lang="es-AR" sz="24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400" b="0" i="0" u="none" strike="noStrike" dirty="0" err="1">
                <a:solidFill>
                  <a:srgbClr val="212529"/>
                </a:solidFill>
                <a:effectLst/>
              </a:rPr>
              <a:t>other</a:t>
            </a:r>
            <a:r>
              <a:rPr lang="es-AR" sz="2400" dirty="0">
                <a:solidFill>
                  <a:srgbClr val="212529"/>
                </a:solidFill>
              </a:rPr>
              <a:t>.</a:t>
            </a:r>
            <a:endParaRPr lang="es-AR" sz="2400" b="0" i="0" u="none" strike="noStrike" dirty="0">
              <a:solidFill>
                <a:srgbClr val="212529"/>
              </a:solidFill>
              <a:effectLst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21BE1D-9271-4F75-C0C9-181A74908EC9}"/>
              </a:ext>
            </a:extLst>
          </p:cNvPr>
          <p:cNvSpPr txBox="1"/>
          <p:nvPr/>
        </p:nvSpPr>
        <p:spPr>
          <a:xfrm>
            <a:off x="3043236" y="2524869"/>
            <a:ext cx="826226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400" dirty="0" err="1"/>
              <a:t>Not</a:t>
            </a:r>
            <a:r>
              <a:rPr lang="es-ES_tradnl" sz="2400" dirty="0"/>
              <a:t> as….as                          </a:t>
            </a:r>
            <a:r>
              <a:rPr lang="es-ES_tradnl" sz="2400" dirty="0" err="1"/>
              <a:t>greater</a:t>
            </a:r>
            <a:r>
              <a:rPr lang="es-ES_tradnl" sz="2400" dirty="0"/>
              <a:t> </a:t>
            </a:r>
            <a:r>
              <a:rPr lang="es-ES_tradnl" sz="2400" dirty="0" err="1"/>
              <a:t>than</a:t>
            </a:r>
            <a:r>
              <a:rPr lang="es-ES_tradnl" sz="2400" dirty="0"/>
              <a:t>                         </a:t>
            </a:r>
            <a:r>
              <a:rPr lang="es-ES_tradnl" sz="2400" dirty="0" err="1"/>
              <a:t>unequal</a:t>
            </a:r>
            <a:r>
              <a:rPr lang="es-ES_tradnl" sz="2400" dirty="0"/>
              <a:t>(</a:t>
            </a:r>
            <a:r>
              <a:rPr lang="es-ES_tradnl" sz="2400" dirty="0" err="1"/>
              <a:t>ly</a:t>
            </a:r>
            <a:r>
              <a:rPr lang="es-ES_tradnl" sz="2400" dirty="0"/>
              <a:t>)</a:t>
            </a:r>
          </a:p>
          <a:p>
            <a:r>
              <a:rPr lang="es-ES_tradnl" sz="2400" dirty="0"/>
              <a:t>…-</a:t>
            </a:r>
            <a:r>
              <a:rPr lang="es-ES_tradnl" sz="2400" dirty="0" err="1"/>
              <a:t>er</a:t>
            </a:r>
            <a:r>
              <a:rPr lang="es-ES_tradnl" sz="2400" dirty="0"/>
              <a:t> </a:t>
            </a:r>
            <a:r>
              <a:rPr lang="es-ES_tradnl" sz="2400" dirty="0" err="1"/>
              <a:t>than</a:t>
            </a:r>
            <a:r>
              <a:rPr lang="es-ES_tradnl" sz="2400" dirty="0"/>
              <a:t>                             </a:t>
            </a:r>
            <a:r>
              <a:rPr lang="es-ES_tradnl" sz="2400" dirty="0" err="1"/>
              <a:t>not</a:t>
            </a:r>
            <a:r>
              <a:rPr lang="es-ES_tradnl" sz="2400" dirty="0"/>
              <a:t> as </a:t>
            </a:r>
            <a:r>
              <a:rPr lang="es-ES_tradnl" sz="2400" dirty="0" err="1"/>
              <a:t>many</a:t>
            </a:r>
            <a:r>
              <a:rPr lang="es-ES_tradnl" sz="2400" dirty="0"/>
              <a:t>…as                                </a:t>
            </a:r>
            <a:r>
              <a:rPr lang="es-ES_tradnl" sz="2400" dirty="0" err="1"/>
              <a:t>unlike</a:t>
            </a:r>
            <a:endParaRPr lang="es-ES_tradnl" sz="2400" dirty="0"/>
          </a:p>
          <a:p>
            <a:r>
              <a:rPr lang="es-ES_tradnl" sz="2400" dirty="0"/>
              <a:t>More….</a:t>
            </a:r>
            <a:r>
              <a:rPr lang="es-ES_tradnl" sz="2400" dirty="0" err="1"/>
              <a:t>than</a:t>
            </a:r>
            <a:r>
              <a:rPr lang="es-ES_tradnl" sz="2400" dirty="0"/>
              <a:t>                        </a:t>
            </a:r>
            <a:r>
              <a:rPr lang="es-ES_tradnl" sz="2400" dirty="0" err="1"/>
              <a:t>not</a:t>
            </a:r>
            <a:r>
              <a:rPr lang="es-ES_tradnl" sz="2400" dirty="0"/>
              <a:t> as </a:t>
            </a:r>
            <a:r>
              <a:rPr lang="es-ES_tradnl" sz="2400" dirty="0" err="1"/>
              <a:t>much</a:t>
            </a:r>
            <a:r>
              <a:rPr lang="es-ES_tradnl" sz="2400" dirty="0"/>
              <a:t>…as                </a:t>
            </a:r>
            <a:r>
              <a:rPr lang="es-ES_tradnl" sz="2400" dirty="0" err="1"/>
              <a:t>not</a:t>
            </a:r>
            <a:r>
              <a:rPr lang="es-ES_tradnl" sz="2400" dirty="0"/>
              <a:t> </a:t>
            </a:r>
            <a:r>
              <a:rPr lang="es-ES_tradnl" sz="2400" dirty="0" err="1"/>
              <a:t>the</a:t>
            </a:r>
            <a:r>
              <a:rPr lang="es-ES_tradnl" sz="2400" dirty="0"/>
              <a:t> </a:t>
            </a:r>
            <a:r>
              <a:rPr lang="es-ES_tradnl" sz="2400" dirty="0" err="1"/>
              <a:t>same</a:t>
            </a:r>
            <a:r>
              <a:rPr lang="es-ES_tradnl" sz="2400" dirty="0"/>
              <a:t> as</a:t>
            </a:r>
          </a:p>
          <a:p>
            <a:r>
              <a:rPr lang="es-ES_tradnl" sz="2400" dirty="0" err="1"/>
              <a:t>Fewer</a:t>
            </a:r>
            <a:r>
              <a:rPr lang="es-ES_tradnl" sz="2400" dirty="0"/>
              <a:t>…</a:t>
            </a:r>
            <a:r>
              <a:rPr lang="es-ES_tradnl" sz="2400" dirty="0" err="1"/>
              <a:t>than</a:t>
            </a:r>
            <a:r>
              <a:rPr lang="es-ES_tradnl" sz="2400" dirty="0"/>
              <a:t>                        </a:t>
            </a:r>
            <a:r>
              <a:rPr lang="es-ES_tradnl" sz="2400" dirty="0" err="1"/>
              <a:t>not</a:t>
            </a:r>
            <a:r>
              <a:rPr lang="es-ES_tradnl" sz="2400" dirty="0"/>
              <a:t> </a:t>
            </a:r>
            <a:r>
              <a:rPr lang="es-ES_tradnl" sz="2400" dirty="0" err="1"/>
              <a:t>equal</a:t>
            </a:r>
            <a:r>
              <a:rPr lang="es-ES_tradnl" sz="2400" dirty="0"/>
              <a:t> </a:t>
            </a:r>
            <a:r>
              <a:rPr lang="es-ES_tradnl" sz="2400" dirty="0" err="1"/>
              <a:t>to</a:t>
            </a:r>
            <a:r>
              <a:rPr lang="es-ES_tradnl" sz="2400" dirty="0"/>
              <a:t>                         </a:t>
            </a:r>
            <a:r>
              <a:rPr lang="es-ES_tradnl" sz="2400" dirty="0" err="1"/>
              <a:t>not</a:t>
            </a:r>
            <a:r>
              <a:rPr lang="es-ES_tradnl" sz="2400" dirty="0"/>
              <a:t> </a:t>
            </a:r>
            <a:r>
              <a:rPr lang="es-ES_tradnl" sz="2400" dirty="0" err="1"/>
              <a:t>all</a:t>
            </a:r>
            <a:endParaRPr lang="es-ES_tradnl" sz="2400" dirty="0"/>
          </a:p>
          <a:p>
            <a:r>
              <a:rPr lang="es-ES_tradnl" sz="2400" dirty="0" err="1"/>
              <a:t>Less</a:t>
            </a:r>
            <a:r>
              <a:rPr lang="es-ES_tradnl" sz="2400" dirty="0"/>
              <a:t>…..</a:t>
            </a:r>
            <a:r>
              <a:rPr lang="es-ES_tradnl" sz="2400" dirty="0" err="1"/>
              <a:t>than</a:t>
            </a:r>
            <a:r>
              <a:rPr lang="es-ES_tradnl" sz="2400" dirty="0"/>
              <a:t>                       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66614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40" y="493391"/>
            <a:ext cx="11062030" cy="1141851"/>
          </a:xfrm>
          <a:noFill/>
        </p:spPr>
        <p:txBody>
          <a:bodyPr>
            <a:normAutofit/>
          </a:bodyPr>
          <a:lstStyle/>
          <a:p>
            <a:r>
              <a:rPr lang="es-AR" sz="2800" b="1" kern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B) Nivel contextual y textual: Modelo de organización: Comparación.</a:t>
            </a:r>
            <a:endParaRPr lang="es-AR" sz="2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sz="3200" dirty="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0F98E0-CEF2-1235-FB05-61148DE524D4}"/>
              </a:ext>
            </a:extLst>
          </p:cNvPr>
          <p:cNvSpPr txBox="1"/>
          <p:nvPr/>
        </p:nvSpPr>
        <p:spPr>
          <a:xfrm>
            <a:off x="636240" y="1173206"/>
            <a:ext cx="11555760" cy="469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400"/>
              </a:spcAft>
            </a:pP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Examples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:</a:t>
            </a:r>
            <a:endParaRPr lang="es-AR" sz="2800" b="0" dirty="0">
              <a:effectLst/>
            </a:endParaRPr>
          </a:p>
          <a:p>
            <a:pPr rtl="0" fontAlgn="base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A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main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frame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is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larger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and more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expensive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than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a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microcomputer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Learning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to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use a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computer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is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not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as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difficult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as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learning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to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program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A fax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board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costs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less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than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a fax machine.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Unlike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factory-sealed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software,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pirated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versions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may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contain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viruses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Desktop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publishing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is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not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like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same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as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electronic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publishing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.</a:t>
            </a:r>
          </a:p>
          <a:p>
            <a:pPr rtl="0" fontAlgn="base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</a:pP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You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can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save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money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with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a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network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because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you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will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need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fewer</a:t>
            </a:r>
            <a:r>
              <a:rPr lang="es-AR" sz="2800" b="0" i="0" u="none" strike="noStrike" dirty="0">
                <a:solidFill>
                  <a:srgbClr val="212529"/>
                </a:solidFill>
                <a:effectLst/>
              </a:rPr>
              <a:t> </a:t>
            </a:r>
            <a:r>
              <a:rPr lang="es-AR" sz="2800" b="0" i="0" u="none" strike="noStrike" dirty="0" err="1">
                <a:solidFill>
                  <a:srgbClr val="212529"/>
                </a:solidFill>
                <a:effectLst/>
              </a:rPr>
              <a:t>printers</a:t>
            </a:r>
            <a:r>
              <a:rPr lang="es-AR" sz="1800" b="0" i="0" u="none" strike="noStrike" dirty="0">
                <a:solidFill>
                  <a:srgbClr val="212529"/>
                </a:solidFill>
                <a:effectLst/>
                <a:latin typeface="Quattrocento Sans" panose="020B05020500000200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503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 dirty="0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40" y="193635"/>
            <a:ext cx="11062030" cy="1141851"/>
          </a:xfrm>
          <a:noFill/>
        </p:spPr>
        <p:txBody>
          <a:bodyPr>
            <a:normAutofit/>
          </a:bodyPr>
          <a:lstStyle/>
          <a:p>
            <a:r>
              <a:rPr lang="es-AR" sz="2800" b="1" kern="180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B) Nivel contextual y textual: Modelo de organización: Comparación.</a:t>
            </a:r>
            <a:endParaRPr lang="es-AR" sz="28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6820B1-926D-1FF3-206E-E3AC771F6A88}"/>
              </a:ext>
            </a:extLst>
          </p:cNvPr>
          <p:cNvSpPr txBox="1"/>
          <p:nvPr/>
        </p:nvSpPr>
        <p:spPr>
          <a:xfrm>
            <a:off x="1232182" y="972638"/>
            <a:ext cx="93518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b="1" dirty="0"/>
              <a:t>3. </a:t>
            </a:r>
            <a:r>
              <a:rPr lang="es-ES_tradnl" sz="2400" b="1" dirty="0" err="1">
                <a:solidFill>
                  <a:srgbClr val="212529"/>
                </a:solidFill>
              </a:rPr>
              <a:t>The</a:t>
            </a:r>
            <a:r>
              <a:rPr lang="es-ES_tradnl" sz="2400" b="1" dirty="0">
                <a:solidFill>
                  <a:srgbClr val="212529"/>
                </a:solidFill>
              </a:rPr>
              <a:t> </a:t>
            </a:r>
            <a:r>
              <a:rPr lang="es-ES_tradnl" sz="2400" b="1" dirty="0" err="1">
                <a:solidFill>
                  <a:srgbClr val="212529"/>
                </a:solidFill>
              </a:rPr>
              <a:t>highest</a:t>
            </a:r>
            <a:r>
              <a:rPr lang="es-ES_tradnl" sz="2400" b="1" dirty="0">
                <a:solidFill>
                  <a:srgbClr val="212529"/>
                </a:solidFill>
              </a:rPr>
              <a:t> </a:t>
            </a:r>
            <a:r>
              <a:rPr lang="es-ES_tradnl" sz="2400" b="1" dirty="0" err="1">
                <a:solidFill>
                  <a:srgbClr val="212529"/>
                </a:solidFill>
              </a:rPr>
              <a:t>degree</a:t>
            </a:r>
            <a:r>
              <a:rPr lang="es-ES_tradnl" sz="2400" b="1" dirty="0">
                <a:solidFill>
                  <a:srgbClr val="212529"/>
                </a:solidFill>
              </a:rPr>
              <a:t>: </a:t>
            </a:r>
            <a:r>
              <a:rPr lang="es-ES_tradnl" sz="2400" dirty="0" err="1">
                <a:solidFill>
                  <a:srgbClr val="212529"/>
                </a:solidFill>
              </a:rPr>
              <a:t>the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following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words</a:t>
            </a:r>
            <a:r>
              <a:rPr lang="es-ES_tradnl" sz="2400" dirty="0">
                <a:solidFill>
                  <a:srgbClr val="212529"/>
                </a:solidFill>
              </a:rPr>
              <a:t> and </a:t>
            </a:r>
            <a:r>
              <a:rPr lang="es-ES_tradnl" sz="2400" dirty="0" err="1">
                <a:solidFill>
                  <a:srgbClr val="212529"/>
                </a:solidFill>
              </a:rPr>
              <a:t>constructions</a:t>
            </a:r>
            <a:r>
              <a:rPr lang="es-ES_tradnl" sz="2400" dirty="0">
                <a:solidFill>
                  <a:srgbClr val="212529"/>
                </a:solidFill>
              </a:rPr>
              <a:t> are </a:t>
            </a:r>
            <a:r>
              <a:rPr lang="es-ES_tradnl" sz="2400" dirty="0" err="1">
                <a:solidFill>
                  <a:srgbClr val="212529"/>
                </a:solidFill>
              </a:rPr>
              <a:t>used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to</a:t>
            </a:r>
            <a:r>
              <a:rPr lang="es-ES_tradnl" sz="2400" dirty="0">
                <a:solidFill>
                  <a:srgbClr val="212529"/>
                </a:solidFill>
              </a:rPr>
              <a:t> compare </a:t>
            </a:r>
            <a:r>
              <a:rPr lang="es-ES_tradnl" sz="2400" dirty="0" err="1">
                <a:solidFill>
                  <a:srgbClr val="212529"/>
                </a:solidFill>
              </a:rPr>
              <a:t>one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member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of</a:t>
            </a:r>
            <a:r>
              <a:rPr lang="es-ES_tradnl" sz="2400" dirty="0">
                <a:solidFill>
                  <a:srgbClr val="212529"/>
                </a:solidFill>
              </a:rPr>
              <a:t> a </a:t>
            </a:r>
            <a:r>
              <a:rPr lang="es-ES_tradnl" sz="2400" dirty="0" err="1">
                <a:solidFill>
                  <a:srgbClr val="212529"/>
                </a:solidFill>
              </a:rPr>
              <a:t>group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with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the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whole</a:t>
            </a:r>
            <a:r>
              <a:rPr lang="es-ES_tradnl" sz="2400" dirty="0">
                <a:solidFill>
                  <a:srgbClr val="212529"/>
                </a:solidFill>
              </a:rPr>
              <a:t> </a:t>
            </a:r>
            <a:r>
              <a:rPr lang="es-ES_tradnl" sz="2400" dirty="0" err="1">
                <a:solidFill>
                  <a:srgbClr val="212529"/>
                </a:solidFill>
              </a:rPr>
              <a:t>group</a:t>
            </a:r>
            <a:r>
              <a:rPr lang="es-ES_tradnl" sz="2400" dirty="0">
                <a:solidFill>
                  <a:srgbClr val="212529"/>
                </a:solidFill>
              </a:rPr>
              <a:t> (superlative)</a:t>
            </a:r>
          </a:p>
          <a:p>
            <a:r>
              <a:rPr lang="es-ES_tradnl" sz="2800" dirty="0"/>
              <a:t> </a:t>
            </a:r>
          </a:p>
          <a:p>
            <a:r>
              <a:rPr lang="es-ES_tradnl" sz="2800" dirty="0"/>
              <a:t>         </a:t>
            </a:r>
            <a:r>
              <a:rPr lang="es-ES_tradnl" sz="2800" dirty="0" err="1"/>
              <a:t>The</a:t>
            </a:r>
            <a:r>
              <a:rPr lang="es-ES_tradnl" sz="2800" dirty="0"/>
              <a:t>…-</a:t>
            </a:r>
            <a:r>
              <a:rPr lang="es-ES_tradnl" sz="2800" dirty="0" err="1"/>
              <a:t>est</a:t>
            </a:r>
            <a:r>
              <a:rPr lang="es-ES_tradnl" sz="2800" dirty="0"/>
              <a:t>              </a:t>
            </a:r>
            <a:r>
              <a:rPr lang="es-ES_tradnl" sz="2800" dirty="0" err="1"/>
              <a:t>The</a:t>
            </a:r>
            <a:r>
              <a:rPr lang="es-ES_tradnl" sz="2800" dirty="0"/>
              <a:t> </a:t>
            </a:r>
            <a:r>
              <a:rPr lang="es-ES_tradnl" sz="2800" dirty="0" err="1"/>
              <a:t>most</a:t>
            </a:r>
            <a:r>
              <a:rPr lang="es-ES_tradnl" sz="2800" dirty="0"/>
              <a:t>…          </a:t>
            </a:r>
            <a:r>
              <a:rPr lang="es-ES_tradnl" sz="2800" dirty="0" err="1"/>
              <a:t>The</a:t>
            </a:r>
            <a:r>
              <a:rPr lang="es-ES_tradnl" sz="2800" dirty="0"/>
              <a:t> </a:t>
            </a:r>
            <a:r>
              <a:rPr lang="es-ES_tradnl" sz="2800" dirty="0" err="1"/>
              <a:t>least</a:t>
            </a:r>
            <a:r>
              <a:rPr lang="es-ES_tradnl" sz="2800" dirty="0"/>
              <a:t>…</a:t>
            </a:r>
          </a:p>
          <a:p>
            <a:r>
              <a:rPr lang="es-ES_tradnl" dirty="0"/>
              <a:t> </a:t>
            </a:r>
          </a:p>
          <a:p>
            <a:endParaRPr lang="es-ES_tradnl" dirty="0"/>
          </a:p>
          <a:p>
            <a:r>
              <a:rPr lang="es-ES_tradnl" dirty="0"/>
              <a:t> </a:t>
            </a:r>
          </a:p>
          <a:p>
            <a:endParaRPr lang="es-ES_tradn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3DA886-438D-66B4-58B4-4E87120726AD}"/>
              </a:ext>
            </a:extLst>
          </p:cNvPr>
          <p:cNvSpPr txBox="1"/>
          <p:nvPr/>
        </p:nvSpPr>
        <p:spPr>
          <a:xfrm>
            <a:off x="886503" y="3332502"/>
            <a:ext cx="11062029" cy="2395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dirty="0" err="1"/>
              <a:t>Examples</a:t>
            </a:r>
            <a:r>
              <a:rPr lang="es-ES_tradnl" sz="2800" dirty="0"/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popular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package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market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BASIC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probably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least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difficult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programming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best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programs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adapted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specifically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own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needs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8953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00421-B00C-4E42-B056-166122D4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1636190"/>
            <a:ext cx="10457770" cy="5716149"/>
          </a:xfrm>
          <a:noFill/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br>
              <a:rPr lang="es-AR" sz="2200" b="1" dirty="0">
                <a:solidFill>
                  <a:srgbClr val="212529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</a:br>
            <a:endParaRPr lang="es-AR" sz="2200" b="1" dirty="0">
              <a:solidFill>
                <a:srgbClr val="212529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5B2CDC47-A331-4051-80DA-96019B9DA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40" y="193635"/>
            <a:ext cx="11062030" cy="1141851"/>
          </a:xfrm>
          <a:noFill/>
        </p:spPr>
        <p:txBody>
          <a:bodyPr>
            <a:normAutofit/>
          </a:bodyPr>
          <a:lstStyle/>
          <a:p>
            <a:r>
              <a:rPr lang="es-AR" sz="2800" b="1" kern="180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B) Nivel contextual y textual: Modelo de organización: Comparación.</a:t>
            </a:r>
            <a:endParaRPr lang="es-AR" sz="2800" b="1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sz="3200">
              <a:solidFill>
                <a:srgbClr val="08080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1FF476-6CEF-80BB-9A3F-EA864C108273}"/>
              </a:ext>
            </a:extLst>
          </p:cNvPr>
          <p:cNvSpPr txBox="1"/>
          <p:nvPr/>
        </p:nvSpPr>
        <p:spPr>
          <a:xfrm>
            <a:off x="356321" y="1335486"/>
            <a:ext cx="11834812" cy="4980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b="1" dirty="0"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s-ES_tradnl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Parallel</a:t>
            </a:r>
            <a:r>
              <a:rPr lang="es-ES_tradnl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increase</a:t>
            </a:r>
            <a:r>
              <a:rPr lang="es-ES_tradnl" sz="28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words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constructions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show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parallel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increase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comparatives).</a:t>
            </a:r>
          </a:p>
          <a:p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   *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…-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er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-- 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more        *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more… 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…-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er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       *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…-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er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....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es-ES_tradnl" sz="28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endParaRPr lang="es-ES_tradnl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_tradnl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_tradnl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lang="es-ES_tradnl" sz="28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more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memory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your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computer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has,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more data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it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can store.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bigger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your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computer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system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,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less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time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your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spend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waiting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more training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you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give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to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your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employees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,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the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better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they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will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 </a:t>
            </a:r>
            <a:r>
              <a:rPr lang="es-ES_tradnl" sz="2800" dirty="0" err="1">
                <a:latin typeface="+mj-lt"/>
                <a:cs typeface="Calibri" panose="020F0502020204030204" pitchFamily="34" charset="0"/>
              </a:rPr>
              <a:t>perform</a:t>
            </a:r>
            <a:r>
              <a:rPr lang="es-ES_tradnl" sz="2800" dirty="0">
                <a:latin typeface="+mj-lt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9775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1508</Words>
  <Application>Microsoft Office PowerPoint</Application>
  <PresentationFormat>Panorámica</PresentationFormat>
  <Paragraphs>133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Quattrocento Sans</vt:lpstr>
      <vt:lpstr>Segoe UI</vt:lpstr>
      <vt:lpstr>Times New Roman</vt:lpstr>
      <vt:lpstr>Tema de Office</vt:lpstr>
      <vt:lpstr>Comparación de Adverbios </vt:lpstr>
      <vt:lpstr>  A.   Gramatical   1.     Clasificación: Según su significado los adverbios pueden ser de:  * MODO: well (bien), slowly (lentamente), etc. * TIEMPO: sometimes (alguna vez), today (hoy), etc. * LUGAR: Here (aquí), There (alli), etc. * FRECUENCIA: always (siempre), Often (a menudo), etc.  </vt:lpstr>
      <vt:lpstr>   2. Estudios morfológicos:   2.1     Tipos de adverbios según sus formas: los adverbios pueden ser:                                                      SIMPLES                                                      DERIVADOS                                                      COMPUESTOS  </vt:lpstr>
      <vt:lpstr>      a.  Adverbios simples:  no son de fácil reconocimiento por su forma dentro de un texto en inglés.     Ejemplos en oraciones:                                                             -They will read the paper again.                                                                            -We often meet at the lab.   b.    Adverbios derivados: en su mayoría se forman agregando el sufijo “ly” (“-mente” en castellano) a un adjetivo, por ejemplo los puntos.                                                  Slow (lento)…………………………Slowly (lentamente)                                               Adj                                                             Adv.                                         -The substance reacts slowly........................................................................   Cambios ortográficos que sufren los adjetivos cuando se les agregan –ly en la formación de un adverbio: -En general los adjetivos agregan –ly sin sufrir modificaciones                                                    Extreme (extremo/a/s)…………..Extremely                                                          First (primero/a/s)…………..Firstly   -Algunos adjetivos terminados en “e” la pierdan al agregar –ly, por ejemplo:                                       complete (total, completo/a/s)……………completely     </vt:lpstr>
      <vt:lpstr>   c.  Adverbios compuestos: se forman a partir de la unión de dos o más palabras. Ejemplos en oraciones: -Nowadays people are concerned about pollution. -Anyhow we can try the experiment again.   </vt:lpstr>
      <vt:lpstr>   3. Estudio sintáctico: los adverbios se pueden ubicar en las siguientes posiciones: a)     Modificando a un adjetivo: cuando el adverbio modifica a un adjetivo se ubica delante del mismo, por                                            ejemplo: relatively small quantities… b)    Modificando a otro adverbio: en este caso también se ubica delante del adverbio al que modifica, por                                                               ejemplo:  He understands quite well… c)     Modificando a un verbo: en este caso se puede ubicar                        i.   Delante del verbo, por ejemplo:              they secretly decided to go…                       ii.   Después del auxiliar en caso de tiempos verbales compuestos,                                                                          por ejemplo: the changes can be clearly be indentified…                      iii.   Después del verbo, por ejemplo             She speaks slowly…                      iv.   En algunos casos se puede ubicar después del bloque nominal:                                         We analizad the substances carefully…                       v.   O al principio de la oracion:   Sometimes the screen shows the requested data.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Comparación de Adbervios</dc:title>
  <dc:creator>serviciosferroviarioschaco@outlook.com</dc:creator>
  <cp:lastModifiedBy>CURSOS ESTUDIANTES UTN FRRe</cp:lastModifiedBy>
  <cp:revision>8</cp:revision>
  <dcterms:created xsi:type="dcterms:W3CDTF">2022-09-14T14:27:57Z</dcterms:created>
  <dcterms:modified xsi:type="dcterms:W3CDTF">2025-04-29T21:50:52Z</dcterms:modified>
</cp:coreProperties>
</file>